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AA"/>
    <a:srgbClr val="00AA00"/>
    <a:srgbClr val="FFFFFF"/>
    <a:srgbClr val="555555"/>
    <a:srgbClr val="B93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D644F-05DA-424D-8B20-23F7B7E7C1DF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C5138-91DE-42C2-872D-651008B0FC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60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C5138-91DE-42C2-872D-651008B0FC2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380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D28A0-8001-B899-9762-15E17C65A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51D469-67E6-A9A6-DAD6-351FBFE67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2597C-4BCF-1850-D5EE-3217F982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55885-1A96-4863-9EDB-BD9F33F471E3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3B4C29-BD9E-6D20-5F3C-8B24AD182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4665A6-E1F6-7E85-B139-81A61232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83F4-20F1-43C8-8D15-698B09F9EC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33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11071-7CD1-695F-C660-C2654FBA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FE699D-C6BD-5C46-8EC7-146B9CD7F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5D69D3-522B-9DB2-94B1-16F3C2D6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55885-1A96-4863-9EDB-BD9F33F471E3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2EC91B-1D3B-8FE6-C0A8-9A818845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524164-7AAA-D3DA-3EC7-961966A56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83F4-20F1-43C8-8D15-698B09F9EC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142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9FC424-1379-26EF-7E4F-DB628B090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EB28C1-C724-C889-B309-288153463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76CA2D-01B6-6ACA-A0ED-1C3B98C46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55885-1A96-4863-9EDB-BD9F33F471E3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9F3885-F4FF-7DD8-27E8-120D0CD5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9AD539-A04D-3710-FF94-47913AF00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83F4-20F1-43C8-8D15-698B09F9EC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388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EB230E-25D3-55DD-D70C-92E52FCE0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08D0B7-694F-1B1E-C7E6-D6618F48D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994921-9A53-E386-55FA-F138639EE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56E4C6-1DA5-1842-1A01-ED1EEDA64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55885-1A96-4863-9EDB-BD9F33F471E3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DA6860-4D6C-0F8B-0B22-70FC5ECE2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B47C8C-C817-1B6F-390F-CE123E74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83F4-20F1-43C8-8D15-698B09F9EC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28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FE9CD-C2CD-FDF8-4ED4-DC9C36B9F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2C25D9-9FCC-99FB-B5F2-251511122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F34514-099C-208B-A929-053BC92CC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E258F1-5D33-5D2A-68BF-632B45529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ABE3D1-57E1-604C-A6A3-B9EB8951E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30A9B6-EAA6-D8D5-5F45-A1421FD68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55885-1A96-4863-9EDB-BD9F33F471E3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C84DD6-B9A1-A341-D75E-85308BCC1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71BE2B-DC6D-DEBB-4EC6-A3D92DE5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83F4-20F1-43C8-8D15-698B09F9EC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652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19799-E3E9-33A6-BEB5-66B36646D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48516E-3519-E25E-82FA-D0DA2C36F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55885-1A96-4863-9EDB-BD9F33F471E3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C6D865-DB5E-FB83-268F-9B893FFE8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E10CB3-249D-AAC3-B166-F27DD4D4A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83F4-20F1-43C8-8D15-698B09F9EC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C0DFFA-5BFB-8F65-6A3B-EC28CB0F7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55885-1A96-4863-9EDB-BD9F33F471E3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10B650-3587-5204-A466-C2138B2FC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4AA45F-5538-39DF-6432-D1A16F46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83F4-20F1-43C8-8D15-698B09F9EC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544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6B3FAE-FF9B-0DC7-A83D-0CC57D61F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C3EA80-94AD-C9F1-6C95-9807E2D9A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34CDC7-A29D-248D-D072-B897A0B7B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068BE3-1989-72E9-96EB-B544BE3C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55885-1A96-4863-9EDB-BD9F33F471E3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C403EF-850B-31E4-2306-EC1C11B34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6DDCDF-808F-329F-4E62-8823A0BF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83F4-20F1-43C8-8D15-698B09F9EC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160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68A20-B1B6-9641-C6BC-20DC85EF0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4E6D96-08B3-BF53-D07B-405EFADA8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6C37FE-483F-521B-1541-38A25AF8D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AABAD1-D94C-CD7F-D593-E9B40A815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55885-1A96-4863-9EDB-BD9F33F471E3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75544C-74C7-4B4E-9258-FD025929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C37597-15D8-AB74-1476-DB07F1140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83F4-20F1-43C8-8D15-698B09F9EC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696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6373F-8CD1-0903-8A29-26EB8ABB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F8E3A1-7886-7228-392E-649CC3182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D471F4-0D71-8A49-6440-03072C41C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55885-1A96-4863-9EDB-BD9F33F471E3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63E8B4-631A-577B-3F32-88DADF1B1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606EE6-3B81-B23D-6E00-C8E7B5A5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83F4-20F1-43C8-8D15-698B09F9EC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95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0D517D-3119-1919-5033-9C6EB19B2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16B436-7297-959F-CE14-111D86AB9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97E9FF-87D6-9586-9952-97B20A7C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55885-1A96-4863-9EDB-BD9F33F471E3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661149-632E-4B35-7732-216F5AA8F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D1C7A1-5283-77D6-ECF4-C7497955B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83F4-20F1-43C8-8D15-698B09F9EC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25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2317F6-6DE2-5289-9CD4-F1358398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4F53F3-CA83-7E09-5A43-309384777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3D834-9422-0EA3-356B-8868E337A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55885-1A96-4863-9EDB-BD9F33F471E3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D3BDF9-1D80-8891-E312-599686D408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7F6166-8182-A370-6947-1F14B3592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D83F4-20F1-43C8-8D15-698B09F9EC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525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251C17A-9BDC-4ECC-98DE-E8F570482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750" y="27296"/>
            <a:ext cx="7037700" cy="684346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0C2E0C4-0CF5-C19C-19ED-A83DB56E5B93}"/>
              </a:ext>
            </a:extLst>
          </p:cNvPr>
          <p:cNvCxnSpPr>
            <a:cxnSpLocks/>
          </p:cNvCxnSpPr>
          <p:nvPr/>
        </p:nvCxnSpPr>
        <p:spPr>
          <a:xfrm flipH="1">
            <a:off x="5684291" y="2372332"/>
            <a:ext cx="213361" cy="32992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2D51E65-9AF3-F858-389A-B3A41D54E350}"/>
              </a:ext>
            </a:extLst>
          </p:cNvPr>
          <p:cNvSpPr txBox="1"/>
          <p:nvPr/>
        </p:nvSpPr>
        <p:spPr>
          <a:xfrm>
            <a:off x="5594958" y="1978606"/>
            <a:ext cx="1596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AA00"/>
                </a:solidFill>
                <a:effectLst/>
                <a:latin typeface="-apple-system"/>
                <a:cs typeface="Times New Roman" panose="02020603050405020304" pitchFamily="18" charset="0"/>
              </a:rPr>
              <a:t>Alfvén point</a:t>
            </a:r>
            <a:endParaRPr lang="zh-CN" altLang="en-US" sz="2000" dirty="0">
              <a:solidFill>
                <a:srgbClr val="00AA00"/>
              </a:solidFill>
              <a:latin typeface="-apple-system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6707E3F-B026-EEFE-BBDD-6A2FA2E497AD}"/>
              </a:ext>
            </a:extLst>
          </p:cNvPr>
          <p:cNvCxnSpPr>
            <a:cxnSpLocks/>
          </p:cNvCxnSpPr>
          <p:nvPr/>
        </p:nvCxnSpPr>
        <p:spPr>
          <a:xfrm flipV="1">
            <a:off x="4045446" y="3147663"/>
            <a:ext cx="0" cy="37616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D579F75-23AC-4D33-6202-798AE24C5961}"/>
              </a:ext>
            </a:extLst>
          </p:cNvPr>
          <p:cNvSpPr txBox="1"/>
          <p:nvPr/>
        </p:nvSpPr>
        <p:spPr>
          <a:xfrm>
            <a:off x="3512532" y="3477576"/>
            <a:ext cx="1890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00AA"/>
                </a:solidFill>
                <a:latin typeface="-apple-system"/>
                <a:cs typeface="Times New Roman" panose="02020603050405020304" pitchFamily="18" charset="0"/>
              </a:rPr>
              <a:t>L</a:t>
            </a:r>
            <a:r>
              <a:rPr lang="en-US" altLang="zh-CN" sz="2000" dirty="0">
                <a:solidFill>
                  <a:srgbClr val="0000AA"/>
                </a:solidFill>
                <a:effectLst/>
                <a:latin typeface="-apple-system"/>
                <a:cs typeface="Times New Roman" panose="02020603050405020304" pitchFamily="18" charset="0"/>
              </a:rPr>
              <a:t>aunching point</a:t>
            </a:r>
            <a:endParaRPr lang="zh-CN" altLang="en-US" sz="2000" dirty="0">
              <a:solidFill>
                <a:srgbClr val="0000AA"/>
              </a:solidFill>
              <a:latin typeface="-apple-system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FFB0D42-8D72-B255-8769-9C7CA8866B3D}"/>
              </a:ext>
            </a:extLst>
          </p:cNvPr>
          <p:cNvSpPr txBox="1"/>
          <p:nvPr/>
        </p:nvSpPr>
        <p:spPr>
          <a:xfrm>
            <a:off x="7055142" y="2201490"/>
            <a:ext cx="1968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B93B3B"/>
                </a:solidFill>
                <a:effectLst/>
                <a:latin typeface="-apple-system"/>
                <a:cs typeface="Times New Roman" panose="02020603050405020304" pitchFamily="18" charset="0"/>
              </a:rPr>
              <a:t>Physical solution</a:t>
            </a:r>
            <a:endParaRPr lang="zh-CN" altLang="en-US" sz="2000" dirty="0">
              <a:solidFill>
                <a:srgbClr val="B93B3B"/>
              </a:solidFill>
              <a:latin typeface="-apple-system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1D5DF5-BCDF-A250-D652-37D28BBA6EFA}"/>
              </a:ext>
            </a:extLst>
          </p:cNvPr>
          <p:cNvSpPr txBox="1"/>
          <p:nvPr/>
        </p:nvSpPr>
        <p:spPr>
          <a:xfrm>
            <a:off x="6758110" y="3344582"/>
            <a:ext cx="2235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555555"/>
                </a:solidFill>
                <a:effectLst/>
                <a:latin typeface="-apple-system"/>
                <a:cs typeface="Times New Roman" panose="02020603050405020304" pitchFamily="18" charset="0"/>
              </a:rPr>
              <a:t>Unphysical solution</a:t>
            </a:r>
            <a:endParaRPr lang="zh-CN" altLang="en-US" sz="2000" dirty="0">
              <a:solidFill>
                <a:srgbClr val="555555"/>
              </a:solidFill>
              <a:latin typeface="-apple-system"/>
              <a:cs typeface="Times New Roman" panose="02020603050405020304" pitchFamily="18" charset="0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2EC9F77-6512-7BFE-AE68-78B94915DCD0}"/>
              </a:ext>
            </a:extLst>
          </p:cNvPr>
          <p:cNvSpPr/>
          <p:nvPr/>
        </p:nvSpPr>
        <p:spPr>
          <a:xfrm>
            <a:off x="4174804" y="2763101"/>
            <a:ext cx="645319" cy="111919"/>
          </a:xfrm>
          <a:custGeom>
            <a:avLst/>
            <a:gdLst>
              <a:gd name="connsiteX0" fmla="*/ 0 w 645319"/>
              <a:gd name="connsiteY0" fmla="*/ 111919 h 111919"/>
              <a:gd name="connsiteX1" fmla="*/ 111919 w 645319"/>
              <a:gd name="connsiteY1" fmla="*/ 88106 h 111919"/>
              <a:gd name="connsiteX2" fmla="*/ 266700 w 645319"/>
              <a:gd name="connsiteY2" fmla="*/ 57150 h 111919"/>
              <a:gd name="connsiteX3" fmla="*/ 464344 w 645319"/>
              <a:gd name="connsiteY3" fmla="*/ 21431 h 111919"/>
              <a:gd name="connsiteX4" fmla="*/ 645319 w 645319"/>
              <a:gd name="connsiteY4" fmla="*/ 0 h 11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319" h="111919">
                <a:moveTo>
                  <a:pt x="0" y="111919"/>
                </a:moveTo>
                <a:lnTo>
                  <a:pt x="111919" y="88106"/>
                </a:lnTo>
                <a:lnTo>
                  <a:pt x="266700" y="57150"/>
                </a:lnTo>
                <a:cubicBezTo>
                  <a:pt x="325437" y="46038"/>
                  <a:pt x="401241" y="30956"/>
                  <a:pt x="464344" y="21431"/>
                </a:cubicBezTo>
                <a:cubicBezTo>
                  <a:pt x="527447" y="11906"/>
                  <a:pt x="586383" y="5953"/>
                  <a:pt x="645319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69BC998-7D22-C73F-1076-02D94AAB6985}"/>
              </a:ext>
            </a:extLst>
          </p:cNvPr>
          <p:cNvSpPr txBox="1"/>
          <p:nvPr/>
        </p:nvSpPr>
        <p:spPr>
          <a:xfrm>
            <a:off x="4392204" y="2328193"/>
            <a:ext cx="1081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effectLst/>
                <a:latin typeface="-apple-system"/>
                <a:cs typeface="Times New Roman" panose="02020603050405020304" pitchFamily="18" charset="0"/>
              </a:rPr>
              <a:t>Outflow</a:t>
            </a:r>
            <a:endParaRPr lang="zh-CN" altLang="en-US" sz="2000" dirty="0">
              <a:latin typeface="-apple-system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C3BB4D6-41C4-26E4-0DB7-86123584E485}"/>
              </a:ext>
            </a:extLst>
          </p:cNvPr>
          <p:cNvSpPr txBox="1"/>
          <p:nvPr/>
        </p:nvSpPr>
        <p:spPr>
          <a:xfrm>
            <a:off x="3420480" y="2208313"/>
            <a:ext cx="895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effectLst/>
                <a:latin typeface="-apple-system"/>
                <a:cs typeface="Times New Roman" panose="02020603050405020304" pitchFamily="18" charset="0"/>
              </a:rPr>
              <a:t>Inflow</a:t>
            </a:r>
            <a:endParaRPr lang="zh-CN" altLang="en-US" sz="2000" dirty="0">
              <a:latin typeface="-apple-system"/>
              <a:cs typeface="Times New Roman" panose="02020603050405020304" pitchFamily="18" charset="0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92A3A757-8FDA-35EC-5AA2-003C0E0A4963}"/>
              </a:ext>
            </a:extLst>
          </p:cNvPr>
          <p:cNvSpPr/>
          <p:nvPr/>
        </p:nvSpPr>
        <p:spPr>
          <a:xfrm>
            <a:off x="3615519" y="2610808"/>
            <a:ext cx="352425" cy="278606"/>
          </a:xfrm>
          <a:custGeom>
            <a:avLst/>
            <a:gdLst>
              <a:gd name="connsiteX0" fmla="*/ 507206 w 507206"/>
              <a:gd name="connsiteY0" fmla="*/ 442912 h 442912"/>
              <a:gd name="connsiteX1" fmla="*/ 381000 w 507206"/>
              <a:gd name="connsiteY1" fmla="*/ 409575 h 442912"/>
              <a:gd name="connsiteX2" fmla="*/ 250031 w 507206"/>
              <a:gd name="connsiteY2" fmla="*/ 364331 h 442912"/>
              <a:gd name="connsiteX3" fmla="*/ 154781 w 507206"/>
              <a:gd name="connsiteY3" fmla="*/ 307181 h 442912"/>
              <a:gd name="connsiteX4" fmla="*/ 80962 w 507206"/>
              <a:gd name="connsiteY4" fmla="*/ 238125 h 442912"/>
              <a:gd name="connsiteX5" fmla="*/ 28575 w 507206"/>
              <a:gd name="connsiteY5" fmla="*/ 130969 h 442912"/>
              <a:gd name="connsiteX6" fmla="*/ 0 w 507206"/>
              <a:gd name="connsiteY6" fmla="*/ 0 h 442912"/>
              <a:gd name="connsiteX0" fmla="*/ 381000 w 381000"/>
              <a:gd name="connsiteY0" fmla="*/ 409575 h 409575"/>
              <a:gd name="connsiteX1" fmla="*/ 250031 w 381000"/>
              <a:gd name="connsiteY1" fmla="*/ 364331 h 409575"/>
              <a:gd name="connsiteX2" fmla="*/ 154781 w 381000"/>
              <a:gd name="connsiteY2" fmla="*/ 307181 h 409575"/>
              <a:gd name="connsiteX3" fmla="*/ 80962 w 381000"/>
              <a:gd name="connsiteY3" fmla="*/ 238125 h 409575"/>
              <a:gd name="connsiteX4" fmla="*/ 28575 w 381000"/>
              <a:gd name="connsiteY4" fmla="*/ 130969 h 409575"/>
              <a:gd name="connsiteX5" fmla="*/ 0 w 381000"/>
              <a:gd name="connsiteY5" fmla="*/ 0 h 409575"/>
              <a:gd name="connsiteX0" fmla="*/ 352425 w 352425"/>
              <a:gd name="connsiteY0" fmla="*/ 278606 h 278606"/>
              <a:gd name="connsiteX1" fmla="*/ 221456 w 352425"/>
              <a:gd name="connsiteY1" fmla="*/ 233362 h 278606"/>
              <a:gd name="connsiteX2" fmla="*/ 126206 w 352425"/>
              <a:gd name="connsiteY2" fmla="*/ 176212 h 278606"/>
              <a:gd name="connsiteX3" fmla="*/ 52387 w 352425"/>
              <a:gd name="connsiteY3" fmla="*/ 107156 h 278606"/>
              <a:gd name="connsiteX4" fmla="*/ 0 w 352425"/>
              <a:gd name="connsiteY4" fmla="*/ 0 h 278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425" h="278606">
                <a:moveTo>
                  <a:pt x="352425" y="278606"/>
                </a:moveTo>
                <a:cubicBezTo>
                  <a:pt x="309563" y="265509"/>
                  <a:pt x="259159" y="250428"/>
                  <a:pt x="221456" y="233362"/>
                </a:cubicBezTo>
                <a:cubicBezTo>
                  <a:pt x="183753" y="216296"/>
                  <a:pt x="154384" y="197246"/>
                  <a:pt x="126206" y="176212"/>
                </a:cubicBezTo>
                <a:cubicBezTo>
                  <a:pt x="98028" y="155178"/>
                  <a:pt x="73421" y="136525"/>
                  <a:pt x="52387" y="107156"/>
                </a:cubicBezTo>
                <a:cubicBezTo>
                  <a:pt x="31353" y="77787"/>
                  <a:pt x="13494" y="39687"/>
                  <a:pt x="0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625DC81A-3586-41C2-8361-B23D1866BF97}"/>
              </a:ext>
            </a:extLst>
          </p:cNvPr>
          <p:cNvCxnSpPr>
            <a:cxnSpLocks/>
          </p:cNvCxnSpPr>
          <p:nvPr/>
        </p:nvCxnSpPr>
        <p:spPr>
          <a:xfrm>
            <a:off x="3111690" y="3016155"/>
            <a:ext cx="77792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71BC0F4-BFB8-BB2F-8DA9-047FA0E3ED56}"/>
              </a:ext>
            </a:extLst>
          </p:cNvPr>
          <p:cNvCxnSpPr>
            <a:cxnSpLocks/>
          </p:cNvCxnSpPr>
          <p:nvPr/>
        </p:nvCxnSpPr>
        <p:spPr>
          <a:xfrm>
            <a:off x="4171667" y="3022979"/>
            <a:ext cx="479491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B2B1C61F-282A-EC7E-7912-AA15995127F9}"/>
              </a:ext>
            </a:extLst>
          </p:cNvPr>
          <p:cNvSpPr txBox="1"/>
          <p:nvPr/>
        </p:nvSpPr>
        <p:spPr>
          <a:xfrm>
            <a:off x="5622254" y="4392138"/>
            <a:ext cx="15967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555555"/>
                </a:solidFill>
                <a:effectLst/>
                <a:latin typeface="-apple-system"/>
                <a:cs typeface="Times New Roman" panose="02020603050405020304" pitchFamily="18" charset="0"/>
              </a:rPr>
              <a:t>Unphysical solution</a:t>
            </a:r>
            <a:endParaRPr lang="zh-CN" altLang="en-US" sz="2000" dirty="0">
              <a:solidFill>
                <a:srgbClr val="555555"/>
              </a:solidFill>
              <a:latin typeface="-apple-system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692824-E634-070A-3815-439A33FD6A35}"/>
              </a:ext>
            </a:extLst>
          </p:cNvPr>
          <p:cNvSpPr/>
          <p:nvPr/>
        </p:nvSpPr>
        <p:spPr>
          <a:xfrm>
            <a:off x="3088942" y="88710"/>
            <a:ext cx="281492" cy="586853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78B8CE-C744-9D48-8A99-3F7A821958BB}"/>
              </a:ext>
            </a:extLst>
          </p:cNvPr>
          <p:cNvSpPr txBox="1"/>
          <p:nvPr/>
        </p:nvSpPr>
        <p:spPr>
          <a:xfrm>
            <a:off x="3370487" y="4796716"/>
            <a:ext cx="987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effectLst/>
                <a:latin typeface="-apple-system"/>
                <a:cs typeface="Times New Roman" panose="02020603050405020304" pitchFamily="18" charset="0"/>
              </a:rPr>
              <a:t>Event horizon</a:t>
            </a:r>
            <a:endParaRPr lang="zh-CN" altLang="en-US" sz="2000" dirty="0">
              <a:latin typeface="-apple-system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8BD0280-7710-25DE-7619-E839D4E6EEB7}"/>
              </a:ext>
            </a:extLst>
          </p:cNvPr>
          <p:cNvCxnSpPr/>
          <p:nvPr/>
        </p:nvCxnSpPr>
        <p:spPr>
          <a:xfrm>
            <a:off x="3356786" y="88710"/>
            <a:ext cx="0" cy="5868538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242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</Words>
  <Application>Microsoft Office PowerPoint</Application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-apple-system</vt:lpstr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Yehui</dc:creator>
  <cp:lastModifiedBy>Yehui</cp:lastModifiedBy>
  <cp:revision>41</cp:revision>
  <dcterms:created xsi:type="dcterms:W3CDTF">2025-06-03T17:12:27Z</dcterms:created>
  <dcterms:modified xsi:type="dcterms:W3CDTF">2025-06-04T04:26:25Z</dcterms:modified>
</cp:coreProperties>
</file>