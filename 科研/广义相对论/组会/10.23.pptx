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2"/>
    <p:restoredTop sz="94699"/>
  </p:normalViewPr>
  <p:slideViewPr>
    <p:cSldViewPr snapToGrid="0">
      <p:cViewPr varScale="1">
        <p:scale>
          <a:sx n="86" d="100"/>
          <a:sy n="86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5:37:35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0 120,'37'-4,"-7"1,-23 3,6 0,4 0,-2 0,3-3,-4 2,3-2,9 3,-11 0,4-3,3 2,-12-2,21 3,-23-3,14 3,-8-3,3 0,0 2,5-5,-6 5,18-2,-17 3,32-3,-24 2,30-2,-26 3,15-3,-22 2,31-2,-26 3,34-3,-38 2,25-3,-24 4,25-3,-25 2,24-2,-30 3,30 0,-24 0,31 0,-30 0,24 0,-27 0,17 0,-17 0,15 3,-20-2,17 2,-21-3,18 3,-19-3,17 3,-14-3,16 3,-17-2,16 2,-21-3,19 0,-19 0,19 3,-16-2,13 2,-13-3,22 3,-23-3,26 3,-27-3,20 3,-20-2,21 2,-22-3,22 0,-21 0,17 0,-18 0,22 3,-21-2,21 2,-19-3,13 0,-13 0,19 0,-17 0,17 0,-16 0,13 0,-12 0,16 0,-17 0,17 0,-17-3,20 2,-19-2,22 3,-25 0,24 0,-23 0,23 0,-23 0,22 0,-22 0,29-3,-25 2,31-2,-31 3,25 0,-27 0,22 0,-22 0,19 0,-19 0,24 0,-22 0,23 0,-29 0,19 0,-18 0,18 0,-18 0,18 0,-22 0,22 0,-18 0,18 0,-15 0,12 0,-13 0,11 0,-11 0,7 0,-8 0,9 0,-12 0,17 0,-18 0,18 0,-20 0,23 0,-20 0,19 0,-21 0,16 0,-10 0,5 0,-1 0,-5 0,3 0,-1 0,-2 0,9 0,-11 0,15 0,-17 0,18 0,-16 0,13 3,-10-2,13 2,-15 0,18-2,-21 2,26-1,-22-1,24 2,-25-3,17 3,-17-2,18 2,-18 0,18-2,-21 2,26-3,-25 0,26 3,-27-3,20 3,-17-3,19 0,-20 0,19 0,-21 0,17 0,-15 0,17 0,-17 0,13 0,-14 0,6 0,-1 0,-2 0,2 0,1 0,-3 0,2 0,1 0,-3 0,2 0,0 0,-1 0,1 0,0 0,-2 0,3 0,-1 3,-2-2,3 2,-1-3,-2 0,2 0,1 0,-3 0,2 0,1 0,-3 0,2 0,0 0,-1 0,1-3,0 2,-2-2,3 3,-1 0,-2-3,3 2,-1-2,-2 3,2 0,1-3,-3 3,2-3,1 0,-3 2,2-2,0 3,-1 0,1 0,0 0,-2 0,3-3,-1 2,-2-2,3 3,-1 3,-2-2,2 5,1-6,-3 3,2 0,1-2,-3 2,2-3,1-6,-3 4,2-7,-3 6,1-4,2 3,-2-2,3 2,-4-3,0 1,1-1,2 3,-2-2,3 2,-4-3,0 1,1-4,-1 5,1-4,-1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5:37:53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75,'40'-4,"-6"1,-27 3,2 0,17-3,-12 2,14-2,-12 3,-4 0,19 0,-18-3,13 3,-4-3,-6 3,22-3,12-1,-13 0,12 1,-35 0,18 2,-15-2,17 3,-19-3,8 2,-12-2,17 0,-18 3,21-3,-22 3,12-3,-7 2,0-2,5 0,-8 2,9-2,-6 3,2 0,0 0,-2 0,3 0,-1 0,-2 0,3 0,-1 0,-2 0,3 0,-1 0,-2 0,2 0,1 0,-3 3,5-2,-4 2,1-3,0 0,-1 0,1 0,3 0,-7 0,7 0,-3 0,-4 0,10 0,-11 0,5 0,4-3,-8 2,6-2,-4 3,0 0,5 0,-5 0,3 0,-1 0,1 0,-3 0,5 0,-8 0,8 0,-4 0,1 0,0-3,-1 2,1-2,3 3,-7 0,10 0,-11 0,6 0,-1 0,-2 0,3 0,-1 0,4 0,-5 0,10 0,-16 0,15 0,-12 0,11 0,-9 0,5 0,-5 0,6 0,-6 0,2 0,1 0,-3 0,2 0,4 0,-9 0,8 0,-6 0,2 0,4 0,-5 0,3 3,-1-2,-2 2,6-3,-6 0,5 3,-5-3,6 3,-6-3,5 0,-5 3,15-2,-16 2,21 0,-21-2,18 2,-18-3,18 3,-19-3,20 3,-20-3,19 3,-18-2,24 2,-23-3,23 3,-24-2,18 5,-18-5,18 2,-22-3,19 3,-16-3,13 3,-13-3,19 3,-21-2,21 5,-19-5,13 2,-13 0,13-3,-13 3,16 0,-15-2,18 5,-18-5,24 5,-23-6,26 6,-27-5,22 5,-19-5,15 5,-15-6,18 6,-20-5,19 2,-20 0,22-2,-19 5,19-5,-23 2,19-1,-21-1,20 2,-17 0,15-2,-16 2,16 0,-18-2,17 2,-15 0,17-3,-17 3,16-3,-19 3,16-2,-13 2,10-3,-8 0,2 3,1-2,-3 2,3-3,5 0,-6 0,12 3,-13-3,13 3,-15-3,18 0,-19 0,23 0,-22 3,30-2,-31 2,25-3,-25 0,22 3,-16-2,19 2,-21-3,15 3,-18-3,18 3,-19-3,17 0,-17 0,15 3,-14-2,12 2,-13-3,6 0,-4 0,3 0,0 0,-4 0,3 0,-1 0,1 0,0 0,-2 0,3 0,-1 0,-2 0,3 0,-1-3,-2 2,2-2,1 3,-3-3,2 3,1-3,-3 3,2 0,1-4,-3 4,2-3,0 0,2 2,-4-2,7 3,-12 0,13-3,-8 2,0-2,5 3,-5 0,3 0,0 0,-4 0,3-3,-1 2,1-2,0 3,-2 0,3 0,-1-3,-2 3,3-4,-1 4,-2 0,2 0,1 0,-3 0,2 0,1 0,-3 0,2 0,1 0,-3 0,2 0,0-3,-2 3,3-3,-1 3,-2 0,3 0,-1 0,-2 0,3 0,-1 0,-2 0,2 0,1 0,0 0,-3 0,8 0,-13 0,12 0,-3 0,-4 0,8 0,-11 0,9 0,-6 0,2 0,4 0,-8 0,9 0,-9 0,7 0,-5 0,9 0,-9 0,12 0,-14 0,12 0,-15 0,16 0,-10 0,5 0,0 0,-3 0,-3 0,4 0,-6 0,7 0,-5 0,2 0,1 0,-3 0,2-3,1 2,-3-2,2 3,0 0,-1-3,1 2,0-2,-2 3,3 0,-1-3,-2 2,3-2,-1 3,-2 0,5-3,-4 2,1-2,0 3,-1 0,1 0,3-3,-7 3,7-3,-6 3,1 0,6-3,-3 2,0-2,0 3,-1 0,-2 0,9-3,-11 2,12-2,-12 3,20 0,-19 0,21-3,-25 2,22-2,-21 3,20 0,-17 0,19 0,-20-3,19 2,-21-2,23 3,-19 0,17 0,-19 0,16-3,-18 3,17-3,-15 3,14 0,-14 0,12 0,-15 0,19-3,-19 2,19-2,-19 3,16 0,-10 0,5 0,-1 0,-5 0,3 0,2 0,-7 0,19 0,-21 0,24 0,-25 0,19-3,-19 2,16-2,-13 3,13 0,-13 0,13 0,-16 0,21 0,-19 0,19 0,-18 0,14 0,-14 0,12 0,-15 0,16 0,-10 0,5 0,-4 0,7 0,-11 0,19 0,-21 0,17 3,-18-2,19 2,-18-3,20 3,-20-3,21 3,-19-3,23 0,-19 3,19-2,-19 2,15-3,-15 3,15-2,-15 2,3-3,0 0,-7 0,8 0,-4 0,-2 3,15-3,-13 3,19-3,-23 0,19 0,-21 3,20-2,-20 2,21-3,-22 0,22 0,-21 0,18 0,-17 0,18 0,-13 0,12 0,-16 3,13-2,-13 2,13-3,-10 0,10 0,-13 0,13 0,-13 0,13 3,-10-2,17 2,-19-3,18 2,-19-1,13 2,-13-3,10 0,-11 0,5 3,1-2,-3 2,2-3,0 0,-2 0,3 3,-1-2,-2 2,3-3,-1 0,-2 0,3 0,-1 0,-2 0,2 0,1 0,-3 0,2 0,1 0,-3 0,2 0,0 0,-1 0,1 0,0 0,-2 0,3 0,-1 0,-2 0,3 0,-1-3,-2 2,2-2,1 3,-3 0,2 0,1 0,-3 0,2 0,0 0,-1 0,1 0,0 0,-2 0,3 0,-1 0,-2 0,3 0,-1 0,-2-3,2 2,1-2,-3 3,2 0,1 0,-3 0,5 0,-2 0,-3 0,5 0,-5 0,3 0,0 0,-4 3,3-2,-1 2,1-3,0 0,2 0,-1 0,-1 3,0-3,2 3,2-3,-6 0,14 0,-18 0,24 0,-21 0,18 0,-15 0,9 0,-14 0,8 0,-5 0,3 0,-1 0,-2 0,2 0,-2 0,3 0,-1 0,-2 0,3 0,-1 0,-2 3,2-2,1-1,0-4,-3 0,5-2,-8 3,8-4,-5 3,0-2,1-1,-4 3,6-6,-1 10,-2-3,3 0,-1 2,1-2,-3 3,5 0,-5 0,3 0,2 0,-8 0,8 0,-5 0,3 0,0 0,-4 0,3 0,-2 0,3 0,-1 0,-2 0,3 0,-1 0,-2 0,2 0,1 0,-3 0,2 3,1-2,-3 2,2-3,1 0,-3 0,2 0,0 0,-2 0,3 0,-1 0,-2 3,3-3,-1 3,-2-3,3 0,-1 0,-2 0,2 0,1 0,-3 0,2 3,1-2,-3 2,2-3,0 0,-1 0,1 0,0 3,-2-2,3 2,-1-3,-2 0,3 0,-1 0,-2 3,2-3,1 3,-3-3,2 0,1 0,-3 0,2 0,0 0,-1 0,1 0,0 3,-2-2,3 2,-1-3,-2 0,3 0,-1 0,-2 3,2-2,1 2,-3-3,2 0,1 0,-3 0,2 0,0 0,-1 0,1 0,0 0,-2 0,3 0,-1 0,-2 0,3 0,-1 0,-2 0,2 0,1 0,-3 0,2 0,1 0,-3 0,2 0,1 0,-3 0,2 0,0 0,-2 0,3 0,-1 0,-2 0,3 0,-1 0,-2 0,3 0,-1 0,-2-3,2 2,1-2,-3 3,2 0,1 0,-3 0,2 0,0 0,-1 0,1 0,0 0,-2 0,3 0,-1 0,-2 0,3 0,-1 0,-2 0,2 0,1 0,-3 0,2 0,1 0,-3 0,2 0,0 0,-1 0,1 0,0 0,-2 0,3 0,-1 0,-2 0,3 0,-1 0,-2 0,2 0,1 0,-3 0,2 0,1 0,-3 0,2 0,0 0,-1 0,1 0,0 0,-2 0,3 0,-1 0,-2 0,3 3,-1-2,-2 2,2-3,1 0,-3 0,2 0,1 0,-3 0,2 3,1-3,-3 3,2-3,0 0,-1 0,1 0,0 0,-2 3,3-2,-1 2,-2-3,3 0,-1 0,-2 0,2 0,1 0,-3 3,2-2,1 2,-3-3,2 0,1 0,-3 0,2 0,0 0,-2 0,3 0,-1 3,-2-3,3 3,-1-3,-2 0,3 0,-1 0,-2 0,2 3,1-2,-3 2,2-3,1 0,-3 0,2 0,0 0,-1 0,1 0,0 0,-2 0,3 0,-1 0,-2 0,3 0,-1 0,-2 0,2 0,1 0,-3 0,2 0,1 0,-3 0,2 0,0 0,-1 0,1 0,0 0,-2 0,3 0,-1 0,-2 0,3 0,-1 0,-2 0,2 0,1 0,-3 3,2-2,1 2,-3-3,2 0,0 0,-1 0,1 0,0 0,-2 0,3 0,-1 0,-2 0,3 0,-1 0,-2 0,2 0,1 0,-3 0,2 0,1 0,-3 0,2 3,1-3,-3 3,2-3,0 0,-1 0,1 3,0-2,-2 2,3-3,-1 0,-2 0,3 3,-1-2,-2 2,2-3,4 0,-8 0,6 0,-4 0,0 0,5 0,-5 0,3 0,2 0,-4 0,1 0,0 0,-2 0,3 3,3-2,-9 2,8-3,-5 0,3 0,-1 0,-2 0,5 0,-7 0,7 0,-6 0,1 0,5 0,-4 0,1 0,0 0,-1 2,1-1,0 2,-2-3,3 0,-1 0,-2 0,3 0,-1 0,-2 0,2 0,1 0,-3 0,2 0,1 0,-3 0,2 0,1 0,-3-3,2 2,0-2,-2 0,3 3,-1-3,-2 3,3-3,-1 2,-2-2,3 3,-1 0,-2 0,2-3,1 2,-3-2,2 3,1 0,-3-3,2 2,0-2,-1 3,1-3,0 2,-2-2,3 0,-1 3,-2-3,3 0,-1 2,-2-5,2 5,1-2,-3 3,2 0,1-3,-3 2,2-2,0 3,-1 0,1 0,0 0,-2 0,3 0,-1 0,-2 0,3 0,-1 0,-2 0,2 0,1 0,-3-3,2 2,1-2,-3 3,2 0,1 0,-3 0,2-3,0 3,-2-3,3 3,-1-4,-2 4,3-3,-1 3,-2 0,3 0,-1 0,-2 0,2 0,1 0,-3 0,2 0,1 0,-3 0,2 0,0 0,-1 0,1 0,0 0,-2 0,3 0,-1 0,-2 0,3 0,-1 0,-2 0,3 0,-1 0,-2 0,2-3,1 2,-3-5,2 5,1-2,-3 3,2 0,0-3,-1 2,1-2,0 3,-2 0,3-3,-1 3,-2-4,3 4,-1-3,-2 0,3-1,-1 1,-2 3,2 0,1 0,-3 0,2 0,1 0,-3 0,2-3,0 2,-1-2,1 3,0 0,-2-3,3 2,-1-2,-2 3,3 0,-1 0,-2 0,2 0,1 0,-3 0,2 0,1 0,-3 0,2 0,0 0,-1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5:37:57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0 144,'37'-12,"-7"3,-23 9,5-3,6 2,-3-2,12 0,-17 3,17-6,-18 5,13-2,-5 0,10-1,-8 0,3 1,-6 0,-4 2,19-2,-18 0,16 3,-15-3,8 3,-7 0,5 0,5-4,-8 4,20-3,-20 3,20 0,-5-3,-3 2,12-2,-25 3,16 0,-17 0,4 0,10-3,6 2,-2-2,7 3,-24 0,12 0,-13 0,14 0,-16 0,17 3,-20-2,24 2,-21-3,18 3,-19-3,16 3,-18-3,20 0,-17 0,22 3,-19-2,15 2,-16-3,14 3,-13-2,15 2,-18-3,17 0,-17 0,25 0,-21 0,20 0,-21 0,15 0,-15 0,16 0,-17 0,20 0,-22 0,24 0,-23 0,20 0,-18 0,15 0,-15 0,21 0,-22 0,21 0,-26 0,18 0,-19 0,15 0,-9 0,5 0,-3 0,-1 0,-2 0,3 0,-1 0,-2 0,2 0,1 0,-3 0,2 0,1-3,-3 2,2-2,0 0,-1 2,1-2,0 3,-2 0,3 0,2-3,-7 2,10-2,-11 3,5 0,4 0,-5 0,4 0,1-3,-9 3,17-3,-18 3,20 0,-17-3,16 2,-18-2,14 3,-13 0,13 0,-13 0,13-3,-16 2,16-2,-13 3,10 0,-8 0,5 0,-4 0,1 0,0 0,-2-3,3 2,-1-2,-2 3,3 0,-1 0,-2 0,2 0,1-3,-3 2,2-2,1 3,-3 0,2 0,1 0,-3 0,2 0,0 0,-1 0,1 0,0 0,-2 0,3 0,-1-3,-2 3,3-3,-1 3,-2 0,2 0,1 0,-3 0,2 0,1-3,-3 2,2-2,1 3,-3 0,2 0,0 0,-1 0,1-3,0 2,-2-2,3 3,-1 0,-2 0,3 0,-1 0,-2-3,2 2,1-2,-3 3,2 0,1 0,-3 0,2 0,1 0,-3 0,2 0,0 0,-1 0,1 0,0 0,-2 0,3 0,-1 0,-2 0,3 0,-1 0,-2 0,2 0,1 0,-3 0,2 0,1 0,-3 0,2 0,0 0,-1 0,1 0,0 0,-2 0,3 0,-1 0,-2 0,3 0,-1 0,-2 0,2 0,1 0,-3 0,2 0,1 3,-3-2,2 2,1-3,-3 0,2 0,0 0,-1 0,1 0,0 0,-2 0,3 0,-1 0,-2 0,3 0,-1 0,-2 0,2 0,1 0,-3 0,2 0,1 0,-3 0,2 0,0 0,-1 0,1 0,0 0,-2 0,3 0,-1 0,-2 0,3 0,-1 0,-2 0,2 0,1 0,-3 0,2 0,1 0,-3 0,5 0,-5 0,6 0,-6 0,5 0,-4 0,1 0,3 0,-7 0,10 3,-11-2,9 2,-6-3,2 0,7 0,-11 0,13 0,-14 0,8 0,-4 0,1 0,0 0,-2 0,3 0,-1 0,-2 0,3 0,-1 0,-2 0,3 0,-1 0,-2 0,2 3,1-3,-3 3,2-3,1 0,-3 0,2 0,0 0,-1 0,1 0,0 0,-2 0,3 0,-1 0,-2 0,3 0,-1 3,-2-2,2 2,1-3,-3 0,5 0,-5 0,3 0,-1 0,-2 0,3 0,2 0,-7 0,7 0,-6 0,1 0,5 0,-1 0,-4 0,4 0,-6 3,7-2,-5 2,2-3,1 0,-3 0,2 0,1 0,-3 3,2-3,0 3,-2-3,3 0,-1 0,-2 0,3 0,-1 3,-2-2,3 2,-1-3,-2 0,2 3,1-2,-3 2,2-3,1 0,-3 0,2 0,0 0,-1 3,1-3,0 3,-2-3,3 0,-1 0,-2 0,3 0,-1 0,-2 0,2 0,1 0,-3 3,2-2,1 2,-3-3,2 0,0 0,-1 0,1 0,0 0,-2 0,3 0,-1 3,-2-2,3 2,-1-3,-2 0,2 0,1 0,-3 0,2 0,1 0,-3 0,2 0,0 0,-1 0,1 0,0 0,-2 0,3 0,-1 0,-2 0,3 3,-1-3,-2 3,2-3,1 0,-3 0,2 0,1 0,-3 0,2 0,1 3,-3-2,2 2,0-3,-2 3,3-2,-1 2,-2-3,3 0,-1 0,-2 0,3 0,-1 0,-2 0,2 0,1 0,-3 0,2 0,1 0,-3 3,2-2,0 2,-1-3,1 0,0 3,-2-3,3 3,-1-3,-2 0,3 0,-1 0,-2 0,2 0,1 0,-3 0,2 0,1-3,-3 2,2-2,0 3,-1 0,1 0,0 0,-2 0,3 0,-1 0,-2 0,3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6:29:39.4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48,'37'0,"-7"0,-23 0,6 0,4-3,-2 2,9-2,-15 0,10 2,-3-2,-4 3,9-3,-9 2,4-2,0 0,4 3,-5-3,4 3,-3-3,-4 2,10-2,-11 3,5-3,1 2,0-2,-3 3,4-3,-6 2,7-2,-5 3,2 0,1 0,-3 0,2 0,1 0,-3 0,2 0,1 0,-3 0,5 0,-4 0,1 0,0 0,-1 0,1 0,0 0,-2 0,3 0,5 0,-9 0,5 0,-2 3,-1-2,2 2,2-3,-8 0,8 0,-5 3,3-2,-1 2,-2-3,3 0,-1 3,-2-3,3 3,-1-3,-2 0,2 0,1 3,-3-2,2 2,1-3,-3 0,2 0,0 0,-1 0,1 0,0 3,-2-2,3 2,-1-3,-2 0,3 0,-1 0,-2 0,2 0,1 0,-3 0,2 0,1 0,-3 0,2 0,0 0,-1 0,1 0,0 0,-2 3,3-3,-1 3,-2-3,3 0,-1 0,-2 0,2 0,1 0,-3 0,2 0,1 0,-3 3,2-2,1 2,-3-3,2 0,0 3,-2-2,3 2,-1-3,-2 0,3 0,-1 0,-2 0,3 3,-1-3,-2 6,2-5,1 2,-3-3,2 0,1 3,-3-2,2 2,0 0,-1-3,1 3,0 0,-2-2,3 2,-1-3,-2 0,3 0,-1 0,-2 0,2 0,1 0,-3 0,2 0,1 0,-3 0,2 0,0 0,-1 0,1 0,0 0,-2 3,3-2,-1 2,-2-3,3 0,-1 3,-2-2,2 2,1-3,-3 2,2-1,1 5,-3-5,2 2,0 0,-1-2,1 5,0-6,1 6,-2-5,3 5,-7-5,6 2,-1-3,-2 0,2 3,-2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6:29:42.4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0,'34'7,"-4"-4,-27 0,10-3,7 0,-4 0,2 0,-5 3,1-2,3 2,0-3,-4 0,3 0,-2 0,3 0,-1 3,-2-2,6 2,-3-3,-3 0,4 0,-1 0,-2 0,7 0,-5 0,-2 0,3 0,-4 0,0 0,5 0,-5 0,6 0,-3 0,-3 0,5 0,-8 0,8-3,-5 2,3-2,-1 3,-2 0,2 0,1 0,-3 0,2 0,1 0,-3 0,2 0,0 0,-1 0,1 0,0 0,-2 0,3 0,-1 0,-2 0,3 0,-1 0,-2 0,2 0,1 0,-3 0,2 0,1 0,-3 0,2 0,0 3,-1-2,1 2,0-3,-2 0,3 0,-1 0,-2 0,3 0,-1 0,-2 0,2 0,1 0,-3 0,2 0,1 0,-3 0,2 0,1 0,-3 0,2 0,0 0,-2 0,3 0,-1 0,-2 0,3 0,-1 0,-2 0,3 0,-1 0,-2 0,2 0,1 0,-3 0,2 0,1-3,-3 2,2-2,0 3,-1 0,1 0,0 0,-2 0,3 0,-1 0,-2 0,6-3,-6 2,2-2,0 3,-1 0,1 0,0 0,-2 0,3 0,2 0,-4 0,1 0,0 0,-2 0,3 0,-1 0,-2 0,2 0,-2 0,3 0,-1 3,-2 1,3-1,-1 0,-2 0,2-2,1 2,-3-3,2 0,1 3,0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7:34:54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14,'37'-4,"-7"1,-23 3,5 0,5 0,-2 0,4 0,-6-3,1 2,6-2,-6 3,5 0,-2 0,-3 0,5 0,-5 0,6 0,-5 0,9 0,-11 0,18 3,-6-2,0 5,6-5,-15 2,15 0,-15-2,16 4,-17-4,26 5,-23-2,25 0,-26-1,20 0,-15 1,17 3,-17-2,21-3,-25 1,36-2,-34 5,34-5,-36 2,30-3,-30 3,25-2,-27 2,22-3,-22 0,19 3,-19-3,15 3,-15-3,18 3,-20-2,19 2,-23-3,18 0,-16 0,10 0,-5 3,0-2,0 2,-4-3,4 0,-3 0,2 0,0 0,-1 0,1 0,0 0,-2 0,3 0,-1 0,-2 0,3 0,-1 0,-2 0,2 0,1 0,-3 0,2 0,1 0,-3 0,2 0,4 0,-9 0,11 0,-8 0,1 0,6 0,-9 0,17 0,-14 0,17 0,-20 0,22 0,-23 0,28 3,-24-3,22 3,-21-3,15 0,-15 0,15 0,-15 0,16 0,-17 0,17 3,-17-2,20 2,-22-3,21 0,-24 0,20 0,-20 0,18 0,-16 0,13 0,-13 0,13 0,-16 0,18 0,-17 0,18 0,-20 0,14 0,-5 0,-2 0,4 0,-6 0,1 0,6 0,-6 0,2 0,1 0,-3 0,2 0,0 0,-1 0,4 0,-5 3,2-2,1 2,-3-3,2 0,1 0,0 0,-3 0,5 0,-8 0,8 0,-1 0,-4 0,11 0,-16 0,22 0,-18 0,21 0,-21 0,21 0,-21 0,18 3,-18-3,18 3,-19-3,20 0,-19 0,17 0,-17 0,15 0,-16 0,19 0,-21 3,24-2,-24 2,17-3,-18 0,16 0,-10 0,5 0,0 3,-3-2,0 2,2-3,-5 0,9 3,-11-3,12 3,-12-3,11 3,-9-2,8 2,-7-3,11 3,-14-2,18 5,-19-5,22 2,-23-3,18 3,-16-3,13 3,-10 0,11-2,-12 2,18 0,-16-2,16 5,-17-6,10 3,-10-3,17 3,-19-2,15 5,-17-5,11 5,-10-6,19 3,-21-3,18 3,-17-2,8 2,-4 0,1-2,0 2,-2-3,3 3,-1-3,-2 3,3-3,-1 3,-2-2,3 2,-1 0,-2-2,2 2,1 0,-3-2,2 2,1-3,-3 3,2-3,0 3,-1-3,1 0,0 0,-2 0,3 0,-1 3,-2-2,3 2,-1-3,-2 0,2 0,1 3,-3-2,2 2,1-3,-3 0,2 0,0 0,-1 0,1 0,0 0,-2 0,3 0,-1 3,-2-3,3 3,-1-3,-2 0,2 0,1 0,-3 0,2 0,1 0,-3 0,2 0,0 0,-1 0,1 0,0-3,-2 3,3-4,-1 4,-2 0,3 0,-1-3,-2 3,2-3,1 3,-3-3,2 2,1-2,-3 0,2 2,1-2,-3 3,2-3,0 2,-1-2,1 3,0 0,-2-3,3 2,-1-2,-2 0,3 3,-1-3,-2 3,2 0,1-3,-3 2,2-2,1 0,-3 2,2-2,0 3,-1-3,1 2,0-5,-2 5,3-2,-1 0,-2 3,3-6,-1 5,-2-5,2 5,1-5,-3 2,2 0,1-2,-3 6,2-3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7:34:59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0 116,'36'0,"-5"0,-24 0,5-3,5-1,-2 0,4 1,-3 0,-4 3,10-3,-11 3,8-3,-4 2,1-2,3 0,-7 2,10-5,-8 2,0 0,4 1,-6 0,4 3,0-3,-2-1,3 4,-1-6,-2 5,3-5,-1 2,-2-3,3 3,-4-2,3 3,-2-1,3 1,-1 0,-2 2,3-2,-1 3,-2-3,2 2,1-2,-3 3,2 0,1 0,-3 0,2 0,0 0,-1 0,1 0,0 0,-1 0,1 0,0 0,-1 0,1 0,1 0,0 0,-3 3,5-2,1 2,-5-3,13 0,-16 0,16 0,-15 0,15 0,-19 3,15-2,-12 2,8-3,-4 0,-2 0,2 0,1 0,-3 0,2 0,1 0,-3 0,2-3,0 2,-1-2,1 3,0 0,-2 0,3 0,-1 0,-2 0,3 0,-1 0,-2 0,2 0,1 0,-3 3,2-2,1 2,-3-3,2 0,1 0,-3 2,2-1,0 2,-2-3,3 0,-1 3,-2-2,3 2,-1-3,-2 3,3-2,-1 2,-2 0,2-3,1 3,0-3,-3 3,5-2,-8 2,5 0,1-2,-3 5,2-6,0 3,-1-3,1 3,0-2,-2 2,3 0,-1-2,-2 2,3 0,-1-3,-2 3,2-3,1 0,-3 3,2-2,1 5,-3-5,2 2,1-3,-3 3,2-2,0 4,-2-4,3 2,-1 0,-2-2,3 2,-1 0,-2-2,3 5,-1-6,-2 3,2 0,1 1,-3 0,2-1,1 0,-3-3,2 3,0 0,-1-2,1 5,0-5,-2 2,3 0,-1-3,-2 6,3-5,-1 5,-2-5,2 5,1-5,-3 1,2-2,1 3,-3-2,2 2,0 0,-1-2,1 2,0-3,-2 3,3-2,-1 2,-2-3,3 3,-1-3,-2 3,2 0,1-2,-3 2,2-3,1 3,-3-2,2 2,0 0,2-3,-4 3,4-3,-6 3,4-2,0 2,-1-3,1 3,0-2,-2 2,6-3,-6 3,2-3,1 3,-3-3,2 0,1 3,0-2,-3 2,5-3,-8 0,8 3,-5-2,3 2,-1-3,-2 0,2 3,1-2,-3 1,2-2,1 0,-3 3,2-2,1 2,-3-3,2 0,0 0,-2 0,3 3,-1-2,-2 2,3-3,-1 0,-2 0,3 0,-1 0,-2 0,2 3,1-2,-3 2,2-3,1 0,-3 0,2 0,0 0,-1 0,1 3,0-3,-2 3,3-3,-1 0,1 0,-3 0,5 0,-8 0,8 3,-4-2,1 2,0-3,-2 0,3 0,-1 0,-2 3,3-2,-1 2,-2-3,2 0,1 3,-3-3,2 3,1-3,-3 0,2 3,1-2,-3 2,2-3,0 3,-2-2,3 2,2 0,-7-3,7 3,-6-3,1 0,6 3,-6-2,2 2,1 0,-3-2,5 2,-5-3,3 3,-1-3,1 3,-2-3,6 3,-9-2,5 2,1-3,-3 0,5 3,-3-2,2 2,-7-3,13 3,-16-2,12 2,-4 0,-2-3,4 3,-6-3,1 3,6-2,-6 2,2-3,1 3,-3-2,2 2,0 0,-1-3,1 3,0-3,-2 0,3 0,-1 3,-2-2,3 2,-1-3,-2 0,2 3,1-2,-3 2,2-3,1 0,-3 3,2-3,0 3,-1-3,1 0,0 3,-2-2,3 2,-1-3,-2 0,3 0,-1 0,-2 3,2-2,1 2,-3-3,2 0,1 0,-3 3,2-3,0 3,-1-3,1 0,0 0,-2 0,3 0,-1 0,-2 0,3 0,-1 0,-2 3,2-2,1 2,-3-3,2 0,1 0,-3 0,2 0,1 0,-3 0,2 0,0 0,-2 0,3 0,-1 0,-2 0,3 0,-1 0,-2 0,3 0,-1 0,-2 0,2 0,1 0,-3 0,2 0,1 0,-3-3,2 2,0-2,-1 3,1-3,0 3,-2-3,3 3,-1 0,-2-3,3 2,-1-2,-2 3,2 0,1 0,-3 0,2 0,1 0,-3 0,2-3,0 2,2-2,-4 3,4 0,-6 0,7 0,-5 0,2 0,1 0,0-3,-3 2,5-2,-8 3,11 0,-10 0,7 0,-3 0,-4 0,10-3,-11 2,5-2,1 3,0 0,-3-3,5 3,-8-4,8 4,-5 0,2 0,1 0,-3 0,2 0,1-3,-3 3,2-3,1 3,0 0,-3 0,4 0,-6 0,7 0,-5 0,3 0,-1 0,-2 0,2 0,4 0,-8 0,6 0,-4 0,0 0,5 0,-5 0,3 0,2 0,-7 0,7 0,-6 0,4 0,1 0,-2 0,3 0,-7 0,16 0,-18 0,17 0,-18 0,13 0,-8 0,3 0,0 0,-1 0,-2 0,2 0,1 0,-3 0,2 0,1 0,-3 0,2 0,1 0,-3 0,2 0,0 0,-2 0,3 0,-1 0,-2 0,3 0,-1 0,-2 3,3-3,-1 3,-2-3,2 0,1 0,-3 0,2 0,1 3,-3-2,2 2,0-3,-1 0,1 0,0 0,-2 0,3 0,-1 0,-2 0,3 0,-1 0,-2 0,2 0,1 0,-3 0,2 0,1 0,-3 0,2 0,0 0,-1 3,1-2,0 2,-2-3,3 0,-1 0,-2 0,3 0,-1 0,-2 0,2 0,1 0,-3 0,2 0,1 0,-3 0,2 0,0 0,-1 0,1 0,3 0,-7 0,7 0,-6 0,1 0,9 0,-8 0,1 0,0 0,1 0,-2 0,3 3,-4-3,0 3,5-3,-5 0,3 0,2 0,-7 0,7 0,-6 0,1 0,6 0,-6 3,2-2,1 2,-3-3,2 0,0 0,-2 0,3 0,-1 0,-2 0,3 0,-1 0,-2 0,3 0,-1 0,-2 0,2 0,1 0,-3 0,2 0,1 0,-3 0,2 0,0 0,-1 0,1 0,0 0,-2 0,3 0,-1-3,-2 2,3-2,-1 3,-2 0,2 0,1 0,-3 0,2 0,1 0,-3 0,2 0,0 0,-1 0,1 0,0 0,-2 0,3 0,-1 0,-2 0,3 0,-1 0,-2 0,2 0,1 0,-3 0,2 0,1 0,-3 0,2 0,0 0,-1 0,1 0,0 0,-2 0,3 0,-1 0,-2 0,3 0,-1 3,-2-2,2 2,1-3,-3 0,2 0,1 0,-3 0,2 0,1 0,-3 0,2 3,1-2,-3 2,2-3,4 0,-9 0,8 0,-5 0,0 3,5-3,-5 3,6-3,-6 0,2 0,4 0,-5 0,1 0,3 0,-4 0,11 0,-11 0,9 3,-15-2,13 2,-8-3,3 0,0 0,-1 0,-2 0,3 0,-1 3,-2-2,2 2,1-3,-3 0,2 0,1 0,-3 0,2 0,0 0,-1 0,1 0,0 0,-2 0,3 0,-1 0,-2 0,3 0,-1 0,-2 0,2 0,1 0,-3 0,2 0,1 0,-3 0,2 0,0 0,-1 0,1 0,0 0,-2 0,3 0,-1 0,-2 0,3 0,-1 0,1 0,-3 0,5 0,-8 0,8 0,-4 0,1 0,0 0,-2 0,3 0,-1 0,-2 0,3 0,-1 0,-2 0,3 0,-1 0,-2 0,2 0,1 0,-3 0,2 0,1-3,-3 2,2-2,0 3,-1 0,1 0,0-3,-2 2,3-2,-1 0,-2 2,3-2,-1 0,-2 3,2-3,1 3,-3-3,2 2,1-5,-3 5,2-2,0 0,-1 2,1-2,0 0,-2 2,3-2,-1 0,-2 3,3-3,-1 0,-2 2,2-2,1 0,-3 2,2-2,1 0,-3 2,2-5,0 5,-1-2,1 0,0 0,-2-1,3 1,-1 0,-2 2,3-5,-1 5,-2-2,2 0,1 2,-3-5,2 5,1-2,-3 0,2 3,1-6,-3 5,2-2,0 0,-2 2,3-2,-1 0,-2 2,3-5,-1 2,-2 1,3-3,-1 5,-2-5,2 5,1-2,-3 0,2 2,1-5,-3 5,2-2,0 0,-1 3,1-3,0 0,-2 2,3-2,-1 3,-2-3,3 2,-1-2,-2 3,2-3,1 2,-3-2,2 3,1 0,-3-3,2 2,0-2,-1 3,1 0,0 0,-2-3,3 3,-1-3,-2 3,3-3,-1 2,-2-2,2 3,1 0,-3-3,2 2,1-2,-3 3,2 0,0 0,-1 0,1 0,0-3,-2 2,3-2,-1 3,-2 0,3 0,-1 0,-2 0,2 0,1-3,-3 2,2-2,1 3,-3 0,2 0,1 0,-3 0,2 0,0 0,-1 0,1 0,0 0,-2 0,3 0,-1 0,-2 0,3 0,-1 0,-2 0,2 0,1 0,-3 0,2 0,1 0,-3 0,2 0,1 0,-3-3,2 3,0-3,-2 3,3 0,-1 0,-2 0,3 0,-1 0,-2 0,3 0,-1 0,-2 0,6 0,-6 0,2 0,3 0,-7 0,7 0,-6 2,2-1,4 2,-2-3,-3 0,5 3,-5-2,0 2,8-3,-10 0,16 3,-15-2,18 2,-18-3,24 3,-23-3,23 6,-24-5,15 2,-13-3,10 0,-10 3,11-2,-11 2,10-3,-13 0,16 0,-19 0,19 3,-19-3,13 3,-8-3,0 0,4 0,-6 0,7 0,-5-3,2 3,1-3,-3 3,2 0,1 0,-3 0,2 0,0 0,-1 0,1 0,0 0,-2-3,3 2,-1-2,-2 3,3 0,-1 0,-2 0,2 0,1 0,-3 0,2 0,1 0,-3 0,2 0,1 0,-3 0,2 0,0 0,-2 0,3 0,-1 0,-2 0,3 0,-1 0,-2 0,3 0,-1 0,-2 0,2 0,1 0,-3 0,2 0,1 0,-3 0,2 0,0 0,-1 0,1 0,0 0,-2 0,3 0,-1 0,-2 0,3 0,2 0,-7 0,6 0,-4 0,3 0,0 0,0 0,-1 0,1 0,-2 0,3 0,2 0,-4 0,15 0,-18 0,21 0,-21 0,21 0,-24 0,20 0,-20 0,21 0,-21 0,17 0,-15 0,14 0,-15 0,14 0,-16 0,19 0,-19 0,19 0,-19 0,13 3,-8-3,0 3,4-3,-7 0,9 0,-6 0,2 0,1 0,-3 0,2 0,1-3,-3 3,2-3,0 3,-2 0,3 0,-1 0,-2 0,3 0,-1 0,-2 0,3 0,-1 0,1 0,-3 0,5 0,-8 0,8 0,-5 0,3 0,-1 0,-2 0,3 0,-1 0,-2 0,3 3,-1-3,-2 3,3-3,-1 0,-2 0,2 0,1 0,-3 0,2 0,1 0,-3 0,2 0,0 0,-1 0,1 0,0 0,-2 0,3 0,-1 0,-2 0,3 0,-1 0,-2 0,2 0,1 0,-3 0,2 0,1 0,-3 0,2-3,0 3,-1-3,1 3,0-4,-2 4,3-3,-1 0,-2 2,3-2,-1 3,-2-3,2 2,-2-2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2T17:35:02.0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1 123,'36'-12,"-6"3,-23 9,9-3,1 2,1-2,4 3,-14 0,11-3,-5 3,6-3,-6 3,5 0,-8-3,11 2,-10-2,16 0,-18 2,17-2,-18 3,16 0,-10 0,5 0,-4 0,4-3,-8 2,9-2,-7 3,4 0,-2 0,-3 0,4-3,-3 2,2-2,1 3,0 0,-3 0,4 0,-6 0,7 0,-5 0,2 0,1-3,-3 3,2-3,1 3,-3 0,2-3,0 2,-1-2,1 3,0 0,-2 0,3 0,-1-3,-2 2,3-2,-1 3,-2 0,2 0,1-3,-3 2,2-2,1 3,-3 0,2-3,0 2,-1-2,1 3,0 0,-2-3,3 3,-1-3,-2 3,3 0,-1 0,-2 0,2 0,1 0,0 0,-3 0,5 0,-8 0,8 0,-5 0,3 0,-1 0,-2 0,2 0,1 0,-3 0,2 0,1 0,-3 0,2 0,0 0,-1 0,1 0,0 0,-2-4,3 4,-1-3,-2 3,3 0,-1 0,-2 0,2-3,1 2,-3-2,2 3,1 0,-3 0,2 0,0-3,-1 2,1-2,0 3,-2 0,3 0,-1 0,-2 0,3 0,-1 0,-2 0,5 0,-4 0,1 0,0 0,-2 0,3 0,-1 0,-2 0,3 0,-1 0,-2 0,2 0,1 0,-3 0,2 0,1 0,-3 0,2 0,1 0,-3 0,2 0,0 0,-2 0,3 0,-1 0,-2 0,3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2ADF0-B8B3-2A09-60CF-8DD548BBF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8264F2-EFD4-9D91-F68F-B23FB69C8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A754D-4670-CA07-95A7-226311CC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1D9B0C-3587-9F51-0EAE-96D141F8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83E00-314E-B053-C311-EA683EC5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618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FCD30-C74B-B0BC-C29C-830DAD56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3BC77D-2780-AC94-8BEA-3377FF0AB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C8CE9B-9705-D1BA-AE91-E6159D7A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1B247-9FCC-9D46-4DB3-AFC8BB14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7188B-A913-09AF-E49C-796D7ED9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066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932FE-B4C4-9C65-5433-A9482D51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359DD4-3834-EEE6-63FA-17D4E76D3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39513-7DC3-BA44-C48E-5D129D6E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BF7FB-FB0F-B61C-DF1A-D15DDE8A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843EF-E0C3-AE34-B8AF-6E85FBD9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229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EF243-4B11-8AED-FDAC-6F35A05E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2A0CD-2F21-EEB6-18A7-E05F66CEC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C8552-492E-ED1D-B2EC-42C7FDF7A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7CE4D6-4D45-1781-DE07-A1F04802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45FEF-2EE8-420C-421C-F05139A5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965401-6088-C645-48A0-4006D426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18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DFAE6-CDC5-0F61-38ED-AE47C774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CCA9C6-2B9A-28AA-BC03-8BC9A4754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7EC968-794D-5221-49A2-5283267D0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E3BCDC-A8FA-76AC-C48B-8B87C2500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DC2538-F55D-EBB7-7494-5F525115F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F470E5-D95A-76F0-5F24-DE56527F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90A5A8-0000-4E28-AB8F-38CCF792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BBA118-F127-C069-4426-A7A18FB6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06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71CE5-C794-221E-E1EF-087E511A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642731-C3C9-908E-9DF3-088D814E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3A8B63-8AA0-21F2-5284-B3492AE0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BDB788-DEC7-32CE-8183-D4C8550A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225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12D537-CC98-4785-421B-1F2A73DE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49BE9-4038-77D4-7D83-77F4A8DF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AD6A97-8B81-3F9B-BDC8-643327B4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836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69387-6745-D4D6-3727-80E792DC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E7CF6-8171-7FF8-CF19-92FA0606D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D98501-2DF5-31E6-8F6B-AF90E967F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FF77D7-2A47-A198-E2F6-BD4BF34E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48EA04-52EE-E465-E35C-DDA9DF6D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F2999-CEFE-7100-6C31-9D794555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2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60DA9-9367-B290-1B81-8B43A40A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C5C33E-5552-5880-76D3-AC6138937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0DCFB9-5E81-6560-1CFE-B792BFF21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FC1734-87BB-B974-BE0C-DE7E8843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20B9C-C99C-A3D8-107A-6A756619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E524A4-C2AA-8DCA-F0EB-5040583D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459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8A4F1-BC31-DE61-7CF9-47A712FC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FB099C-ECAB-2988-F6F5-17D529366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F53C3-D812-60A3-F391-0BDC62DE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F4B1A-455B-7DE7-8F8F-81B5E84F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94094-57D3-179A-B503-FEA62B3B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586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B823C9-9F4E-A85A-69CA-C5FC8E88C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DED75C-3038-284D-A083-681235EA2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1C671-DD0A-20D8-BFA2-72E8D680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5F1DD-523F-8EDF-6D04-1A8ACF4F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6EF02-8F2A-B5D8-BB3A-833EA354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98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378E24-4B7B-51BA-6617-504751DD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FC759-4153-FA69-A15E-B3D0B230A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A08DD-B677-6522-DCED-42CB3C22E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D5C2D-8BC1-9C4C-B118-54F5BDCE517C}" type="datetimeFigureOut">
              <a:rPr kumimoji="1" lang="zh-CN" altLang="en-US" smtClean="0"/>
              <a:t>2025/10/22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19B74-2BB0-C016-F487-B40B25B7A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66190-2B99-6216-5DD2-9EAB2AE6F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49FCB-FD88-1D4C-B1D8-F3F7FCC359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281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customXml" Target="../ink/ink2.xml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AB620-9FF7-EB00-ED7A-D3A96D918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相对论喷流的研究历程和</a:t>
            </a:r>
            <a:r>
              <a:rPr kumimoji="1" lang="en-US" altLang="zh-CN" dirty="0"/>
              <a:t>GRGS</a:t>
            </a:r>
            <a:r>
              <a:rPr kumimoji="1" lang="zh-CN" altLang="en-US" dirty="0"/>
              <a:t>方程的导出</a:t>
            </a:r>
          </a:p>
        </p:txBody>
      </p:sp>
    </p:spTree>
    <p:extLst>
      <p:ext uri="{BB962C8B-B14F-4D97-AF65-F5344CB8AC3E}">
        <p14:creationId xmlns:p14="http://schemas.microsoft.com/office/powerpoint/2010/main" val="349231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BC46CA-73FB-1F09-2180-226328AB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95" y="1138851"/>
            <a:ext cx="10060929" cy="116701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651993-6E00-5A0C-D209-E29AA740D738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最早对</a:t>
            </a:r>
            <a:r>
              <a:rPr kumimoji="1" lang="en-US" altLang="zh-CN" sz="2800" dirty="0"/>
              <a:t>jet</a:t>
            </a:r>
            <a:r>
              <a:rPr kumimoji="1" lang="zh-CN" altLang="en-US" sz="2800" dirty="0"/>
              <a:t>的观测记录</a:t>
            </a:r>
            <a:r>
              <a:rPr kumimoji="1" lang="en-US" altLang="zh-CN" sz="2800" dirty="0"/>
              <a:t>——the observation for M87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59329A-B00B-9D29-C721-8D01CB083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36" y="2518520"/>
            <a:ext cx="100013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Curtis, H. D. (1918).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 "Descriptions of 762 Nebulae and Clusters Photographed with the Crossley Reflector." 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-webkit-standar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Publications of the Lick Observatory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E1372AC-1784-43C4-1C4E-5EC84EC581D3}"/>
                  </a:ext>
                </a:extLst>
              </p14:cNvPr>
              <p14:cNvContentPartPr/>
              <p14:nvPr/>
            </p14:nvContentPartPr>
            <p14:xfrm>
              <a:off x="8599504" y="1548005"/>
              <a:ext cx="2066760" cy="471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E1372AC-1784-43C4-1C4E-5EC84EC581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45504" y="1440005"/>
                <a:ext cx="21744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5B2C7D4-9503-590E-FDB5-A72ECFE1769F}"/>
                  </a:ext>
                </a:extLst>
              </p14:cNvPr>
              <p14:cNvContentPartPr/>
              <p14:nvPr/>
            </p14:nvContentPartPr>
            <p14:xfrm>
              <a:off x="3984664" y="1758605"/>
              <a:ext cx="6668640" cy="774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5B2C7D4-9503-590E-FDB5-A72ECFE176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0664" y="1650605"/>
                <a:ext cx="67762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FE5E3177-5E07-A1D8-7D8C-9819554C2039}"/>
                  </a:ext>
                </a:extLst>
              </p14:cNvPr>
              <p14:cNvContentPartPr/>
              <p14:nvPr/>
            </p14:nvContentPartPr>
            <p14:xfrm>
              <a:off x="4032184" y="1957325"/>
              <a:ext cx="2911680" cy="518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FE5E3177-5E07-A1D8-7D8C-9819554C20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78184" y="1849325"/>
                <a:ext cx="3019320" cy="2674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F215EB4D-4127-4802-B493-5D85F7DB65C7}"/>
              </a:ext>
            </a:extLst>
          </p:cNvPr>
          <p:cNvSpPr txBox="1"/>
          <p:nvPr/>
        </p:nvSpPr>
        <p:spPr>
          <a:xfrm>
            <a:off x="5220586" y="2923953"/>
            <a:ext cx="255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光学频段发现喷流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BAB0DA-84AC-EEC1-FD7E-9A51257B63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906" y="3293285"/>
            <a:ext cx="9751309" cy="266575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12D6722-0AC2-FC58-F5B7-3A1C7522D9D5}"/>
              </a:ext>
            </a:extLst>
          </p:cNvPr>
          <p:cNvSpPr txBox="1"/>
          <p:nvPr/>
        </p:nvSpPr>
        <p:spPr>
          <a:xfrm>
            <a:off x="910799" y="5856641"/>
            <a:ext cx="9154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</a:rPr>
              <a:t>BOLTON, J., STANLEY, G. &amp; SLEE, O. </a:t>
            </a:r>
            <a:r>
              <a:rPr lang="en-US" altLang="zh-CN" sz="1600" dirty="0">
                <a:solidFill>
                  <a:srgbClr val="000000"/>
                </a:solidFill>
                <a:latin typeface="Arial" panose="020B0604020202020204" pitchFamily="34" charset="0"/>
              </a:rPr>
              <a:t>Positions of Three Discrete Sources of Galactic Radio-Frequency Radiation. 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 pitchFamily="34" charset="0"/>
              </a:rPr>
              <a:t>Nature </a:t>
            </a:r>
            <a:r>
              <a:rPr lang="en-US" altLang="zh-CN" sz="1600" b="1" i="1" dirty="0">
                <a:solidFill>
                  <a:srgbClr val="000000"/>
                </a:solidFill>
                <a:latin typeface="Arial" panose="020B0604020202020204" pitchFamily="34" charset="0"/>
              </a:rPr>
              <a:t>164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 pitchFamily="34" charset="0"/>
              </a:rPr>
              <a:t>, 101–102 (1949).</a:t>
            </a:r>
            <a:endParaRPr lang="zh-CN" altLang="en-US" sz="16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59F2762F-A55B-AC0E-F2C1-BF48AC5009DA}"/>
                  </a:ext>
                </a:extLst>
              </p14:cNvPr>
              <p14:cNvContentPartPr/>
              <p14:nvPr/>
            </p14:nvContentPartPr>
            <p14:xfrm>
              <a:off x="1076224" y="4929011"/>
              <a:ext cx="1029600" cy="532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59F2762F-A55B-AC0E-F2C1-BF48AC5009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2224" y="4821011"/>
                <a:ext cx="1137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4E42F3FF-C13A-17A5-AF50-755AE35A9140}"/>
                  </a:ext>
                </a:extLst>
              </p14:cNvPr>
              <p14:cNvContentPartPr/>
              <p14:nvPr/>
            </p14:nvContentPartPr>
            <p14:xfrm>
              <a:off x="5149264" y="4999571"/>
              <a:ext cx="826560" cy="1476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4E42F3FF-C13A-17A5-AF50-755AE35A91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95264" y="4891571"/>
                <a:ext cx="934200" cy="2304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45DC8840-DE05-DB7A-B6F2-4192C9FF2BA7}"/>
              </a:ext>
            </a:extLst>
          </p:cNvPr>
          <p:cNvSpPr txBox="1"/>
          <p:nvPr/>
        </p:nvSpPr>
        <p:spPr>
          <a:xfrm>
            <a:off x="10248417" y="4414166"/>
            <a:ext cx="1511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发现射电源</a:t>
            </a:r>
            <a:r>
              <a:rPr kumimoji="1" lang="en-US" altLang="zh-CN" dirty="0"/>
              <a:t>Virgo A,</a:t>
            </a:r>
            <a:r>
              <a:rPr kumimoji="1" lang="zh-CN" altLang="en-US" dirty="0"/>
              <a:t>猜测来自</a:t>
            </a:r>
            <a:r>
              <a:rPr kumimoji="1" lang="en-US" altLang="zh-CN" dirty="0"/>
              <a:t>M87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733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B918D0-66AD-D132-1A4A-76656A363298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最早对</a:t>
            </a:r>
            <a:r>
              <a:rPr kumimoji="1" lang="en-US" altLang="zh-CN" sz="2800" dirty="0"/>
              <a:t>jet</a:t>
            </a:r>
            <a:r>
              <a:rPr kumimoji="1" lang="zh-CN" altLang="en-US" sz="2800" dirty="0"/>
              <a:t>的观测记录</a:t>
            </a:r>
            <a:r>
              <a:rPr kumimoji="1" lang="en-US" altLang="zh-CN" sz="2800" dirty="0"/>
              <a:t>——the observation for M87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8E9292-99F6-1F91-0046-FC5481348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42" y="994064"/>
            <a:ext cx="4579586" cy="57522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007D87-BB22-47E9-1C8F-6E99CA474B04}"/>
              </a:ext>
            </a:extLst>
          </p:cNvPr>
          <p:cNvSpPr txBox="1"/>
          <p:nvPr/>
        </p:nvSpPr>
        <p:spPr>
          <a:xfrm>
            <a:off x="5473109" y="1393717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Baade, W. and Minkowski, R.</a:t>
            </a: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“On the Identification of Radio Sources.”, </a:t>
            </a:r>
            <a:r>
              <a:rPr lang="zh-CN" altLang="en-US" sz="1600" i="1" dirty="0">
                <a:solidFill>
                  <a:srgbClr val="000000"/>
                </a:solidFill>
                <a:latin typeface="Arial" panose="020B0604020202020204" pitchFamily="34" charset="0"/>
              </a:rPr>
              <a:t>The Astrophysical Journal, vol. 119, IOP, p. 215, 1954.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A79F8-DF58-0CD1-7653-AF93D54E0ED0}"/>
              </a:ext>
            </a:extLst>
          </p:cNvPr>
          <p:cNvSpPr txBox="1"/>
          <p:nvPr/>
        </p:nvSpPr>
        <p:spPr>
          <a:xfrm>
            <a:off x="5794744" y="2275367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进一步推测射电源的来源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来自核和喷流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654635-2850-7A79-CF8B-F16C8FCB15A1}"/>
              </a:ext>
            </a:extLst>
          </p:cNvPr>
          <p:cNvSpPr txBox="1"/>
          <p:nvPr/>
        </p:nvSpPr>
        <p:spPr>
          <a:xfrm>
            <a:off x="6007394" y="3317358"/>
            <a:ext cx="4731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自然引出问题</a:t>
            </a:r>
            <a:r>
              <a:rPr kumimoji="1" lang="en-US" altLang="zh-CN" dirty="0"/>
              <a:t>:</a:t>
            </a:r>
          </a:p>
          <a:p>
            <a:r>
              <a:rPr kumimoji="1" lang="en-US" altLang="zh-CN" dirty="0"/>
              <a:t>jet</a:t>
            </a:r>
            <a:r>
              <a:rPr kumimoji="1" lang="zh-CN" altLang="en-US" dirty="0"/>
              <a:t>如何导致出射电源</a:t>
            </a:r>
            <a:r>
              <a:rPr kumimoji="1" lang="en-US" altLang="zh-CN" dirty="0"/>
              <a:t>?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基于还原论的思想</a:t>
            </a:r>
            <a:r>
              <a:rPr kumimoji="1" lang="en-US" altLang="zh-CN" dirty="0"/>
              <a:t>:</a:t>
            </a:r>
          </a:p>
          <a:p>
            <a:r>
              <a:rPr kumimoji="1" lang="zh-CN" altLang="en-US" dirty="0"/>
              <a:t>我们需要描述关于</a:t>
            </a:r>
            <a:r>
              <a:rPr kumimoji="1" lang="en-US" altLang="zh-CN" dirty="0"/>
              <a:t>jet</a:t>
            </a:r>
            <a:r>
              <a:rPr kumimoji="1" lang="zh-CN" altLang="en-US" dirty="0"/>
              <a:t>里面物质和场的动力学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765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5ED498E-788B-2A23-CD8C-1158E338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7" y="994064"/>
            <a:ext cx="4312125" cy="56777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E440D64-3EA7-7841-EEA3-F87CF2091B9D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理论建模解释</a:t>
            </a:r>
            <a:endParaRPr kumimoji="1" lang="en-US" altLang="zh-CN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E6D2CF-119C-6C73-7CF9-604E25F55EB0}"/>
              </a:ext>
            </a:extLst>
          </p:cNvPr>
          <p:cNvSpPr txBox="1"/>
          <p:nvPr/>
        </p:nvSpPr>
        <p:spPr>
          <a:xfrm>
            <a:off x="5762846" y="2163823"/>
            <a:ext cx="3402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建立吸积盘模型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同时指出磁场可以运输角动量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确定大质量黑洞和吸积盘是能源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65A35B-33B8-D4B6-ADAF-F87821000166}"/>
              </a:ext>
            </a:extLst>
          </p:cNvPr>
          <p:cNvSpPr txBox="1"/>
          <p:nvPr/>
        </p:nvSpPr>
        <p:spPr>
          <a:xfrm>
            <a:off x="5260457" y="1286556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</a:rPr>
              <a:t>LYNDEN-BELL, D.</a:t>
            </a:r>
            <a:r>
              <a:rPr lang="en-US" altLang="zh-CN" sz="1600" dirty="0">
                <a:solidFill>
                  <a:srgbClr val="000000"/>
                </a:solidFill>
                <a:latin typeface="Arial" panose="020B0604020202020204" pitchFamily="34" charset="0"/>
              </a:rPr>
              <a:t> Galactic Nuclei as Collapsed Old Quasars. 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 pitchFamily="34" charset="0"/>
              </a:rPr>
              <a:t>Nature 223, 690–694 (1969).</a:t>
            </a:r>
            <a:endParaRPr lang="zh-CN" altLang="en-US" sz="16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1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00412AC-6F0E-9D5A-27FE-C8DE12168D3D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理论建模解释</a:t>
            </a:r>
            <a:endParaRPr kumimoji="1" lang="en-US" altLang="zh-CN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8535F9-60C8-84A5-6032-7661DC39B92D}"/>
              </a:ext>
            </a:extLst>
          </p:cNvPr>
          <p:cNvSpPr txBox="1"/>
          <p:nvPr/>
        </p:nvSpPr>
        <p:spPr>
          <a:xfrm>
            <a:off x="5707026" y="1564390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</a:rPr>
              <a:t>R. D. Blandford,  M. J. Rees.</a:t>
            </a:r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Arial" panose="020B0604020202020204" pitchFamily="34" charset="0"/>
              </a:rPr>
              <a:t>A ‘Twin-Exhaust’ Model for Double Radio Sources.</a:t>
            </a: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 pitchFamily="34" charset="0"/>
              </a:rPr>
              <a:t>Monthly Notices of the Royal Astronomical Society, Volume 169, Issue 3(1974).</a:t>
            </a:r>
            <a:endParaRPr lang="zh-CN" altLang="en-US" sz="16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图片 11" descr="手机屏幕截图&#10;&#10;AI 生成的内容可能不正确。">
            <a:extLst>
              <a:ext uri="{FF2B5EF4-FFF2-40B4-BE49-F238E27FC236}">
                <a16:creationId xmlns:a16="http://schemas.microsoft.com/office/drawing/2014/main" id="{58BE66AA-818A-E1A0-48C8-786CABA2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71" y="2533611"/>
            <a:ext cx="6921500" cy="2108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A4EC1D8C-611B-EE45-70AF-4C57E9185444}"/>
                  </a:ext>
                </a:extLst>
              </p14:cNvPr>
              <p14:cNvContentPartPr/>
              <p14:nvPr/>
            </p14:nvContentPartPr>
            <p14:xfrm>
              <a:off x="5047384" y="3329339"/>
              <a:ext cx="2273040" cy="10224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A4EC1D8C-611B-EE45-70AF-4C57E91854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3384" y="3221339"/>
                <a:ext cx="23806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68B871A-5F94-FDB8-C891-CFBA6493392F}"/>
                  </a:ext>
                </a:extLst>
              </p14:cNvPr>
              <p14:cNvContentPartPr/>
              <p14:nvPr/>
            </p14:nvContentPartPr>
            <p14:xfrm>
              <a:off x="842944" y="3494579"/>
              <a:ext cx="6491160" cy="1663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68B871A-5F94-FDB8-C891-CFBA649339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944" y="3386579"/>
                <a:ext cx="659880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AD6E9023-3FBF-8F12-3414-F5018B5BD0BE}"/>
                  </a:ext>
                </a:extLst>
              </p14:cNvPr>
              <p14:cNvContentPartPr/>
              <p14:nvPr/>
            </p14:nvContentPartPr>
            <p14:xfrm>
              <a:off x="835384" y="3730379"/>
              <a:ext cx="875160" cy="4464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AD6E9023-3FBF-8F12-3414-F5018B5BD0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744" y="3622379"/>
                <a:ext cx="982800" cy="2602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7578343F-B43C-D5C0-4A99-1109835A56E4}"/>
              </a:ext>
            </a:extLst>
          </p:cNvPr>
          <p:cNvSpPr txBox="1"/>
          <p:nvPr/>
        </p:nvSpPr>
        <p:spPr>
          <a:xfrm>
            <a:off x="7649871" y="3072809"/>
            <a:ext cx="381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依据相对论的理论提出并解释喷流模型</a:t>
            </a:r>
          </a:p>
        </p:txBody>
      </p:sp>
    </p:spTree>
    <p:extLst>
      <p:ext uri="{BB962C8B-B14F-4D97-AF65-F5344CB8AC3E}">
        <p14:creationId xmlns:p14="http://schemas.microsoft.com/office/powerpoint/2010/main" val="310612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10963B-9A0C-F3E0-ACEE-42B70F2D62E1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理论建模解释</a:t>
            </a:r>
            <a:endParaRPr kumimoji="1" lang="en-US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9C481E-7EB1-3A2C-8993-3AFD6214E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86" y="1209886"/>
            <a:ext cx="4517790" cy="51248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7308A4B-9081-A445-781D-C812D944729C}"/>
              </a:ext>
            </a:extLst>
          </p:cNvPr>
          <p:cNvSpPr txBox="1"/>
          <p:nvPr/>
        </p:nvSpPr>
        <p:spPr>
          <a:xfrm>
            <a:off x="5579435" y="1209886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R. D. Blandford, 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  R. L. </a:t>
            </a:r>
            <a:r>
              <a:rPr lang="en-US" altLang="zh-CN" b="1" dirty="0" err="1">
                <a:solidFill>
                  <a:srgbClr val="000000"/>
                </a:solidFill>
                <a:latin typeface="Arial" panose="020B0604020202020204" pitchFamily="34" charset="0"/>
              </a:rPr>
              <a:t>Znajek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/>
              <a:t>Electromagnetic extraction of energy from Kerr black holes. </a:t>
            </a:r>
            <a:r>
              <a:rPr lang="en-US" altLang="zh-CN" sz="1800" i="1" dirty="0">
                <a:solidFill>
                  <a:srgbClr val="000000"/>
                </a:solidFill>
                <a:latin typeface="Arial" panose="020B0604020202020204" pitchFamily="34" charset="0"/>
              </a:rPr>
              <a:t>Monthly Notices of the Royal Astronomical Society, Volume 179, Issue 3(1977).</a:t>
            </a:r>
            <a:endParaRPr lang="zh-CN" altLang="en-US" sz="18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8C1024-842C-3F62-DF0C-E49DB53BE20E}"/>
              </a:ext>
            </a:extLst>
          </p:cNvPr>
          <p:cNvSpPr txBox="1"/>
          <p:nvPr/>
        </p:nvSpPr>
        <p:spPr>
          <a:xfrm>
            <a:off x="6096000" y="2892056"/>
            <a:ext cx="53546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提出</a:t>
            </a:r>
            <a:r>
              <a:rPr kumimoji="1" lang="en-US" altLang="zh-CN" dirty="0"/>
              <a:t>BZ</a:t>
            </a:r>
            <a:r>
              <a:rPr kumimoji="1" lang="zh-CN" altLang="en-US" dirty="0"/>
              <a:t>机制</a:t>
            </a:r>
            <a:r>
              <a:rPr kumimoji="1" lang="en-US" altLang="zh-CN" dirty="0"/>
              <a:t>,</a:t>
            </a:r>
            <a:r>
              <a:rPr kumimoji="1" lang="zh-CN" altLang="en-US" dirty="0"/>
              <a:t>描述通过</a:t>
            </a:r>
            <a:r>
              <a:rPr kumimoji="1" lang="en-US" altLang="zh-CN" dirty="0"/>
              <a:t>EM</a:t>
            </a:r>
            <a:r>
              <a:rPr kumimoji="1" lang="zh-CN" altLang="en-US" dirty="0"/>
              <a:t>从</a:t>
            </a:r>
            <a:r>
              <a:rPr kumimoji="1" lang="en-US" altLang="zh-CN" dirty="0"/>
              <a:t>Kerr</a:t>
            </a:r>
            <a:r>
              <a:rPr kumimoji="1" lang="zh-CN" altLang="en-US" dirty="0"/>
              <a:t> </a:t>
            </a:r>
            <a:r>
              <a:rPr kumimoji="1" lang="en-US" altLang="zh-CN" dirty="0"/>
              <a:t>BH</a:t>
            </a:r>
            <a:r>
              <a:rPr kumimoji="1" lang="zh-CN" altLang="en-US" dirty="0"/>
              <a:t>提取能量和角动量的机制</a:t>
            </a:r>
            <a:r>
              <a:rPr kumimoji="1" lang="en-US" altLang="zh-CN" dirty="0"/>
              <a:t>.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条件</a:t>
            </a:r>
            <a:r>
              <a:rPr kumimoji="1" lang="en-US" altLang="zh-CN" dirty="0"/>
              <a:t>:FFE</a:t>
            </a:r>
          </a:p>
          <a:p>
            <a:r>
              <a:rPr kumimoji="1" lang="zh-CN" altLang="en-US" dirty="0"/>
              <a:t>假设</a:t>
            </a:r>
            <a:r>
              <a:rPr kumimoji="1" lang="en-US" altLang="zh-CN" dirty="0"/>
              <a:t>:</a:t>
            </a:r>
            <a:r>
              <a:rPr kumimoji="1" lang="zh-CN" altLang="en-US" dirty="0"/>
              <a:t>洛伦兹力可忽略</a:t>
            </a:r>
            <a:r>
              <a:rPr kumimoji="1" lang="en-US" altLang="zh-CN" dirty="0"/>
              <a:t>(</a:t>
            </a:r>
            <a:r>
              <a:rPr kumimoji="1" lang="zh-CN" altLang="en-US" dirty="0"/>
              <a:t>磁流体沿着磁力线走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        理想导电</a:t>
            </a:r>
            <a:r>
              <a:rPr kumimoji="1" lang="en-US" altLang="zh-CN" dirty="0"/>
              <a:t>(E dot B=0)</a:t>
            </a:r>
          </a:p>
          <a:p>
            <a:r>
              <a:rPr kumimoji="1" lang="en-US" altLang="zh-CN" dirty="0"/>
              <a:t>        </a:t>
            </a:r>
            <a:r>
              <a:rPr kumimoji="1" lang="zh-CN" altLang="en-US" dirty="0"/>
              <a:t>等离子体的质量密度</a:t>
            </a:r>
            <a:r>
              <a:rPr kumimoji="1" lang="en-US" altLang="zh-CN" dirty="0"/>
              <a:t>rho</a:t>
            </a:r>
            <a:r>
              <a:rPr kumimoji="1" lang="zh-CN" altLang="en-US" dirty="0"/>
              <a:t>与压力</a:t>
            </a:r>
            <a:r>
              <a:rPr kumimoji="1" lang="en-US" altLang="zh-CN" dirty="0"/>
              <a:t>p</a:t>
            </a:r>
            <a:r>
              <a:rPr kumimoji="1" lang="zh-CN" altLang="en-US" dirty="0"/>
              <a:t>在场的能量密度比起来可忽略</a:t>
            </a:r>
          </a:p>
        </p:txBody>
      </p:sp>
    </p:spTree>
    <p:extLst>
      <p:ext uri="{BB962C8B-B14F-4D97-AF65-F5344CB8AC3E}">
        <p14:creationId xmlns:p14="http://schemas.microsoft.com/office/powerpoint/2010/main" val="333057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0D990BB-47D8-50C8-48A4-89946746B606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理论建模解释</a:t>
            </a:r>
            <a:endParaRPr kumimoji="1" lang="en-US" altLang="zh-CN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98C714-166A-5CE7-C167-7AB555563CD2}"/>
              </a:ext>
            </a:extLst>
          </p:cNvPr>
          <p:cNvSpPr txBox="1"/>
          <p:nvPr/>
        </p:nvSpPr>
        <p:spPr>
          <a:xfrm>
            <a:off x="1477926" y="1254642"/>
            <a:ext cx="461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进一步</a:t>
            </a:r>
            <a:r>
              <a:rPr kumimoji="1" lang="en-US" altLang="zh-CN" dirty="0"/>
              <a:t>:GRMHD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A98D7D-72E9-3C1B-6A2E-204750BD5A85}"/>
              </a:ext>
            </a:extLst>
          </p:cNvPr>
          <p:cNvSpPr txBox="1"/>
          <p:nvPr/>
        </p:nvSpPr>
        <p:spPr>
          <a:xfrm>
            <a:off x="1935126" y="1623974"/>
            <a:ext cx="5497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求解完整的相对论流体方程</a:t>
            </a:r>
            <a:r>
              <a:rPr kumimoji="1" lang="en-US" altLang="zh-CN" dirty="0"/>
              <a:t>,</a:t>
            </a:r>
            <a:r>
              <a:rPr kumimoji="1" lang="zh-CN" altLang="en-US" dirty="0"/>
              <a:t>并希望复现出</a:t>
            </a:r>
            <a:r>
              <a:rPr kumimoji="1" lang="en-US" altLang="zh-CN" dirty="0"/>
              <a:t>BZ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结果</a:t>
            </a:r>
            <a:r>
              <a:rPr kumimoji="1" lang="en-US" altLang="zh-CN" dirty="0"/>
              <a:t>:</a:t>
            </a:r>
            <a:r>
              <a:rPr kumimoji="1" lang="zh-CN" altLang="en-US" dirty="0"/>
              <a:t>高度非线性</a:t>
            </a:r>
            <a:r>
              <a:rPr kumimoji="1" lang="en-US" altLang="zh-CN" dirty="0"/>
              <a:t>,</a:t>
            </a:r>
            <a:r>
              <a:rPr kumimoji="1" lang="zh-CN" altLang="en-US" dirty="0"/>
              <a:t>数值解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C68BAD-F9B5-0BFA-1505-8C22C616CC34}"/>
              </a:ext>
            </a:extLst>
          </p:cNvPr>
          <p:cNvSpPr txBox="1"/>
          <p:nvPr/>
        </p:nvSpPr>
        <p:spPr>
          <a:xfrm>
            <a:off x="1562986" y="3009014"/>
            <a:ext cx="5380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考虑稍微简单的情况</a:t>
            </a:r>
            <a:r>
              <a:rPr kumimoji="1" lang="en-US" altLang="zh-CN" dirty="0"/>
              <a:t>?</a:t>
            </a:r>
          </a:p>
          <a:p>
            <a:r>
              <a:rPr kumimoji="1" lang="zh-CN" altLang="en-US" dirty="0"/>
              <a:t>         给出这样的假设</a:t>
            </a:r>
            <a:r>
              <a:rPr kumimoji="1" lang="en-US" altLang="zh-CN" dirty="0"/>
              <a:t>:</a:t>
            </a:r>
          </a:p>
          <a:p>
            <a:r>
              <a:rPr kumimoji="1" lang="en-US" altLang="zh-CN" dirty="0"/>
              <a:t>	Ideal MHD:</a:t>
            </a:r>
            <a:r>
              <a:rPr kumimoji="1" lang="zh-CN" altLang="en-US" dirty="0"/>
              <a:t>完全导电性</a:t>
            </a:r>
            <a:r>
              <a:rPr kumimoji="1" lang="en-US" altLang="zh-CN" dirty="0"/>
              <a:t>,</a:t>
            </a:r>
            <a:r>
              <a:rPr kumimoji="1" lang="zh-CN" altLang="en-US" dirty="0"/>
              <a:t>流体忽略压力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时空要求</a:t>
            </a:r>
            <a:r>
              <a:rPr kumimoji="1" lang="en-US" altLang="zh-CN" dirty="0"/>
              <a:t>:</a:t>
            </a:r>
            <a:r>
              <a:rPr kumimoji="1" lang="zh-CN" altLang="en-US" dirty="0"/>
              <a:t>稳态</a:t>
            </a:r>
            <a:r>
              <a:rPr kumimoji="1" lang="en-US" altLang="zh-CN" dirty="0"/>
              <a:t>,</a:t>
            </a:r>
            <a:r>
              <a:rPr kumimoji="1" lang="zh-CN" altLang="en-US" dirty="0"/>
              <a:t>轴对称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导出</a:t>
            </a:r>
            <a:r>
              <a:rPr kumimoji="1" lang="en-US" altLang="zh-CN" dirty="0"/>
              <a:t>:GRGS-eq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极限行为</a:t>
            </a:r>
            <a:r>
              <a:rPr kumimoji="1" lang="en-US" altLang="zh-CN" dirty="0"/>
              <a:t>:</a:t>
            </a:r>
            <a:r>
              <a:rPr kumimoji="1" lang="zh-CN" altLang="en-US" dirty="0"/>
              <a:t>忽略物质时</a:t>
            </a:r>
            <a:r>
              <a:rPr kumimoji="1" lang="en-US" altLang="zh-CN" dirty="0"/>
              <a:t>,</a:t>
            </a:r>
            <a:r>
              <a:rPr kumimoji="1" lang="zh-CN" altLang="en-US" dirty="0"/>
              <a:t>应退化为</a:t>
            </a:r>
            <a:r>
              <a:rPr kumimoji="1" lang="en-US" altLang="zh-CN" dirty="0"/>
              <a:t>FFE</a:t>
            </a:r>
            <a:r>
              <a:rPr kumimoji="1" lang="zh-CN" altLang="en-US" dirty="0"/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343544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4B2E7F-B73B-B729-219A-75B34D712CD5}"/>
              </a:ext>
            </a:extLst>
          </p:cNvPr>
          <p:cNvSpPr txBox="1"/>
          <p:nvPr/>
        </p:nvSpPr>
        <p:spPr>
          <a:xfrm>
            <a:off x="433317" y="470844"/>
            <a:ext cx="8731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理论建模解释</a:t>
            </a:r>
            <a:r>
              <a:rPr kumimoji="1" lang="en-US" altLang="zh-CN" sz="2800" dirty="0"/>
              <a:t>——GRGS-eq</a:t>
            </a:r>
            <a:r>
              <a:rPr kumimoji="1" lang="zh-CN" altLang="en-US" sz="2800" dirty="0"/>
              <a:t>导出</a:t>
            </a:r>
            <a:endParaRPr kumimoji="1"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57129-CD81-B5AB-7E2B-087B7A675D81}"/>
              </a:ext>
            </a:extLst>
          </p:cNvPr>
          <p:cNvSpPr txBox="1"/>
          <p:nvPr/>
        </p:nvSpPr>
        <p:spPr>
          <a:xfrm>
            <a:off x="1079292" y="1678898"/>
            <a:ext cx="203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稳态、轴对称、完美导体的约束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E9B1E78A-99D6-5E21-3F4C-49CF2964205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117954" y="2002063"/>
            <a:ext cx="13191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2C8A92B-B238-A2BA-4E4A-9A8D91BBF1A3}"/>
              </a:ext>
            </a:extLst>
          </p:cNvPr>
          <p:cNvSpPr txBox="1"/>
          <p:nvPr/>
        </p:nvSpPr>
        <p:spPr>
          <a:xfrm>
            <a:off x="4437088" y="1817397"/>
            <a:ext cx="1798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场的自由度降低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52BFBBE-44F1-3943-95F2-944834F4EF0C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6235907" y="2002063"/>
            <a:ext cx="10081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18392A3-9216-160F-C546-36ADFA40DB0A}"/>
              </a:ext>
            </a:extLst>
          </p:cNvPr>
          <p:cNvSpPr txBox="1"/>
          <p:nvPr/>
        </p:nvSpPr>
        <p:spPr>
          <a:xfrm>
            <a:off x="7244026" y="1678898"/>
            <a:ext cx="3842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电磁场张量可以由磁通函数</a:t>
            </a:r>
            <a:r>
              <a:rPr kumimoji="1" lang="en-US" altLang="zh-CN" dirty="0"/>
              <a:t>\Psi,</a:t>
            </a:r>
            <a:r>
              <a:rPr kumimoji="1" lang="zh-CN" altLang="en-US" dirty="0"/>
              <a:t>角速度</a:t>
            </a:r>
            <a:r>
              <a:rPr kumimoji="1" lang="en-US" altLang="zh-CN" dirty="0"/>
              <a:t>\Omega,</a:t>
            </a:r>
            <a:r>
              <a:rPr kumimoji="1" lang="zh-CN" altLang="en-US" dirty="0"/>
              <a:t>极向电流</a:t>
            </a:r>
            <a:r>
              <a:rPr kumimoji="1" lang="en-US" altLang="zh-CN" dirty="0"/>
              <a:t>I</a:t>
            </a:r>
            <a:r>
              <a:rPr kumimoji="1" lang="zh-CN" altLang="en-US" dirty="0"/>
              <a:t>决定</a:t>
            </a:r>
          </a:p>
        </p:txBody>
      </p: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607689F6-D354-7E72-879E-486533F88314}"/>
              </a:ext>
            </a:extLst>
          </p:cNvPr>
          <p:cNvCxnSpPr>
            <a:cxnSpLocks/>
            <a:stCxn id="5" idx="2"/>
            <a:endCxn id="22" idx="1"/>
          </p:cNvCxnSpPr>
          <p:nvPr/>
        </p:nvCxnSpPr>
        <p:spPr>
          <a:xfrm rot="16200000" flipH="1">
            <a:off x="1803025" y="2620827"/>
            <a:ext cx="1146499" cy="555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008DAC6-0DED-D99B-E4D4-55D32FB132F6}"/>
              </a:ext>
            </a:extLst>
          </p:cNvPr>
          <p:cNvSpPr txBox="1"/>
          <p:nvPr/>
        </p:nvSpPr>
        <p:spPr>
          <a:xfrm>
            <a:off x="2653925" y="3148562"/>
            <a:ext cx="220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磁力线冻结</a:t>
            </a:r>
            <a:r>
              <a:rPr kumimoji="1" lang="en-US" altLang="zh-CN" dirty="0"/>
              <a:t>(</a:t>
            </a:r>
            <a:r>
              <a:rPr kumimoji="1" lang="zh-CN" altLang="en-US" dirty="0"/>
              <a:t>对场和流体的很强的约束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FDA71CD-EFC8-51B0-0C2D-72781E7BE62F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 flipV="1">
            <a:off x="4857479" y="3471727"/>
            <a:ext cx="9802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2E253D9-22C3-AFAB-A5FD-1A28AA69E988}"/>
              </a:ext>
            </a:extLst>
          </p:cNvPr>
          <p:cNvSpPr txBox="1"/>
          <p:nvPr/>
        </p:nvSpPr>
        <p:spPr>
          <a:xfrm>
            <a:off x="5837752" y="3010062"/>
            <a:ext cx="1804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存在沿磁力线的守恒量</a:t>
            </a:r>
            <a:r>
              <a:rPr kumimoji="1" lang="en-US" altLang="zh-CN" dirty="0"/>
              <a:t>(</a:t>
            </a:r>
            <a:r>
              <a:rPr kumimoji="1" lang="zh-CN" altLang="en-US" dirty="0"/>
              <a:t>能量、角动量、粒子流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13F23547-EC7C-D0AC-E5BA-388A2D38E5C8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7642179" y="3471727"/>
            <a:ext cx="634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2433E91-E6E2-F3F4-3294-57560D9C2CDE}"/>
              </a:ext>
            </a:extLst>
          </p:cNvPr>
          <p:cNvSpPr txBox="1"/>
          <p:nvPr/>
        </p:nvSpPr>
        <p:spPr>
          <a:xfrm>
            <a:off x="8276487" y="3010062"/>
            <a:ext cx="1777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场线上的动力学量都只由</a:t>
            </a:r>
            <a:r>
              <a:rPr kumimoji="1" lang="en-US" altLang="zh-CN" dirty="0"/>
              <a:t>\Psi</a:t>
            </a:r>
            <a:r>
              <a:rPr kumimoji="1" lang="zh-CN" altLang="en-US" dirty="0"/>
              <a:t>决定</a:t>
            </a: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4223174-76FF-BF19-C10B-15F6EA2D389B}"/>
              </a:ext>
            </a:extLst>
          </p:cNvPr>
          <p:cNvCxnSpPr>
            <a:stCxn id="17" idx="2"/>
            <a:endCxn id="36" idx="0"/>
          </p:cNvCxnSpPr>
          <p:nvPr/>
        </p:nvCxnSpPr>
        <p:spPr>
          <a:xfrm>
            <a:off x="9165265" y="2325229"/>
            <a:ext cx="0" cy="684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C18D87C-85C8-6CA3-947D-F8433048443C}"/>
              </a:ext>
            </a:extLst>
          </p:cNvPr>
          <p:cNvSpPr txBox="1"/>
          <p:nvPr/>
        </p:nvSpPr>
        <p:spPr>
          <a:xfrm>
            <a:off x="7875888" y="4618225"/>
            <a:ext cx="257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idea:</a:t>
            </a:r>
            <a:r>
              <a:rPr kumimoji="1" lang="zh-CN" altLang="en-US" dirty="0"/>
              <a:t>研究垂直于磁力线</a:t>
            </a:r>
            <a:r>
              <a:rPr kumimoji="1" lang="en-US" altLang="zh-CN" dirty="0"/>
              <a:t>\Psi</a:t>
            </a:r>
            <a:r>
              <a:rPr kumimoji="1" lang="zh-CN" altLang="en-US" dirty="0"/>
              <a:t>的方程即可确定整个系统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79839EC5-41EB-EB56-D770-DBE2CDE5D825}"/>
              </a:ext>
            </a:extLst>
          </p:cNvPr>
          <p:cNvCxnSpPr>
            <a:stCxn id="36" idx="2"/>
            <a:endCxn id="47" idx="0"/>
          </p:cNvCxnSpPr>
          <p:nvPr/>
        </p:nvCxnSpPr>
        <p:spPr>
          <a:xfrm flipH="1">
            <a:off x="9165264" y="3933392"/>
            <a:ext cx="1" cy="684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20F1DD2-2BCD-9907-28B7-AF6697776A97}"/>
              </a:ext>
            </a:extLst>
          </p:cNvPr>
          <p:cNvSpPr txBox="1"/>
          <p:nvPr/>
        </p:nvSpPr>
        <p:spPr>
          <a:xfrm>
            <a:off x="4819142" y="4618225"/>
            <a:ext cx="2237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将最基础的能量动量守恒方程投影到横向</a:t>
            </a: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5BB53A16-86BB-2E5A-8292-0262352678AC}"/>
              </a:ext>
            </a:extLst>
          </p:cNvPr>
          <p:cNvCxnSpPr>
            <a:stCxn id="47" idx="1"/>
            <a:endCxn id="51" idx="3"/>
          </p:cNvCxnSpPr>
          <p:nvPr/>
        </p:nvCxnSpPr>
        <p:spPr>
          <a:xfrm flipH="1">
            <a:off x="7056453" y="5079890"/>
            <a:ext cx="8194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04F50D1E-7677-C308-D32E-07F336DDF655}"/>
              </a:ext>
            </a:extLst>
          </p:cNvPr>
          <p:cNvSpPr txBox="1"/>
          <p:nvPr/>
        </p:nvSpPr>
        <p:spPr>
          <a:xfrm>
            <a:off x="2653926" y="4895224"/>
            <a:ext cx="149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得到</a:t>
            </a:r>
            <a:r>
              <a:rPr kumimoji="1" lang="en-US" altLang="zh-CN" dirty="0"/>
              <a:t>GS</a:t>
            </a:r>
            <a:r>
              <a:rPr kumimoji="1" lang="zh-CN" altLang="en-US" dirty="0"/>
              <a:t>方程</a:t>
            </a:r>
          </a:p>
        </p:txBody>
      </p: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4FABF4C-E8D0-AD14-85E9-B011434D38E4}"/>
              </a:ext>
            </a:extLst>
          </p:cNvPr>
          <p:cNvCxnSpPr>
            <a:cxnSpLocks/>
            <a:stCxn id="51" idx="1"/>
            <a:endCxn id="54" idx="3"/>
          </p:cNvCxnSpPr>
          <p:nvPr/>
        </p:nvCxnSpPr>
        <p:spPr>
          <a:xfrm flipH="1">
            <a:off x="4152275" y="5079890"/>
            <a:ext cx="666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558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565</Words>
  <Application>Microsoft Macintosh PowerPoint</Application>
  <PresentationFormat>宽屏</PresentationFormat>
  <Paragraphs>56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相对论喷流的研究历程和GRGS方程的导出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Tang</dc:creator>
  <cp:lastModifiedBy>Yi Tang</cp:lastModifiedBy>
  <cp:revision>12</cp:revision>
  <dcterms:created xsi:type="dcterms:W3CDTF">2025-10-22T15:30:39Z</dcterms:created>
  <dcterms:modified xsi:type="dcterms:W3CDTF">2025-10-22T18:55:02Z</dcterms:modified>
</cp:coreProperties>
</file>