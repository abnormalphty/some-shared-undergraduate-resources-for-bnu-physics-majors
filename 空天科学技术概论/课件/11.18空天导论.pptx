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59" r:id="rId4"/>
    <p:sldId id="260" r:id="rId5"/>
    <p:sldId id="261" r:id="rId6"/>
    <p:sldId id="262" r:id="rId7"/>
    <p:sldId id="287" r:id="rId8"/>
    <p:sldId id="288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</p:sldIdLst>
  <p:sldSz cx="12192000" cy="6858000"/>
  <p:notesSz cx="6858000" cy="9144000"/>
  <p:embeddedFontLst>
    <p:embeddedFont>
      <p:font typeface="汉仪文黑-55简" panose="02010600030101010101" charset="-122"/>
      <p:regular r:id="rId21"/>
    </p:embeddedFont>
    <p:embeddedFont>
      <p:font typeface="汉仪雅酷黑简" panose="02010600030101010101" charset="-122"/>
      <p:regular r:id="rId22"/>
    </p:embeddedFont>
  </p:embeddedFontLst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0" clrIdx="0"/>
  <p:cmAuthor id="1" name="bing" initials="b" lastIdx="1" clrIdx="0"/>
  <p:cmAuthor id="2" name="作者" initials="A" lastIdx="0" clrIdx="1"/>
  <p:cmAuthor id="3" name="Administrator" initials="A" lastIdx="1" clrIdx="2"/>
  <p:cmAuthor id="4" name="王习习" initials="王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0" autoAdjust="0"/>
    <p:restoredTop sz="95244" autoAdjust="0"/>
  </p:normalViewPr>
  <p:slideViewPr>
    <p:cSldViewPr snapToGrid="0">
      <p:cViewPr varScale="1">
        <p:scale>
          <a:sx n="68" d="100"/>
          <a:sy n="68" d="100"/>
        </p:scale>
        <p:origin x="54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405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文黑-55简" panose="00020600040101010101" charset="-122"/>
        <a:ea typeface="汉仪文黑-55简" panose="00020600040101010101" charset="-122"/>
        <a:cs typeface="汉仪文黑-55简" panose="0002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89080909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8" name="圆角矩形 7"/>
          <p:cNvSpPr/>
          <p:nvPr userDrawn="1"/>
        </p:nvSpPr>
        <p:spPr>
          <a:xfrm>
            <a:off x="182880" y="154305"/>
            <a:ext cx="11840210" cy="6598920"/>
          </a:xfrm>
          <a:prstGeom prst="roundRect">
            <a:avLst>
              <a:gd name="adj" fmla="val 2819"/>
            </a:avLst>
          </a:prstGeom>
          <a:solidFill>
            <a:schemeClr val="bg1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.xml"/><Relationship Id="rId7" Type="http://schemas.openxmlformats.org/officeDocument/2006/relationships/image" Target="../media/image3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11.jpe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image" Target="../media/image14.jpe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13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6.png"/><Relationship Id="rId5" Type="http://schemas.openxmlformats.org/officeDocument/2006/relationships/tags" Target="../tags/tag1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7997879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00784" y="1948180"/>
            <a:ext cx="51574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459FC6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月球科研站的计划与愿景</a:t>
            </a:r>
            <a:endParaRPr lang="en-US" altLang="zh-CN" sz="2000" dirty="0">
              <a:solidFill>
                <a:schemeClr val="bg1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+mn-ea"/>
            </a:endParaRPr>
          </a:p>
          <a:p>
            <a:pPr algn="dist"/>
            <a:r>
              <a:rPr lang="zh-CN" altLang="en-US" sz="2000" kern="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汉仪文黑-55简" panose="00020600040101010101" charset="-122"/>
                <a:sym typeface="+mn-lt"/>
              </a:rPr>
              <a:t>未来月球科研基地的展望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934364" y="945515"/>
            <a:ext cx="62903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5400" kern="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汉仪文黑-55简" panose="00020600040101010101" charset="-122"/>
                <a:sym typeface="+mn-lt"/>
              </a:rPr>
              <a:t>探索太空</a:t>
            </a:r>
            <a:r>
              <a:rPr lang="en-US" altLang="zh-CN" sz="5400" kern="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汉仪文黑-55简" panose="00020600040101010101" charset="-122"/>
                <a:sym typeface="+mn-lt"/>
              </a:rPr>
              <a:t> </a:t>
            </a:r>
            <a:r>
              <a:rPr lang="zh-CN" altLang="en-US" sz="5400" kern="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汉仪文黑-55简" panose="00020600040101010101" charset="-122"/>
                <a:sym typeface="+mn-lt"/>
              </a:rPr>
              <a:t>登月计划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3499831" y="2403461"/>
            <a:ext cx="5159375" cy="0"/>
          </a:xfrm>
          <a:prstGeom prst="line">
            <a:avLst/>
          </a:prstGeom>
          <a:ln>
            <a:solidFill>
              <a:schemeClr val="bg1">
                <a:alpha val="4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499831" y="3106406"/>
            <a:ext cx="5159375" cy="0"/>
          </a:xfrm>
          <a:prstGeom prst="line">
            <a:avLst/>
          </a:prstGeom>
          <a:ln>
            <a:solidFill>
              <a:schemeClr val="bg1">
                <a:alpha val="4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endCxn id="13" idx="3"/>
          </p:cNvCxnSpPr>
          <p:nvPr/>
        </p:nvCxnSpPr>
        <p:spPr>
          <a:xfrm flipH="1">
            <a:off x="2334260" y="535940"/>
            <a:ext cx="9456420" cy="0"/>
          </a:xfrm>
          <a:prstGeom prst="line">
            <a:avLst/>
          </a:prstGeom>
          <a:ln>
            <a:solidFill>
              <a:schemeClr val="bg1">
                <a:alpha val="5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74625" y="413385"/>
            <a:ext cx="2159635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459FC6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dist"/>
            <a:r>
              <a:rPr lang="en-US" sz="1000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汉仪文黑-55简" panose="00020600040101010101" charset="-122"/>
              </a:rPr>
              <a:t>DENG YUE JI HUA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mp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decel="10000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22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bldLvl="0" animBg="1"/>
      <p:bldP spid="6" grpId="2" bldLvl="0" animBg="1"/>
      <p:bldP spid="13" grpId="0" bldLvl="0" animBg="1"/>
      <p:bldP spid="13" grpId="1" bldLvl="0" animBg="1"/>
      <p:bldP spid="13" grpId="2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8908090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21790" y="454025"/>
            <a:ext cx="29273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5400" spc="600" dirty="0">
                <a:solidFill>
                  <a:schemeClr val="bg1"/>
                </a:solidFill>
                <a:effectLst/>
                <a:latin typeface="汉仪雅酷黑简" panose="00020600040101010101" charset="-122"/>
                <a:ea typeface="汉仪雅酷黑简" panose="00020600040101010101" charset="-122"/>
                <a:cs typeface="汉仪文黑-55简" panose="00020600040101010101" charset="-122"/>
              </a:rPr>
              <a:t>目录</a:t>
            </a: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3350260" y="979170"/>
            <a:ext cx="7015480" cy="0"/>
          </a:xfrm>
          <a:prstGeom prst="line">
            <a:avLst/>
          </a:prstGeom>
          <a:ln>
            <a:solidFill>
              <a:schemeClr val="bg1">
                <a:alpha val="5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711175" y="1971232"/>
            <a:ext cx="676236" cy="676236"/>
          </a:xfrm>
          <a:prstGeom prst="rect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12" name="文本框"/>
          <p:cNvSpPr/>
          <p:nvPr/>
        </p:nvSpPr>
        <p:spPr>
          <a:xfrm>
            <a:off x="2585085" y="1742440"/>
            <a:ext cx="2064385" cy="789940"/>
          </a:xfrm>
          <a:prstGeom prst="rect">
            <a:avLst/>
          </a:prstGeom>
        </p:spPr>
        <p:txBody>
          <a:bodyPr wrap="none" anchor="ctr">
            <a:normAutofit fontScale="92500" lnSpcReduction="20000"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建立月球科研基地的</a:t>
            </a:r>
            <a:endParaRPr lang="en-US" altLang="zh-CN" sz="2800" dirty="0">
              <a:solidFill>
                <a:schemeClr val="bg1"/>
              </a:solidFill>
              <a:latin typeface="汉仪雅酷黑简" panose="00020600040101010101" charset="-122"/>
              <a:ea typeface="汉仪雅酷黑简" panose="00020600040101010101" charset="-122"/>
              <a:cs typeface="+mn-ea"/>
              <a:sym typeface="+mn-lt"/>
            </a:endParaRPr>
          </a:p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优势与目标</a:t>
            </a:r>
          </a:p>
        </p:txBody>
      </p:sp>
      <p:sp>
        <p:nvSpPr>
          <p:cNvPr id="20" name="矩形 19"/>
          <p:cNvSpPr/>
          <p:nvPr/>
        </p:nvSpPr>
        <p:spPr>
          <a:xfrm>
            <a:off x="1711175" y="3540760"/>
            <a:ext cx="676236" cy="676236"/>
          </a:xfrm>
          <a:prstGeom prst="rect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+mn-lt"/>
              </a:rPr>
              <a:t>02</a:t>
            </a:r>
          </a:p>
        </p:txBody>
      </p:sp>
      <p:sp>
        <p:nvSpPr>
          <p:cNvPr id="22" name="文本框"/>
          <p:cNvSpPr/>
          <p:nvPr/>
        </p:nvSpPr>
        <p:spPr>
          <a:xfrm>
            <a:off x="2585386" y="3273425"/>
            <a:ext cx="2512060" cy="699770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国际月球科研站未来发展</a:t>
            </a:r>
          </a:p>
        </p:txBody>
      </p:sp>
      <p:sp>
        <p:nvSpPr>
          <p:cNvPr id="24" name="矩形 23"/>
          <p:cNvSpPr/>
          <p:nvPr/>
        </p:nvSpPr>
        <p:spPr>
          <a:xfrm>
            <a:off x="6516220" y="1979487"/>
            <a:ext cx="676236" cy="676236"/>
          </a:xfrm>
          <a:prstGeom prst="rect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+mn-lt"/>
              </a:rPr>
              <a:t>03</a:t>
            </a:r>
          </a:p>
        </p:txBody>
      </p:sp>
      <p:sp>
        <p:nvSpPr>
          <p:cNvPr id="25" name="文本框"/>
          <p:cNvSpPr/>
          <p:nvPr/>
        </p:nvSpPr>
        <p:spPr>
          <a:xfrm>
            <a:off x="7390431" y="1711325"/>
            <a:ext cx="2350770" cy="699770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未来的月面载具</a:t>
            </a:r>
          </a:p>
        </p:txBody>
      </p:sp>
      <p:sp>
        <p:nvSpPr>
          <p:cNvPr id="27" name="矩形 26"/>
          <p:cNvSpPr/>
          <p:nvPr/>
        </p:nvSpPr>
        <p:spPr>
          <a:xfrm>
            <a:off x="6516220" y="3540760"/>
            <a:ext cx="676236" cy="676236"/>
          </a:xfrm>
          <a:prstGeom prst="rect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+mn-lt"/>
              </a:rPr>
              <a:t>04</a:t>
            </a:r>
          </a:p>
        </p:txBody>
      </p:sp>
      <p:sp>
        <p:nvSpPr>
          <p:cNvPr id="28" name="文本框"/>
          <p:cNvSpPr/>
          <p:nvPr/>
        </p:nvSpPr>
        <p:spPr>
          <a:xfrm>
            <a:off x="7390130" y="3262630"/>
            <a:ext cx="2975610" cy="699770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月球采矿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bldLvl="0" animBg="1"/>
      <p:bldP spid="20" grpId="0" bldLvl="0" animBg="1"/>
      <p:bldP spid="24" grpId="0" bldLvl="0" animBg="1"/>
      <p:bldP spid="2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7997879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5660727" y="1105727"/>
            <a:ext cx="676236" cy="676236"/>
          </a:xfrm>
          <a:prstGeom prst="ellipse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5" name="文本框"/>
          <p:cNvSpPr/>
          <p:nvPr/>
        </p:nvSpPr>
        <p:spPr>
          <a:xfrm>
            <a:off x="4682490" y="2009140"/>
            <a:ext cx="2632710" cy="699770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建立月球科研基地的优势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370070" y="1685925"/>
            <a:ext cx="3257550" cy="344170"/>
            <a:chOff x="6700" y="2655"/>
            <a:chExt cx="5130" cy="54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0" y="2972"/>
              <a:ext cx="4879" cy="0"/>
            </a:xfrm>
            <a:prstGeom prst="line">
              <a:avLst/>
            </a:prstGeom>
            <a:ln>
              <a:solidFill>
                <a:schemeClr val="bg1">
                  <a:alpha val="5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1526" y="2655"/>
              <a:ext cx="305" cy="543"/>
            </a:xfrm>
            <a:prstGeom prst="line">
              <a:avLst/>
            </a:prstGeom>
            <a:ln>
              <a:solidFill>
                <a:schemeClr val="bg1">
                  <a:alpha val="5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片 110"/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170305" y="3145155"/>
            <a:ext cx="9852025" cy="27146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41" name="直接连接符 7"/>
          <p:cNvCxnSpPr/>
          <p:nvPr/>
        </p:nvCxnSpPr>
        <p:spPr>
          <a:xfrm flipH="1">
            <a:off x="3363389" y="1815749"/>
            <a:ext cx="1892346" cy="0"/>
          </a:xfrm>
          <a:prstGeom prst="line">
            <a:avLst/>
          </a:prstGeom>
          <a:ln w="12700">
            <a:solidFill>
              <a:srgbClr val="91634E"/>
            </a:solidFill>
            <a:prstDash val="sysDash"/>
            <a:headEnd type="none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7"/>
          <p:cNvCxnSpPr/>
          <p:nvPr/>
        </p:nvCxnSpPr>
        <p:spPr>
          <a:xfrm>
            <a:off x="5269903" y="1819566"/>
            <a:ext cx="0" cy="865830"/>
          </a:xfrm>
          <a:prstGeom prst="line">
            <a:avLst/>
          </a:prstGeom>
          <a:solidFill>
            <a:srgbClr val="91634E"/>
          </a:solidFill>
          <a:ln w="12700">
            <a:solidFill>
              <a:srgbClr val="91634E"/>
            </a:solidFill>
            <a:prstDash val="sysDash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"/>
          <p:cNvSpPr txBox="1"/>
          <p:nvPr/>
        </p:nvSpPr>
        <p:spPr>
          <a:xfrm>
            <a:off x="1080770" y="2007235"/>
            <a:ext cx="4074160" cy="949960"/>
          </a:xfrm>
          <a:prstGeom prst="rect">
            <a:avLst/>
          </a:prstGeom>
        </p:spPr>
        <p:txBody>
          <a:bodyPr vert="horz" lIns="99998" tIns="49998" rIns="99998" bIns="49998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anose="020B040303040302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buSzPct val="25000"/>
            </a:pPr>
            <a:r>
              <a:rPr lang="en-US" altLang="zh-CN" sz="14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  </a:t>
            </a:r>
            <a:r>
              <a:rPr lang="zh-CN" altLang="en-US" sz="14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人类终究要走出地球的，而要走出地球，月球作为距离地球最近的行星，是无法回避的第一站。只有通过第一站，未来才有可能走向更远的地方。这就是人类必须在月球上建立基地的最根本原因。</a:t>
            </a:r>
          </a:p>
        </p:txBody>
      </p:sp>
      <p:sp>
        <p:nvSpPr>
          <p:cNvPr id="65" name="矩形"/>
          <p:cNvSpPr/>
          <p:nvPr/>
        </p:nvSpPr>
        <p:spPr>
          <a:xfrm rot="16200000">
            <a:off x="4855771" y="2977942"/>
            <a:ext cx="848249" cy="789296"/>
          </a:xfrm>
          <a:prstGeom prst="rect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sz="1970" dirty="0">
              <a:solidFill>
                <a:prstClr val="white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66" name="等腰三角形 8"/>
          <p:cNvSpPr/>
          <p:nvPr/>
        </p:nvSpPr>
        <p:spPr>
          <a:xfrm>
            <a:off x="5183148" y="2836921"/>
            <a:ext cx="193495" cy="113931"/>
          </a:xfrm>
          <a:prstGeom prst="triangle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sz="1970" dirty="0">
              <a:solidFill>
                <a:prstClr val="white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Arial" panose="020B0604020202020204" pitchFamily="34" charset="0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4" cstate="print">
            <a:lum bright="100000"/>
          </a:blip>
          <a:stretch>
            <a:fillRect/>
          </a:stretch>
        </p:blipFill>
        <p:spPr>
          <a:xfrm>
            <a:off x="4951730" y="3023870"/>
            <a:ext cx="690245" cy="69024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7"/>
          <p:cNvCxnSpPr/>
          <p:nvPr/>
        </p:nvCxnSpPr>
        <p:spPr>
          <a:xfrm flipH="1">
            <a:off x="8711359" y="1811939"/>
            <a:ext cx="1892346" cy="0"/>
          </a:xfrm>
          <a:prstGeom prst="line">
            <a:avLst/>
          </a:prstGeom>
          <a:ln w="12700">
            <a:solidFill>
              <a:srgbClr val="91634E"/>
            </a:solidFill>
            <a:prstDash val="sysDash"/>
            <a:headEnd type="none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7"/>
          <p:cNvCxnSpPr/>
          <p:nvPr/>
        </p:nvCxnSpPr>
        <p:spPr>
          <a:xfrm>
            <a:off x="10617873" y="1815756"/>
            <a:ext cx="0" cy="865830"/>
          </a:xfrm>
          <a:prstGeom prst="line">
            <a:avLst/>
          </a:prstGeom>
          <a:solidFill>
            <a:srgbClr val="91634E"/>
          </a:solidFill>
          <a:ln w="12700">
            <a:solidFill>
              <a:srgbClr val="91634E"/>
            </a:solidFill>
            <a:prstDash val="sysDash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"/>
          <p:cNvSpPr txBox="1"/>
          <p:nvPr/>
        </p:nvSpPr>
        <p:spPr>
          <a:xfrm>
            <a:off x="6428740" y="2003425"/>
            <a:ext cx="4074160" cy="949960"/>
          </a:xfrm>
          <a:prstGeom prst="rect">
            <a:avLst/>
          </a:prstGeom>
        </p:spPr>
        <p:txBody>
          <a:bodyPr vert="horz" lIns="99998" tIns="49998" rIns="99998" bIns="49998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anose="020B040303040302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buSzPct val="25000"/>
            </a:pPr>
            <a:r>
              <a:rPr lang="zh-CN" altLang="en-US" sz="14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月球是距离地球最近的地外天体，与地球平均距离只有38.4万千米；而且这个天体还很大，直径3476千米，是八大行星中最小行星水星的71%，月球对地球的影响同样十分重要。</a:t>
            </a:r>
          </a:p>
        </p:txBody>
      </p:sp>
      <p:sp>
        <p:nvSpPr>
          <p:cNvPr id="5" name="矩形"/>
          <p:cNvSpPr/>
          <p:nvPr/>
        </p:nvSpPr>
        <p:spPr>
          <a:xfrm rot="16200000">
            <a:off x="10203741" y="2974132"/>
            <a:ext cx="848249" cy="789296"/>
          </a:xfrm>
          <a:prstGeom prst="rect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sz="1970" dirty="0">
              <a:solidFill>
                <a:prstClr val="white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6" name="等腰三角形 8"/>
          <p:cNvSpPr/>
          <p:nvPr/>
        </p:nvSpPr>
        <p:spPr>
          <a:xfrm>
            <a:off x="10531118" y="2833111"/>
            <a:ext cx="193495" cy="113931"/>
          </a:xfrm>
          <a:prstGeom prst="triangle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sz="1970" dirty="0">
              <a:solidFill>
                <a:prstClr val="white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Arial" panose="020B0604020202020204" pitchFamily="34" charset="0"/>
            </a:endParaRPr>
          </a:p>
        </p:txBody>
      </p:sp>
      <p:pic>
        <p:nvPicPr>
          <p:cNvPr id="105" name="图片 104"/>
          <p:cNvPicPr/>
          <p:nvPr/>
        </p:nvPicPr>
        <p:blipFill>
          <a:blip r:embed="rId5" cstate="print">
            <a:lum bright="100000"/>
          </a:blip>
          <a:stretch>
            <a:fillRect/>
          </a:stretch>
        </p:blipFill>
        <p:spPr>
          <a:xfrm>
            <a:off x="10233025" y="3023870"/>
            <a:ext cx="773430" cy="7734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TextBox 7"/>
          <p:cNvSpPr txBox="1"/>
          <p:nvPr/>
        </p:nvSpPr>
        <p:spPr>
          <a:xfrm>
            <a:off x="1170617" y="389280"/>
            <a:ext cx="27406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kern="1200" cap="none" spc="0" normalizeH="0" baseline="0" noProof="0" dirty="0">
                <a:solidFill>
                  <a:srgbClr val="91634E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建立月球科研基地的优势与原因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484817" y="283435"/>
            <a:ext cx="617855" cy="617855"/>
            <a:chOff x="6791" y="2798"/>
            <a:chExt cx="1332" cy="1332"/>
          </a:xfrm>
        </p:grpSpPr>
        <p:sp>
          <p:nvSpPr>
            <p:cNvPr id="17" name="圆角矩形 23"/>
            <p:cNvSpPr/>
            <p:nvPr/>
          </p:nvSpPr>
          <p:spPr>
            <a:xfrm>
              <a:off x="6791" y="2798"/>
              <a:ext cx="1333" cy="1333"/>
            </a:xfrm>
            <a:prstGeom prst="roundRect">
              <a:avLst/>
            </a:prstGeom>
            <a:solidFill>
              <a:srgbClr val="91634E"/>
            </a:solidFill>
            <a:ln>
              <a:solidFill>
                <a:srgbClr val="916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文黑-55简" panose="00020600040101010101" charset="-122"/>
              </a:endParaRPr>
            </a:p>
          </p:txBody>
        </p:sp>
        <p:pic>
          <p:nvPicPr>
            <p:cNvPr id="18" name="图片 17"/>
            <p:cNvPicPr/>
            <p:nvPr/>
          </p:nvPicPr>
          <p:blipFill>
            <a:blip r:embed="rId6" cstate="print">
              <a:lum bright="100000"/>
            </a:blip>
            <a:stretch>
              <a:fillRect/>
            </a:stretch>
          </p:blipFill>
          <p:spPr>
            <a:xfrm>
              <a:off x="6975" y="2980"/>
              <a:ext cx="964" cy="964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astronaut-suit-illustration_114360-8538.webp"/>
          <p:cNvPicPr>
            <a:picLocks noChangeAspect="1"/>
          </p:cNvPicPr>
          <p:nvPr/>
        </p:nvPicPr>
        <p:blipFill>
          <a:blip r:embed="rId3">
            <a:lum bright="6000"/>
          </a:blip>
          <a:stretch>
            <a:fillRect/>
          </a:stretch>
        </p:blipFill>
        <p:spPr>
          <a:xfrm>
            <a:off x="7259955" y="1604010"/>
            <a:ext cx="4007485" cy="400748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4800600" y="3628390"/>
            <a:ext cx="1990725" cy="0"/>
          </a:xfrm>
          <a:prstGeom prst="line">
            <a:avLst/>
          </a:prstGeom>
          <a:solidFill>
            <a:srgbClr val="91634E"/>
          </a:solidFill>
          <a:ln w="57150" cap="rnd">
            <a:solidFill>
              <a:srgbClr val="91634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19" idx="6"/>
          </p:cNvCxnSpPr>
          <p:nvPr/>
        </p:nvCxnSpPr>
        <p:spPr>
          <a:xfrm flipV="1">
            <a:off x="1889760" y="3733165"/>
            <a:ext cx="418465" cy="876935"/>
          </a:xfrm>
          <a:prstGeom prst="line">
            <a:avLst/>
          </a:prstGeom>
          <a:solidFill>
            <a:srgbClr val="91634E"/>
          </a:solidFill>
          <a:ln w="57150" cap="rnd">
            <a:solidFill>
              <a:srgbClr val="91634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350770" y="3733165"/>
            <a:ext cx="1990725" cy="0"/>
          </a:xfrm>
          <a:prstGeom prst="line">
            <a:avLst/>
          </a:prstGeom>
          <a:solidFill>
            <a:srgbClr val="91634E"/>
          </a:solidFill>
          <a:ln w="57150" cap="rnd">
            <a:solidFill>
              <a:srgbClr val="91634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"/>
          <p:cNvSpPr/>
          <p:nvPr/>
        </p:nvSpPr>
        <p:spPr>
          <a:xfrm rot="183234">
            <a:off x="1604645" y="4523740"/>
            <a:ext cx="323850" cy="323850"/>
          </a:xfrm>
          <a:prstGeom prst="ellipse">
            <a:avLst/>
          </a:prstGeom>
          <a:solidFill>
            <a:srgbClr val="91634E"/>
          </a:solidFill>
          <a:ln w="38100"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67500" lnSpcReduction="20000"/>
          </a:bodyPr>
          <a:lstStyle/>
          <a:p>
            <a:pPr algn="ctr" defTabSz="1097280">
              <a:defRPr/>
            </a:pPr>
            <a:endParaRPr lang="en-US" sz="1680" dirty="0">
              <a:solidFill>
                <a:schemeClr val="tx1">
                  <a:lumMod val="85000"/>
                  <a:lumOff val="15000"/>
                </a:schemeClr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24" name="椭圆"/>
          <p:cNvSpPr/>
          <p:nvPr/>
        </p:nvSpPr>
        <p:spPr>
          <a:xfrm rot="10904570">
            <a:off x="3776345" y="3124835"/>
            <a:ext cx="967105" cy="967105"/>
          </a:xfrm>
          <a:prstGeom prst="ellipse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27" name="椭圆"/>
          <p:cNvSpPr/>
          <p:nvPr/>
        </p:nvSpPr>
        <p:spPr>
          <a:xfrm rot="183234">
            <a:off x="6550660" y="3465830"/>
            <a:ext cx="323850" cy="323850"/>
          </a:xfrm>
          <a:prstGeom prst="ellipse">
            <a:avLst/>
          </a:prstGeom>
          <a:solidFill>
            <a:srgbClr val="91634E"/>
          </a:solidFill>
          <a:ln w="38100"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67500" lnSpcReduction="20000"/>
          </a:bodyPr>
          <a:lstStyle/>
          <a:p>
            <a:pPr algn="ctr" defTabSz="1097280">
              <a:defRPr/>
            </a:pPr>
            <a:endParaRPr lang="en-US" sz="1680" dirty="0">
              <a:solidFill>
                <a:schemeClr val="tx1">
                  <a:lumMod val="85000"/>
                  <a:lumOff val="15000"/>
                </a:schemeClr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32" name="文本框"/>
          <p:cNvSpPr/>
          <p:nvPr/>
        </p:nvSpPr>
        <p:spPr bwMode="auto">
          <a:xfrm>
            <a:off x="1791970" y="4855210"/>
            <a:ext cx="420941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rIns="108000" anchor="t" anchorCtr="0">
            <a:noAutofit/>
          </a:bodyPr>
          <a:lstStyle/>
          <a:p>
            <a:pPr>
              <a:lnSpc>
                <a:spcPct val="140000"/>
              </a:lnSpc>
              <a:buSzPct val="25000"/>
            </a:pPr>
            <a:r>
              <a:rPr lang="zh-CN" altLang="en-US" sz="14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是人类走向深空的跳板。月球基地将成为人类走向深空的训练营，人类要熟悉了解星环境，就必须先了解月球环境；外由于月球重力只有地球的1/6，且没有大气阻力，未来人类走向深空的飞船将在月球发射，对飞船结构的改进和节省燃料都有重大意义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+mn-lt"/>
            </a:endParaRPr>
          </a:p>
        </p:txBody>
      </p:sp>
      <p:sp>
        <p:nvSpPr>
          <p:cNvPr id="33" name="文本框"/>
          <p:cNvSpPr txBox="1"/>
          <p:nvPr/>
        </p:nvSpPr>
        <p:spPr bwMode="auto">
          <a:xfrm>
            <a:off x="1990725" y="4515485"/>
            <a:ext cx="12763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rIns="108000">
            <a:normAutofit fontScale="90000" lnSpcReduction="20000"/>
          </a:bodyPr>
          <a:lstStyle/>
          <a:p>
            <a:pPr defTabSz="1097280">
              <a:spcBef>
                <a:spcPct val="0"/>
              </a:spcBef>
              <a:defRPr/>
            </a:pPr>
            <a:endParaRPr lang="zh-CN" altLang="en-US" sz="2160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1168077" y="379120"/>
            <a:ext cx="27406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kern="1200" cap="none" spc="0" normalizeH="0" baseline="0" noProof="0" dirty="0">
                <a:solidFill>
                  <a:srgbClr val="91634E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月球科研基地的优势与作用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484817" y="283435"/>
            <a:ext cx="617855" cy="617855"/>
            <a:chOff x="6791" y="2798"/>
            <a:chExt cx="1332" cy="1332"/>
          </a:xfrm>
        </p:grpSpPr>
        <p:sp>
          <p:nvSpPr>
            <p:cNvPr id="17" name="圆角矩形 23"/>
            <p:cNvSpPr/>
            <p:nvPr/>
          </p:nvSpPr>
          <p:spPr>
            <a:xfrm>
              <a:off x="6791" y="2798"/>
              <a:ext cx="1333" cy="1333"/>
            </a:xfrm>
            <a:prstGeom prst="roundRect">
              <a:avLst/>
            </a:prstGeom>
            <a:solidFill>
              <a:srgbClr val="91634E"/>
            </a:solidFill>
            <a:ln>
              <a:solidFill>
                <a:srgbClr val="916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文黑-55简" panose="00020600040101010101" charset="-122"/>
              </a:endParaRPr>
            </a:p>
          </p:txBody>
        </p:sp>
        <p:pic>
          <p:nvPicPr>
            <p:cNvPr id="18" name="图片 17"/>
            <p:cNvPicPr/>
            <p:nvPr/>
          </p:nvPicPr>
          <p:blipFill>
            <a:blip r:embed="rId4" cstate="print">
              <a:lum bright="100000"/>
            </a:blip>
            <a:stretch>
              <a:fillRect/>
            </a:stretch>
          </p:blipFill>
          <p:spPr>
            <a:xfrm>
              <a:off x="6975" y="2980"/>
              <a:ext cx="964" cy="96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文本框"/>
          <p:cNvSpPr/>
          <p:nvPr/>
        </p:nvSpPr>
        <p:spPr bwMode="auto">
          <a:xfrm>
            <a:off x="3855085" y="1094740"/>
            <a:ext cx="448119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rIns="108000" anchor="t" anchorCtr="0">
            <a:noAutofit/>
          </a:bodyPr>
          <a:lstStyle/>
          <a:p>
            <a:pPr>
              <a:lnSpc>
                <a:spcPct val="140000"/>
              </a:lnSpc>
              <a:buSzPct val="25000"/>
            </a:pPr>
            <a:r>
              <a:rPr lang="zh-CN" altLang="en-US" sz="14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月球上有人类需要的宝贵资源，地球上稀缺。如氦-3，是核聚变的优质燃料，地球储量整体只有500千克，而月球储量有百万吨之多，100吨可供人类核聚变发电用1年，月球氦-3可供人类用1万年。除了氦-3，月球上还有较丰富的铀、钍、钾、氧、硅、镁、铁、钛、钙、铝、氢等元素。人类要开发利用这些资源，就必须在月球上建立生产、加工、转运基地。</a:t>
            </a:r>
          </a:p>
          <a:p>
            <a:pPr>
              <a:lnSpc>
                <a:spcPct val="140000"/>
              </a:lnSpc>
              <a:buSzPct val="25000"/>
            </a:pPr>
            <a:endParaRPr lang="zh-CN" altLang="en-US" sz="1400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+mn-ea"/>
            </a:endParaRPr>
          </a:p>
        </p:txBody>
      </p:sp>
      <p:pic>
        <p:nvPicPr>
          <p:cNvPr id="105" name="图片 104"/>
          <p:cNvPicPr/>
          <p:nvPr/>
        </p:nvPicPr>
        <p:blipFill>
          <a:blip r:embed="rId5" cstate="print">
            <a:lum bright="100000"/>
          </a:blip>
          <a:stretch>
            <a:fillRect/>
          </a:stretch>
        </p:blipFill>
        <p:spPr>
          <a:xfrm>
            <a:off x="3990340" y="3338195"/>
            <a:ext cx="539750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flip dir="r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earth-spacecraft-elements-this-image-furnished-by-nasa_335224-751.webp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344295" y="1596390"/>
            <a:ext cx="3919220" cy="4182745"/>
          </a:xfrm>
          <a:prstGeom prst="roundRect">
            <a:avLst>
              <a:gd name="adj" fmla="val 4277"/>
            </a:avLst>
          </a:prstGeom>
        </p:spPr>
      </p:pic>
      <p:sp>
        <p:nvSpPr>
          <p:cNvPr id="3" name="圆角矩形 2"/>
          <p:cNvSpPr/>
          <p:nvPr/>
        </p:nvSpPr>
        <p:spPr>
          <a:xfrm>
            <a:off x="3776980" y="2113915"/>
            <a:ext cx="4493895" cy="3228975"/>
          </a:xfrm>
          <a:prstGeom prst="roundRect">
            <a:avLst>
              <a:gd name="adj" fmla="val 4739"/>
            </a:avLst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28745" y="1965325"/>
            <a:ext cx="4724400" cy="3784600"/>
          </a:xfrm>
          <a:prstGeom prst="rect">
            <a:avLst/>
          </a:prstGeom>
          <a:solidFill>
            <a:srgbClr val="91634E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月球的真空、低重力条件，是地球上科研难以复制的特殊环境，对科学研究有特殊的利用价值。如研究月球、地球、太阳系起源；低重力条件下生物微生物遗传工程；深空生命保障、人造生物圈等等，都比地球条件好多了，因此月球将成为区别于地球的特别科研中心，各国都将在那里设置自己的科研分支机构</a:t>
            </a:r>
          </a:p>
        </p:txBody>
      </p:sp>
      <p:cxnSp>
        <p:nvCxnSpPr>
          <p:cNvPr id="2" name="直接箭头连接符 1"/>
          <p:cNvCxnSpPr/>
          <p:nvPr/>
        </p:nvCxnSpPr>
        <p:spPr>
          <a:xfrm>
            <a:off x="8396605" y="2841625"/>
            <a:ext cx="887095" cy="0"/>
          </a:xfrm>
          <a:prstGeom prst="straightConnector1">
            <a:avLst/>
          </a:prstGeom>
          <a:ln>
            <a:solidFill>
              <a:srgbClr val="91634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14"/>
          <p:cNvSpPr/>
          <p:nvPr/>
        </p:nvSpPr>
        <p:spPr>
          <a:xfrm>
            <a:off x="9521190" y="2159000"/>
            <a:ext cx="1398270" cy="1269365"/>
          </a:xfrm>
          <a:prstGeom prst="roundRect">
            <a:avLst>
              <a:gd name="adj" fmla="val 7971"/>
            </a:avLst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文黑-55简" panose="00020600040101010101" charset="-122"/>
            </a:endParaRPr>
          </a:p>
        </p:txBody>
      </p:sp>
      <p:sp>
        <p:nvSpPr>
          <p:cNvPr id="6" name="圆角矩形 14"/>
          <p:cNvSpPr/>
          <p:nvPr/>
        </p:nvSpPr>
        <p:spPr>
          <a:xfrm>
            <a:off x="9521190" y="4005580"/>
            <a:ext cx="1398270" cy="1269365"/>
          </a:xfrm>
          <a:prstGeom prst="roundRect">
            <a:avLst>
              <a:gd name="adj" fmla="val 7971"/>
            </a:avLst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文黑-55简" panose="00020600040101010101" charset="-122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4" cstate="print">
            <a:lum bright="100000"/>
          </a:blip>
          <a:stretch>
            <a:fillRect/>
          </a:stretch>
        </p:blipFill>
        <p:spPr>
          <a:xfrm>
            <a:off x="9758680" y="2274570"/>
            <a:ext cx="923925" cy="923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5" cstate="print">
            <a:lum bright="100000"/>
          </a:blip>
          <a:stretch>
            <a:fillRect/>
          </a:stretch>
        </p:blipFill>
        <p:spPr>
          <a:xfrm>
            <a:off x="9706610" y="4143375"/>
            <a:ext cx="1026795" cy="102679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" name="直接箭头连接符 9"/>
          <p:cNvCxnSpPr/>
          <p:nvPr/>
        </p:nvCxnSpPr>
        <p:spPr>
          <a:xfrm>
            <a:off x="8406765" y="4624070"/>
            <a:ext cx="887095" cy="0"/>
          </a:xfrm>
          <a:prstGeom prst="straightConnector1">
            <a:avLst/>
          </a:prstGeom>
          <a:ln>
            <a:solidFill>
              <a:srgbClr val="91634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7"/>
          <p:cNvSpPr txBox="1"/>
          <p:nvPr/>
        </p:nvSpPr>
        <p:spPr>
          <a:xfrm>
            <a:off x="1168077" y="379120"/>
            <a:ext cx="2740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kern="1200" cap="none" spc="0" normalizeH="0" baseline="0" noProof="0" dirty="0">
                <a:solidFill>
                  <a:srgbClr val="91634E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单击添加大标题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84817" y="283435"/>
            <a:ext cx="617855" cy="617855"/>
            <a:chOff x="6791" y="2798"/>
            <a:chExt cx="1332" cy="1332"/>
          </a:xfrm>
        </p:grpSpPr>
        <p:sp>
          <p:nvSpPr>
            <p:cNvPr id="22" name="圆角矩形 23"/>
            <p:cNvSpPr/>
            <p:nvPr/>
          </p:nvSpPr>
          <p:spPr>
            <a:xfrm>
              <a:off x="6791" y="2798"/>
              <a:ext cx="1333" cy="1333"/>
            </a:xfrm>
            <a:prstGeom prst="roundRect">
              <a:avLst/>
            </a:prstGeom>
            <a:solidFill>
              <a:srgbClr val="91634E"/>
            </a:solidFill>
            <a:ln>
              <a:solidFill>
                <a:srgbClr val="916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文黑-55简" panose="00020600040101010101" charset="-122"/>
              </a:endParaRPr>
            </a:p>
          </p:txBody>
        </p:sp>
        <p:pic>
          <p:nvPicPr>
            <p:cNvPr id="23" name="图片 22"/>
            <p:cNvPicPr/>
            <p:nvPr/>
          </p:nvPicPr>
          <p:blipFill>
            <a:blip r:embed="rId6" cstate="print">
              <a:lum bright="100000"/>
            </a:blip>
            <a:stretch>
              <a:fillRect/>
            </a:stretch>
          </p:blipFill>
          <p:spPr>
            <a:xfrm>
              <a:off x="6975" y="2980"/>
              <a:ext cx="964" cy="964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>
        <p14:ripple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图片 109"/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043295" y="1822450"/>
            <a:ext cx="5187950" cy="37744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"/>
          <p:cNvSpPr/>
          <p:nvPr/>
        </p:nvSpPr>
        <p:spPr bwMode="auto">
          <a:xfrm>
            <a:off x="1681480" y="1822450"/>
            <a:ext cx="4879340" cy="1689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algn="ctr" rotWithShape="0">
              <a:schemeClr val="bg1">
                <a:lumMod val="50000"/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9" name="任意多边形"/>
          <p:cNvSpPr/>
          <p:nvPr/>
        </p:nvSpPr>
        <p:spPr bwMode="auto">
          <a:xfrm>
            <a:off x="1228090" y="1822450"/>
            <a:ext cx="453390" cy="1689100"/>
          </a:xfrm>
          <a:custGeom>
            <a:avLst/>
            <a:gdLst>
              <a:gd name="T0" fmla="*/ 26 w 26"/>
              <a:gd name="T1" fmla="*/ 76 h 76"/>
              <a:gd name="T2" fmla="*/ 0 w 26"/>
              <a:gd name="T3" fmla="*/ 61 h 76"/>
              <a:gd name="T4" fmla="*/ 26 w 26"/>
              <a:gd name="T5" fmla="*/ 0 h 76"/>
              <a:gd name="T6" fmla="*/ 26 w 26"/>
              <a:gd name="T7" fmla="*/ 76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" h="76">
                <a:moveTo>
                  <a:pt x="26" y="76"/>
                </a:moveTo>
                <a:lnTo>
                  <a:pt x="0" y="61"/>
                </a:lnTo>
                <a:lnTo>
                  <a:pt x="26" y="0"/>
                </a:lnTo>
                <a:lnTo>
                  <a:pt x="26" y="76"/>
                </a:lnTo>
                <a:close/>
              </a:path>
            </a:pathLst>
          </a:custGeom>
          <a:solidFill>
            <a:srgbClr val="91634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10" name="任意多边形"/>
          <p:cNvSpPr/>
          <p:nvPr/>
        </p:nvSpPr>
        <p:spPr bwMode="auto">
          <a:xfrm rot="16200000">
            <a:off x="655955" y="1657350"/>
            <a:ext cx="1598295" cy="1431925"/>
          </a:xfrm>
          <a:custGeom>
            <a:avLst/>
            <a:gdLst>
              <a:gd name="T0" fmla="*/ 114 w 174"/>
              <a:gd name="T1" fmla="*/ 0 h 136"/>
              <a:gd name="T2" fmla="*/ 0 w 174"/>
              <a:gd name="T3" fmla="*/ 0 h 136"/>
              <a:gd name="T4" fmla="*/ 0 w 174"/>
              <a:gd name="T5" fmla="*/ 76 h 136"/>
              <a:gd name="T6" fmla="*/ 60 w 174"/>
              <a:gd name="T7" fmla="*/ 136 h 136"/>
              <a:gd name="T8" fmla="*/ 174 w 174"/>
              <a:gd name="T9" fmla="*/ 136 h 136"/>
              <a:gd name="T10" fmla="*/ 174 w 174"/>
              <a:gd name="T11" fmla="*/ 60 h 136"/>
              <a:gd name="T12" fmla="*/ 114 w 174"/>
              <a:gd name="T13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4" h="136">
                <a:moveTo>
                  <a:pt x="114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109"/>
                  <a:pt x="27" y="136"/>
                  <a:pt x="60" y="136"/>
                </a:cubicBezTo>
                <a:cubicBezTo>
                  <a:pt x="174" y="136"/>
                  <a:pt x="174" y="136"/>
                  <a:pt x="174" y="136"/>
                </a:cubicBezTo>
                <a:cubicBezTo>
                  <a:pt x="174" y="60"/>
                  <a:pt x="174" y="60"/>
                  <a:pt x="174" y="60"/>
                </a:cubicBezTo>
                <a:cubicBezTo>
                  <a:pt x="174" y="27"/>
                  <a:pt x="147" y="0"/>
                  <a:pt x="114" y="0"/>
                </a:cubicBezTo>
                <a:close/>
              </a:path>
            </a:pathLst>
          </a:custGeom>
          <a:solidFill>
            <a:srgbClr val="91634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0580" y="2045335"/>
            <a:ext cx="1247775" cy="63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 algn="ctr" defTabSz="182816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500" b="1" i="0" kern="1200" cap="none" spc="0" normalizeH="0" baseline="0" noProof="0" dirty="0">
                <a:solidFill>
                  <a:prstClr val="white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01</a:t>
            </a:r>
            <a:endParaRPr kumimoji="0" lang="id-ID" altLang="zh-CN" sz="3500" b="1" i="0" kern="1200" cap="none" spc="0" normalizeH="0" baseline="0" noProof="0" dirty="0">
              <a:solidFill>
                <a:prstClr val="white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75205" y="1061720"/>
            <a:ext cx="4371975" cy="2846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>
              <a:lnSpc>
                <a:spcPct val="140000"/>
              </a:lnSpc>
              <a:defRPr/>
            </a:pPr>
            <a:r>
              <a:rPr lang="zh-CN" altLang="en-US" sz="16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汉仪文黑-55简" panose="00020600040101010101" charset="-122"/>
              </a:rPr>
              <a:t>重返月球及火星新的探测，将成为人类进入外层空间的重大突破口，也将成为空间科学发展过程中新的里程碑。这将在科学发展史上，使人类对地球、太阳系和宇宙的了解达到五个新高度；认识宇宙、认识宇宙、银河系、太阳系和地球的结构与演变，其中包括生命起源与进货；预测人类尚未掌握的现象。开拓月球、火星基地的活动将把科学推向新的前沿。</a:t>
            </a:r>
          </a:p>
        </p:txBody>
      </p:sp>
      <p:sp>
        <p:nvSpPr>
          <p:cNvPr id="2" name="矩形"/>
          <p:cNvSpPr/>
          <p:nvPr/>
        </p:nvSpPr>
        <p:spPr bwMode="auto">
          <a:xfrm>
            <a:off x="1681480" y="3907790"/>
            <a:ext cx="4879340" cy="1689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algn="ctr" rotWithShape="0">
              <a:schemeClr val="bg1">
                <a:lumMod val="50000"/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1168077" y="379120"/>
            <a:ext cx="27406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solidFill>
                  <a:srgbClr val="91634E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月球科研基地的优势与作用</a:t>
            </a:r>
            <a:endParaRPr kumimoji="0" lang="zh-CN" altLang="en-US" sz="2400" i="0" kern="1200" cap="none" spc="0" normalizeH="0" baseline="0" noProof="0" dirty="0">
              <a:solidFill>
                <a:srgbClr val="91634E"/>
              </a:solidFill>
              <a:latin typeface="汉仪雅酷黑简" panose="00020600040101010101" charset="-122"/>
              <a:ea typeface="汉仪雅酷黑简" panose="00020600040101010101" charset="-122"/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4817" y="283435"/>
            <a:ext cx="617855" cy="617855"/>
            <a:chOff x="6791" y="2798"/>
            <a:chExt cx="1332" cy="1332"/>
          </a:xfrm>
        </p:grpSpPr>
        <p:sp>
          <p:nvSpPr>
            <p:cNvPr id="17" name="圆角矩形 23"/>
            <p:cNvSpPr/>
            <p:nvPr/>
          </p:nvSpPr>
          <p:spPr>
            <a:xfrm>
              <a:off x="6791" y="2798"/>
              <a:ext cx="1333" cy="1333"/>
            </a:xfrm>
            <a:prstGeom prst="roundRect">
              <a:avLst/>
            </a:prstGeom>
            <a:solidFill>
              <a:srgbClr val="91634E"/>
            </a:solidFill>
            <a:ln>
              <a:solidFill>
                <a:srgbClr val="916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文黑-55简" panose="00020600040101010101" charset="-122"/>
              </a:endParaRPr>
            </a:p>
          </p:txBody>
        </p:sp>
        <p:pic>
          <p:nvPicPr>
            <p:cNvPr id="18" name="图片 17"/>
            <p:cNvPicPr/>
            <p:nvPr/>
          </p:nvPicPr>
          <p:blipFill>
            <a:blip r:embed="rId4" cstate="print">
              <a:lum bright="100000"/>
            </a:blip>
            <a:stretch>
              <a:fillRect/>
            </a:stretch>
          </p:blipFill>
          <p:spPr>
            <a:xfrm>
              <a:off x="6975" y="2980"/>
              <a:ext cx="964" cy="964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slow" advTm="0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"/>
          <p:cNvSpPr/>
          <p:nvPr/>
        </p:nvSpPr>
        <p:spPr bwMode="auto">
          <a:xfrm>
            <a:off x="1681480" y="1822450"/>
            <a:ext cx="4879340" cy="1689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algn="ctr" rotWithShape="0">
              <a:schemeClr val="bg1">
                <a:lumMod val="50000"/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9" name="任意多边形"/>
          <p:cNvSpPr/>
          <p:nvPr/>
        </p:nvSpPr>
        <p:spPr bwMode="auto">
          <a:xfrm>
            <a:off x="1228090" y="1822450"/>
            <a:ext cx="453390" cy="1689100"/>
          </a:xfrm>
          <a:custGeom>
            <a:avLst/>
            <a:gdLst>
              <a:gd name="T0" fmla="*/ 26 w 26"/>
              <a:gd name="T1" fmla="*/ 76 h 76"/>
              <a:gd name="T2" fmla="*/ 0 w 26"/>
              <a:gd name="T3" fmla="*/ 61 h 76"/>
              <a:gd name="T4" fmla="*/ 26 w 26"/>
              <a:gd name="T5" fmla="*/ 0 h 76"/>
              <a:gd name="T6" fmla="*/ 26 w 26"/>
              <a:gd name="T7" fmla="*/ 76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" h="76">
                <a:moveTo>
                  <a:pt x="26" y="76"/>
                </a:moveTo>
                <a:lnTo>
                  <a:pt x="0" y="61"/>
                </a:lnTo>
                <a:lnTo>
                  <a:pt x="26" y="0"/>
                </a:lnTo>
                <a:lnTo>
                  <a:pt x="26" y="76"/>
                </a:lnTo>
                <a:close/>
              </a:path>
            </a:pathLst>
          </a:custGeom>
          <a:solidFill>
            <a:srgbClr val="91634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10" name="任意多边形"/>
          <p:cNvSpPr/>
          <p:nvPr/>
        </p:nvSpPr>
        <p:spPr bwMode="auto">
          <a:xfrm rot="16200000">
            <a:off x="655955" y="1657350"/>
            <a:ext cx="1598295" cy="1431925"/>
          </a:xfrm>
          <a:custGeom>
            <a:avLst/>
            <a:gdLst>
              <a:gd name="T0" fmla="*/ 114 w 174"/>
              <a:gd name="T1" fmla="*/ 0 h 136"/>
              <a:gd name="T2" fmla="*/ 0 w 174"/>
              <a:gd name="T3" fmla="*/ 0 h 136"/>
              <a:gd name="T4" fmla="*/ 0 w 174"/>
              <a:gd name="T5" fmla="*/ 76 h 136"/>
              <a:gd name="T6" fmla="*/ 60 w 174"/>
              <a:gd name="T7" fmla="*/ 136 h 136"/>
              <a:gd name="T8" fmla="*/ 174 w 174"/>
              <a:gd name="T9" fmla="*/ 136 h 136"/>
              <a:gd name="T10" fmla="*/ 174 w 174"/>
              <a:gd name="T11" fmla="*/ 60 h 136"/>
              <a:gd name="T12" fmla="*/ 114 w 174"/>
              <a:gd name="T13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4" h="136">
                <a:moveTo>
                  <a:pt x="114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109"/>
                  <a:pt x="27" y="136"/>
                  <a:pt x="60" y="136"/>
                </a:cubicBezTo>
                <a:cubicBezTo>
                  <a:pt x="174" y="136"/>
                  <a:pt x="174" y="136"/>
                  <a:pt x="174" y="136"/>
                </a:cubicBezTo>
                <a:cubicBezTo>
                  <a:pt x="174" y="60"/>
                  <a:pt x="174" y="60"/>
                  <a:pt x="174" y="60"/>
                </a:cubicBezTo>
                <a:cubicBezTo>
                  <a:pt x="174" y="27"/>
                  <a:pt x="147" y="0"/>
                  <a:pt x="114" y="0"/>
                </a:cubicBezTo>
                <a:close/>
              </a:path>
            </a:pathLst>
          </a:custGeom>
          <a:solidFill>
            <a:srgbClr val="91634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0580" y="2045335"/>
            <a:ext cx="1247775" cy="63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 algn="ctr" defTabSz="182816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500" b="1" i="0" kern="1200" cap="none" spc="0" normalizeH="0" baseline="0" noProof="0" dirty="0">
                <a:solidFill>
                  <a:prstClr val="white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01</a:t>
            </a:r>
            <a:endParaRPr kumimoji="0" lang="id-ID" altLang="zh-CN" sz="3500" b="1" i="0" kern="1200" cap="none" spc="0" normalizeH="0" baseline="0" noProof="0" dirty="0">
              <a:solidFill>
                <a:prstClr val="white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75205" y="1061720"/>
            <a:ext cx="4371975" cy="319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>
              <a:lnSpc>
                <a:spcPct val="140000"/>
              </a:lnSpc>
              <a:defRPr/>
            </a:pPr>
            <a:r>
              <a:rPr lang="zh-CN" altLang="en-US" sz="16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汉仪文黑-55简" panose="00020600040101010101" charset="-122"/>
              </a:rPr>
              <a:t>推动科技进步。新的月球、火星探测不仅计划庞大，而且由于它的带动，许多科学和技术领域得以飞速发展，比如人工智能、机器人、遥控作业、加工自动化、高超音速飞行、低成本全球运输系统、光学通信和数据处理系统、超高强度和耐高温材料、超级计算机、电功率无线传输、无污染飞行器、在轨天线场以及封闭生态生物圈的使用等。仅封闭生物圈这项，将会使密集型农业发生革命性变化。</a:t>
            </a:r>
          </a:p>
        </p:txBody>
      </p:sp>
      <p:sp>
        <p:nvSpPr>
          <p:cNvPr id="2" name="矩形"/>
          <p:cNvSpPr/>
          <p:nvPr/>
        </p:nvSpPr>
        <p:spPr bwMode="auto">
          <a:xfrm>
            <a:off x="1681480" y="3907790"/>
            <a:ext cx="4879340" cy="1689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algn="ctr" rotWithShape="0">
              <a:schemeClr val="bg1">
                <a:lumMod val="50000"/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1168077" y="379120"/>
            <a:ext cx="27406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solidFill>
                  <a:srgbClr val="91634E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月球科研基地的优势与作用</a:t>
            </a:r>
            <a:endParaRPr kumimoji="0" lang="zh-CN" altLang="en-US" sz="2400" i="0" kern="1200" cap="none" spc="0" normalizeH="0" baseline="0" noProof="0" dirty="0">
              <a:solidFill>
                <a:srgbClr val="91634E"/>
              </a:solidFill>
              <a:latin typeface="汉仪雅酷黑简" panose="00020600040101010101" charset="-122"/>
              <a:ea typeface="汉仪雅酷黑简" panose="00020600040101010101" charset="-122"/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4817" y="283435"/>
            <a:ext cx="617855" cy="617855"/>
            <a:chOff x="6791" y="2798"/>
            <a:chExt cx="1332" cy="1332"/>
          </a:xfrm>
        </p:grpSpPr>
        <p:sp>
          <p:nvSpPr>
            <p:cNvPr id="17" name="圆角矩形 23"/>
            <p:cNvSpPr/>
            <p:nvPr/>
          </p:nvSpPr>
          <p:spPr>
            <a:xfrm>
              <a:off x="6791" y="2798"/>
              <a:ext cx="1333" cy="1333"/>
            </a:xfrm>
            <a:prstGeom prst="roundRect">
              <a:avLst/>
            </a:prstGeom>
            <a:solidFill>
              <a:srgbClr val="91634E"/>
            </a:solidFill>
            <a:ln>
              <a:solidFill>
                <a:srgbClr val="916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文黑-55简" panose="00020600040101010101" charset="-122"/>
              </a:endParaRPr>
            </a:p>
          </p:txBody>
        </p:sp>
        <p:pic>
          <p:nvPicPr>
            <p:cNvPr id="18" name="图片 17"/>
            <p:cNvPicPr/>
            <p:nvPr/>
          </p:nvPicPr>
          <p:blipFill>
            <a:blip r:embed="rId3" cstate="print">
              <a:lum bright="100000"/>
            </a:blip>
            <a:stretch>
              <a:fillRect/>
            </a:stretch>
          </p:blipFill>
          <p:spPr>
            <a:xfrm>
              <a:off x="6975" y="2980"/>
              <a:ext cx="964" cy="964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100" name="图片 99"/>
          <p:cNvPicPr/>
          <p:nvPr/>
        </p:nvPicPr>
        <p:blipFill>
          <a:blip r:embed="rId4"/>
          <a:stretch>
            <a:fillRect/>
          </a:stretch>
        </p:blipFill>
        <p:spPr>
          <a:xfrm>
            <a:off x="6751320" y="814705"/>
            <a:ext cx="4414520" cy="48177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7997879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5660727" y="1105727"/>
            <a:ext cx="676236" cy="676236"/>
          </a:xfrm>
          <a:prstGeom prst="ellipse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+mn-lt"/>
              </a:rPr>
              <a:t>02</a:t>
            </a:r>
          </a:p>
        </p:txBody>
      </p:sp>
      <p:sp>
        <p:nvSpPr>
          <p:cNvPr id="5" name="文本框"/>
          <p:cNvSpPr/>
          <p:nvPr/>
        </p:nvSpPr>
        <p:spPr>
          <a:xfrm>
            <a:off x="3803650" y="2096770"/>
            <a:ext cx="4585335" cy="699770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noProof="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国际月球科研站未来发展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370070" y="1685925"/>
            <a:ext cx="3257550" cy="344170"/>
            <a:chOff x="6700" y="2655"/>
            <a:chExt cx="5130" cy="54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0" y="2972"/>
              <a:ext cx="4879" cy="0"/>
            </a:xfrm>
            <a:prstGeom prst="line">
              <a:avLst/>
            </a:prstGeom>
            <a:ln>
              <a:solidFill>
                <a:schemeClr val="bg1">
                  <a:alpha val="5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1526" y="2655"/>
              <a:ext cx="305" cy="543"/>
            </a:xfrm>
            <a:prstGeom prst="line">
              <a:avLst/>
            </a:prstGeom>
            <a:ln>
              <a:solidFill>
                <a:schemeClr val="bg1">
                  <a:alpha val="5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片 110"/>
          <p:cNvPicPr/>
          <p:nvPr/>
        </p:nvPicPr>
        <p:blipFill>
          <a:blip r:embed="rId7" cstate="print"/>
          <a:srcRect/>
          <a:stretch>
            <a:fillRect/>
          </a:stretch>
        </p:blipFill>
        <p:spPr>
          <a:xfrm>
            <a:off x="1170305" y="3145155"/>
            <a:ext cx="9852025" cy="27146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7"/>
          <p:cNvCxnSpPr/>
          <p:nvPr/>
        </p:nvCxnSpPr>
        <p:spPr>
          <a:xfrm flipH="1">
            <a:off x="8725329" y="1069624"/>
            <a:ext cx="1892346" cy="0"/>
          </a:xfrm>
          <a:prstGeom prst="line">
            <a:avLst/>
          </a:prstGeom>
          <a:ln w="12700">
            <a:solidFill>
              <a:srgbClr val="91634E"/>
            </a:solidFill>
            <a:prstDash val="sysDash"/>
            <a:headEnd type="none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7"/>
          <p:cNvCxnSpPr/>
          <p:nvPr/>
        </p:nvCxnSpPr>
        <p:spPr>
          <a:xfrm>
            <a:off x="10617873" y="1069631"/>
            <a:ext cx="0" cy="1612265"/>
          </a:xfrm>
          <a:prstGeom prst="line">
            <a:avLst/>
          </a:prstGeom>
          <a:solidFill>
            <a:srgbClr val="91634E"/>
          </a:solidFill>
          <a:ln w="12700">
            <a:solidFill>
              <a:srgbClr val="91634E"/>
            </a:solidFill>
            <a:prstDash val="sysDash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"/>
          <p:cNvSpPr txBox="1"/>
          <p:nvPr/>
        </p:nvSpPr>
        <p:spPr>
          <a:xfrm>
            <a:off x="1170305" y="972185"/>
            <a:ext cx="5912485" cy="566420"/>
          </a:xfrm>
          <a:prstGeom prst="rect">
            <a:avLst/>
          </a:prstGeom>
        </p:spPr>
        <p:txBody>
          <a:bodyPr vert="horz" lIns="99998" tIns="49998" rIns="99998" bIns="49998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anose="020B040303040302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buSzPct val="25000"/>
            </a:pPr>
            <a:r>
              <a:rPr lang="zh-CN" altLang="en-US" sz="18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通过吸引国际伙伴共同参与建设的综合性科学实验设施</a:t>
            </a:r>
          </a:p>
        </p:txBody>
      </p:sp>
      <p:sp>
        <p:nvSpPr>
          <p:cNvPr id="5" name="矩形"/>
          <p:cNvSpPr/>
          <p:nvPr/>
        </p:nvSpPr>
        <p:spPr>
          <a:xfrm rot="16200000">
            <a:off x="10203741" y="2974132"/>
            <a:ext cx="848249" cy="789296"/>
          </a:xfrm>
          <a:prstGeom prst="rect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sz="1970" dirty="0">
              <a:solidFill>
                <a:prstClr val="white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6" name="等腰三角形 8"/>
          <p:cNvSpPr/>
          <p:nvPr/>
        </p:nvSpPr>
        <p:spPr>
          <a:xfrm>
            <a:off x="10531118" y="2833111"/>
            <a:ext cx="193495" cy="113931"/>
          </a:xfrm>
          <a:prstGeom prst="triangle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sz="1970" dirty="0">
              <a:solidFill>
                <a:prstClr val="white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Arial" panose="020B0604020202020204" pitchFamily="34" charset="0"/>
            </a:endParaRPr>
          </a:p>
        </p:txBody>
      </p:sp>
      <p:pic>
        <p:nvPicPr>
          <p:cNvPr id="105" name="图片 104"/>
          <p:cNvPicPr/>
          <p:nvPr/>
        </p:nvPicPr>
        <p:blipFill>
          <a:blip r:embed="rId8" cstate="print">
            <a:lum bright="100000"/>
          </a:blip>
          <a:stretch>
            <a:fillRect/>
          </a:stretch>
        </p:blipFill>
        <p:spPr>
          <a:xfrm>
            <a:off x="10233025" y="3023870"/>
            <a:ext cx="773430" cy="7734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Box 7"/>
          <p:cNvSpPr txBox="1"/>
          <p:nvPr/>
        </p:nvSpPr>
        <p:spPr>
          <a:xfrm>
            <a:off x="1167765" y="379095"/>
            <a:ext cx="3851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kern="1200" cap="none" spc="0" normalizeH="0" baseline="0" noProof="0" dirty="0">
                <a:solidFill>
                  <a:srgbClr val="91634E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国际月球科研站未来发展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84817" y="283435"/>
            <a:ext cx="617855" cy="617855"/>
            <a:chOff x="6791" y="2798"/>
            <a:chExt cx="1332" cy="1332"/>
          </a:xfrm>
        </p:grpSpPr>
        <p:sp>
          <p:nvSpPr>
            <p:cNvPr id="9" name="圆角矩形 23"/>
            <p:cNvSpPr/>
            <p:nvPr>
              <p:custDataLst>
                <p:tags r:id="rId3"/>
              </p:custDataLst>
            </p:nvPr>
          </p:nvSpPr>
          <p:spPr>
            <a:xfrm>
              <a:off x="6791" y="2798"/>
              <a:ext cx="1333" cy="1333"/>
            </a:xfrm>
            <a:prstGeom prst="roundRect">
              <a:avLst/>
            </a:prstGeom>
            <a:solidFill>
              <a:srgbClr val="91634E"/>
            </a:solidFill>
            <a:ln>
              <a:solidFill>
                <a:srgbClr val="916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文黑-55简" panose="00020600040101010101" charset="-122"/>
              </a:endParaRPr>
            </a:p>
          </p:txBody>
        </p:sp>
        <p:pic>
          <p:nvPicPr>
            <p:cNvPr id="10" name="图片 9"/>
            <p:cNvPicPr/>
            <p:nvPr>
              <p:custDataLst>
                <p:tags r:id="rId4"/>
              </p:custDataLst>
            </p:nvPr>
          </p:nvPicPr>
          <p:blipFill>
            <a:blip r:embed="rId9" cstate="print">
              <a:lum bright="100000"/>
            </a:blip>
            <a:stretch>
              <a:fillRect/>
            </a:stretch>
          </p:blipFill>
          <p:spPr>
            <a:xfrm>
              <a:off x="6975" y="2980"/>
              <a:ext cx="964" cy="96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9" name="文本框"/>
          <p:cNvSpPr txBox="1"/>
          <p:nvPr>
            <p:custDataLst>
              <p:tags r:id="rId1"/>
            </p:custDataLst>
          </p:nvPr>
        </p:nvSpPr>
        <p:spPr>
          <a:xfrm>
            <a:off x="1167765" y="1352550"/>
            <a:ext cx="6778625" cy="911860"/>
          </a:xfrm>
          <a:prstGeom prst="rect">
            <a:avLst/>
          </a:prstGeom>
        </p:spPr>
        <p:txBody>
          <a:bodyPr vert="horz" lIns="99998" tIns="49998" rIns="99998" bIns="49998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anose="020B040303040302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buSzPct val="25000"/>
            </a:pPr>
            <a:r>
              <a:rPr lang="zh-CN" altLang="en-US" sz="18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进行月球资源探索和利用、月基观测、基础科学实验和技术验证</a:t>
            </a:r>
          </a:p>
        </p:txBody>
      </p:sp>
      <p:sp>
        <p:nvSpPr>
          <p:cNvPr id="20" name="文本框"/>
          <p:cNvSpPr txBox="1"/>
          <p:nvPr>
            <p:custDataLst>
              <p:tags r:id="rId2"/>
            </p:custDataLst>
          </p:nvPr>
        </p:nvSpPr>
        <p:spPr>
          <a:xfrm>
            <a:off x="1170305" y="1921510"/>
            <a:ext cx="6778625" cy="911860"/>
          </a:xfrm>
          <a:prstGeom prst="rect">
            <a:avLst/>
          </a:prstGeom>
        </p:spPr>
        <p:txBody>
          <a:bodyPr vert="horz" lIns="99998" tIns="49998" rIns="99998" bIns="49998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anose="020B040303040302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buSzPct val="25000"/>
            </a:pPr>
            <a:r>
              <a:rPr lang="zh-CN" altLang="en-US" sz="18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长期自主运行、远景有人参与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87349" y="1737028"/>
            <a:ext cx="11598443" cy="39293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381000" dir="5400000" sx="90000" sy="90000" algn="ctr" rotWithShape="0">
              <a:schemeClr val="bg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solidFill>
                <a:srgbClr val="F7F7F7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663575" y="1104900"/>
            <a:ext cx="1477645" cy="430530"/>
          </a:xfrm>
          <a:prstGeom prst="roundRect">
            <a:avLst>
              <a:gd name="adj" fmla="val 50000"/>
            </a:avLst>
          </a:prstGeom>
          <a:solidFill>
            <a:srgbClr val="91634E"/>
          </a:solidFill>
          <a:ln>
            <a:solidFill>
              <a:srgbClr val="91634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bg1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8025" y="1120140"/>
            <a:ext cx="1388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月球考古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3575" y="1638935"/>
            <a:ext cx="2691765" cy="392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1634E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buSzPct val="25000"/>
            </a:pPr>
            <a:r>
              <a:rPr lang="zh-CN" altLang="en-US" sz="14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月球演化进程的综合探测与研究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663575" y="2768600"/>
            <a:ext cx="1477645" cy="430530"/>
          </a:xfrm>
          <a:prstGeom prst="roundRect">
            <a:avLst>
              <a:gd name="adj" fmla="val 50000"/>
            </a:avLst>
          </a:prstGeom>
          <a:solidFill>
            <a:srgbClr val="91634E"/>
          </a:solidFill>
          <a:ln>
            <a:solidFill>
              <a:srgbClr val="91634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bg1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8025" y="2783840"/>
            <a:ext cx="1388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日地全景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63575" y="3232785"/>
            <a:ext cx="315023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buSzPct val="25000"/>
            </a:pPr>
            <a:r>
              <a:rPr lang="zh-CN" altLang="en-US" sz="14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利用月基平台开展月基太阳三高观测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3912235" y="1721485"/>
            <a:ext cx="1477645" cy="430530"/>
          </a:xfrm>
          <a:prstGeom prst="roundRect">
            <a:avLst>
              <a:gd name="adj" fmla="val 50000"/>
            </a:avLst>
          </a:prstGeom>
          <a:solidFill>
            <a:srgbClr val="91634E"/>
          </a:solidFill>
          <a:ln>
            <a:solidFill>
              <a:srgbClr val="91634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bg1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956685" y="1736725"/>
            <a:ext cx="1388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巡天探秘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912235" y="2193925"/>
            <a:ext cx="232600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buSzPct val="25000"/>
            </a:pPr>
            <a:r>
              <a:rPr lang="zh-CN" altLang="en-US" sz="14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研究恒星形成和活动规律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3912235" y="3940175"/>
            <a:ext cx="1477645" cy="430530"/>
          </a:xfrm>
          <a:prstGeom prst="roundRect">
            <a:avLst>
              <a:gd name="adj" fmla="val 50000"/>
            </a:avLst>
          </a:prstGeom>
          <a:solidFill>
            <a:srgbClr val="91634E"/>
          </a:solidFill>
          <a:ln>
            <a:solidFill>
              <a:srgbClr val="91634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bg1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12235" y="3970655"/>
            <a:ext cx="1388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科学实验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912235" y="4521835"/>
            <a:ext cx="232664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40000"/>
              </a:lnSpc>
            </a:pPr>
            <a:r>
              <a:rPr lang="zh-CN" altLang="en-US" sz="14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开展月基基础科学实验研究</a:t>
            </a:r>
          </a:p>
        </p:txBody>
      </p:sp>
      <p:sp>
        <p:nvSpPr>
          <p:cNvPr id="2" name="TextBox 7"/>
          <p:cNvSpPr txBox="1"/>
          <p:nvPr/>
        </p:nvSpPr>
        <p:spPr>
          <a:xfrm>
            <a:off x="1167765" y="379095"/>
            <a:ext cx="3851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kern="1200" cap="none" spc="0" normalizeH="0" baseline="0" noProof="0" dirty="0">
                <a:solidFill>
                  <a:srgbClr val="91634E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国际月球科研站未来发展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84817" y="283435"/>
            <a:ext cx="617855" cy="617855"/>
            <a:chOff x="6791" y="2798"/>
            <a:chExt cx="1332" cy="1332"/>
          </a:xfrm>
        </p:grpSpPr>
        <p:sp>
          <p:nvSpPr>
            <p:cNvPr id="4" name="圆角矩形 23"/>
            <p:cNvSpPr/>
            <p:nvPr/>
          </p:nvSpPr>
          <p:spPr>
            <a:xfrm>
              <a:off x="6791" y="2798"/>
              <a:ext cx="1333" cy="1333"/>
            </a:xfrm>
            <a:prstGeom prst="roundRect">
              <a:avLst/>
            </a:prstGeom>
            <a:solidFill>
              <a:srgbClr val="91634E"/>
            </a:solidFill>
            <a:ln>
              <a:solidFill>
                <a:srgbClr val="916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文黑-55简" panose="00020600040101010101" charset="-122"/>
              </a:endParaRPr>
            </a:p>
          </p:txBody>
        </p:sp>
        <p:pic>
          <p:nvPicPr>
            <p:cNvPr id="6" name="图片 5"/>
            <p:cNvPicPr/>
            <p:nvPr/>
          </p:nvPicPr>
          <p:blipFill>
            <a:blip r:embed="rId6" cstate="print">
              <a:lum bright="100000"/>
            </a:blip>
            <a:stretch>
              <a:fillRect/>
            </a:stretch>
          </p:blipFill>
          <p:spPr>
            <a:xfrm>
              <a:off x="6975" y="2980"/>
              <a:ext cx="964" cy="96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63575" y="5066030"/>
            <a:ext cx="217360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40000"/>
              </a:lnSpc>
            </a:pPr>
            <a:r>
              <a:rPr lang="zh-CN" altLang="en-US" sz="1400" dirty="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  <a:sym typeface="+mn-ea"/>
              </a:rPr>
              <a:t>对月球资源进行就位利用</a:t>
            </a:r>
          </a:p>
        </p:txBody>
      </p:sp>
      <p:sp>
        <p:nvSpPr>
          <p:cNvPr id="14" name="矩形: 圆角 26"/>
          <p:cNvSpPr/>
          <p:nvPr>
            <p:custDataLst>
              <p:tags r:id="rId2"/>
            </p:custDataLst>
          </p:nvPr>
        </p:nvSpPr>
        <p:spPr>
          <a:xfrm>
            <a:off x="663575" y="4613910"/>
            <a:ext cx="1477645" cy="430530"/>
          </a:xfrm>
          <a:prstGeom prst="roundRect">
            <a:avLst>
              <a:gd name="adj" fmla="val 50000"/>
            </a:avLst>
          </a:prstGeom>
          <a:solidFill>
            <a:srgbClr val="91634E"/>
          </a:solidFill>
          <a:ln>
            <a:solidFill>
              <a:srgbClr val="91634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bg1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663575" y="4644390"/>
            <a:ext cx="1388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资源利用</a:t>
            </a:r>
          </a:p>
        </p:txBody>
      </p:sp>
      <p:pic>
        <p:nvPicPr>
          <p:cNvPr id="25" name="图片 24" descr="下载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2030" y="839470"/>
            <a:ext cx="5903595" cy="3700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7997879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5660727" y="1105727"/>
            <a:ext cx="676236" cy="676236"/>
          </a:xfrm>
          <a:prstGeom prst="ellipse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+mn-lt"/>
              </a:rPr>
              <a:t>03</a:t>
            </a:r>
          </a:p>
        </p:txBody>
      </p:sp>
      <p:sp>
        <p:nvSpPr>
          <p:cNvPr id="5" name="文本框"/>
          <p:cNvSpPr/>
          <p:nvPr/>
        </p:nvSpPr>
        <p:spPr>
          <a:xfrm>
            <a:off x="4417060" y="1992630"/>
            <a:ext cx="3051175" cy="699770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未来的月面载具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370070" y="1685925"/>
            <a:ext cx="3257550" cy="344170"/>
            <a:chOff x="6700" y="2655"/>
            <a:chExt cx="5130" cy="54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0" y="2972"/>
              <a:ext cx="4879" cy="0"/>
            </a:xfrm>
            <a:prstGeom prst="line">
              <a:avLst/>
            </a:prstGeom>
            <a:ln>
              <a:solidFill>
                <a:schemeClr val="bg1">
                  <a:alpha val="5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1526" y="2655"/>
              <a:ext cx="305" cy="543"/>
            </a:xfrm>
            <a:prstGeom prst="line">
              <a:avLst/>
            </a:prstGeom>
            <a:ln>
              <a:solidFill>
                <a:schemeClr val="bg1">
                  <a:alpha val="5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连接符 22"/>
          <p:cNvCxnSpPr/>
          <p:nvPr/>
        </p:nvCxnSpPr>
        <p:spPr>
          <a:xfrm>
            <a:off x="3825959" y="1055442"/>
            <a:ext cx="0" cy="4574837"/>
          </a:xfrm>
          <a:prstGeom prst="line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3735562" y="973358"/>
            <a:ext cx="180793" cy="164169"/>
          </a:xfrm>
          <a:prstGeom prst="ellipse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4A5A76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735562" y="1958345"/>
            <a:ext cx="180793" cy="164169"/>
          </a:xfrm>
          <a:prstGeom prst="ellipse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4A5A76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19935" y="1851660"/>
            <a:ext cx="1576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rgbClr val="91634E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小型月球车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3825875" y="2040255"/>
            <a:ext cx="433705" cy="0"/>
          </a:xfrm>
          <a:prstGeom prst="line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圆角矩形 14"/>
          <p:cNvSpPr/>
          <p:nvPr/>
        </p:nvSpPr>
        <p:spPr>
          <a:xfrm>
            <a:off x="4259580" y="1706880"/>
            <a:ext cx="735330" cy="667385"/>
          </a:xfrm>
          <a:prstGeom prst="roundRect">
            <a:avLst>
              <a:gd name="adj" fmla="val 7971"/>
            </a:avLst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文黑-55简" panose="00020600040101010101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94910" y="1825625"/>
            <a:ext cx="5558790" cy="43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hangingPunct="0">
              <a:lnSpc>
                <a:spcPct val="140000"/>
              </a:lnSpc>
              <a:defRPr/>
            </a:pPr>
            <a:r>
              <a:rPr lang="zh-CN" altLang="en-US" sz="16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汉仪文黑-55简" panose="00020600040101010101" charset="-122"/>
              </a:rPr>
              <a:t>在月球表面行驶并对月球考察和收集分析样品的专用车辆。</a:t>
            </a:r>
          </a:p>
        </p:txBody>
      </p:sp>
      <p:sp>
        <p:nvSpPr>
          <p:cNvPr id="2" name="椭圆 1"/>
          <p:cNvSpPr/>
          <p:nvPr/>
        </p:nvSpPr>
        <p:spPr>
          <a:xfrm>
            <a:off x="3735562" y="3425195"/>
            <a:ext cx="180793" cy="164169"/>
          </a:xfrm>
          <a:prstGeom prst="ellipse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4A5A76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16785" y="3318510"/>
            <a:ext cx="1379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rgbClr val="91634E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月球火车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825875" y="3507105"/>
            <a:ext cx="433705" cy="0"/>
          </a:xfrm>
          <a:prstGeom prst="line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圆角矩形 14"/>
          <p:cNvSpPr/>
          <p:nvPr/>
        </p:nvSpPr>
        <p:spPr>
          <a:xfrm>
            <a:off x="4259580" y="3173730"/>
            <a:ext cx="735330" cy="667385"/>
          </a:xfrm>
          <a:prstGeom prst="roundRect">
            <a:avLst>
              <a:gd name="adj" fmla="val 7971"/>
            </a:avLst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文黑-55简" panose="0002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94910" y="3281680"/>
            <a:ext cx="6137275" cy="43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hangingPunct="0">
              <a:lnSpc>
                <a:spcPct val="140000"/>
              </a:lnSpc>
              <a:defRPr/>
            </a:pPr>
            <a:r>
              <a:rPr lang="zh-CN" altLang="en-US" sz="16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汉仪文黑-55简" panose="00020600040101010101" charset="-122"/>
              </a:rPr>
              <a:t>如果在月球上建立多个基地后，可能会使用铁路系统来互相连接。</a:t>
            </a:r>
          </a:p>
        </p:txBody>
      </p:sp>
      <p:sp>
        <p:nvSpPr>
          <p:cNvPr id="7" name="椭圆 6"/>
          <p:cNvSpPr/>
          <p:nvPr/>
        </p:nvSpPr>
        <p:spPr>
          <a:xfrm>
            <a:off x="3735562" y="4791715"/>
            <a:ext cx="180793" cy="164169"/>
          </a:xfrm>
          <a:prstGeom prst="ellipse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4A5A76"/>
              </a:soli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18360" y="4685030"/>
            <a:ext cx="14776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rgbClr val="91634E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月球飞行器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825875" y="4873625"/>
            <a:ext cx="433705" cy="0"/>
          </a:xfrm>
          <a:prstGeom prst="line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圆角矩形 14"/>
          <p:cNvSpPr/>
          <p:nvPr/>
        </p:nvSpPr>
        <p:spPr>
          <a:xfrm>
            <a:off x="4259580" y="4540250"/>
            <a:ext cx="735330" cy="667385"/>
          </a:xfrm>
          <a:prstGeom prst="roundRect">
            <a:avLst>
              <a:gd name="adj" fmla="val 7971"/>
            </a:avLst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文黑-55简" panose="0002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94910" y="4657725"/>
            <a:ext cx="6120765" cy="43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hangingPunct="0">
              <a:lnSpc>
                <a:spcPct val="140000"/>
              </a:lnSpc>
              <a:defRPr/>
            </a:pPr>
            <a:r>
              <a:rPr lang="zh-CN" altLang="en-US" sz="16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汉仪文黑-55简" panose="00020600040101010101" charset="-122"/>
              </a:rPr>
              <a:t>如果基地建在铁路较难抵达的地区，使用飞行运输工具会更合适。</a:t>
            </a:r>
          </a:p>
        </p:txBody>
      </p:sp>
      <p:sp>
        <p:nvSpPr>
          <p:cNvPr id="15" name="TextBox 7"/>
          <p:cNvSpPr txBox="1"/>
          <p:nvPr/>
        </p:nvSpPr>
        <p:spPr>
          <a:xfrm>
            <a:off x="1168077" y="379120"/>
            <a:ext cx="2740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kern="1200" cap="none" spc="0" normalizeH="0" baseline="0" noProof="0" dirty="0">
                <a:solidFill>
                  <a:srgbClr val="91634E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未来的月面载具</a:t>
            </a:r>
          </a:p>
        </p:txBody>
      </p:sp>
      <p:sp>
        <p:nvSpPr>
          <p:cNvPr id="17" name="圆角矩形 23"/>
          <p:cNvSpPr/>
          <p:nvPr/>
        </p:nvSpPr>
        <p:spPr>
          <a:xfrm>
            <a:off x="484817" y="283435"/>
            <a:ext cx="618319" cy="618319"/>
          </a:xfrm>
          <a:prstGeom prst="roundRect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文黑-55简" panose="00020600040101010101" charset="-122"/>
            </a:endParaRPr>
          </a:p>
        </p:txBody>
      </p:sp>
      <p:pic>
        <p:nvPicPr>
          <p:cNvPr id="18" name="图片 17"/>
          <p:cNvPicPr/>
          <p:nvPr/>
        </p:nvPicPr>
        <p:blipFill>
          <a:blip r:embed="rId3" cstate="print">
            <a:lum bright="100000"/>
          </a:blip>
          <a:stretch>
            <a:fillRect/>
          </a:stretch>
        </p:blipFill>
        <p:spPr>
          <a:xfrm>
            <a:off x="570166" y="367857"/>
            <a:ext cx="447156" cy="44715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/>
        </p:nvPicPr>
        <p:blipFill>
          <a:blip r:embed="rId4" cstate="print">
            <a:lum bright="100000"/>
          </a:blip>
          <a:stretch>
            <a:fillRect/>
          </a:stretch>
        </p:blipFill>
        <p:spPr>
          <a:xfrm>
            <a:off x="4411980" y="1804035"/>
            <a:ext cx="485775" cy="485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5" cstate="print">
            <a:lum bright="100000"/>
          </a:blip>
          <a:stretch>
            <a:fillRect/>
          </a:stretch>
        </p:blipFill>
        <p:spPr>
          <a:xfrm>
            <a:off x="4423410" y="4633595"/>
            <a:ext cx="488315" cy="4883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6" cstate="print">
            <a:lum bright="100000"/>
          </a:blip>
          <a:stretch>
            <a:fillRect/>
          </a:stretch>
        </p:blipFill>
        <p:spPr>
          <a:xfrm>
            <a:off x="4337050" y="3192780"/>
            <a:ext cx="539750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7"/>
          <p:cNvSpPr txBox="1"/>
          <p:nvPr>
            <p:custDataLst>
              <p:tags r:id="rId1"/>
            </p:custDataLst>
          </p:nvPr>
        </p:nvSpPr>
        <p:spPr>
          <a:xfrm>
            <a:off x="1168077" y="379120"/>
            <a:ext cx="2740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kern="1200" cap="none" spc="0" normalizeH="0" baseline="0" noProof="0" dirty="0">
                <a:solidFill>
                  <a:srgbClr val="91634E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未来的月面载具</a:t>
            </a:r>
          </a:p>
        </p:txBody>
      </p:sp>
      <p:sp>
        <p:nvSpPr>
          <p:cNvPr id="17" name="圆角矩形 23"/>
          <p:cNvSpPr/>
          <p:nvPr>
            <p:custDataLst>
              <p:tags r:id="rId2"/>
            </p:custDataLst>
          </p:nvPr>
        </p:nvSpPr>
        <p:spPr>
          <a:xfrm>
            <a:off x="484817" y="283435"/>
            <a:ext cx="618319" cy="618319"/>
          </a:xfrm>
          <a:prstGeom prst="roundRect">
            <a:avLst/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文黑-55简" panose="00020600040101010101" charset="-122"/>
            </a:endParaRPr>
          </a:p>
        </p:txBody>
      </p:sp>
      <p:pic>
        <p:nvPicPr>
          <p:cNvPr id="18" name="图片 17"/>
          <p:cNvPicPr/>
          <p:nvPr>
            <p:custDataLst>
              <p:tags r:id="rId3"/>
            </p:custDataLst>
          </p:nvPr>
        </p:nvPicPr>
        <p:blipFill>
          <a:blip r:embed="rId11" cstate="print">
            <a:lum bright="100000"/>
          </a:blip>
          <a:stretch>
            <a:fillRect/>
          </a:stretch>
        </p:blipFill>
        <p:spPr>
          <a:xfrm>
            <a:off x="570166" y="367857"/>
            <a:ext cx="447156" cy="44715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84505" y="1028700"/>
            <a:ext cx="29667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FF0000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载人月面移动实验室</a:t>
            </a:r>
          </a:p>
        </p:txBody>
      </p:sp>
      <p:pic>
        <p:nvPicPr>
          <p:cNvPr id="5" name="图片 4" descr="Lunar Cruis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8305" y="1769745"/>
            <a:ext cx="3964940" cy="4907280"/>
          </a:xfrm>
          <a:prstGeom prst="rect">
            <a:avLst/>
          </a:prstGeom>
        </p:spPr>
      </p:pic>
      <p:pic>
        <p:nvPicPr>
          <p:cNvPr id="7" name="图片 6" descr="w700d1q75cm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4255" y="1028700"/>
            <a:ext cx="4464050" cy="359664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11284262" y="283435"/>
            <a:ext cx="617855" cy="617855"/>
            <a:chOff x="6791" y="2798"/>
            <a:chExt cx="1332" cy="1332"/>
          </a:xfrm>
        </p:grpSpPr>
        <p:sp>
          <p:nvSpPr>
            <p:cNvPr id="21" name="圆角矩形 23"/>
            <p:cNvSpPr/>
            <p:nvPr>
              <p:custDataLst>
                <p:tags r:id="rId8"/>
              </p:custDataLst>
            </p:nvPr>
          </p:nvSpPr>
          <p:spPr>
            <a:xfrm>
              <a:off x="6791" y="2798"/>
              <a:ext cx="1333" cy="1333"/>
            </a:xfrm>
            <a:prstGeom prst="roundRect">
              <a:avLst/>
            </a:prstGeom>
            <a:solidFill>
              <a:srgbClr val="91634E"/>
            </a:solidFill>
            <a:ln>
              <a:solidFill>
                <a:srgbClr val="916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文黑-55简" panose="00020600040101010101" charset="-122"/>
              </a:endParaRPr>
            </a:p>
          </p:txBody>
        </p:sp>
        <p:pic>
          <p:nvPicPr>
            <p:cNvPr id="22" name="图片 21"/>
            <p:cNvPicPr/>
            <p:nvPr>
              <p:custDataLst>
                <p:tags r:id="rId9"/>
              </p:custDataLst>
            </p:nvPr>
          </p:nvPicPr>
          <p:blipFill>
            <a:blip r:embed="rId11" cstate="print">
              <a:lum bright="100000"/>
            </a:blip>
            <a:stretch>
              <a:fillRect/>
            </a:stretch>
          </p:blipFill>
          <p:spPr>
            <a:xfrm>
              <a:off x="6975" y="2980"/>
              <a:ext cx="964" cy="96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64490" y="1489075"/>
            <a:ext cx="3376295" cy="4396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  <a:buSzPct val="25000"/>
            </a:pPr>
            <a:r>
              <a:rPr lang="zh-CN" altLang="en-US">
                <a:sym typeface="+mn-ea"/>
              </a:rPr>
              <a:t>在初步设想中，载人月面移动实验室是一种轮式增压式月球车，质量不小于6吨，具备大范围移动能力，能够长期无人自主在月面活动，并且支持航天员获得月面短期驻留能力。多部移动实验室可以独立运作，也可作为舱段，对接组装形成月面科研实验站，使得航天员具备月面中期驻留能力。</a:t>
            </a:r>
            <a:endParaRPr lang="zh-CN" altLang="en-US"/>
          </a:p>
          <a:p>
            <a:pPr>
              <a:lnSpc>
                <a:spcPct val="140000"/>
              </a:lnSpc>
              <a:buSzPct val="25000"/>
            </a:pPr>
            <a:endParaRPr lang="zh-CN" altLang="en-US" dirty="0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4457065" y="4625340"/>
            <a:ext cx="29698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91634E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中国载人月面移动实验室设想图</a:t>
            </a: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7900670" y="1489075"/>
            <a:ext cx="4291330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dirty="0">
                <a:solidFill>
                  <a:srgbClr val="91634E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日本</a:t>
            </a:r>
            <a:r>
              <a:rPr lang="en-US" altLang="zh-CN" sz="1400" dirty="0">
                <a:solidFill>
                  <a:srgbClr val="91634E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JAXA</a:t>
            </a:r>
            <a:r>
              <a:rPr lang="zh-CN" altLang="en-US" sz="1400" dirty="0">
                <a:solidFill>
                  <a:srgbClr val="91634E"/>
                </a:solidFill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rPr>
              <a:t>与丰田公司合作开发的载人月球车概念图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7997879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5660727" y="1105727"/>
            <a:ext cx="676236" cy="676236"/>
          </a:xfrm>
          <a:prstGeom prst="ellipse">
            <a:avLst/>
          </a:prstGeom>
          <a:solidFill>
            <a:srgbClr val="916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+mn-lt"/>
              </a:rPr>
              <a:t>04</a:t>
            </a:r>
          </a:p>
        </p:txBody>
      </p:sp>
      <p:sp>
        <p:nvSpPr>
          <p:cNvPr id="5" name="文本框"/>
          <p:cNvSpPr/>
          <p:nvPr/>
        </p:nvSpPr>
        <p:spPr>
          <a:xfrm>
            <a:off x="4682490" y="2009140"/>
            <a:ext cx="2632710" cy="699770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月球采矿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370070" y="1685925"/>
            <a:ext cx="3257550" cy="344170"/>
            <a:chOff x="6700" y="2655"/>
            <a:chExt cx="5130" cy="54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0" y="2972"/>
              <a:ext cx="4879" cy="0"/>
            </a:xfrm>
            <a:prstGeom prst="line">
              <a:avLst/>
            </a:prstGeom>
            <a:ln>
              <a:solidFill>
                <a:schemeClr val="bg1">
                  <a:alpha val="5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1526" y="2655"/>
              <a:ext cx="305" cy="543"/>
            </a:xfrm>
            <a:prstGeom prst="line">
              <a:avLst/>
            </a:prstGeom>
            <a:ln>
              <a:solidFill>
                <a:schemeClr val="bg1">
                  <a:alpha val="5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8908090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82880" y="154305"/>
            <a:ext cx="11840210" cy="6598920"/>
          </a:xfrm>
          <a:prstGeom prst="roundRect">
            <a:avLst>
              <a:gd name="adj" fmla="val 2819"/>
            </a:avLst>
          </a:prstGeom>
          <a:solidFill>
            <a:schemeClr val="bg1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文黑-55简" panose="00020600040101010101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578610" y="1369695"/>
            <a:ext cx="4858385" cy="4392295"/>
          </a:xfrm>
          <a:prstGeom prst="roundRect">
            <a:avLst>
              <a:gd name="adj" fmla="val 8202"/>
            </a:avLst>
          </a:prstGeom>
          <a:solidFill>
            <a:srgbClr val="91634E"/>
          </a:solidFill>
          <a:ln>
            <a:solidFill>
              <a:srgbClr val="916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文黑-55简" panose="00020600040101010101" charset="-122"/>
            </a:endParaRPr>
          </a:p>
        </p:txBody>
      </p:sp>
      <p:sp>
        <p:nvSpPr>
          <p:cNvPr id="4" name="椭圆"/>
          <p:cNvSpPr/>
          <p:nvPr/>
        </p:nvSpPr>
        <p:spPr>
          <a:xfrm flipH="1">
            <a:off x="570230" y="2928620"/>
            <a:ext cx="1259840" cy="1259840"/>
          </a:xfrm>
          <a:prstGeom prst="ellipse">
            <a:avLst/>
          </a:prstGeom>
          <a:solidFill>
            <a:srgbClr val="91634E"/>
          </a:solidFill>
          <a:ln w="12700" cap="flat" cmpd="sng" algn="ctr">
            <a:noFill/>
            <a:prstDash val="solid"/>
            <a:miter lim="800000"/>
          </a:ln>
          <a:effectLst>
            <a:outerShdw blurRad="749300" dist="38100" dir="2700000" algn="tl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algn="ctr"/>
            <a:endParaRPr lang="en-US" sz="1600" dirty="0">
              <a:gradFill>
                <a:gsLst>
                  <a:gs pos="0">
                    <a:srgbClr val="F8AB15">
                      <a:alpha val="73000"/>
                    </a:srgbClr>
                  </a:gs>
                  <a:gs pos="70000">
                    <a:srgbClr val="F78009"/>
                  </a:gs>
                </a:gsLst>
                <a:lin ang="5400000" scaled="1"/>
              </a:gradFill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  <a:sym typeface="汉仪文黑-55简" panose="00020600040101010101" charset="-122"/>
            </a:endParaRPr>
          </a:p>
        </p:txBody>
      </p:sp>
      <p:sp>
        <p:nvSpPr>
          <p:cNvPr id="21" name="文本框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54810" y="1494790"/>
            <a:ext cx="4661535" cy="3868420"/>
          </a:xfrm>
          <a:prstGeom prst="rect">
            <a:avLst/>
          </a:prstGeom>
          <a:solidFill>
            <a:srgbClr val="9163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hangingPunct="0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汉仪文黑-55简" panose="00020600040101010101" charset="-122"/>
              </a:rPr>
              <a:t>月球被世界主要航天大国视作是外层空间的关键战略资源。除了右图中列出的资源以外，月球上有大量的铝、钙、硅、铁、镁、钍、铀，还有大量的钾、稀土元素和磷。月球土壤中还含有丰富的氦-3，用氘和氦-3进行的氦聚变可作为核电站的能源，使其成为一个太空“加油站”，使未来的火星登陆任务成为可能。此外，最新和最令人兴奋的发现是月球两极存在水或氢氧化物，其中很多是以永久冻土或冰的形式存在的。我们现在已经知道这些水在月球两极的沉积位置。据估计，水大约有30---100亿公吨。</a:t>
            </a:r>
          </a:p>
        </p:txBody>
      </p:sp>
      <p:sp>
        <p:nvSpPr>
          <p:cNvPr id="15" name="TextBox 7"/>
          <p:cNvSpPr txBox="1"/>
          <p:nvPr/>
        </p:nvSpPr>
        <p:spPr>
          <a:xfrm>
            <a:off x="1167765" y="379095"/>
            <a:ext cx="1720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dist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kern="1200" cap="none" spc="0" normalizeH="0" baseline="0" noProof="0" dirty="0">
                <a:solidFill>
                  <a:srgbClr val="91634E"/>
                </a:solidFill>
                <a:latin typeface="汉仪雅酷黑简" panose="00020600040101010101" charset="-122"/>
                <a:ea typeface="汉仪雅酷黑简" panose="00020600040101010101" charset="-122"/>
                <a:cs typeface="+mn-ea"/>
                <a:sym typeface="+mn-lt"/>
              </a:rPr>
              <a:t>月球采矿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484817" y="283435"/>
            <a:ext cx="617855" cy="617855"/>
            <a:chOff x="6791" y="2798"/>
            <a:chExt cx="1332" cy="1332"/>
          </a:xfrm>
        </p:grpSpPr>
        <p:sp>
          <p:nvSpPr>
            <p:cNvPr id="17" name="圆角矩形 23"/>
            <p:cNvSpPr/>
            <p:nvPr/>
          </p:nvSpPr>
          <p:spPr>
            <a:xfrm>
              <a:off x="6791" y="2798"/>
              <a:ext cx="1333" cy="1333"/>
            </a:xfrm>
            <a:prstGeom prst="roundRect">
              <a:avLst/>
            </a:prstGeom>
            <a:solidFill>
              <a:srgbClr val="91634E"/>
            </a:solidFill>
            <a:ln>
              <a:solidFill>
                <a:srgbClr val="916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文黑-55简" panose="00020600040101010101" charset="-122"/>
              </a:endParaRPr>
            </a:p>
          </p:txBody>
        </p:sp>
        <p:pic>
          <p:nvPicPr>
            <p:cNvPr id="18" name="图片 17"/>
            <p:cNvPicPr/>
            <p:nvPr/>
          </p:nvPicPr>
          <p:blipFill>
            <a:blip r:embed="rId5" cstate="print">
              <a:lum bright="100000"/>
            </a:blip>
            <a:stretch>
              <a:fillRect/>
            </a:stretch>
          </p:blipFill>
          <p:spPr>
            <a:xfrm>
              <a:off x="6975" y="2980"/>
              <a:ext cx="964" cy="964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103" name="图片 102"/>
          <p:cNvPicPr/>
          <p:nvPr/>
        </p:nvPicPr>
        <p:blipFill>
          <a:blip r:embed="rId6" cstate="print">
            <a:lum bright="100000"/>
          </a:blip>
          <a:stretch>
            <a:fillRect/>
          </a:stretch>
        </p:blipFill>
        <p:spPr>
          <a:xfrm>
            <a:off x="821690" y="3187065"/>
            <a:ext cx="756920" cy="7569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 descr="_105267362_moon_mining_640_eng-n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220" y="283210"/>
            <a:ext cx="5323205" cy="4549775"/>
          </a:xfrm>
          <a:prstGeom prst="rect">
            <a:avLst/>
          </a:prstGeom>
        </p:spPr>
      </p:pic>
      <p:pic>
        <p:nvPicPr>
          <p:cNvPr id="6" name="图片 5" descr="ca71d7b9070f487ca71b7065eb6d05b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7545" y="4832985"/>
            <a:ext cx="3611880" cy="1816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16680" y="2750185"/>
            <a:ext cx="43853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>
              <a:defRPr/>
            </a:pPr>
            <a:r>
              <a:rPr lang="zh-CN" altLang="en-US" sz="5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文黑-55简" panose="00020600040101010101" charset="-122"/>
                <a:ea typeface="汉仪文黑-55简" panose="00020600040101010101" charset="-122"/>
                <a:cs typeface="+mn-ea"/>
                <a:sym typeface="+mn-lt"/>
              </a:rPr>
              <a:t>谢谢观看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ZiOTI1OTdiNzk3ODM1NGMxYTIxYmU5NDc5OGI2OD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文黑-55简"/>
        <a:ea typeface=""/>
        <a:cs typeface=""/>
        <a:font script="Jpan" typeface="游ゴシック Light"/>
        <a:font script="Hang" typeface="맑은 고딕"/>
        <a:font script="Hans" typeface="汉仪文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文黑-55简"/>
        <a:ea typeface=""/>
        <a:cs typeface=""/>
        <a:font script="Jpan" typeface="游ゴシック"/>
        <a:font script="Hang" typeface="맑은 고딕"/>
        <a:font script="Hans" typeface="汉仪文黑-55简"/>
        <a:font script="Hant" typeface="新細明體"/>
        <a:font script="Arab" typeface="汉仪文黑-55简"/>
        <a:font script="Hebr" typeface="汉仪文黑-5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文黑-5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文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文黑-55简"/>
        <a:ea typeface=""/>
        <a:cs typeface=""/>
        <a:font script="Jpan" typeface="ＭＳ Ｐゴシック"/>
        <a:font script="Hang" typeface="맑은 고딕"/>
        <a:font script="Hans" typeface="汉仪文黑-55简"/>
        <a:font script="Hant" typeface="新細明體"/>
        <a:font script="Arab" typeface="汉仪文黑-55简"/>
        <a:font script="Hebr" typeface="汉仪文黑-5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文黑-5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文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文黑-55简"/>
        <a:ea typeface=""/>
        <a:cs typeface=""/>
        <a:font script="Jpan" typeface="ＭＳ Ｐゴシック"/>
        <a:font script="Hang" typeface="맑은 고딕"/>
        <a:font script="Hans" typeface="汉仪文黑-55简"/>
        <a:font script="Hant" typeface="新細明體"/>
        <a:font script="Arab" typeface="汉仪文黑-55简"/>
        <a:font script="Hebr" typeface="汉仪文黑-5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文黑-5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1101</Words>
  <Application>Microsoft Office PowerPoint</Application>
  <PresentationFormat>宽屏</PresentationFormat>
  <Paragraphs>66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汉仪文黑-55简</vt:lpstr>
      <vt:lpstr>汉仪雅酷黑简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40733</dc:creator>
  <cp:lastModifiedBy>软 微</cp:lastModifiedBy>
  <cp:revision>13</cp:revision>
  <dcterms:created xsi:type="dcterms:W3CDTF">2022-09-20T11:43:00Z</dcterms:created>
  <dcterms:modified xsi:type="dcterms:W3CDTF">2023-11-18T14:29:17Z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95FCA1A482B04DE6BE16E9F61374B871_12</vt:lpwstr>
  </property>
  <property fmtid="{D5CDD505-2E9C-101B-9397-08002B2CF9AE}" pid="3" name="KSOProductBuildVer">
    <vt:lpwstr>2052-12.1.0.15712</vt:lpwstr>
  </property>
</Properties>
</file>