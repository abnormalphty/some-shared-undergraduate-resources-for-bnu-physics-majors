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2.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392" r:id="rId12"/>
    <p:sldId id="393" r:id="rId13"/>
    <p:sldId id="394" r:id="rId14"/>
    <p:sldId id="395" r:id="rId15"/>
    <p:sldId id="396" r:id="rId16"/>
    <p:sldId id="398" r:id="rId17"/>
    <p:sldId id="399" r:id="rId18"/>
    <p:sldId id="400"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3A34D2F-614C-4E38-A3B4-CD3EB0981930}">
          <p14:sldIdLst>
            <p14:sldId id="256"/>
            <p14:sldId id="257"/>
            <p14:sldId id="258"/>
            <p14:sldId id="259"/>
            <p14:sldId id="260"/>
          </p14:sldIdLst>
        </p14:section>
        <p14:section name="无标题节" id="{1EEC7FB5-0FBB-41EF-82F9-76DC463656EC}">
          <p14:sldIdLst>
            <p14:sldId id="261"/>
            <p14:sldId id="262"/>
            <p14:sldId id="263"/>
            <p14:sldId id="264"/>
            <p14:sldId id="265"/>
            <p14:sldId id="392"/>
            <p14:sldId id="393"/>
            <p14:sldId id="394"/>
            <p14:sldId id="395"/>
            <p14:sldId id="396"/>
            <p14:sldId id="398"/>
            <p14:sldId id="399"/>
            <p14:sldId id="4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86483" autoAdjust="0"/>
  </p:normalViewPr>
  <p:slideViewPr>
    <p:cSldViewPr snapToGrid="0" showGuides="1">
      <p:cViewPr varScale="1">
        <p:scale>
          <a:sx n="72" d="100"/>
          <a:sy n="72" d="100"/>
        </p:scale>
        <p:origin x="340"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53CE7-228F-4891-ABA6-9FC82E5FAE2C}" type="datetimeFigureOut">
              <a:rPr lang="zh-CN" altLang="en-US" smtClean="0"/>
              <a:t>2023/12/12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EA0279-E118-42BD-A5A7-FE8B382351B3}" type="slidenum">
              <a:rPr lang="zh-CN" altLang="en-US" smtClean="0"/>
              <a:t>‹#›</a:t>
            </a:fld>
            <a:endParaRPr lang="zh-CN" altLang="en-US"/>
          </a:p>
        </p:txBody>
      </p:sp>
    </p:spTree>
    <p:extLst>
      <p:ext uri="{BB962C8B-B14F-4D97-AF65-F5344CB8AC3E}">
        <p14:creationId xmlns:p14="http://schemas.microsoft.com/office/powerpoint/2010/main" val="124833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jp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1.jp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slideMaster" Target="../slideMasters/slideMaster1.xml"/><Relationship Id="rId4" Type="http://schemas.openxmlformats.org/officeDocument/2006/relationships/tags" Target="../tags/tag30.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jpg"/><Relationship Id="rId5" Type="http://schemas.openxmlformats.org/officeDocument/2006/relationships/slideMaster" Target="../slideMasters/slideMaster1.xml"/><Relationship Id="rId4" Type="http://schemas.openxmlformats.org/officeDocument/2006/relationships/tags" Target="../tags/tag3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p:spTree>
      <p:nvGrpSpPr>
        <p:cNvPr id="1" name=""/>
        <p:cNvGrpSpPr/>
        <p:nvPr/>
      </p:nvGrpSpPr>
      <p:grpSpPr>
        <a:xfrm>
          <a:off x="0" y="0"/>
          <a:ext cx="0" cy="0"/>
          <a:chOff x="0" y="0"/>
          <a:chExt cx="0" cy="0"/>
        </a:xfrm>
      </p:grpSpPr>
      <p:pic>
        <p:nvPicPr>
          <p:cNvPr id="5" name="图片 4"/>
          <p:cNvPicPr>
            <a:picLocks noChangeAspect="1"/>
          </p:cNvPicPr>
          <p:nvPr/>
        </p:nvPicPr>
        <p:blipFill>
          <a:blip r:embed="rId6"/>
          <a:srcRect t="7812" b="7812"/>
          <a:stretch/>
        </p:blipFill>
        <p:spPr>
          <a:xfrm flipH="1">
            <a:off x="0" y="0"/>
            <a:ext cx="12192000" cy="6858000"/>
          </a:xfrm>
          <a:prstGeom prst="rect">
            <a:avLst/>
          </a:prstGeom>
        </p:spPr>
      </p:pic>
      <p:sp>
        <p:nvSpPr>
          <p:cNvPr id="3" name="标题 2"/>
          <p:cNvSpPr>
            <a:spLocks noGrp="1"/>
          </p:cNvSpPr>
          <p:nvPr>
            <p:ph type="ctrTitle" hasCustomPrompt="1"/>
            <p:custDataLst>
              <p:tags r:id="rId1"/>
            </p:custDataLst>
          </p:nvPr>
        </p:nvSpPr>
        <p:spPr>
          <a:xfrm>
            <a:off x="4229100" y="1130301"/>
            <a:ext cx="7302500" cy="2058948"/>
          </a:xfrm>
          <a:prstGeom prst="rect">
            <a:avLst/>
          </a:prstGeom>
        </p:spPr>
        <p:txBody>
          <a:bodyPr wrap="square" anchor="b" anchorCtr="0"/>
          <a:lstStyle>
            <a:lvl1pPr lvl="0" algn="r">
              <a:lnSpc>
                <a:spcPct val="100000"/>
              </a:lnSpc>
              <a:defRPr sz="6600">
                <a:ln>
                  <a:noFill/>
                </a:ln>
                <a:gradFill>
                  <a:gsLst>
                    <a:gs pos="46000">
                      <a:schemeClr val="accent1">
                        <a:lumMod val="20000"/>
                        <a:lumOff val="80000"/>
                      </a:schemeClr>
                    </a:gs>
                    <a:gs pos="100000">
                      <a:schemeClr val="accent2"/>
                    </a:gs>
                  </a:gsLst>
                  <a:lin ang="5400000" scaled="1"/>
                </a:gradFill>
              </a:defRPr>
            </a:lvl1pPr>
          </a:lstStyle>
          <a:p>
            <a:pPr lvl="0"/>
            <a:r>
              <a:rPr lang="en-US" altLang="en-US"/>
              <a:t>Click to add title</a:t>
            </a:r>
          </a:p>
        </p:txBody>
      </p:sp>
      <p:sp>
        <p:nvSpPr>
          <p:cNvPr id="2" name="副标题 1"/>
          <p:cNvSpPr>
            <a:spLocks noGrp="1"/>
          </p:cNvSpPr>
          <p:nvPr>
            <p:ph type="subTitle" idx="1" hasCustomPrompt="1"/>
            <p:custDataLst>
              <p:tags r:id="rId2"/>
            </p:custDataLst>
          </p:nvPr>
        </p:nvSpPr>
        <p:spPr>
          <a:xfrm>
            <a:off x="6751321" y="3277375"/>
            <a:ext cx="4780279" cy="632109"/>
          </a:xfrm>
          <a:prstGeom prst="roundRect">
            <a:avLst>
              <a:gd name="adj" fmla="val 0"/>
            </a:avLst>
          </a:prstGeom>
          <a:noFill/>
        </p:spPr>
        <p:txBody>
          <a:bodyPr vert="horz" wrap="square" lIns="91440" tIns="45720" rIns="91440" bIns="45720" anchor="ctr">
            <a:normAutofit/>
          </a:bodyPr>
          <a:lstStyle>
            <a:lvl1pPr marL="0" lvl="0" indent="0" algn="r">
              <a:lnSpc>
                <a:spcPct val="120000"/>
              </a:lnSpc>
              <a:buNone/>
              <a:defRPr lang="en-US" altLang="en-US" sz="2000" b="0">
                <a:gradFill>
                  <a:gsLst>
                    <a:gs pos="46000">
                      <a:schemeClr val="accent1">
                        <a:lumMod val="20000"/>
                        <a:lumOff val="80000"/>
                      </a:schemeClr>
                    </a:gs>
                    <a:gs pos="100000">
                      <a:schemeClr val="accent2"/>
                    </a:gs>
                  </a:gsLst>
                  <a:lin ang="5400000" scaled="1"/>
                </a:gradFill>
                <a:latin typeface="Arial"/>
              </a:defRPr>
            </a:lvl1pPr>
          </a:lstStyle>
          <a:p>
            <a:pPr lvl="0"/>
            <a:r>
              <a:rPr lang="en-US" altLang="en-US"/>
              <a:t>Click to add subtitle</a:t>
            </a:r>
          </a:p>
        </p:txBody>
      </p:sp>
      <p:sp>
        <p:nvSpPr>
          <p:cNvPr id="6" name="文本占位符 5"/>
          <p:cNvSpPr>
            <a:spLocks noGrp="1"/>
          </p:cNvSpPr>
          <p:nvPr>
            <p:ph type="body" idx="13" hasCustomPrompt="1"/>
            <p:custDataLst>
              <p:tags r:id="rId3"/>
            </p:custDataLst>
          </p:nvPr>
        </p:nvSpPr>
        <p:spPr>
          <a:xfrm>
            <a:off x="8788400" y="5491976"/>
            <a:ext cx="2743200" cy="276999"/>
          </a:xfrm>
          <a:prstGeom prst="rect">
            <a:avLst/>
          </a:prstGeom>
        </p:spPr>
        <p:txBody>
          <a:bodyPr wrap="square" lIns="90000">
            <a:normAutofit/>
          </a:bodyPr>
          <a:lstStyle>
            <a:lvl1pPr marL="0" lvl="0" indent="0" algn="r">
              <a:lnSpc>
                <a:spcPct val="100000"/>
              </a:lnSpc>
              <a:buNone/>
              <a:defRPr sz="1200"/>
            </a:lvl1pPr>
          </a:lstStyle>
          <a:p>
            <a:pPr lvl="0"/>
            <a:r>
              <a:rPr lang="en-US" altLang="en-US"/>
              <a:t>Presenter name</a:t>
            </a:r>
          </a:p>
        </p:txBody>
      </p:sp>
      <p:sp>
        <p:nvSpPr>
          <p:cNvPr id="7" name="文本占位符 6"/>
          <p:cNvSpPr>
            <a:spLocks noGrp="1"/>
          </p:cNvSpPr>
          <p:nvPr>
            <p:ph type="body" idx="14" hasCustomPrompt="1"/>
            <p:custDataLst>
              <p:tags r:id="rId4"/>
            </p:custDataLst>
          </p:nvPr>
        </p:nvSpPr>
        <p:spPr>
          <a:xfrm>
            <a:off x="8709103" y="5857101"/>
            <a:ext cx="2822497" cy="276999"/>
          </a:xfrm>
          <a:prstGeom prst="rect">
            <a:avLst/>
          </a:prstGeom>
        </p:spPr>
        <p:txBody>
          <a:bodyPr wrap="none">
            <a:normAutofit/>
          </a:bodyPr>
          <a:lstStyle>
            <a:lvl1pPr marL="0" lvl="0" indent="0" algn="r">
              <a:lnSpc>
                <a:spcPct val="100000"/>
              </a:lnSpc>
              <a:buNone/>
              <a:defRPr sz="1200"/>
            </a:lvl1pPr>
          </a:lstStyle>
          <a:p>
            <a:pPr lvl="0"/>
            <a:r>
              <a:rPr lang="en-US" altLang="en-US"/>
              <a:t>www.officeplus.cn</a:t>
            </a: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标题 8"/>
          <p:cNvSpPr>
            <a:spLocks noGrp="1"/>
          </p:cNvSpPr>
          <p:nvPr>
            <p:ph type="title" hasCustomPrompt="1"/>
            <p:custDataLst>
              <p:tags r:id="rId1"/>
            </p:custDataLst>
          </p:nvPr>
        </p:nvSpPr>
        <p:spPr>
          <a:xfrm>
            <a:off x="660400" y="0"/>
            <a:ext cx="10858500" cy="1028700"/>
          </a:xfrm>
          <a:prstGeom prst="rect">
            <a:avLst/>
          </a:prstGeom>
        </p:spPr>
        <p:txBody>
          <a:bodyPr anchor="b">
            <a:normAutofit/>
          </a:bodyPr>
          <a:lstStyle>
            <a:lvl1pPr lvl="0">
              <a:lnSpc>
                <a:spcPct val="100000"/>
              </a:lnSpc>
              <a:defRPr>
                <a:solidFill>
                  <a:schemeClr val="accent1"/>
                </a:solidFill>
              </a:defRPr>
            </a:lvl1pPr>
          </a:lstStyle>
          <a:p>
            <a:pPr lvl="0"/>
            <a:r>
              <a:rPr lang="en-US" altLang="en-US"/>
              <a:t>Click to add title</a:t>
            </a:r>
          </a:p>
        </p:txBody>
      </p:sp>
      <p:sp>
        <p:nvSpPr>
          <p:cNvPr id="8" name="内容占位符 7"/>
          <p:cNvSpPr>
            <a:spLocks noGrp="1"/>
          </p:cNvSpPr>
          <p:nvPr>
            <p:ph idx="1"/>
            <p:custDataLst>
              <p:tags r:id="rId2"/>
            </p:custDataLst>
          </p:nvPr>
        </p:nvSpPr>
        <p:spPr>
          <a:xfrm>
            <a:off x="660400" y="1092200"/>
            <a:ext cx="10858500" cy="5041900"/>
          </a:xfrm>
          <a:prstGeom prst="rect">
            <a:avLst/>
          </a:prstGeom>
        </p:spPr>
        <p:txBody>
          <a:bodyPr vert="horz" lIns="91440" tIns="45720" rIns="91440" bIns="45720">
            <a:normAutofit/>
          </a:bodyPr>
          <a:lstStyle>
            <a:lvl1pPr marL="285750" lvl="0" indent="-285750">
              <a:buFont typeface="Arial" charset="0"/>
              <a:buChar char="•"/>
              <a:defRPr/>
            </a:lvl1pPr>
            <a:lvl2pPr marL="742950" lvl="1" indent="-285750">
              <a:buFont typeface="Arial" charset="0"/>
              <a:buChar char="•"/>
              <a:defRPr/>
            </a:lvl2pPr>
            <a:lvl3pPr marL="1200150" lvl="2" indent="-285750">
              <a:buFont typeface="Arial" charset="0"/>
              <a:buChar char="•"/>
              <a:defRPr/>
            </a:lvl3pPr>
            <a:lvl4pPr marL="1657350" lvl="3" indent="-285750">
              <a:buFont typeface="Arial" charset="0"/>
              <a:buChar char="•"/>
              <a:defRPr/>
            </a:lvl4pPr>
            <a:lvl5pPr marL="2114550" lvl="4" indent="-285750">
              <a:buFont typeface="Arial" charset="0"/>
              <a:buChar char="•"/>
              <a:defRPr/>
            </a:lvl5pPr>
          </a:lstStyle>
          <a:p>
            <a:pPr lvl="0"/>
            <a:r>
              <a:rPr lang="en-US" altLang="en-US"/>
              <a:t>Click to add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日期占位符 1"/>
          <p:cNvSpPr>
            <a:spLocks noGrp="1"/>
          </p:cNvSpPr>
          <p:nvPr>
            <p:ph type="dt" idx="10"/>
            <p:custDataLst>
              <p:tags r:id="rId3"/>
            </p:custDataLst>
          </p:nvPr>
        </p:nvSpPr>
        <p:spPr>
          <a:prstGeom prst="rect">
            <a:avLst/>
          </a:prstGeom>
        </p:spPr>
        <p:txBody>
          <a:bodyPr/>
          <a:lstStyle/>
          <a:p>
            <a:fld id="{571E79E5-C97B-4FAC-965A-956116390CEE}" type="datetime1">
              <a:rPr lang="zh-CN" altLang="en-US"/>
              <a:t>2023/12/12</a:t>
            </a:fld>
            <a:endParaRPr lang="zh-CN" altLang="en-US"/>
          </a:p>
        </p:txBody>
      </p:sp>
      <p:sp>
        <p:nvSpPr>
          <p:cNvPr id="3" name="页脚占位符 2"/>
          <p:cNvSpPr>
            <a:spLocks noGrp="1"/>
          </p:cNvSpPr>
          <p:nvPr>
            <p:ph type="ftr" idx="11"/>
            <p:custDataLst>
              <p:tags r:id="rId4"/>
            </p:custDataLst>
          </p:nvPr>
        </p:nvSpPr>
        <p:spPr>
          <a:prstGeom prst="rect">
            <a:avLst/>
          </a:prstGeom>
        </p:spPr>
        <p:txBody>
          <a:bodyPr/>
          <a:lstStyle/>
          <a:p>
            <a:r>
              <a:rPr lang="af-ZA" altLang="zh-CN"/>
              <a:t>OfficePLUS</a:t>
            </a:r>
            <a:endParaRPr lang="zh-CN" altLang="en-US"/>
          </a:p>
        </p:txBody>
      </p:sp>
      <p:sp>
        <p:nvSpPr>
          <p:cNvPr id="4" name="灯片编号占位符 3"/>
          <p:cNvSpPr>
            <a:spLocks noGrp="1"/>
          </p:cNvSpPr>
          <p:nvPr>
            <p:ph type="sldNum" idx="12"/>
            <p:custDataLst>
              <p:tags r:id="rId5"/>
            </p:custDataLst>
          </p:nvPr>
        </p:nvSpPr>
        <p:spPr>
          <a:prstGeom prst="rect">
            <a:avLst/>
          </a:prstGeom>
        </p:spPr>
        <p:txBody>
          <a:bodyPr/>
          <a:lstStyle/>
          <a:p>
            <a:fld id="{F1DBB74B-0D1B-4612-9C37-B45A46C0AA55}" type="slidenum">
              <a:rPr lang="zh-CN" altLang="en-US"/>
              <a:t>‹#›</a:t>
            </a:fld>
            <a:endParaRPr lang="zh-CN" altLang="en-US"/>
          </a:p>
        </p:txBody>
      </p:sp>
    </p:spTree>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5" name="标题 4"/>
          <p:cNvSpPr>
            <a:spLocks noGrp="1"/>
          </p:cNvSpPr>
          <p:nvPr>
            <p:ph type="title" hasCustomPrompt="1"/>
            <p:custDataLst>
              <p:tags r:id="rId1"/>
            </p:custDataLst>
          </p:nvPr>
        </p:nvSpPr>
        <p:spPr>
          <a:xfrm>
            <a:off x="660400" y="1500188"/>
            <a:ext cx="2836561" cy="914400"/>
          </a:xfrm>
          <a:prstGeom prst="rect">
            <a:avLst/>
          </a:prstGeom>
        </p:spPr>
        <p:txBody>
          <a:bodyPr wrap="none" anchor="t">
            <a:normAutofit/>
          </a:bodyPr>
          <a:lstStyle>
            <a:lvl1pPr lvl="0" algn="r">
              <a:lnSpc>
                <a:spcPct val="100000"/>
              </a:lnSpc>
              <a:defRPr sz="2800"/>
            </a:lvl1pPr>
          </a:lstStyle>
          <a:p>
            <a:pPr lvl="0"/>
            <a:r>
              <a:rPr lang="en-US" altLang="en-US"/>
              <a:t>Agenda</a:t>
            </a:r>
          </a:p>
        </p:txBody>
      </p:sp>
      <p:sp>
        <p:nvSpPr>
          <p:cNvPr id="10" name="内容占位符 9"/>
          <p:cNvSpPr>
            <a:spLocks noGrp="1"/>
          </p:cNvSpPr>
          <p:nvPr>
            <p:ph idx="1" hasCustomPrompt="1"/>
            <p:custDataLst>
              <p:tags r:id="rId2"/>
            </p:custDataLst>
          </p:nvPr>
        </p:nvSpPr>
        <p:spPr>
          <a:xfrm>
            <a:off x="3745077" y="1500188"/>
            <a:ext cx="7773823" cy="4633913"/>
          </a:xfrm>
          <a:prstGeom prst="rect">
            <a:avLst/>
          </a:prstGeom>
        </p:spPr>
        <p:txBody>
          <a:bodyPr wrap="square">
            <a:normAutofit/>
          </a:bodyPr>
          <a:lstStyle>
            <a:lvl1pPr marL="457200" lvl="0" indent="-457200">
              <a:lnSpc>
                <a:spcPct val="130000"/>
              </a:lnSpc>
              <a:buFont typeface="Arial"/>
              <a:buAutoNum type="arabicPeriod"/>
              <a:defRPr sz="2400" b="0">
                <a:solidFill>
                  <a:schemeClr val="tx1"/>
                </a:solidFill>
                <a:latin typeface="Arial"/>
              </a:defRPr>
            </a:lvl1pPr>
          </a:lstStyle>
          <a:p>
            <a:pPr lvl="0"/>
            <a:r>
              <a:rPr lang="en-US" altLang="en-US"/>
              <a:t>Click to add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日期占位符 1"/>
          <p:cNvSpPr>
            <a:spLocks noGrp="1"/>
          </p:cNvSpPr>
          <p:nvPr>
            <p:ph type="dt" idx="10"/>
            <p:custDataLst>
              <p:tags r:id="rId3"/>
            </p:custDataLst>
          </p:nvPr>
        </p:nvSpPr>
        <p:spPr>
          <a:prstGeom prst="rect">
            <a:avLst/>
          </a:prstGeom>
        </p:spPr>
        <p:txBody>
          <a:bodyPr/>
          <a:lstStyle/>
          <a:p>
            <a:fld id="{50279E54-0105-463F-9EA2-2B7F5869F8CA}" type="datetime1">
              <a:rPr lang="zh-CN" altLang="en-US"/>
              <a:t>2023/12/12</a:t>
            </a:fld>
            <a:endParaRPr lang="en-US" altLang="zh-CN"/>
          </a:p>
        </p:txBody>
      </p:sp>
      <p:sp>
        <p:nvSpPr>
          <p:cNvPr id="3" name="页脚占位符 2"/>
          <p:cNvSpPr>
            <a:spLocks noGrp="1"/>
          </p:cNvSpPr>
          <p:nvPr>
            <p:ph type="ftr" idx="11"/>
            <p:custDataLst>
              <p:tags r:id="rId4"/>
            </p:custDataLst>
          </p:nvPr>
        </p:nvSpPr>
        <p:spPr>
          <a:prstGeom prst="rect">
            <a:avLst/>
          </a:prstGeom>
        </p:spPr>
        <p:txBody>
          <a:bodyPr/>
          <a:lstStyle/>
          <a:p>
            <a:r>
              <a:rPr lang="af-ZA" altLang="zh-CN"/>
              <a:t>OfficePLUS</a:t>
            </a:r>
            <a:endParaRPr lang="zh-CN" altLang="en-US"/>
          </a:p>
        </p:txBody>
      </p:sp>
      <p:sp>
        <p:nvSpPr>
          <p:cNvPr id="6" name="灯片编号占位符 5"/>
          <p:cNvSpPr>
            <a:spLocks noGrp="1"/>
          </p:cNvSpPr>
          <p:nvPr>
            <p:ph type="sldNum" idx="12"/>
            <p:custDataLst>
              <p:tags r:id="rId5"/>
            </p:custDataLst>
          </p:nvPr>
        </p:nvSpPr>
        <p:spPr>
          <a:prstGeom prst="rect">
            <a:avLst/>
          </a:prstGeom>
        </p:spPr>
        <p:txBody>
          <a:bodyPr/>
          <a:lstStyle/>
          <a:p>
            <a:fld id="{57236214-C672-426C-B206-37C1529C1E55}" type="slidenum">
              <a:rPr lang="en-US" altLang="zh-CN"/>
              <a:t>‹#›</a:t>
            </a:fld>
            <a:endParaRPr lang="en-US" altLang="zh-CN"/>
          </a:p>
        </p:txBody>
      </p:sp>
      <p:grpSp>
        <p:nvGrpSpPr>
          <p:cNvPr id="11" name="组合 10"/>
          <p:cNvGrpSpPr/>
          <p:nvPr>
            <p:custDataLst>
              <p:tags r:id="rId6"/>
            </p:custDataLst>
          </p:nvPr>
        </p:nvGrpSpPr>
        <p:grpSpPr>
          <a:xfrm>
            <a:off x="2626456" y="1500188"/>
            <a:ext cx="994563" cy="4634686"/>
            <a:chOff x="2626456" y="1500188"/>
            <a:chExt cx="994563" cy="4634686"/>
          </a:xfrm>
        </p:grpSpPr>
      </p:grpSp>
    </p:spTree>
  </p:cSld>
  <p:clrMapOvr>
    <a:masterClrMapping/>
  </p:clrMapOv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E5D8459-29C8-00DD-BE6C-DE79FDF1231E}"/>
              </a:ext>
            </a:extLst>
          </p:cNvPr>
          <p:cNvPicPr>
            <a:picLocks noChangeAspect="1"/>
          </p:cNvPicPr>
          <p:nvPr userDrawn="1"/>
        </p:nvPicPr>
        <p:blipFill>
          <a:blip r:embed="rId7"/>
          <a:srcRect t="7812" b="7812"/>
          <a:stretch/>
        </p:blipFill>
        <p:spPr>
          <a:xfrm>
            <a:off x="0" y="0"/>
            <a:ext cx="12192000" cy="6858000"/>
          </a:xfrm>
          <a:prstGeom prst="rect">
            <a:avLst/>
          </a:prstGeom>
        </p:spPr>
      </p:pic>
      <p:sp>
        <p:nvSpPr>
          <p:cNvPr id="5" name="标题 4"/>
          <p:cNvSpPr>
            <a:spLocks noGrp="1"/>
          </p:cNvSpPr>
          <p:nvPr>
            <p:ph type="title" hasCustomPrompt="1"/>
            <p:custDataLst>
              <p:tags r:id="rId1"/>
            </p:custDataLst>
          </p:nvPr>
        </p:nvSpPr>
        <p:spPr>
          <a:xfrm>
            <a:off x="660400" y="1859588"/>
            <a:ext cx="4753430" cy="903576"/>
          </a:xfrm>
          <a:prstGeom prst="rect">
            <a:avLst/>
          </a:prstGeom>
        </p:spPr>
        <p:txBody>
          <a:bodyPr>
            <a:normAutofit/>
          </a:bodyPr>
          <a:lstStyle>
            <a:lvl1pPr lvl="0" algn="l">
              <a:lnSpc>
                <a:spcPct val="100000"/>
              </a:lnSpc>
              <a:defRPr sz="3600">
                <a:gradFill>
                  <a:gsLst>
                    <a:gs pos="46000">
                      <a:schemeClr val="accent1">
                        <a:lumMod val="20000"/>
                        <a:lumOff val="80000"/>
                      </a:schemeClr>
                    </a:gs>
                    <a:gs pos="100000">
                      <a:schemeClr val="accent2"/>
                    </a:gs>
                  </a:gsLst>
                  <a:lin ang="5400000" scaled="1"/>
                </a:gradFill>
              </a:defRPr>
            </a:lvl1pPr>
          </a:lstStyle>
          <a:p>
            <a:pPr lvl="0"/>
            <a:r>
              <a:rPr lang="en-US" altLang="en-US"/>
              <a:t>Click to add title</a:t>
            </a:r>
          </a:p>
        </p:txBody>
      </p:sp>
      <p:sp>
        <p:nvSpPr>
          <p:cNvPr id="25" name="文本占位符 24"/>
          <p:cNvSpPr>
            <a:spLocks noGrp="1"/>
          </p:cNvSpPr>
          <p:nvPr>
            <p:ph type="body" idx="1" hasCustomPrompt="1"/>
            <p:custDataLst>
              <p:tags r:id="rId2"/>
            </p:custDataLst>
          </p:nvPr>
        </p:nvSpPr>
        <p:spPr>
          <a:xfrm>
            <a:off x="660401" y="2823324"/>
            <a:ext cx="4753430" cy="2158142"/>
          </a:xfrm>
          <a:prstGeom prst="rect">
            <a:avLst/>
          </a:prstGeom>
        </p:spPr>
        <p:txBody>
          <a:bodyPr anchor="t">
            <a:normAutofit/>
          </a:bodyPr>
          <a:lstStyle>
            <a:lvl1pPr marL="0" lvl="0" indent="0" algn="l">
              <a:lnSpc>
                <a:spcPct val="120000"/>
              </a:lnSpc>
              <a:buFont typeface="Arial"/>
              <a:buNone/>
              <a:defRPr sz="1400" b="0">
                <a:solidFill>
                  <a:schemeClr val="tx1"/>
                </a:solidFill>
                <a:latin typeface="Arial"/>
              </a:defRPr>
            </a:lvl1pPr>
          </a:lstStyle>
          <a:p>
            <a:pPr lvl="0"/>
            <a:r>
              <a:rPr lang="en-US" altLang="en-US"/>
              <a:t>Click to add text</a:t>
            </a:r>
          </a:p>
        </p:txBody>
      </p:sp>
      <p:sp>
        <p:nvSpPr>
          <p:cNvPr id="3" name="日期占位符 2"/>
          <p:cNvSpPr>
            <a:spLocks noGrp="1"/>
          </p:cNvSpPr>
          <p:nvPr>
            <p:ph type="dt" idx="10"/>
            <p:custDataLst>
              <p:tags r:id="rId3"/>
            </p:custDataLst>
          </p:nvPr>
        </p:nvSpPr>
        <p:spPr>
          <a:prstGeom prst="rect">
            <a:avLst/>
          </a:prstGeom>
        </p:spPr>
        <p:txBody>
          <a:bodyPr/>
          <a:lstStyle/>
          <a:p>
            <a:fld id="{23FD20E1-BF79-499F-85E1-3C51D572D3EF}" type="datetime1">
              <a:rPr lang="zh-CN" altLang="en-US"/>
              <a:t>2023/12/12</a:t>
            </a:fld>
            <a:endParaRPr lang="en-US" altLang="zh-CN"/>
          </a:p>
        </p:txBody>
      </p:sp>
      <p:sp>
        <p:nvSpPr>
          <p:cNvPr id="4" name="页脚占位符 3"/>
          <p:cNvSpPr>
            <a:spLocks noGrp="1"/>
          </p:cNvSpPr>
          <p:nvPr>
            <p:ph type="ftr" idx="11"/>
            <p:custDataLst>
              <p:tags r:id="rId4"/>
            </p:custDataLst>
          </p:nvPr>
        </p:nvSpPr>
        <p:spPr>
          <a:prstGeom prst="rect">
            <a:avLst/>
          </a:prstGeom>
        </p:spPr>
        <p:txBody>
          <a:bodyPr/>
          <a:lstStyle/>
          <a:p>
            <a:r>
              <a:rPr lang="af-ZA" altLang="zh-CN"/>
              <a:t>OfficePLUS</a:t>
            </a:r>
            <a:endParaRPr lang="zh-CN" altLang="en-US"/>
          </a:p>
        </p:txBody>
      </p:sp>
      <p:sp>
        <p:nvSpPr>
          <p:cNvPr id="6" name="灯片编号占位符 5"/>
          <p:cNvSpPr>
            <a:spLocks noGrp="1"/>
          </p:cNvSpPr>
          <p:nvPr>
            <p:ph type="sldNum" idx="12"/>
            <p:custDataLst>
              <p:tags r:id="rId5"/>
            </p:custDataLst>
          </p:nvPr>
        </p:nvSpPr>
        <p:spPr>
          <a:prstGeom prst="rect">
            <a:avLst/>
          </a:prstGeom>
        </p:spPr>
        <p:txBody>
          <a:bodyPr/>
          <a:lstStyle/>
          <a:p>
            <a:fld id="{63087EED-9867-4437-89DF-D38FEDAD52DB}" type="slidenum">
              <a:rPr lang="en-US" altLang="zh-CN"/>
              <a:t>‹#›</a:t>
            </a:fld>
            <a:endParaRPr lang="en-US" altLang="zh-CN"/>
          </a:p>
        </p:txBody>
      </p:sp>
    </p:spTree>
  </p:cSld>
  <p:clrMapOvr>
    <a:masterClrMapping/>
  </p:clrMapOv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9" name="标题 8"/>
          <p:cNvSpPr>
            <a:spLocks noGrp="1"/>
          </p:cNvSpPr>
          <p:nvPr>
            <p:ph type="title" hasCustomPrompt="1"/>
            <p:custDataLst>
              <p:tags r:id="rId1"/>
            </p:custDataLst>
          </p:nvPr>
        </p:nvSpPr>
        <p:spPr>
          <a:xfrm>
            <a:off x="660400" y="0"/>
            <a:ext cx="10858500" cy="1028700"/>
          </a:xfrm>
          <a:prstGeom prst="rect">
            <a:avLst/>
          </a:prstGeom>
        </p:spPr>
        <p:txBody>
          <a:bodyPr anchor="b">
            <a:normAutofit/>
          </a:bodyPr>
          <a:lstStyle>
            <a:lvl1pPr lvl="0">
              <a:lnSpc>
                <a:spcPct val="100000"/>
              </a:lnSpc>
              <a:defRPr>
                <a:gradFill>
                  <a:gsLst>
                    <a:gs pos="36000">
                      <a:schemeClr val="accent1">
                        <a:lumMod val="20000"/>
                        <a:lumOff val="80000"/>
                      </a:schemeClr>
                    </a:gs>
                    <a:gs pos="97000">
                      <a:schemeClr val="accent2"/>
                    </a:gs>
                  </a:gsLst>
                  <a:lin ang="5400000" scaled="1"/>
                </a:gradFill>
              </a:defRPr>
            </a:lvl1pPr>
          </a:lstStyle>
          <a:p>
            <a:pPr lvl="0"/>
            <a:r>
              <a:rPr lang="en-US" altLang="en-US"/>
              <a:t>Click to add title</a:t>
            </a:r>
          </a:p>
        </p:txBody>
      </p:sp>
      <p:sp>
        <p:nvSpPr>
          <p:cNvPr id="2" name="日期占位符 1"/>
          <p:cNvSpPr>
            <a:spLocks noGrp="1"/>
          </p:cNvSpPr>
          <p:nvPr>
            <p:ph type="dt" idx="10"/>
            <p:custDataLst>
              <p:tags r:id="rId2"/>
            </p:custDataLst>
          </p:nvPr>
        </p:nvSpPr>
        <p:spPr>
          <a:prstGeom prst="rect">
            <a:avLst/>
          </a:prstGeom>
        </p:spPr>
        <p:txBody>
          <a:bodyPr/>
          <a:lstStyle/>
          <a:p>
            <a:fld id="{6236AB57-B794-4CD2-8017-9E1E10D64E74}" type="datetime1">
              <a:rPr lang="zh-CN" altLang="en-US"/>
              <a:t>2023/12/12</a:t>
            </a:fld>
            <a:endParaRPr lang="zh-CN" altLang="en-US"/>
          </a:p>
        </p:txBody>
      </p:sp>
      <p:sp>
        <p:nvSpPr>
          <p:cNvPr id="3" name="页脚占位符 2"/>
          <p:cNvSpPr>
            <a:spLocks noGrp="1"/>
          </p:cNvSpPr>
          <p:nvPr>
            <p:ph type="ftr" idx="11"/>
            <p:custDataLst>
              <p:tags r:id="rId3"/>
            </p:custDataLst>
          </p:nvPr>
        </p:nvSpPr>
        <p:spPr>
          <a:prstGeom prst="rect">
            <a:avLst/>
          </a:prstGeom>
        </p:spPr>
        <p:txBody>
          <a:bodyPr/>
          <a:lstStyle/>
          <a:p>
            <a:r>
              <a:rPr lang="af-ZA" altLang="zh-CN"/>
              <a:t>OfficePLUS</a:t>
            </a:r>
            <a:endParaRPr lang="zh-CN" altLang="en-US"/>
          </a:p>
        </p:txBody>
      </p:sp>
      <p:sp>
        <p:nvSpPr>
          <p:cNvPr id="4" name="灯片编号占位符 3"/>
          <p:cNvSpPr>
            <a:spLocks noGrp="1"/>
          </p:cNvSpPr>
          <p:nvPr>
            <p:ph type="sldNum" idx="12"/>
            <p:custDataLst>
              <p:tags r:id="rId4"/>
            </p:custDataLst>
          </p:nvPr>
        </p:nvSpPr>
        <p:spPr>
          <a:prstGeom prst="rect">
            <a:avLst/>
          </a:prstGeom>
        </p:spPr>
        <p:txBody>
          <a:bodyPr/>
          <a:lstStyle/>
          <a:p>
            <a:fld id="{75C22C34-D28B-40F5-B106-0E7FE8CC38F1}" type="slidenum">
              <a:rPr lang="zh-CN" altLang="en-US"/>
              <a:t>‹#›</a:t>
            </a:fld>
            <a:endParaRPr lang="zh-CN" altLang="en-US"/>
          </a:p>
        </p:txBody>
      </p:sp>
    </p:spTree>
  </p:cSld>
  <p:clrMapOvr>
    <a:masterClrMapping/>
  </p:clrMapOvr>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日期占位符 1"/>
          <p:cNvSpPr>
            <a:spLocks noGrp="1"/>
          </p:cNvSpPr>
          <p:nvPr>
            <p:ph type="dt" idx="10"/>
            <p:custDataLst>
              <p:tags r:id="rId1"/>
            </p:custDataLst>
          </p:nvPr>
        </p:nvSpPr>
        <p:spPr>
          <a:prstGeom prst="rect">
            <a:avLst/>
          </a:prstGeom>
        </p:spPr>
        <p:txBody>
          <a:bodyPr/>
          <a:lstStyle/>
          <a:p>
            <a:fld id="{467EB8F2-9C46-40D0-9CD7-D2CAA81662E6}" type="datetime1">
              <a:rPr lang="zh-CN" altLang="en-US"/>
              <a:t>2023/12/12</a:t>
            </a:fld>
            <a:endParaRPr lang="en-US" altLang="en-US"/>
          </a:p>
        </p:txBody>
      </p:sp>
      <p:sp>
        <p:nvSpPr>
          <p:cNvPr id="3" name="页脚占位符 2"/>
          <p:cNvSpPr>
            <a:spLocks noGrp="1"/>
          </p:cNvSpPr>
          <p:nvPr>
            <p:ph type="ftr" idx="11"/>
            <p:custDataLst>
              <p:tags r:id="rId2"/>
            </p:custDataLst>
          </p:nvPr>
        </p:nvSpPr>
        <p:spPr>
          <a:prstGeom prst="rect">
            <a:avLst/>
          </a:prstGeom>
        </p:spPr>
        <p:txBody>
          <a:bodyPr/>
          <a:lstStyle/>
          <a:p>
            <a:r>
              <a:rPr lang="en-US" altLang="en-US"/>
              <a:t>OfficePLUS</a:t>
            </a:r>
          </a:p>
        </p:txBody>
      </p:sp>
      <p:sp>
        <p:nvSpPr>
          <p:cNvPr id="4" name="灯片编号占位符 3"/>
          <p:cNvSpPr>
            <a:spLocks noGrp="1"/>
          </p:cNvSpPr>
          <p:nvPr>
            <p:ph type="sldNum" idx="12"/>
            <p:custDataLst>
              <p:tags r:id="rId3"/>
            </p:custDataLst>
          </p:nvPr>
        </p:nvSpPr>
        <p:spPr>
          <a:prstGeom prst="rect">
            <a:avLst/>
          </a:prstGeom>
        </p:spPr>
        <p:txBody>
          <a:bodyPr/>
          <a:lstStyle/>
          <a:p>
            <a:fld id="{606DAFAE-702D-45A4-83F3-E9F08CDA53D4}" type="slidenum">
              <a:rPr lang="en-US" altLang="en-US"/>
              <a:t>‹#›</a:t>
            </a:fld>
            <a:endParaRPr lang="en-US" altLang="en-US"/>
          </a:p>
        </p:txBody>
      </p:sp>
    </p:spTree>
  </p:cSld>
  <p:clrMapOvr>
    <a:masterClrMapping/>
  </p:clrMapOvr>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Closin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2EDC90-87DD-96A7-56EA-434C85081A3D}"/>
              </a:ext>
            </a:extLst>
          </p:cNvPr>
          <p:cNvPicPr>
            <a:picLocks noChangeAspect="1"/>
          </p:cNvPicPr>
          <p:nvPr userDrawn="1"/>
        </p:nvPicPr>
        <p:blipFill>
          <a:blip r:embed="rId6"/>
          <a:srcRect t="7812" b="7812"/>
          <a:stretch/>
        </p:blipFill>
        <p:spPr>
          <a:xfrm flipH="1">
            <a:off x="0" y="0"/>
            <a:ext cx="12192000" cy="6858000"/>
          </a:xfrm>
          <a:prstGeom prst="rect">
            <a:avLst/>
          </a:prstGeom>
        </p:spPr>
      </p:pic>
      <p:sp>
        <p:nvSpPr>
          <p:cNvPr id="15" name="任意多边形: 形状 14"/>
          <p:cNvSpPr/>
          <p:nvPr>
            <p:custDataLst>
              <p:tags r:id="rId1"/>
            </p:custDataLst>
          </p:nvPr>
        </p:nvSpPr>
        <p:spPr>
          <a:xfrm>
            <a:off x="0" y="1"/>
            <a:ext cx="1715408" cy="1451615"/>
          </a:xfrm>
          <a:custGeom>
            <a:avLst/>
            <a:gdLst>
              <a:gd name="connsiteX0" fmla="*/ 0 w 1715408"/>
              <a:gd name="connsiteY0" fmla="*/ 0 h 1451615"/>
              <a:gd name="connsiteX1" fmla="*/ 1706868 w 1715408"/>
              <a:gd name="connsiteY1" fmla="*/ 0 h 1451615"/>
              <a:gd name="connsiteX2" fmla="*/ 1708664 w 1715408"/>
              <a:gd name="connsiteY2" fmla="*/ 11769 h 1451615"/>
              <a:gd name="connsiteX3" fmla="*/ 1715408 w 1715408"/>
              <a:gd name="connsiteY3" fmla="*/ 145329 h 1451615"/>
              <a:gd name="connsiteX4" fmla="*/ 409122 w 1715408"/>
              <a:gd name="connsiteY4" fmla="*/ 1451615 h 1451615"/>
              <a:gd name="connsiteX5" fmla="*/ 20673 w 1715408"/>
              <a:gd name="connsiteY5" fmla="*/ 1392887 h 1451615"/>
              <a:gd name="connsiteX6" fmla="*/ 0 w 1715408"/>
              <a:gd name="connsiteY6" fmla="*/ 1385321 h 145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5408" h="1451615">
                <a:moveTo>
                  <a:pt x="0" y="0"/>
                </a:moveTo>
                <a:lnTo>
                  <a:pt x="1706868" y="0"/>
                </a:lnTo>
                <a:lnTo>
                  <a:pt x="1708664" y="11769"/>
                </a:lnTo>
                <a:cubicBezTo>
                  <a:pt x="1713124" y="55682"/>
                  <a:pt x="1715408" y="100239"/>
                  <a:pt x="1715408" y="145329"/>
                </a:cubicBezTo>
                <a:cubicBezTo>
                  <a:pt x="1715408" y="866771"/>
                  <a:pt x="1130564" y="1451615"/>
                  <a:pt x="409122" y="1451615"/>
                </a:cubicBezTo>
                <a:cubicBezTo>
                  <a:pt x="273852" y="1451615"/>
                  <a:pt x="143384" y="1431054"/>
                  <a:pt x="20673" y="1392887"/>
                </a:cubicBezTo>
                <a:lnTo>
                  <a:pt x="0" y="1385321"/>
                </a:lnTo>
                <a:close/>
              </a:path>
            </a:pathLst>
          </a:custGeom>
          <a:solidFill>
            <a:schemeClr val="accent2">
              <a:alpha val="15000"/>
            </a:schemeClr>
          </a:solidFill>
          <a:ln>
            <a:noFill/>
          </a:ln>
        </p:spPr>
        <p:txBody>
          <a:bodyPr wrap="square" anchor="ctr"/>
          <a:lstStyle/>
          <a:p>
            <a:pPr lvl="0" algn="ctr"/>
            <a:endParaRPr lang="zh-CN" altLang="en-US">
              <a:solidFill>
                <a:schemeClr val="lt1"/>
              </a:solidFill>
            </a:endParaRPr>
          </a:p>
        </p:txBody>
      </p:sp>
      <p:sp>
        <p:nvSpPr>
          <p:cNvPr id="3" name="标题 2"/>
          <p:cNvSpPr>
            <a:spLocks noGrp="1"/>
          </p:cNvSpPr>
          <p:nvPr>
            <p:ph type="title" hasCustomPrompt="1"/>
            <p:custDataLst>
              <p:tags r:id="rId2"/>
            </p:custDataLst>
          </p:nvPr>
        </p:nvSpPr>
        <p:spPr>
          <a:xfrm>
            <a:off x="4661820" y="1451616"/>
            <a:ext cx="6871368" cy="1856591"/>
          </a:xfrm>
          <a:prstGeom prst="rect">
            <a:avLst/>
          </a:prstGeom>
        </p:spPr>
        <p:txBody>
          <a:bodyPr wrap="square" anchor="b" anchorCtr="0"/>
          <a:lstStyle>
            <a:lvl1pPr lvl="0" algn="r">
              <a:lnSpc>
                <a:spcPct val="100000"/>
              </a:lnSpc>
              <a:defRPr sz="6600">
                <a:ln>
                  <a:noFill/>
                </a:ln>
                <a:gradFill>
                  <a:gsLst>
                    <a:gs pos="46000">
                      <a:schemeClr val="accent1">
                        <a:lumMod val="20000"/>
                        <a:lumOff val="80000"/>
                      </a:schemeClr>
                    </a:gs>
                    <a:gs pos="100000">
                      <a:schemeClr val="accent2"/>
                    </a:gs>
                  </a:gsLst>
                  <a:lin ang="5400000" scaled="1"/>
                </a:gradFill>
              </a:defRPr>
            </a:lvl1pPr>
          </a:lstStyle>
          <a:p>
            <a:pPr lvl="0"/>
            <a:r>
              <a:rPr lang="en-US" altLang="en-US"/>
              <a:t>Click to add title</a:t>
            </a:r>
          </a:p>
        </p:txBody>
      </p:sp>
      <p:sp>
        <p:nvSpPr>
          <p:cNvPr id="4" name="文本占位符 3"/>
          <p:cNvSpPr>
            <a:spLocks noGrp="1"/>
          </p:cNvSpPr>
          <p:nvPr>
            <p:ph type="body" idx="13" hasCustomPrompt="1"/>
            <p:custDataLst>
              <p:tags r:id="rId3"/>
            </p:custDataLst>
          </p:nvPr>
        </p:nvSpPr>
        <p:spPr>
          <a:xfrm>
            <a:off x="8788400" y="5580101"/>
            <a:ext cx="2743200" cy="276999"/>
          </a:xfrm>
          <a:prstGeom prst="rect">
            <a:avLst/>
          </a:prstGeom>
        </p:spPr>
        <p:txBody>
          <a:bodyPr wrap="square" lIns="90000">
            <a:normAutofit/>
          </a:bodyPr>
          <a:lstStyle>
            <a:lvl1pPr marL="0" lvl="0" indent="0" algn="r">
              <a:lnSpc>
                <a:spcPct val="100000"/>
              </a:lnSpc>
              <a:buNone/>
              <a:defRPr sz="1200"/>
            </a:lvl1pPr>
          </a:lstStyle>
          <a:p>
            <a:pPr lvl="0"/>
            <a:r>
              <a:rPr lang="en-US" altLang="en-US"/>
              <a:t>Presenter name</a:t>
            </a:r>
          </a:p>
        </p:txBody>
      </p:sp>
      <p:sp>
        <p:nvSpPr>
          <p:cNvPr id="5" name="文本占位符 4"/>
          <p:cNvSpPr>
            <a:spLocks noGrp="1"/>
          </p:cNvSpPr>
          <p:nvPr>
            <p:ph type="body" idx="14" hasCustomPrompt="1"/>
            <p:custDataLst>
              <p:tags r:id="rId4"/>
            </p:custDataLst>
          </p:nvPr>
        </p:nvSpPr>
        <p:spPr>
          <a:xfrm>
            <a:off x="8709103" y="5857101"/>
            <a:ext cx="2822497" cy="276999"/>
          </a:xfrm>
          <a:prstGeom prst="rect">
            <a:avLst/>
          </a:prstGeom>
        </p:spPr>
        <p:txBody>
          <a:bodyPr wrap="none">
            <a:normAutofit/>
          </a:bodyPr>
          <a:lstStyle>
            <a:lvl1pPr marL="0" lvl="0" indent="0" algn="r">
              <a:lnSpc>
                <a:spcPct val="100000"/>
              </a:lnSpc>
              <a:buNone/>
              <a:defRPr sz="1200"/>
            </a:lvl1pPr>
          </a:lstStyle>
          <a:p>
            <a:pPr lvl="0"/>
            <a:r>
              <a:rPr lang="en-US" altLang="en-US"/>
              <a:t>www.officeplus.cn</a:t>
            </a:r>
          </a:p>
        </p:txBody>
      </p:sp>
    </p:spTree>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4.xml"/><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34E490C5-4DC2-DB70-8ED4-F53B39953EFC}"/>
              </a:ext>
            </a:extLst>
          </p:cNvPr>
          <p:cNvPicPr>
            <a:picLocks noChangeAspect="1"/>
          </p:cNvPicPr>
          <p:nvPr userDrawn="1"/>
        </p:nvPicPr>
        <p:blipFill>
          <a:blip r:embed="rId14">
            <a:alphaModFix amt="15000"/>
          </a:blip>
          <a:srcRect t="7812" b="7812"/>
          <a:stretch/>
        </p:blipFill>
        <p:spPr>
          <a:xfrm>
            <a:off x="0" y="0"/>
            <a:ext cx="12192000" cy="6858000"/>
          </a:xfrm>
          <a:prstGeom prst="rect">
            <a:avLst/>
          </a:prstGeom>
        </p:spPr>
      </p:pic>
      <p:sp>
        <p:nvSpPr>
          <p:cNvPr id="2" name="标题占位符 1"/>
          <p:cNvSpPr>
            <a:spLocks noGrp="1"/>
          </p:cNvSpPr>
          <p:nvPr>
            <p:ph type="title"/>
            <p:custDataLst>
              <p:tags r:id="rId9"/>
            </p:custDataLst>
          </p:nvPr>
        </p:nvSpPr>
        <p:spPr>
          <a:xfrm>
            <a:off x="660400" y="128587"/>
            <a:ext cx="10858500" cy="900112"/>
          </a:xfrm>
          <a:prstGeom prst="rect">
            <a:avLst/>
          </a:prstGeom>
        </p:spPr>
        <p:txBody>
          <a:bodyPr vert="horz" lIns="91440" tIns="45720" rIns="91440" bIns="45720" anchor="b">
            <a:normAutofit/>
          </a:bodyPr>
          <a:lstStyle/>
          <a:p>
            <a:pPr lvl="0"/>
            <a:r>
              <a:rPr lang="en-US" altLang="en-US"/>
              <a:t>Click to add title</a:t>
            </a:r>
          </a:p>
        </p:txBody>
      </p:sp>
      <p:sp>
        <p:nvSpPr>
          <p:cNvPr id="3" name="文本占位符 2"/>
          <p:cNvSpPr>
            <a:spLocks noGrp="1"/>
          </p:cNvSpPr>
          <p:nvPr>
            <p:ph type="body" idx="1"/>
            <p:custDataLst>
              <p:tags r:id="rId10"/>
            </p:custDataLst>
          </p:nvPr>
        </p:nvSpPr>
        <p:spPr>
          <a:xfrm>
            <a:off x="660400" y="1130300"/>
            <a:ext cx="10858500" cy="5003800"/>
          </a:xfrm>
          <a:prstGeom prst="rect">
            <a:avLst/>
          </a:prstGeom>
        </p:spPr>
        <p:txBody>
          <a:bodyPr vert="horz" lIns="91440" tIns="45720" rIns="91440" bIns="45720">
            <a:normAutofit/>
          </a:bodyPr>
          <a:lstStyle/>
          <a:p>
            <a:pPr lvl="0"/>
            <a:r>
              <a:rPr lang="en-US" altLang="en-US"/>
              <a:t>Click to add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日期占位符 3"/>
          <p:cNvSpPr>
            <a:spLocks noGrp="1"/>
          </p:cNvSpPr>
          <p:nvPr>
            <p:ph type="dt" idx="2"/>
            <p:custDataLst>
              <p:tags r:id="rId11"/>
            </p:custDataLst>
          </p:nvPr>
        </p:nvSpPr>
        <p:spPr>
          <a:xfrm>
            <a:off x="4718050" y="6409690"/>
            <a:ext cx="2743200" cy="274320"/>
          </a:xfrm>
          <a:prstGeom prst="rect">
            <a:avLst/>
          </a:prstGeom>
        </p:spPr>
        <p:txBody>
          <a:bodyPr vert="horz" lIns="91440" tIns="45720" rIns="91440" bIns="45720" anchor="ctr"/>
          <a:lstStyle>
            <a:lvl1pPr lvl="0" algn="ctr">
              <a:defRPr sz="1200">
                <a:solidFill>
                  <a:schemeClr val="tx1">
                    <a:tint val="75000"/>
                  </a:schemeClr>
                </a:solidFill>
              </a:defRPr>
            </a:lvl1pPr>
          </a:lstStyle>
          <a:p>
            <a:fld id="{D50551F2-8DE5-4B33-BBD3-FE09CBE90697}" type="datetime1">
              <a:rPr lang="zh-CN" altLang="en-US"/>
              <a:t>2023/12/12</a:t>
            </a:fld>
            <a:endParaRPr lang="en-US" altLang="en-US"/>
          </a:p>
        </p:txBody>
      </p:sp>
      <p:sp>
        <p:nvSpPr>
          <p:cNvPr id="5" name="页脚占位符 4"/>
          <p:cNvSpPr>
            <a:spLocks noGrp="1"/>
          </p:cNvSpPr>
          <p:nvPr>
            <p:ph type="ftr" idx="3"/>
            <p:custDataLst>
              <p:tags r:id="rId12"/>
            </p:custDataLst>
          </p:nvPr>
        </p:nvSpPr>
        <p:spPr>
          <a:xfrm>
            <a:off x="660399" y="6409690"/>
            <a:ext cx="3657600" cy="274320"/>
          </a:xfrm>
          <a:prstGeom prst="rect">
            <a:avLst/>
          </a:prstGeom>
        </p:spPr>
        <p:txBody>
          <a:bodyPr vert="horz" lIns="91440" tIns="45720" rIns="91440" bIns="45720" anchor="ctr"/>
          <a:lstStyle>
            <a:lvl1pPr lvl="0" algn="l">
              <a:defRPr sz="1200">
                <a:solidFill>
                  <a:schemeClr val="tx1">
                    <a:tint val="75000"/>
                  </a:schemeClr>
                </a:solidFill>
              </a:defRPr>
            </a:lvl1pPr>
          </a:lstStyle>
          <a:p>
            <a:r>
              <a:rPr lang="en-US" altLang="en-US"/>
              <a:t>OfficePLUS</a:t>
            </a:r>
          </a:p>
        </p:txBody>
      </p:sp>
      <p:sp>
        <p:nvSpPr>
          <p:cNvPr id="6" name="灯片编号占位符 5"/>
          <p:cNvSpPr>
            <a:spLocks noGrp="1"/>
          </p:cNvSpPr>
          <p:nvPr>
            <p:ph type="sldNum" idx="4"/>
            <p:custDataLst>
              <p:tags r:id="rId13"/>
            </p:custDataLst>
          </p:nvPr>
        </p:nvSpPr>
        <p:spPr>
          <a:xfrm>
            <a:off x="7861300" y="6409690"/>
            <a:ext cx="3657600" cy="274320"/>
          </a:xfrm>
          <a:prstGeom prst="rect">
            <a:avLst/>
          </a:prstGeom>
        </p:spPr>
        <p:txBody>
          <a:bodyPr vert="horz" lIns="91440" tIns="45720" rIns="91440" bIns="45720" anchor="ctr"/>
          <a:lstStyle>
            <a:lvl1pPr lvl="0" algn="r">
              <a:defRPr sz="1200">
                <a:solidFill>
                  <a:schemeClr val="tx1">
                    <a:tint val="75000"/>
                  </a:schemeClr>
                </a:solidFill>
              </a:defRPr>
            </a:lvl1pPr>
          </a:lstStyle>
          <a:p>
            <a:fld id="{D15A46D0-4992-4ABF-9189-1A52B48CE6F9}" type="slidenum">
              <a:rPr lang="en-US" altLang="en-US"/>
              <a:t>‹#›</a:t>
            </a:fld>
            <a:endParaRPr lang="en-US"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416">
          <p15:clr>
            <a:srgbClr val="F26B43"/>
          </p15:clr>
        </p15:guide>
        <p15:guide id="1" pos="7265">
          <p15:clr>
            <a:srgbClr val="F26B43"/>
          </p15:clr>
        </p15:guide>
        <p15:guide id="2" orient="horz" pos="648">
          <p15:clr>
            <a:srgbClr val="F26B43"/>
          </p15:clr>
        </p15:guide>
        <p15:guide id="3" orient="horz" pos="712">
          <p15:clr>
            <a:srgbClr val="F26B43"/>
          </p15:clr>
        </p15:guide>
        <p15:guide id="4" orient="horz" pos="3928">
          <p15:clr>
            <a:srgbClr val="F26B43"/>
          </p15:clr>
        </p15:guide>
        <p15:guide id="5" orient="horz" pos="38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slideLayout" Target="../slideLayouts/slideLayout1.xml"/><Relationship Id="rId4" Type="http://schemas.openxmlformats.org/officeDocument/2006/relationships/tags" Target="../tags/tag4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3.xml"/><Relationship Id="rId1" Type="http://schemas.openxmlformats.org/officeDocument/2006/relationships/tags" Target="../tags/tag4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ctrTitle" hasCustomPrompt="1"/>
            <p:custDataLst>
              <p:tags r:id="rId1"/>
            </p:custDataLst>
          </p:nvPr>
        </p:nvSpPr>
        <p:spPr>
          <a:xfrm>
            <a:off x="2334926" y="1089025"/>
            <a:ext cx="8832787" cy="1981886"/>
          </a:xfrm>
          <a:prstGeom prst="rect">
            <a:avLst/>
          </a:prstGeom>
        </p:spPr>
        <p:txBody>
          <a:bodyPr/>
          <a:lstStyle/>
          <a:p>
            <a:pPr lvl="0"/>
            <a:r>
              <a:rPr lang="zh-CN" altLang="en-US" sz="4400"/>
              <a:t>正确认识和理解中国特色法治道路</a:t>
            </a:r>
            <a:endParaRPr lang="en-US" altLang="en-US"/>
          </a:p>
        </p:txBody>
      </p:sp>
      <p:sp>
        <p:nvSpPr>
          <p:cNvPr id="3" name="副标题 2"/>
          <p:cNvSpPr txBox="1">
            <a:spLocks noGrp="1"/>
          </p:cNvSpPr>
          <p:nvPr>
            <p:ph type="subTitle" idx="1" hasCustomPrompt="1"/>
            <p:custDataLst>
              <p:tags r:id="rId2"/>
            </p:custDataLst>
          </p:nvPr>
        </p:nvSpPr>
        <p:spPr>
          <a:xfrm>
            <a:off x="6751321" y="3277375"/>
            <a:ext cx="4780279" cy="632109"/>
          </a:xfrm>
          <a:prstGeom prst="rect">
            <a:avLst/>
          </a:prstGeom>
        </p:spPr>
        <p:txBody>
          <a:bodyPr>
            <a:normAutofit/>
          </a:bodyPr>
          <a:lstStyle/>
          <a:p>
            <a:pPr lvl="0"/>
            <a:r>
              <a:rPr lang="en-US" altLang="zh-CN"/>
              <a:t>——</a:t>
            </a:r>
            <a:r>
              <a:rPr lang="zh-CN" altLang="en-US"/>
              <a:t>对中国特色法治道路的阐释与展望</a:t>
            </a:r>
            <a:endParaRPr lang="en-US" altLang="en-US"/>
          </a:p>
        </p:txBody>
      </p:sp>
      <p:sp>
        <p:nvSpPr>
          <p:cNvPr id="4" name="文本占位符 3"/>
          <p:cNvSpPr txBox="1">
            <a:spLocks noGrp="1"/>
          </p:cNvSpPr>
          <p:nvPr>
            <p:ph type="body" idx="13" hasCustomPrompt="1"/>
            <p:custDataLst>
              <p:tags r:id="rId3"/>
            </p:custDataLst>
          </p:nvPr>
        </p:nvSpPr>
        <p:spPr>
          <a:xfrm>
            <a:off x="5122417" y="4115948"/>
            <a:ext cx="6294266" cy="1741153"/>
          </a:xfrm>
          <a:prstGeom prst="rect">
            <a:avLst/>
          </a:prstGeom>
        </p:spPr>
        <p:txBody>
          <a:bodyPr>
            <a:normAutofit fontScale="85000" lnSpcReduction="20000"/>
          </a:bodyPr>
          <a:lstStyle/>
          <a:p>
            <a:pPr lvl="0"/>
            <a:r>
              <a:rPr lang="zh-CN" altLang="en-US" sz="2000"/>
              <a:t>     主讲者：同学 </a:t>
            </a:r>
            <a:r>
              <a:rPr lang="en-US" altLang="zh-CN" sz="2000"/>
              <a:t>[学号已脱敏]</a:t>
            </a:r>
          </a:p>
          <a:p>
            <a:pPr lvl="0"/>
            <a:r>
              <a:rPr lang="zh-CN" altLang="en-US" sz="2000"/>
              <a:t>同学</a:t>
            </a:r>
            <a:r>
              <a:rPr lang="en-US" altLang="zh-CN" sz="2000"/>
              <a:t>[学号已脱敏]</a:t>
            </a:r>
          </a:p>
          <a:p>
            <a:pPr lvl="0"/>
            <a:r>
              <a:rPr lang="zh-CN" altLang="en-US" sz="2000"/>
              <a:t>同学</a:t>
            </a:r>
            <a:r>
              <a:rPr lang="en-US" altLang="zh-CN" sz="2000"/>
              <a:t>[学号已脱敏]</a:t>
            </a:r>
          </a:p>
          <a:p>
            <a:pPr lvl="0"/>
            <a:r>
              <a:rPr lang="zh-CN" altLang="en-US" sz="2000"/>
              <a:t>  学生</a:t>
            </a:r>
            <a:r>
              <a:rPr lang="en-US" altLang="zh-CN" sz="2000"/>
              <a:t>[学号已脱敏]  </a:t>
            </a:r>
          </a:p>
          <a:p>
            <a:pPr lvl="0"/>
            <a:r>
              <a:rPr lang="zh-CN" altLang="en-US" sz="2000"/>
              <a:t>同学</a:t>
            </a:r>
            <a:r>
              <a:rPr lang="en-US" altLang="zh-CN" sz="2000"/>
              <a:t>[学号已脱敏]    </a:t>
            </a:r>
          </a:p>
        </p:txBody>
      </p:sp>
      <p:sp>
        <p:nvSpPr>
          <p:cNvPr id="5" name="文本占位符 4"/>
          <p:cNvSpPr txBox="1">
            <a:spLocks noGrp="1"/>
          </p:cNvSpPr>
          <p:nvPr>
            <p:ph type="body" idx="14" hasCustomPrompt="1"/>
            <p:custDataLst>
              <p:tags r:id="rId4"/>
            </p:custDataLst>
          </p:nvPr>
        </p:nvSpPr>
        <p:spPr>
          <a:xfrm>
            <a:off x="7621332" y="5857101"/>
            <a:ext cx="1941503" cy="1395688"/>
          </a:xfrm>
          <a:prstGeom prst="rect">
            <a:avLst/>
          </a:prstGeom>
        </p:spPr>
        <p:txBody>
          <a:bodyPr>
            <a:normAutofit/>
          </a:bodyPr>
          <a:lstStyle/>
          <a:p>
            <a:pPr lvl="0"/>
            <a:r>
              <a:rPr lang="en-US" altLang="en-US" sz="2000"/>
              <a:t>2023/12/11</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hasCustomPrompt="1"/>
            <p:custDataLst>
              <p:tags r:id="rId1"/>
            </p:custDataLst>
          </p:nvPr>
        </p:nvSpPr>
        <p:spPr>
          <a:xfrm>
            <a:off x="118862" y="122304"/>
            <a:ext cx="9294920" cy="1573556"/>
          </a:xfrm>
          <a:prstGeom prst="rect">
            <a:avLst/>
          </a:prstGeom>
        </p:spPr>
        <p:txBody>
          <a:bodyPr>
            <a:normAutofit fontScale="90000"/>
          </a:bodyPr>
          <a:lstStyle/>
          <a:p>
            <a:pPr lvl="0"/>
            <a:r>
              <a:rPr lang="zh-CN" altLang="en-US" sz="4000"/>
              <a:t>法治的概念</a:t>
            </a:r>
            <a:r>
              <a:rPr lang="zh-CN" altLang="en-US" sz="2000"/>
              <a:t>：法治是一种通过法律来维护社会秩序、保障公民权益，以及规范政府行为的政治理念和制度安排。在法治社会中，法律是最高的权威，所有公民和政府机构都受到法律的约束和保护。</a:t>
            </a:r>
            <a:br>
              <a:rPr lang="zh-CN" altLang="en-US" sz="2000"/>
            </a:br>
            <a:r>
              <a:rPr lang="zh-CN" altLang="en-US" sz="2000"/>
              <a:t>       中国特色社会主义法治道路的重要性</a:t>
            </a:r>
            <a:r>
              <a:rPr lang="zh-CN" altLang="en-US"/>
              <a:t>：</a:t>
            </a:r>
          </a:p>
        </p:txBody>
      </p:sp>
      <p:sp>
        <p:nvSpPr>
          <p:cNvPr id="3" name="文本占位符 2"/>
          <p:cNvSpPr txBox="1">
            <a:spLocks noGrp="1"/>
          </p:cNvSpPr>
          <p:nvPr>
            <p:ph type="body" idx="1" hasCustomPrompt="1"/>
            <p:custDataLst>
              <p:tags r:id="rId2"/>
            </p:custDataLst>
          </p:nvPr>
        </p:nvSpPr>
        <p:spPr>
          <a:xfrm>
            <a:off x="580501" y="1775759"/>
            <a:ext cx="11688439" cy="3790540"/>
          </a:xfrm>
          <a:prstGeom prst="rect">
            <a:avLst/>
          </a:prstGeom>
        </p:spPr>
        <p:txBody>
          <a:bodyPr>
            <a:normAutofit fontScale="25000" lnSpcReduction="20000"/>
          </a:bodyPr>
          <a:lstStyle/>
          <a:p>
            <a:pPr marL="342900" lvl="0" indent="-342900">
              <a:tabLst>
                <a:tab pos="457200" algn="l"/>
              </a:tabLst>
            </a:pPr>
            <a:r>
              <a:rPr lang="en-US" altLang="zh-CN" sz="7200" b="1">
                <a:effectLst/>
                <a:latin typeface="Segoe UI"/>
                <a:ea typeface="宋体"/>
              </a:rPr>
              <a:t>1.</a:t>
            </a:r>
            <a:r>
              <a:rPr lang="zh-CN" altLang="zh-CN" sz="7200" b="1">
                <a:effectLst/>
                <a:latin typeface="Segoe UI"/>
                <a:ea typeface="宋体"/>
              </a:rPr>
              <a:t>稳定社会秩序：</a:t>
            </a:r>
            <a:r>
              <a:rPr lang="zh-CN" altLang="zh-CN" sz="7200">
                <a:effectLst/>
                <a:latin typeface="宋体"/>
                <a:ea typeface="Segoe UI"/>
              </a:rPr>
              <a:t> </a:t>
            </a:r>
            <a:r>
              <a:rPr lang="zh-CN" altLang="zh-CN" sz="7200">
                <a:effectLst/>
                <a:latin typeface="Segoe UI"/>
                <a:ea typeface="宋体"/>
              </a:rPr>
              <a:t>法治是社会稳定的重要保障。通过建立健全的法律体系和法治机制，可以有效维护社会秩序，减少矛盾和冲突，促进社会的和谐稳定。</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2.</a:t>
            </a:r>
            <a:r>
              <a:rPr lang="zh-CN" altLang="zh-CN" sz="7200" b="1">
                <a:effectLst/>
                <a:latin typeface="Segoe UI"/>
                <a:ea typeface="宋体"/>
              </a:rPr>
              <a:t>保护公民权利：</a:t>
            </a:r>
            <a:r>
              <a:rPr lang="zh-CN" altLang="zh-CN" sz="7200">
                <a:effectLst/>
                <a:latin typeface="宋体"/>
                <a:ea typeface="Segoe UI"/>
              </a:rPr>
              <a:t> </a:t>
            </a:r>
            <a:r>
              <a:rPr lang="zh-CN" altLang="zh-CN" sz="7200">
                <a:effectLst/>
                <a:latin typeface="Segoe UI"/>
                <a:ea typeface="宋体"/>
              </a:rPr>
              <a:t>法治体系的建设有助于保护公民的基本权利和自由。通过明确的法律规定，公民在社会生活中能够享有法定的权利，而政府和其他组织也受到法律的制约，避免滥用权力。</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3.</a:t>
            </a:r>
            <a:r>
              <a:rPr lang="zh-CN" altLang="zh-CN" sz="7200" b="1">
                <a:effectLst/>
                <a:latin typeface="Segoe UI"/>
                <a:ea typeface="宋体"/>
              </a:rPr>
              <a:t>促进经济发展：</a:t>
            </a:r>
            <a:r>
              <a:rPr lang="zh-CN" altLang="zh-CN" sz="7200">
                <a:effectLst/>
                <a:latin typeface="宋体"/>
                <a:ea typeface="Segoe UI"/>
              </a:rPr>
              <a:t> </a:t>
            </a:r>
            <a:r>
              <a:rPr lang="zh-CN" altLang="zh-CN" sz="7200">
                <a:effectLst/>
                <a:latin typeface="Segoe UI"/>
                <a:ea typeface="宋体"/>
              </a:rPr>
              <a:t>法治环境是经济发展的基础。在法治的框架下，企业和个人能够更加稳定地进行经济活动，合同和产权得到更好的保护，法律的透明度和可预测性有助于吸引国内外投资。</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4.</a:t>
            </a:r>
            <a:r>
              <a:rPr lang="zh-CN" altLang="zh-CN" sz="7200" b="1">
                <a:effectLst/>
                <a:latin typeface="Segoe UI"/>
                <a:ea typeface="宋体"/>
              </a:rPr>
              <a:t>加强法治思维：</a:t>
            </a:r>
            <a:r>
              <a:rPr lang="zh-CN" altLang="zh-CN" sz="7200">
                <a:effectLst/>
                <a:latin typeface="宋体"/>
                <a:ea typeface="Segoe UI"/>
              </a:rPr>
              <a:t> </a:t>
            </a:r>
            <a:r>
              <a:rPr lang="zh-CN" altLang="zh-CN" sz="7200">
                <a:effectLst/>
                <a:latin typeface="Segoe UI"/>
                <a:ea typeface="宋体"/>
              </a:rPr>
              <a:t>引入中国特色社会主义法治道路有助于在国家层面和全社会培养法治思维。这种思维强调依法治国，推动法治观念在社会中深入人心，从而形成全社会共同遵守法律的良好氛围。</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5.</a:t>
            </a:r>
            <a:r>
              <a:rPr lang="zh-CN" altLang="zh-CN" sz="7200" b="1">
                <a:effectLst/>
                <a:latin typeface="Segoe UI"/>
                <a:ea typeface="宋体"/>
              </a:rPr>
              <a:t>提高国家治理效能：</a:t>
            </a:r>
            <a:r>
              <a:rPr lang="zh-CN" altLang="zh-CN" sz="7200">
                <a:effectLst/>
                <a:latin typeface="宋体"/>
                <a:ea typeface="Segoe UI"/>
              </a:rPr>
              <a:t> </a:t>
            </a:r>
            <a:r>
              <a:rPr lang="zh-CN" altLang="zh-CN" sz="7200">
                <a:effectLst/>
                <a:latin typeface="Segoe UI"/>
                <a:ea typeface="宋体"/>
              </a:rPr>
              <a:t>法治是国家治理体系和治理能力现代化的重要体现。通过建设法治体系，加强法治建设，可以提高国家的治理效能，增强国家对社会的调控和管理能力。</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6.</a:t>
            </a:r>
            <a:r>
              <a:rPr lang="zh-CN" altLang="zh-CN" sz="7200" b="1">
                <a:effectLst/>
                <a:latin typeface="Segoe UI"/>
                <a:ea typeface="宋体"/>
              </a:rPr>
              <a:t>维护社会公正和平等：</a:t>
            </a:r>
            <a:r>
              <a:rPr lang="zh-CN" altLang="zh-CN" sz="7200">
                <a:effectLst/>
                <a:latin typeface="宋体"/>
                <a:ea typeface="Segoe UI"/>
              </a:rPr>
              <a:t> </a:t>
            </a:r>
            <a:r>
              <a:rPr lang="zh-CN" altLang="zh-CN" sz="7200">
                <a:effectLst/>
                <a:latin typeface="Segoe UI"/>
                <a:ea typeface="宋体"/>
              </a:rPr>
              <a:t>法治体系的建设有助于确保法律的公正执行，减少社会不公正现象，维护社会的平等和公正。这对于构建一个和谐的社会关系、促进社会公平发展至关重要。</a:t>
            </a:r>
            <a:endParaRPr lang="zh-CN" altLang="zh-CN" sz="7200">
              <a:effectLst/>
              <a:latin typeface="宋体"/>
              <a:ea typeface="宋体"/>
            </a:endParaRPr>
          </a:p>
          <a:p>
            <a:pPr marL="342900" lvl="0" indent="-342900">
              <a:tabLst>
                <a:tab pos="457200" algn="l"/>
              </a:tabLst>
            </a:pPr>
            <a:r>
              <a:rPr lang="en-US" altLang="zh-CN" sz="7200" b="1">
                <a:effectLst/>
                <a:latin typeface="Segoe UI"/>
                <a:ea typeface="宋体"/>
              </a:rPr>
              <a:t>7.</a:t>
            </a:r>
            <a:r>
              <a:rPr lang="zh-CN" altLang="zh-CN" sz="7200" b="1">
                <a:effectLst/>
                <a:latin typeface="Segoe UI"/>
                <a:ea typeface="宋体"/>
              </a:rPr>
              <a:t>国际交往和合作：</a:t>
            </a:r>
            <a:r>
              <a:rPr lang="zh-CN" altLang="zh-CN" sz="7200">
                <a:effectLst/>
                <a:latin typeface="宋体"/>
                <a:ea typeface="Segoe UI"/>
              </a:rPr>
              <a:t> </a:t>
            </a:r>
            <a:r>
              <a:rPr lang="zh-CN" altLang="zh-CN" sz="7200">
                <a:effectLst/>
                <a:latin typeface="Segoe UI"/>
                <a:ea typeface="宋体"/>
              </a:rPr>
              <a:t>在全球化的背景下，具备健全法治体系的国家更容易在国际社会中获得尊重和信任。法治体系的健全有助于国际经济、文化和政治合作，提升国家的国际影响力。</a:t>
            </a:r>
            <a:endParaRPr lang="zh-CN" altLang="zh-CN" sz="7200">
              <a:effectLst/>
              <a:latin typeface="宋体"/>
              <a:ea typeface="宋体"/>
            </a:endParaRPr>
          </a:p>
          <a:p>
            <a:pPr>
              <a:lnSpc>
                <a:spcPct val="150000"/>
              </a:lnSpc>
            </a:pPr>
            <a:endParaRPr lang="en-US" altLang="zh-CN" sz="14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hasCustomPrompt="1"/>
            <p:custDataLst>
              <p:tags r:id="rId1"/>
            </p:custDataLst>
          </p:nvPr>
        </p:nvSpPr>
        <p:spPr>
          <a:prstGeom prst="rect">
            <a:avLst/>
          </a:prstGeom>
        </p:spPr>
        <p:txBody>
          <a:bodyPr/>
          <a:lstStyle/>
          <a:p>
            <a:pPr lvl="0"/>
            <a:r>
              <a:rPr lang="zh-CN" altLang="en-US"/>
              <a:t>社会主义法制的理论基础</a:t>
            </a:r>
            <a:endParaRPr lang="en-US" altLang="en-US"/>
          </a:p>
        </p:txBody>
      </p:sp>
      <p:grpSp>
        <p:nvGrpSpPr>
          <p:cNvPr id="3" name="组合 2">
            <a:extLst>
              <a:ext uri="{FF2B5EF4-FFF2-40B4-BE49-F238E27FC236}">
                <a16:creationId xmlns:a16="http://schemas.microsoft.com/office/drawing/2014/main" id="{6B671EAC-6FB8-8CCD-D130-5D3D41E0A037}"/>
              </a:ext>
            </a:extLst>
          </p:cNvPr>
          <p:cNvGrpSpPr/>
          <p:nvPr/>
        </p:nvGrpSpPr>
        <p:grpSpPr>
          <a:xfrm>
            <a:off x="384568" y="1211943"/>
            <a:ext cx="11535246" cy="5568646"/>
            <a:chOff x="384568" y="1301412"/>
            <a:chExt cx="11535246" cy="5568646"/>
          </a:xfrm>
        </p:grpSpPr>
        <p:grpSp>
          <p:nvGrpSpPr>
            <p:cNvPr id="4" name="组合 3">
              <a:extLst>
                <a:ext uri="{FF2B5EF4-FFF2-40B4-BE49-F238E27FC236}">
                  <a16:creationId xmlns:a16="http://schemas.microsoft.com/office/drawing/2014/main" id="{28B97F7B-B3EA-3A78-DAD1-F6524856CAAB}"/>
                </a:ext>
              </a:extLst>
            </p:cNvPr>
            <p:cNvGrpSpPr/>
            <p:nvPr/>
          </p:nvGrpSpPr>
          <p:grpSpPr>
            <a:xfrm>
              <a:off x="660400" y="1301412"/>
              <a:ext cx="11259414" cy="4840514"/>
              <a:chOff x="660400" y="1301412"/>
              <a:chExt cx="11259414" cy="4840514"/>
            </a:xfrm>
          </p:grpSpPr>
          <p:grpSp>
            <p:nvGrpSpPr>
              <p:cNvPr id="24" name="组合 23">
                <a:extLst>
                  <a:ext uri="{FF2B5EF4-FFF2-40B4-BE49-F238E27FC236}">
                    <a16:creationId xmlns:a16="http://schemas.microsoft.com/office/drawing/2014/main" id="{1E30868E-ACAF-E151-CF3E-01DD127B3BE5}"/>
                  </a:ext>
                </a:extLst>
              </p:cNvPr>
              <p:cNvGrpSpPr/>
              <p:nvPr/>
            </p:nvGrpSpPr>
            <p:grpSpPr>
              <a:xfrm>
                <a:off x="660400" y="1301412"/>
                <a:ext cx="11259414" cy="4840514"/>
                <a:chOff x="660400" y="1301412"/>
                <a:chExt cx="11259414" cy="4840514"/>
              </a:xfrm>
            </p:grpSpPr>
            <p:sp>
              <p:nvSpPr>
                <p:cNvPr id="27" name="椭圆 26">
                  <a:extLst>
                    <a:ext uri="{FF2B5EF4-FFF2-40B4-BE49-F238E27FC236}">
                      <a16:creationId xmlns:a16="http://schemas.microsoft.com/office/drawing/2014/main" id="{7D4A9F7B-0D0B-9515-3385-4FCC0AD8D6B0}"/>
                    </a:ext>
                  </a:extLst>
                </p:cNvPr>
                <p:cNvSpPr/>
                <p:nvPr/>
              </p:nvSpPr>
              <p:spPr>
                <a:xfrm>
                  <a:off x="660400" y="1301412"/>
                  <a:ext cx="4840514" cy="4840514"/>
                </a:xfrm>
                <a:prstGeom prst="ellipse">
                  <a:avLst/>
                </a:prstGeom>
                <a:solidFill>
                  <a:schemeClr val="accent1">
                    <a:alpha val="10000"/>
                  </a:schemeClr>
                </a:solidFill>
                <a:ln>
                  <a:noFill/>
                </a:ln>
              </p:spPr>
              <p:txBody>
                <a:bodyPr rot="0" vert="horz" wrap="square" lIns="91440" tIns="45720" rIns="91440" bIns="45720" numCol="1" spcCol="0" anchor="ctr" anchorCtr="0"/>
                <a:lstStyle/>
                <a:p>
                  <a:pPr algn="ctr" defTabSz="914354"/>
                  <a:endParaRPr lang="zh-CN" altLang="en-US" sz="2000" b="1">
                    <a:solidFill>
                      <a:schemeClr val="tx1"/>
                    </a:solidFill>
                  </a:endParaRPr>
                </a:p>
              </p:txBody>
            </p:sp>
            <p:sp>
              <p:nvSpPr>
                <p:cNvPr id="28" name="椭圆 27">
                  <a:extLst>
                    <a:ext uri="{FF2B5EF4-FFF2-40B4-BE49-F238E27FC236}">
                      <a16:creationId xmlns:a16="http://schemas.microsoft.com/office/drawing/2014/main" id="{EBA30D08-CA29-DB33-B962-2F6D985A815D}"/>
                    </a:ext>
                  </a:extLst>
                </p:cNvPr>
                <p:cNvSpPr/>
                <p:nvPr/>
              </p:nvSpPr>
              <p:spPr>
                <a:xfrm>
                  <a:off x="7619388" y="1314732"/>
                  <a:ext cx="4300426" cy="4300426"/>
                </a:xfrm>
                <a:prstGeom prst="ellipse">
                  <a:avLst/>
                </a:prstGeom>
                <a:blipFill rotWithShape="1">
                  <a:blip r:embed="rId3" cstate="screen">
                    <a:duotone>
                      <a:schemeClr val="accent1">
                        <a:shade val="45000"/>
                        <a:satMod val="135000"/>
                      </a:schemeClr>
                      <a:srgbClr val="FFFFFF"/>
                    </a:duotone>
                  </a:blip>
                  <a:srcRect/>
                  <a:stretch>
                    <a:fillRect l="-25074" r="-24926"/>
                  </a:stretch>
                </a:blipFill>
                <a:ln>
                  <a:noFill/>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ot="0" vert="horz" wrap="square" lIns="91440" tIns="45720" rIns="91440" bIns="45720" numCol="1" spcCol="0" anchor="ctr" anchorCtr="0"/>
                <a:lstStyle/>
                <a:p>
                  <a:pPr algn="ctr"/>
                  <a:endParaRPr lang="zh-CN" altLang="en-US">
                    <a:solidFill>
                      <a:schemeClr val="tx1"/>
                    </a:solidFill>
                  </a:endParaRPr>
                </a:p>
              </p:txBody>
            </p:sp>
          </p:grpSp>
          <p:sp>
            <p:nvSpPr>
              <p:cNvPr id="26" name="椭圆 25">
                <a:extLst>
                  <a:ext uri="{FF2B5EF4-FFF2-40B4-BE49-F238E27FC236}">
                    <a16:creationId xmlns:a16="http://schemas.microsoft.com/office/drawing/2014/main" id="{D12ED5E2-BE0A-0B99-B103-7AE72B88916F}"/>
                  </a:ext>
                </a:extLst>
              </p:cNvPr>
              <p:cNvSpPr/>
              <p:nvPr/>
            </p:nvSpPr>
            <p:spPr>
              <a:xfrm>
                <a:off x="3613860" y="5187079"/>
                <a:ext cx="941900" cy="941898"/>
              </a:xfrm>
              <a:prstGeom prst="ellipse">
                <a:avLst/>
              </a:prstGeom>
              <a:gradFill>
                <a:gsLst>
                  <a:gs pos="0">
                    <a:schemeClr val="accent1">
                      <a:lumMod val="60000"/>
                      <a:lumOff val="40000"/>
                    </a:schemeClr>
                  </a:gs>
                  <a:gs pos="60000">
                    <a:schemeClr val="accent1"/>
                  </a:gs>
                </a:gsLst>
                <a:lin ang="2700000" scaled="0"/>
              </a:gradFill>
              <a:ln>
                <a:noFill/>
              </a:ln>
              <a:effectLst>
                <a:outerShdw blurRad="76200" dist="50800" dir="5400000" algn="ctr" rotWithShape="0">
                  <a:schemeClr val="accent1">
                    <a:alpha val="20000"/>
                  </a:schemeClr>
                </a:outerShdw>
              </a:effectLst>
            </p:spPr>
            <p:txBody>
              <a:bodyPr rot="0" vert="horz" wrap="none" lIns="91440" tIns="45720" rIns="91440" bIns="45720" numCol="1" spcCol="0" anchor="ctr" anchorCtr="0"/>
              <a:lstStyle/>
              <a:p>
                <a:pPr algn="ctr" defTabSz="913765"/>
                <a:endParaRPr lang="zh-CN" altLang="en-US" sz="1400" b="1">
                  <a:solidFill>
                    <a:schemeClr val="tx1"/>
                  </a:solidFill>
                </a:endParaRPr>
              </a:p>
            </p:txBody>
          </p:sp>
        </p:grpSp>
        <p:grpSp>
          <p:nvGrpSpPr>
            <p:cNvPr id="5" name="组合 4">
              <a:extLst>
                <a:ext uri="{FF2B5EF4-FFF2-40B4-BE49-F238E27FC236}">
                  <a16:creationId xmlns:a16="http://schemas.microsoft.com/office/drawing/2014/main" id="{FFC0C9EC-28F7-8F44-02E5-F919B796F81C}"/>
                </a:ext>
              </a:extLst>
            </p:cNvPr>
            <p:cNvGrpSpPr/>
            <p:nvPr/>
          </p:nvGrpSpPr>
          <p:grpSpPr>
            <a:xfrm>
              <a:off x="384568" y="1383408"/>
              <a:ext cx="11134332" cy="5486650"/>
              <a:chOff x="384568" y="1383408"/>
              <a:chExt cx="11134332" cy="5486650"/>
            </a:xfrm>
          </p:grpSpPr>
          <p:cxnSp>
            <p:nvCxnSpPr>
              <p:cNvPr id="6" name="直接连接符 5">
                <a:extLst>
                  <a:ext uri="{FF2B5EF4-FFF2-40B4-BE49-F238E27FC236}">
                    <a16:creationId xmlns:a16="http://schemas.microsoft.com/office/drawing/2014/main" id="{362CAB60-7F96-91AE-E70D-AAE386D23257}"/>
                  </a:ext>
                </a:extLst>
              </p:cNvPr>
              <p:cNvCxnSpPr>
                <a:cxnSpLocks/>
              </p:cNvCxnSpPr>
              <p:nvPr/>
            </p:nvCxnSpPr>
            <p:spPr>
              <a:xfrm>
                <a:off x="6776266" y="2727915"/>
                <a:ext cx="4742634" cy="0"/>
              </a:xfrm>
              <a:prstGeom prst="line">
                <a:avLst/>
              </a:prstGeom>
              <a:ln w="12700">
                <a:solidFill>
                  <a:schemeClr val="tx2">
                    <a:alpha val="50000"/>
                  </a:schemeClr>
                </a:solidFill>
                <a:prstDash val="solid"/>
                <a:miter/>
              </a:ln>
            </p:spPr>
          </p:cxnSp>
          <p:cxnSp>
            <p:nvCxnSpPr>
              <p:cNvPr id="7" name="直接连接符 6">
                <a:extLst>
                  <a:ext uri="{FF2B5EF4-FFF2-40B4-BE49-F238E27FC236}">
                    <a16:creationId xmlns:a16="http://schemas.microsoft.com/office/drawing/2014/main" id="{ACE7776C-7441-B059-5973-2B0327B61DE6}"/>
                  </a:ext>
                </a:extLst>
              </p:cNvPr>
              <p:cNvCxnSpPr>
                <a:cxnSpLocks/>
              </p:cNvCxnSpPr>
              <p:nvPr/>
            </p:nvCxnSpPr>
            <p:spPr>
              <a:xfrm>
                <a:off x="6776266" y="4475287"/>
                <a:ext cx="4742634" cy="0"/>
              </a:xfrm>
              <a:prstGeom prst="line">
                <a:avLst/>
              </a:prstGeom>
              <a:ln w="12700">
                <a:solidFill>
                  <a:schemeClr val="tx2">
                    <a:alpha val="50000"/>
                  </a:schemeClr>
                </a:solidFill>
                <a:prstDash val="solid"/>
                <a:miter/>
              </a:ln>
            </p:spPr>
          </p:cxnSp>
          <p:grpSp>
            <p:nvGrpSpPr>
              <p:cNvPr id="8" name="组合 7">
                <a:extLst>
                  <a:ext uri="{FF2B5EF4-FFF2-40B4-BE49-F238E27FC236}">
                    <a16:creationId xmlns:a16="http://schemas.microsoft.com/office/drawing/2014/main" id="{E1DB570D-8C5E-BFAE-039B-3D7E3C6D9BFC}"/>
                  </a:ext>
                </a:extLst>
              </p:cNvPr>
              <p:cNvGrpSpPr/>
              <p:nvPr/>
            </p:nvGrpSpPr>
            <p:grpSpPr>
              <a:xfrm>
                <a:off x="384568" y="1383408"/>
                <a:ext cx="10224248" cy="5486650"/>
                <a:chOff x="384568" y="1383408"/>
                <a:chExt cx="10224248" cy="5486650"/>
              </a:xfrm>
            </p:grpSpPr>
            <p:grpSp>
              <p:nvGrpSpPr>
                <p:cNvPr id="9" name="组合 8">
                  <a:extLst>
                    <a:ext uri="{FF2B5EF4-FFF2-40B4-BE49-F238E27FC236}">
                      <a16:creationId xmlns:a16="http://schemas.microsoft.com/office/drawing/2014/main" id="{57D4E0D6-59ED-39E6-CD5A-C6C2BD8C4E63}"/>
                    </a:ext>
                  </a:extLst>
                </p:cNvPr>
                <p:cNvGrpSpPr/>
                <p:nvPr/>
              </p:nvGrpSpPr>
              <p:grpSpPr>
                <a:xfrm>
                  <a:off x="513335" y="1383408"/>
                  <a:ext cx="10095481" cy="1460319"/>
                  <a:chOff x="898346" y="1084203"/>
                  <a:chExt cx="10095481" cy="1460319"/>
                </a:xfrm>
              </p:grpSpPr>
              <p:grpSp>
                <p:nvGrpSpPr>
                  <p:cNvPr id="20" name="组合 19">
                    <a:extLst>
                      <a:ext uri="{FF2B5EF4-FFF2-40B4-BE49-F238E27FC236}">
                        <a16:creationId xmlns:a16="http://schemas.microsoft.com/office/drawing/2014/main" id="{0F1F4C8D-3496-B7B4-927F-7C47AFA687D3}"/>
                      </a:ext>
                    </a:extLst>
                  </p:cNvPr>
                  <p:cNvGrpSpPr/>
                  <p:nvPr/>
                </p:nvGrpSpPr>
                <p:grpSpPr>
                  <a:xfrm>
                    <a:off x="898346" y="1106512"/>
                    <a:ext cx="10095481" cy="1438010"/>
                    <a:chOff x="-2785762" y="1388913"/>
                    <a:chExt cx="13541502" cy="1438010"/>
                  </a:xfrm>
                </p:grpSpPr>
                <p:sp>
                  <p:nvSpPr>
                    <p:cNvPr id="22" name="文本框 21">
                      <a:extLst>
                        <a:ext uri="{FF2B5EF4-FFF2-40B4-BE49-F238E27FC236}">
                          <a16:creationId xmlns:a16="http://schemas.microsoft.com/office/drawing/2014/main" id="{0F12C12A-BF62-3824-DC66-54F0392EAEBF}"/>
                        </a:ext>
                      </a:extLst>
                    </p:cNvPr>
                    <p:cNvSpPr txBox="1">
                      <a:spLocks/>
                    </p:cNvSpPr>
                    <p:nvPr/>
                  </p:nvSpPr>
                  <p:spPr>
                    <a:xfrm>
                      <a:off x="-2785762" y="2120974"/>
                      <a:ext cx="13541502" cy="705949"/>
                    </a:xfrm>
                    <a:prstGeom prst="rect">
                      <a:avLst/>
                    </a:prstGeom>
                    <a:noFill/>
                  </p:spPr>
                  <p:txBody>
                    <a:bodyPr wrap="square"/>
                    <a:lstStyle>
                      <a:lvl1pPr lvl="0">
                        <a:lnSpc>
                          <a:spcPts val="1500"/>
                        </a:lnSpc>
                        <a:defRPr sz="900"/>
                      </a:lvl1pPr>
                    </a:lstStyle>
                    <a:p>
                      <a:pPr marL="342900" lvl="0" indent="-342900">
                        <a:lnSpc>
                          <a:spcPct val="100000"/>
                        </a:lnSpc>
                        <a:tabLst>
                          <a:tab pos="457200" algn="l"/>
                        </a:tabLst>
                      </a:pPr>
                      <a:r>
                        <a:rPr lang="zh-CN" altLang="zh-CN" sz="1800">
                          <a:effectLst/>
                          <a:latin typeface="Segoe UI"/>
                          <a:ea typeface="宋体"/>
                        </a:rPr>
                        <a:t>社会主义法治的基础理论是马克思主义法学。马克思主义法学强调法律的阶级性质和法律与经济基础之间的密切联系。它认为法律是国家的工具，反映了统治阶级的利益，并在一定程度上影响着社会的发展。在社会主义法治建设中，马克思主义法学指导着制定和执行符合社会主义制度和建设要求的法律制度。</a:t>
                      </a:r>
                      <a:endParaRPr lang="zh-CN" altLang="zh-CN" sz="1800">
                        <a:effectLst/>
                        <a:latin typeface="宋体"/>
                        <a:ea typeface="宋体"/>
                      </a:endParaRPr>
                    </a:p>
                  </p:txBody>
                </p:sp>
                <p:sp>
                  <p:nvSpPr>
                    <p:cNvPr id="23" name="文本框 22">
                      <a:extLst>
                        <a:ext uri="{FF2B5EF4-FFF2-40B4-BE49-F238E27FC236}">
                          <a16:creationId xmlns:a16="http://schemas.microsoft.com/office/drawing/2014/main" id="{394EE8C6-4DBE-D843-8DAB-FD5FE9D111BC}"/>
                        </a:ext>
                      </a:extLst>
                    </p:cNvPr>
                    <p:cNvSpPr txBox="1">
                      <a:spLocks/>
                    </p:cNvSpPr>
                    <p:nvPr/>
                  </p:nvSpPr>
                  <p:spPr>
                    <a:xfrm>
                      <a:off x="-1631409" y="1388913"/>
                      <a:ext cx="4234857" cy="400110"/>
                    </a:xfrm>
                    <a:prstGeom prst="rect">
                      <a:avLst/>
                    </a:prstGeom>
                    <a:noFill/>
                    <a:effectLst/>
                  </p:spPr>
                  <p:txBody>
                    <a:bodyPr wrap="square" anchor="b">
                      <a:normAutofit/>
                    </a:bodyPr>
                    <a:lstStyle>
                      <a:lvl1pPr lvl="0">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nSpc>
                          <a:spcPct val="100000"/>
                        </a:lnSpc>
                      </a:pPr>
                      <a:r>
                        <a:rPr lang="zh-CN" altLang="zh-CN" sz="1800" b="1">
                          <a:solidFill>
                            <a:schemeClr val="tx1"/>
                          </a:solidFill>
                          <a:effectLst/>
                          <a:latin typeface="Segoe UI"/>
                          <a:ea typeface="等线"/>
                        </a:rPr>
                        <a:t>马克思主义法学理论：</a:t>
                      </a:r>
                      <a:endParaRPr lang="en-US" altLang="zh-CN" sz="1800">
                        <a:solidFill>
                          <a:schemeClr val="tx1"/>
                        </a:solidFill>
                        <a:effectLst/>
                      </a:endParaRPr>
                    </a:p>
                  </p:txBody>
                </p:sp>
              </p:grpSp>
              <p:sp>
                <p:nvSpPr>
                  <p:cNvPr id="21" name="文本框 20">
                    <a:extLst>
                      <a:ext uri="{FF2B5EF4-FFF2-40B4-BE49-F238E27FC236}">
                        <a16:creationId xmlns:a16="http://schemas.microsoft.com/office/drawing/2014/main" id="{01F134A5-40B2-1305-E8B7-C06CD06B4FF8}"/>
                      </a:ext>
                    </a:extLst>
                  </p:cNvPr>
                  <p:cNvSpPr txBox="1"/>
                  <p:nvPr/>
                </p:nvSpPr>
                <p:spPr>
                  <a:xfrm>
                    <a:off x="1033637" y="1084203"/>
                    <a:ext cx="540000" cy="540000"/>
                  </a:xfrm>
                  <a:prstGeom prst="roundRect">
                    <a:avLst>
                      <a:gd name="adj" fmla="val 50000"/>
                    </a:avLst>
                  </a:prstGeom>
                  <a:gradFill>
                    <a:gsLst>
                      <a:gs pos="0">
                        <a:schemeClr val="accent1">
                          <a:lumMod val="60000"/>
                          <a:lumOff val="40000"/>
                        </a:schemeClr>
                      </a:gs>
                      <a:gs pos="60000">
                        <a:schemeClr val="accent1"/>
                      </a:gs>
                    </a:gsLst>
                    <a:lin ang="2700000" scaled="0"/>
                  </a:gradFill>
                  <a:ln>
                    <a:noFill/>
                  </a:ln>
                  <a:effectLst>
                    <a:outerShdw blurRad="76200" dist="50800" dir="5400000" algn="ctr" rotWithShape="0">
                      <a:schemeClr val="accent1">
                        <a:alpha val="20000"/>
                      </a:schemeClr>
                    </a:outerShdw>
                  </a:effectLst>
                </p:spPr>
                <p:txBody>
                  <a:bodyPr rot="0" vert="horz" wrap="none" lIns="91440" tIns="45720" rIns="91440" bIns="45720" numCol="1" spcCol="0" anchor="ctr" anchorCtr="0"/>
                  <a:lstStyle>
                    <a:lvl1pPr lvl="0" algn="ctr" defTabSz="913765">
                      <a:defRPr sz="1400" b="1">
                        <a:solidFill>
                          <a:srgbClr val="FFFFFF"/>
                        </a:solidFill>
                      </a:defRPr>
                    </a:lvl1pPr>
                    <a:lvl2pPr lvl="1">
                      <a:defRPr>
                        <a:solidFill>
                          <a:schemeClr val="lt1"/>
                        </a:solidFill>
                      </a:defRPr>
                    </a:lvl2pPr>
                    <a:lvl3pPr lvl="2">
                      <a:defRPr>
                        <a:solidFill>
                          <a:schemeClr val="lt1"/>
                        </a:solidFill>
                      </a:defRPr>
                    </a:lvl3pPr>
                    <a:lvl4pPr lvl="3">
                      <a:defRPr>
                        <a:solidFill>
                          <a:schemeClr val="lt1"/>
                        </a:solidFill>
                      </a:defRPr>
                    </a:lvl4pPr>
                    <a:lvl5pPr lvl="4">
                      <a:defRPr>
                        <a:solidFill>
                          <a:schemeClr val="lt1"/>
                        </a:solidFill>
                      </a:defRPr>
                    </a:lvl5pPr>
                    <a:lvl6pPr lvl="5">
                      <a:defRPr>
                        <a:solidFill>
                          <a:schemeClr val="lt1"/>
                        </a:solidFill>
                      </a:defRPr>
                    </a:lvl6pPr>
                    <a:lvl7pPr lvl="6">
                      <a:defRPr>
                        <a:solidFill>
                          <a:schemeClr val="lt1"/>
                        </a:solidFill>
                      </a:defRPr>
                    </a:lvl7pPr>
                    <a:lvl8pPr lvl="7">
                      <a:defRPr>
                        <a:solidFill>
                          <a:schemeClr val="lt1"/>
                        </a:solidFill>
                      </a:defRPr>
                    </a:lvl8pPr>
                    <a:lvl9pPr lvl="8">
                      <a:defRPr>
                        <a:solidFill>
                          <a:schemeClr val="lt1"/>
                        </a:solidFill>
                      </a:defRPr>
                    </a:lvl9pPr>
                  </a:lstStyle>
                  <a:p>
                    <a:r>
                      <a:rPr lang="en-US" altLang="zh-CN" sz="1600">
                        <a:solidFill>
                          <a:schemeClr val="tx1"/>
                        </a:solidFill>
                      </a:rPr>
                      <a:t>01</a:t>
                    </a:r>
                    <a:endParaRPr lang="zh-CN" altLang="en-US" sz="1600">
                      <a:solidFill>
                        <a:schemeClr val="tx1"/>
                      </a:solidFill>
                    </a:endParaRPr>
                  </a:p>
                </p:txBody>
              </p:sp>
            </p:grpSp>
            <p:grpSp>
              <p:nvGrpSpPr>
                <p:cNvPr id="10" name="组合 9">
                  <a:extLst>
                    <a:ext uri="{FF2B5EF4-FFF2-40B4-BE49-F238E27FC236}">
                      <a16:creationId xmlns:a16="http://schemas.microsoft.com/office/drawing/2014/main" id="{8CD845BD-7035-A2DF-BCFF-814668CC96D7}"/>
                    </a:ext>
                  </a:extLst>
                </p:cNvPr>
                <p:cNvGrpSpPr/>
                <p:nvPr/>
              </p:nvGrpSpPr>
              <p:grpSpPr>
                <a:xfrm>
                  <a:off x="384568" y="5261210"/>
                  <a:ext cx="9042169" cy="1608848"/>
                  <a:chOff x="769579" y="4087292"/>
                  <a:chExt cx="9042169" cy="1608848"/>
                </a:xfrm>
              </p:grpSpPr>
              <p:grpSp>
                <p:nvGrpSpPr>
                  <p:cNvPr id="16" name="组合 15">
                    <a:extLst>
                      <a:ext uri="{FF2B5EF4-FFF2-40B4-BE49-F238E27FC236}">
                        <a16:creationId xmlns:a16="http://schemas.microsoft.com/office/drawing/2014/main" id="{F7E5FF26-D715-D4BC-BD19-CDCB8E32ABC4}"/>
                      </a:ext>
                    </a:extLst>
                  </p:cNvPr>
                  <p:cNvGrpSpPr/>
                  <p:nvPr/>
                </p:nvGrpSpPr>
                <p:grpSpPr>
                  <a:xfrm>
                    <a:off x="769579" y="4087292"/>
                    <a:ext cx="9042169" cy="1608848"/>
                    <a:chOff x="-2958482" y="1819187"/>
                    <a:chExt cx="12128649" cy="1608848"/>
                  </a:xfrm>
                </p:grpSpPr>
                <p:sp>
                  <p:nvSpPr>
                    <p:cNvPr id="18" name="文本框 17">
                      <a:extLst>
                        <a:ext uri="{FF2B5EF4-FFF2-40B4-BE49-F238E27FC236}">
                          <a16:creationId xmlns:a16="http://schemas.microsoft.com/office/drawing/2014/main" id="{A433CA9F-3E7C-95E9-BCB9-3E22504D36D0}"/>
                        </a:ext>
                      </a:extLst>
                    </p:cNvPr>
                    <p:cNvSpPr txBox="1">
                      <a:spLocks/>
                    </p:cNvSpPr>
                    <p:nvPr/>
                  </p:nvSpPr>
                  <p:spPr>
                    <a:xfrm>
                      <a:off x="-2958482" y="2266948"/>
                      <a:ext cx="12128649" cy="1161087"/>
                    </a:xfrm>
                    <a:prstGeom prst="rect">
                      <a:avLst/>
                    </a:prstGeom>
                    <a:noFill/>
                  </p:spPr>
                  <p:txBody>
                    <a:bodyPr wrap="square">
                      <a:spAutoFit/>
                    </a:bodyPr>
                    <a:lstStyle>
                      <a:lvl1pPr lvl="0">
                        <a:lnSpc>
                          <a:spcPts val="1500"/>
                        </a:lnSpc>
                        <a:defRPr sz="900"/>
                      </a:lvl1pPr>
                    </a:lstStyle>
                    <a:p>
                      <a:pPr>
                        <a:lnSpc>
                          <a:spcPct val="150000"/>
                        </a:lnSpc>
                      </a:pPr>
                      <a:r>
                        <a:rPr lang="zh-CN" altLang="zh-CN" sz="1600">
                          <a:effectLst/>
                          <a:latin typeface="Segoe UI"/>
                          <a:ea typeface="等线"/>
                        </a:rPr>
                        <a:t>社会主义法治建设依托于法治精神和价值观念的传承。这包括尊重和维护人权、平等、公正、公平、诚信、责任等法治核心价值观念。这些价值观念是法治建设的指导方向，体现在法律的制定、司法实践以及社会行为准则中。</a:t>
                      </a:r>
                      <a:endParaRPr lang="en-US" altLang="zh-CN" sz="1600"/>
                    </a:p>
                  </p:txBody>
                </p:sp>
                <p:sp>
                  <p:nvSpPr>
                    <p:cNvPr id="19" name="文本框 18">
                      <a:extLst>
                        <a:ext uri="{FF2B5EF4-FFF2-40B4-BE49-F238E27FC236}">
                          <a16:creationId xmlns:a16="http://schemas.microsoft.com/office/drawing/2014/main" id="{49F949A0-6B2F-B204-7077-90D0A3DBB7A6}"/>
                        </a:ext>
                      </a:extLst>
                    </p:cNvPr>
                    <p:cNvSpPr txBox="1">
                      <a:spLocks/>
                    </p:cNvSpPr>
                    <p:nvPr/>
                  </p:nvSpPr>
                  <p:spPr>
                    <a:xfrm>
                      <a:off x="-1297190" y="1819187"/>
                      <a:ext cx="4234857" cy="400110"/>
                    </a:xfrm>
                    <a:prstGeom prst="rect">
                      <a:avLst/>
                    </a:prstGeom>
                    <a:noFill/>
                    <a:effectLst/>
                  </p:spPr>
                  <p:txBody>
                    <a:bodyPr wrap="square" anchor="b">
                      <a:normAutofit/>
                    </a:bodyPr>
                    <a:lstStyle>
                      <a:lvl1pPr lvl="0">
                        <a:defRPr sz="2000" b="1" i="0">
                          <a:gradFill>
                            <a:gsLst>
                              <a:gs pos="0">
                                <a:schemeClr val="accent3">
                                  <a:lumMod val="60000"/>
                                  <a:lumOff val="40000"/>
                                </a:schemeClr>
                              </a:gs>
                              <a:gs pos="60000">
                                <a:schemeClr val="accent3"/>
                              </a:gs>
                            </a:gsLst>
                            <a:lin ang="2700000" scaled="0"/>
                          </a:gradFill>
                          <a:effectLst>
                            <a:outerShdw blurRad="76200" dist="50800" dir="5400000" algn="ctr" rotWithShape="0">
                              <a:schemeClr val="accent3">
                                <a:alpha val="20000"/>
                              </a:schemeClr>
                            </a:outerShdw>
                          </a:effectLst>
                        </a:defRPr>
                      </a:lvl1pPr>
                    </a:lstStyle>
                    <a:p>
                      <a:pPr>
                        <a:lnSpc>
                          <a:spcPct val="100000"/>
                        </a:lnSpc>
                      </a:pPr>
                      <a:r>
                        <a:rPr lang="zh-CN" altLang="zh-CN" sz="1800" b="1">
                          <a:solidFill>
                            <a:schemeClr val="tx1"/>
                          </a:solidFill>
                          <a:effectLst/>
                          <a:latin typeface="Segoe UI"/>
                          <a:ea typeface="等线"/>
                        </a:rPr>
                        <a:t>法治精神和价值观念：</a:t>
                      </a:r>
                      <a:endParaRPr lang="en-US" altLang="zh-CN" sz="1800">
                        <a:solidFill>
                          <a:schemeClr val="tx1"/>
                        </a:solidFill>
                        <a:effectLst/>
                      </a:endParaRPr>
                    </a:p>
                  </p:txBody>
                </p:sp>
              </p:grpSp>
              <p:sp>
                <p:nvSpPr>
                  <p:cNvPr id="17" name="文本框 16">
                    <a:extLst>
                      <a:ext uri="{FF2B5EF4-FFF2-40B4-BE49-F238E27FC236}">
                        <a16:creationId xmlns:a16="http://schemas.microsoft.com/office/drawing/2014/main" id="{B52FD1DC-644F-0523-885B-55C381C7F76F}"/>
                      </a:ext>
                    </a:extLst>
                  </p:cNvPr>
                  <p:cNvSpPr txBox="1"/>
                  <p:nvPr/>
                </p:nvSpPr>
                <p:spPr>
                  <a:xfrm>
                    <a:off x="928223" y="4145530"/>
                    <a:ext cx="540000" cy="540000"/>
                  </a:xfrm>
                  <a:prstGeom prst="roundRect">
                    <a:avLst>
                      <a:gd name="adj" fmla="val 50000"/>
                    </a:avLst>
                  </a:prstGeom>
                  <a:gradFill>
                    <a:gsLst>
                      <a:gs pos="0">
                        <a:schemeClr val="accent1">
                          <a:lumMod val="60000"/>
                          <a:lumOff val="40000"/>
                        </a:schemeClr>
                      </a:gs>
                      <a:gs pos="60000">
                        <a:schemeClr val="accent1"/>
                      </a:gs>
                    </a:gsLst>
                    <a:lin ang="2700000" scaled="0"/>
                  </a:gradFill>
                  <a:ln>
                    <a:noFill/>
                  </a:ln>
                  <a:effectLst>
                    <a:outerShdw blurRad="76200" dist="50800" dir="5400000" algn="ctr" rotWithShape="0">
                      <a:schemeClr val="accent1">
                        <a:alpha val="20000"/>
                      </a:schemeClr>
                    </a:outerShdw>
                  </a:effectLst>
                </p:spPr>
                <p:txBody>
                  <a:bodyPr rot="0" vert="horz" wrap="none" lIns="91440" tIns="45720" rIns="91440" bIns="45720" numCol="1" spcCol="0" anchor="ctr" anchorCtr="0"/>
                  <a:lstStyle>
                    <a:lvl1pPr lvl="0" algn="ctr" defTabSz="913765">
                      <a:defRPr sz="1400" b="1">
                        <a:solidFill>
                          <a:srgbClr val="FFFFFF"/>
                        </a:solidFill>
                      </a:defRPr>
                    </a:lvl1pPr>
                    <a:lvl2pPr lvl="1">
                      <a:defRPr>
                        <a:solidFill>
                          <a:schemeClr val="lt1"/>
                        </a:solidFill>
                      </a:defRPr>
                    </a:lvl2pPr>
                    <a:lvl3pPr lvl="2">
                      <a:defRPr>
                        <a:solidFill>
                          <a:schemeClr val="lt1"/>
                        </a:solidFill>
                      </a:defRPr>
                    </a:lvl3pPr>
                    <a:lvl4pPr lvl="3">
                      <a:defRPr>
                        <a:solidFill>
                          <a:schemeClr val="lt1"/>
                        </a:solidFill>
                      </a:defRPr>
                    </a:lvl4pPr>
                    <a:lvl5pPr lvl="4">
                      <a:defRPr>
                        <a:solidFill>
                          <a:schemeClr val="lt1"/>
                        </a:solidFill>
                      </a:defRPr>
                    </a:lvl5pPr>
                    <a:lvl6pPr lvl="5">
                      <a:defRPr>
                        <a:solidFill>
                          <a:schemeClr val="lt1"/>
                        </a:solidFill>
                      </a:defRPr>
                    </a:lvl6pPr>
                    <a:lvl7pPr lvl="6">
                      <a:defRPr>
                        <a:solidFill>
                          <a:schemeClr val="lt1"/>
                        </a:solidFill>
                      </a:defRPr>
                    </a:lvl7pPr>
                    <a:lvl8pPr lvl="7">
                      <a:defRPr>
                        <a:solidFill>
                          <a:schemeClr val="lt1"/>
                        </a:solidFill>
                      </a:defRPr>
                    </a:lvl8pPr>
                    <a:lvl9pPr lvl="8">
                      <a:defRPr>
                        <a:solidFill>
                          <a:schemeClr val="lt1"/>
                        </a:solidFill>
                      </a:defRPr>
                    </a:lvl9pPr>
                  </a:lstStyle>
                  <a:p>
                    <a:r>
                      <a:rPr lang="en-US" altLang="zh-CN" sz="1600">
                        <a:solidFill>
                          <a:schemeClr val="tx1"/>
                        </a:solidFill>
                      </a:rPr>
                      <a:t>03</a:t>
                    </a:r>
                    <a:endParaRPr lang="zh-CN" altLang="en-US" sz="1600">
                      <a:solidFill>
                        <a:schemeClr val="tx1"/>
                      </a:solidFill>
                    </a:endParaRPr>
                  </a:p>
                </p:txBody>
              </p:sp>
            </p:grpSp>
            <p:grpSp>
              <p:nvGrpSpPr>
                <p:cNvPr id="11" name="组合 10">
                  <a:extLst>
                    <a:ext uri="{FF2B5EF4-FFF2-40B4-BE49-F238E27FC236}">
                      <a16:creationId xmlns:a16="http://schemas.microsoft.com/office/drawing/2014/main" id="{934FCF2E-1B00-160C-14A3-F719FC48C31E}"/>
                    </a:ext>
                  </a:extLst>
                </p:cNvPr>
                <p:cNvGrpSpPr/>
                <p:nvPr/>
              </p:nvGrpSpPr>
              <p:grpSpPr>
                <a:xfrm>
                  <a:off x="384568" y="3352862"/>
                  <a:ext cx="8830453" cy="1931866"/>
                  <a:chOff x="769579" y="2572206"/>
                  <a:chExt cx="8830453" cy="1931866"/>
                </a:xfrm>
              </p:grpSpPr>
              <p:grpSp>
                <p:nvGrpSpPr>
                  <p:cNvPr id="12" name="组合 11">
                    <a:extLst>
                      <a:ext uri="{FF2B5EF4-FFF2-40B4-BE49-F238E27FC236}">
                        <a16:creationId xmlns:a16="http://schemas.microsoft.com/office/drawing/2014/main" id="{76ADCBD2-ECC2-8799-F908-93D4A30F5A02}"/>
                      </a:ext>
                    </a:extLst>
                  </p:cNvPr>
                  <p:cNvGrpSpPr/>
                  <p:nvPr/>
                </p:nvGrpSpPr>
                <p:grpSpPr>
                  <a:xfrm>
                    <a:off x="769579" y="2677977"/>
                    <a:ext cx="8830453" cy="1826095"/>
                    <a:chOff x="-2958483" y="1685125"/>
                    <a:chExt cx="11844666" cy="1826095"/>
                  </a:xfrm>
                </p:grpSpPr>
                <p:sp>
                  <p:nvSpPr>
                    <p:cNvPr id="14" name="文本框 13">
                      <a:extLst>
                        <a:ext uri="{FF2B5EF4-FFF2-40B4-BE49-F238E27FC236}">
                          <a16:creationId xmlns:a16="http://schemas.microsoft.com/office/drawing/2014/main" id="{CE5CB139-250B-7C3A-A9FF-D37641A4546C}"/>
                        </a:ext>
                      </a:extLst>
                    </p:cNvPr>
                    <p:cNvSpPr txBox="1">
                      <a:spLocks/>
                    </p:cNvSpPr>
                    <p:nvPr/>
                  </p:nvSpPr>
                  <p:spPr>
                    <a:xfrm>
                      <a:off x="-2958483" y="2310891"/>
                      <a:ext cx="11844666" cy="1200329"/>
                    </a:xfrm>
                    <a:prstGeom prst="rect">
                      <a:avLst/>
                    </a:prstGeom>
                    <a:noFill/>
                  </p:spPr>
                  <p:txBody>
                    <a:bodyPr wrap="square">
                      <a:spAutoFit/>
                    </a:bodyPr>
                    <a:lstStyle>
                      <a:lvl1pPr lvl="0">
                        <a:lnSpc>
                          <a:spcPts val="1500"/>
                        </a:lnSpc>
                        <a:defRPr sz="900"/>
                      </a:lvl1pPr>
                    </a:lstStyle>
                    <a:p>
                      <a:pPr marL="342900" lvl="0" indent="-342900">
                        <a:lnSpc>
                          <a:spcPct val="100000"/>
                        </a:lnSpc>
                        <a:tabLst>
                          <a:tab pos="457200" algn="l"/>
                        </a:tabLst>
                      </a:pPr>
                      <a:r>
                        <a:rPr lang="zh-CN" altLang="zh-CN" sz="1800">
                          <a:effectLst/>
                          <a:latin typeface="Segoe UI"/>
                          <a:ea typeface="宋体"/>
                        </a:rPr>
                        <a:t>中国特色社会主义法治的理论基础还包括习近平新时代中国特色社会主义思想。这一思想强调中国特色社会主义制度的优越性，提出了一系列法治建设的重要观点和原则。其中包括坚持党的领导、人民当家作主、依法治国的基本方针，强调依法治国、依法执政、依法行政的一系列原则，推动建设中国特色社会主义法治体系。</a:t>
                      </a:r>
                      <a:endParaRPr lang="zh-CN" altLang="zh-CN" sz="1800">
                        <a:effectLst/>
                        <a:latin typeface="宋体"/>
                        <a:ea typeface="宋体"/>
                      </a:endParaRPr>
                    </a:p>
                  </p:txBody>
                </p:sp>
                <p:sp>
                  <p:nvSpPr>
                    <p:cNvPr id="15" name="文本框 14">
                      <a:extLst>
                        <a:ext uri="{FF2B5EF4-FFF2-40B4-BE49-F238E27FC236}">
                          <a16:creationId xmlns:a16="http://schemas.microsoft.com/office/drawing/2014/main" id="{EAD18823-9720-5163-11C2-4015E6B73549}"/>
                        </a:ext>
                      </a:extLst>
                    </p:cNvPr>
                    <p:cNvSpPr txBox="1">
                      <a:spLocks/>
                    </p:cNvSpPr>
                    <p:nvPr/>
                  </p:nvSpPr>
                  <p:spPr>
                    <a:xfrm>
                      <a:off x="-1631409" y="1685125"/>
                      <a:ext cx="4234857" cy="400110"/>
                    </a:xfrm>
                    <a:prstGeom prst="rect">
                      <a:avLst/>
                    </a:prstGeom>
                    <a:noFill/>
                    <a:effectLst/>
                  </p:spPr>
                  <p:txBody>
                    <a:bodyPr wrap="square" anchor="b">
                      <a:normAutofit/>
                    </a:bodyPr>
                    <a:lstStyle>
                      <a:lvl1pPr lvl="0">
                        <a:defRPr sz="2000" b="1" i="0">
                          <a:gradFill>
                            <a:gsLst>
                              <a:gs pos="0">
                                <a:schemeClr val="accent2">
                                  <a:lumMod val="60000"/>
                                  <a:lumOff val="40000"/>
                                </a:schemeClr>
                              </a:gs>
                              <a:gs pos="60000">
                                <a:schemeClr val="accent2"/>
                              </a:gs>
                            </a:gsLst>
                            <a:lin ang="2700000" scaled="0"/>
                          </a:gradFill>
                          <a:effectLst>
                            <a:outerShdw blurRad="76200" dist="50800" dir="5400000" algn="ctr" rotWithShape="0">
                              <a:schemeClr val="accent2">
                                <a:alpha val="20000"/>
                              </a:schemeClr>
                            </a:outerShdw>
                          </a:effectLst>
                        </a:defRPr>
                      </a:lvl1pPr>
                    </a:lstStyle>
                    <a:p>
                      <a:pPr>
                        <a:lnSpc>
                          <a:spcPct val="100000"/>
                        </a:lnSpc>
                      </a:pPr>
                      <a:r>
                        <a:rPr lang="zh-CN" altLang="zh-CN" sz="1800" b="1">
                          <a:solidFill>
                            <a:schemeClr val="tx1"/>
                          </a:solidFill>
                          <a:effectLst/>
                          <a:latin typeface="Segoe UI"/>
                          <a:ea typeface="等线"/>
                        </a:rPr>
                        <a:t>中国特色社会主义理论体系：</a:t>
                      </a:r>
                      <a:endParaRPr lang="en-US" altLang="zh-CN" sz="1800">
                        <a:solidFill>
                          <a:schemeClr val="tx1"/>
                        </a:solidFill>
                        <a:effectLst/>
                      </a:endParaRPr>
                    </a:p>
                  </p:txBody>
                </p:sp>
              </p:grpSp>
              <p:sp>
                <p:nvSpPr>
                  <p:cNvPr id="13" name="文本框 12">
                    <a:extLst>
                      <a:ext uri="{FF2B5EF4-FFF2-40B4-BE49-F238E27FC236}">
                        <a16:creationId xmlns:a16="http://schemas.microsoft.com/office/drawing/2014/main" id="{815306D1-A96E-5A44-539F-C534B0EE3450}"/>
                      </a:ext>
                    </a:extLst>
                  </p:cNvPr>
                  <p:cNvSpPr txBox="1"/>
                  <p:nvPr/>
                </p:nvSpPr>
                <p:spPr>
                  <a:xfrm>
                    <a:off x="1017228" y="2572206"/>
                    <a:ext cx="540000" cy="540000"/>
                  </a:xfrm>
                  <a:prstGeom prst="roundRect">
                    <a:avLst>
                      <a:gd name="adj" fmla="val 50000"/>
                    </a:avLst>
                  </a:prstGeom>
                  <a:gradFill>
                    <a:gsLst>
                      <a:gs pos="0">
                        <a:schemeClr val="accent2">
                          <a:lumMod val="60000"/>
                          <a:lumOff val="40000"/>
                        </a:schemeClr>
                      </a:gs>
                      <a:gs pos="60000">
                        <a:schemeClr val="accent2"/>
                      </a:gs>
                    </a:gsLst>
                    <a:lin ang="2700000" scaled="0"/>
                  </a:gradFill>
                  <a:ln>
                    <a:noFill/>
                  </a:ln>
                  <a:effectLst>
                    <a:outerShdw blurRad="76200" dist="50800" dir="5400000" algn="ctr" rotWithShape="0">
                      <a:schemeClr val="accent2">
                        <a:alpha val="20000"/>
                      </a:schemeClr>
                    </a:outerShdw>
                  </a:effectLst>
                </p:spPr>
                <p:txBody>
                  <a:bodyPr rot="0" vert="horz" wrap="none" lIns="91440" tIns="45720" rIns="91440" bIns="45720" numCol="1" spcCol="0" anchor="ctr" anchorCtr="0"/>
                  <a:lstStyle>
                    <a:lvl1pPr lvl="0" algn="ctr" defTabSz="913765">
                      <a:defRPr sz="1400" b="1">
                        <a:solidFill>
                          <a:srgbClr val="FFFFFF"/>
                        </a:solidFill>
                      </a:defRPr>
                    </a:lvl1pPr>
                    <a:lvl2pPr lvl="1">
                      <a:defRPr>
                        <a:solidFill>
                          <a:schemeClr val="lt1"/>
                        </a:solidFill>
                      </a:defRPr>
                    </a:lvl2pPr>
                    <a:lvl3pPr lvl="2">
                      <a:defRPr>
                        <a:solidFill>
                          <a:schemeClr val="lt1"/>
                        </a:solidFill>
                      </a:defRPr>
                    </a:lvl3pPr>
                    <a:lvl4pPr lvl="3">
                      <a:defRPr>
                        <a:solidFill>
                          <a:schemeClr val="lt1"/>
                        </a:solidFill>
                      </a:defRPr>
                    </a:lvl4pPr>
                    <a:lvl5pPr lvl="4">
                      <a:defRPr>
                        <a:solidFill>
                          <a:schemeClr val="lt1"/>
                        </a:solidFill>
                      </a:defRPr>
                    </a:lvl5pPr>
                    <a:lvl6pPr lvl="5">
                      <a:defRPr>
                        <a:solidFill>
                          <a:schemeClr val="lt1"/>
                        </a:solidFill>
                      </a:defRPr>
                    </a:lvl6pPr>
                    <a:lvl7pPr lvl="6">
                      <a:defRPr>
                        <a:solidFill>
                          <a:schemeClr val="lt1"/>
                        </a:solidFill>
                      </a:defRPr>
                    </a:lvl7pPr>
                    <a:lvl8pPr lvl="7">
                      <a:defRPr>
                        <a:solidFill>
                          <a:schemeClr val="lt1"/>
                        </a:solidFill>
                      </a:defRPr>
                    </a:lvl8pPr>
                    <a:lvl9pPr lvl="8">
                      <a:defRPr>
                        <a:solidFill>
                          <a:schemeClr val="lt1"/>
                        </a:solidFill>
                      </a:defRPr>
                    </a:lvl9pPr>
                  </a:lstStyle>
                  <a:p>
                    <a:r>
                      <a:rPr lang="en-US" altLang="zh-CN" sz="1600">
                        <a:solidFill>
                          <a:schemeClr val="tx1"/>
                        </a:solidFill>
                      </a:rPr>
                      <a:t>02</a:t>
                    </a:r>
                    <a:endParaRPr lang="zh-CN" altLang="en-US" sz="1600">
                      <a:solidFill>
                        <a:schemeClr val="tx1"/>
                      </a:solidFill>
                    </a:endParaRPr>
                  </a:p>
                </p:txBody>
              </p:sp>
            </p:grpSp>
          </p:grpSp>
        </p:gr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a:extLst>
              <a:ext uri="{FF2B5EF4-FFF2-40B4-BE49-F238E27FC236}">
                <a16:creationId xmlns:a16="http://schemas.microsoft.com/office/drawing/2014/main" id="{64BF4482-DCC3-8FA1-BBCE-6023EFB0B083}"/>
              </a:ext>
            </a:extLst>
          </p:cNvPr>
          <p:cNvSpPr>
            <a:spLocks noGrp="1"/>
          </p:cNvSpPr>
          <p:nvPr>
            <p:ph type="title"/>
          </p:nvPr>
        </p:nvSpPr>
        <p:spPr>
          <a:prstGeom prst="rect">
            <a:avLst/>
          </a:prstGeom>
        </p:spPr>
        <p:txBody>
          <a:bodyPr/>
          <a:lstStyle/>
          <a:p>
            <a:r>
              <a:rPr lang="zh-CN" altLang="en-US"/>
              <a:t>中国特色社会主义法制的重要意义</a:t>
            </a:r>
          </a:p>
        </p:txBody>
      </p:sp>
      <p:sp>
        <p:nvSpPr>
          <p:cNvPr id="26" name="文本框 25">
            <a:extLst>
              <a:ext uri="{FF2B5EF4-FFF2-40B4-BE49-F238E27FC236}">
                <a16:creationId xmlns:a16="http://schemas.microsoft.com/office/drawing/2014/main" id="{5A2FEBC1-135B-9B34-1F2C-A3D5BC5E1D97}"/>
              </a:ext>
            </a:extLst>
          </p:cNvPr>
          <p:cNvSpPr txBox="1"/>
          <p:nvPr/>
        </p:nvSpPr>
        <p:spPr>
          <a:xfrm>
            <a:off x="408373" y="1028700"/>
            <a:ext cx="11585359" cy="5355312"/>
          </a:xfrm>
          <a:prstGeom prst="rect">
            <a:avLst/>
          </a:prstGeom>
          <a:noFill/>
        </p:spPr>
        <p:txBody>
          <a:bodyPr wrap="square">
            <a:spAutoFit/>
          </a:bodyPr>
          <a:lstStyle/>
          <a:p>
            <a:r>
              <a:rPr lang="en-US" altLang="zh-CN">
                <a:solidFill>
                  <a:schemeClr val="accent4"/>
                </a:solidFill>
              </a:rPr>
              <a:t>1.</a:t>
            </a:r>
            <a:r>
              <a:rPr lang="zh-CN" altLang="en-US">
                <a:solidFill>
                  <a:schemeClr val="accent4"/>
                </a:solidFill>
              </a:rPr>
              <a:t>维护社会稳定： </a:t>
            </a:r>
            <a:r>
              <a:rPr lang="zh-CN" altLang="en-US"/>
              <a:t>法治是社会稳定的基石。在中国特色社会主义中，法治体系的建设有助于确保社会秩序，维护社会的稳定。通过法律的明确规范和有效执行，可以预防和解决社会矛盾，提高社会治理的效能，为可持续的经济和社会发展提供坚实的基础。</a:t>
            </a:r>
          </a:p>
          <a:p>
            <a:endParaRPr lang="en-US" altLang="zh-CN"/>
          </a:p>
          <a:p>
            <a:r>
              <a:rPr lang="en-US" altLang="zh-CN">
                <a:solidFill>
                  <a:schemeClr val="accent4"/>
                </a:solidFill>
              </a:rPr>
              <a:t>2.</a:t>
            </a:r>
            <a:r>
              <a:rPr lang="zh-CN" altLang="en-US">
                <a:solidFill>
                  <a:schemeClr val="accent4"/>
                </a:solidFill>
              </a:rPr>
              <a:t>促进公平正义： </a:t>
            </a:r>
            <a:r>
              <a:rPr lang="zh-CN" altLang="en-US"/>
              <a:t>法治是实现社会公平和正义的有力手段。通过法律的制定和执行，可以保护个体权利，维护公平竞争的市场秩序，防范和纠正不正当的财富分配，推动社会资源的合理分配，从而促进社会的公平和正义。</a:t>
            </a:r>
          </a:p>
          <a:p>
            <a:endParaRPr lang="en-US" altLang="zh-CN"/>
          </a:p>
          <a:p>
            <a:r>
              <a:rPr lang="en-US" altLang="zh-CN">
                <a:solidFill>
                  <a:schemeClr val="accent4"/>
                </a:solidFill>
              </a:rPr>
              <a:t>3.</a:t>
            </a:r>
            <a:r>
              <a:rPr lang="zh-CN" altLang="en-US">
                <a:solidFill>
                  <a:schemeClr val="accent4"/>
                </a:solidFill>
              </a:rPr>
              <a:t>构建法治国家： </a:t>
            </a:r>
            <a:r>
              <a:rPr lang="zh-CN" altLang="en-US"/>
              <a:t>中国特色社会主义法治建设旨在构建一个以法治为基础的国家。法治国家意味着国家机关及其工作人员在行使权力时受到法律的制约和规范，所有公民都在法律面前平等，法律是处理社会事务和保障权益的基本依据。这有助于提高政府的公信力，增强人民对国家治理体系的信任。</a:t>
            </a:r>
          </a:p>
          <a:p>
            <a:endParaRPr lang="en-US" altLang="zh-CN"/>
          </a:p>
          <a:p>
            <a:r>
              <a:rPr lang="en-US" altLang="zh-CN">
                <a:solidFill>
                  <a:schemeClr val="accent4"/>
                </a:solidFill>
              </a:rPr>
              <a:t>4.</a:t>
            </a:r>
            <a:r>
              <a:rPr lang="zh-CN" altLang="en-US">
                <a:solidFill>
                  <a:schemeClr val="accent4"/>
                </a:solidFill>
              </a:rPr>
              <a:t>保障人权和自由： </a:t>
            </a:r>
            <a:r>
              <a:rPr lang="zh-CN" altLang="en-US"/>
              <a:t>法治是保障公民基本权利和自由的重要保障。通过法治体系的建设，可以确保公民的人权得到尊重和保护，规范政府的行为，防止滥用权力，为个体提供法律救济的途径，保障公民的合法权益。</a:t>
            </a:r>
          </a:p>
          <a:p>
            <a:endParaRPr lang="en-US" altLang="zh-CN"/>
          </a:p>
          <a:p>
            <a:r>
              <a:rPr lang="en-US" altLang="zh-CN">
                <a:solidFill>
                  <a:schemeClr val="accent4"/>
                </a:solidFill>
              </a:rPr>
              <a:t>5.</a:t>
            </a:r>
            <a:r>
              <a:rPr lang="zh-CN" altLang="en-US">
                <a:solidFill>
                  <a:schemeClr val="accent4"/>
                </a:solidFill>
              </a:rPr>
              <a:t>促进经济发展： </a:t>
            </a:r>
            <a:r>
              <a:rPr lang="zh-CN" altLang="en-US"/>
              <a:t>法治环境的健全有助于促进经济发展。有稳定的法律环境和明确的法规，能够提高企业和个人的法律意识，降低商业风险，鼓励投资和创新，从而推动经济的可持续增长。</a:t>
            </a:r>
          </a:p>
          <a:p>
            <a:endParaRPr lang="en-US" altLang="zh-CN"/>
          </a:p>
          <a:p>
            <a:r>
              <a:rPr lang="en-US" altLang="zh-CN">
                <a:solidFill>
                  <a:schemeClr val="accent4"/>
                </a:solidFill>
              </a:rPr>
              <a:t>6.</a:t>
            </a:r>
            <a:r>
              <a:rPr lang="zh-CN" altLang="en-US">
                <a:solidFill>
                  <a:schemeClr val="accent4"/>
                </a:solidFill>
              </a:rPr>
              <a:t>国际形象提升： </a:t>
            </a:r>
            <a:r>
              <a:rPr lang="zh-CN" altLang="en-US"/>
              <a:t>具有健全法治制度的国家更容易在国际社会中获得尊重。通过建设社会主义法治体系，中国不仅在国内赢得了公民和企业的信任，也在国际上树立了法治的良好形象，加强了国际交往和合作的基础。</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Grp="1"/>
          </p:cNvSpPr>
          <p:nvPr>
            <p:ph type="title" hasCustomPrompt="1"/>
            <p:custDataLst>
              <p:tags r:id="rId1"/>
            </p:custDataLst>
          </p:nvPr>
        </p:nvSpPr>
        <p:spPr>
          <a:prstGeom prst="rect">
            <a:avLst/>
          </a:prstGeom>
        </p:spPr>
        <p:txBody>
          <a:bodyPr>
            <a:normAutofit/>
          </a:bodyPr>
          <a:lstStyle/>
          <a:p>
            <a:pPr lvl="0"/>
            <a:r>
              <a:rPr lang="zh-CN" altLang="zh-CN" sz="3200">
                <a:effectLst/>
                <a:ea typeface="等线"/>
              </a:rPr>
              <a:t>中国特色社会主义法治的特点</a:t>
            </a:r>
            <a:r>
              <a:rPr lang="en-US" altLang="zh-CN" sz="3200">
                <a:effectLst/>
                <a:ea typeface="等线"/>
              </a:rPr>
              <a:t>:</a:t>
            </a:r>
            <a:endParaRPr lang="en-US" altLang="en-US" sz="3200"/>
          </a:p>
        </p:txBody>
      </p:sp>
      <p:sp>
        <p:nvSpPr>
          <p:cNvPr id="9" name="文本框 8">
            <a:extLst>
              <a:ext uri="{FF2B5EF4-FFF2-40B4-BE49-F238E27FC236}">
                <a16:creationId xmlns:a16="http://schemas.microsoft.com/office/drawing/2014/main" id="{66F40B84-6D7D-04BF-859C-E6905EFB8E6B}"/>
              </a:ext>
            </a:extLst>
          </p:cNvPr>
          <p:cNvSpPr txBox="1"/>
          <p:nvPr/>
        </p:nvSpPr>
        <p:spPr>
          <a:xfrm>
            <a:off x="660400" y="1118586"/>
            <a:ext cx="10858499" cy="5632311"/>
          </a:xfrm>
          <a:prstGeom prst="rect">
            <a:avLst/>
          </a:prstGeom>
          <a:noFill/>
        </p:spPr>
        <p:txBody>
          <a:bodyPr wrap="square">
            <a:spAutoFit/>
          </a:bodyPr>
          <a:lstStyle/>
          <a:p>
            <a:r>
              <a:rPr lang="en-US" altLang="zh-CN">
                <a:solidFill>
                  <a:schemeClr val="accent4"/>
                </a:solidFill>
              </a:rPr>
              <a:t>1.</a:t>
            </a:r>
            <a:r>
              <a:rPr lang="zh-CN" altLang="en-US">
                <a:solidFill>
                  <a:schemeClr val="accent4"/>
                </a:solidFill>
              </a:rPr>
              <a:t>中国共产党的领导： </a:t>
            </a:r>
            <a:r>
              <a:rPr lang="zh-CN" altLang="en-US"/>
              <a:t>中国特色社会主义法治突出了中国共产党在法治建设中的领导地位。党的领导是中国法治制度的基础，法治建设与社会主义核心价值体系相一致，并在党的领导下确保法治的正确方向。</a:t>
            </a:r>
          </a:p>
          <a:p>
            <a:endParaRPr lang="en-US" altLang="zh-CN"/>
          </a:p>
          <a:p>
            <a:r>
              <a:rPr lang="en-US" altLang="zh-CN">
                <a:solidFill>
                  <a:schemeClr val="accent4"/>
                </a:solidFill>
              </a:rPr>
              <a:t>2.</a:t>
            </a:r>
            <a:r>
              <a:rPr lang="zh-CN" altLang="en-US">
                <a:solidFill>
                  <a:schemeClr val="accent4"/>
                </a:solidFill>
              </a:rPr>
              <a:t>中国特色社会主义法律体系</a:t>
            </a:r>
            <a:r>
              <a:rPr lang="zh-CN" altLang="en-US"/>
              <a:t>： 法律体系以</a:t>
            </a:r>
            <a:r>
              <a:rPr lang="en-US" altLang="zh-CN"/>
              <a:t>《</a:t>
            </a:r>
            <a:r>
              <a:rPr lang="zh-CN" altLang="en-US"/>
              <a:t>中华人民共和国宪法</a:t>
            </a:r>
            <a:r>
              <a:rPr lang="en-US" altLang="zh-CN"/>
              <a:t>》</a:t>
            </a:r>
            <a:r>
              <a:rPr lang="zh-CN" altLang="en-US"/>
              <a:t>为核心，同时包括大量的法律法规，如刑法、民法、行政法等。这些法律在不断发展和完善中形成了相对完备的法律框架，以适应中国社会的发展需求。</a:t>
            </a:r>
          </a:p>
          <a:p>
            <a:endParaRPr lang="en-US" altLang="zh-CN"/>
          </a:p>
          <a:p>
            <a:r>
              <a:rPr lang="en-US" altLang="zh-CN">
                <a:solidFill>
                  <a:schemeClr val="accent4"/>
                </a:solidFill>
              </a:rPr>
              <a:t>3.</a:t>
            </a:r>
            <a:r>
              <a:rPr lang="zh-CN" altLang="en-US">
                <a:solidFill>
                  <a:schemeClr val="accent4"/>
                </a:solidFill>
              </a:rPr>
              <a:t>依法治国和依法执政： </a:t>
            </a:r>
            <a:r>
              <a:rPr lang="zh-CN" altLang="en-US"/>
              <a:t>中国特色社会主义法治强调“依法治国”和“依法执政”，</a:t>
            </a:r>
          </a:p>
          <a:p>
            <a:endParaRPr lang="en-US" altLang="zh-CN"/>
          </a:p>
          <a:p>
            <a:r>
              <a:rPr lang="en-US" altLang="zh-CN">
                <a:solidFill>
                  <a:schemeClr val="accent4"/>
                </a:solidFill>
              </a:rPr>
              <a:t>4.</a:t>
            </a:r>
            <a:r>
              <a:rPr lang="zh-CN" altLang="en-US">
                <a:solidFill>
                  <a:schemeClr val="accent4"/>
                </a:solidFill>
              </a:rPr>
              <a:t>全面依法治国： </a:t>
            </a:r>
            <a:r>
              <a:rPr lang="zh-CN" altLang="en-US"/>
              <a:t>中国特色社会主义法治强调全面依法治国，即在经济、政治、文化、社会等各个领域都要推动法治建设。这意味着法治不仅仅是司法领域的问题，而是贯穿于整个社会管理和发展的全过程。</a:t>
            </a:r>
          </a:p>
          <a:p>
            <a:endParaRPr lang="en-US" altLang="zh-CN"/>
          </a:p>
          <a:p>
            <a:r>
              <a:rPr lang="en-US" altLang="zh-CN">
                <a:solidFill>
                  <a:schemeClr val="accent4"/>
                </a:solidFill>
              </a:rPr>
              <a:t>5.</a:t>
            </a:r>
            <a:r>
              <a:rPr lang="zh-CN" altLang="en-US">
                <a:solidFill>
                  <a:schemeClr val="accent4"/>
                </a:solidFill>
              </a:rPr>
              <a:t>中国特色社会主义法治理念： </a:t>
            </a:r>
            <a:r>
              <a:rPr lang="zh-CN" altLang="en-US"/>
              <a:t>法治理念体现了中国特色社会主义法治的思想指导，包括强调法治与德治相结合、注重法治和情感因素的有机结合、强调法治和信仰价值观的融合等。</a:t>
            </a:r>
          </a:p>
          <a:p>
            <a:endParaRPr lang="en-US" altLang="zh-CN">
              <a:solidFill>
                <a:schemeClr val="accent4"/>
              </a:solidFill>
            </a:endParaRPr>
          </a:p>
          <a:p>
            <a:r>
              <a:rPr lang="en-US" altLang="zh-CN">
                <a:solidFill>
                  <a:schemeClr val="accent4"/>
                </a:solidFill>
              </a:rPr>
              <a:t>6.</a:t>
            </a:r>
            <a:r>
              <a:rPr lang="zh-CN" altLang="en-US">
                <a:solidFill>
                  <a:schemeClr val="accent4"/>
                </a:solidFill>
              </a:rPr>
              <a:t>法治与社会主义核心价值观的结合： </a:t>
            </a:r>
            <a:r>
              <a:rPr lang="zh-CN" altLang="en-US"/>
              <a:t>中国特色社会主义法治将法治与社会主义核心价值观结合起来，强调法治建设要服务于社会主义核心价值观，推动社会主义核心价值观在全社会的贯彻落实。</a:t>
            </a:r>
          </a:p>
          <a:p>
            <a:endParaRPr lang="en-US" altLang="zh-CN"/>
          </a:p>
          <a:p>
            <a:r>
              <a:rPr lang="en-US" altLang="zh-CN">
                <a:solidFill>
                  <a:schemeClr val="accent4"/>
                </a:solidFill>
              </a:rPr>
              <a:t>7.</a:t>
            </a:r>
            <a:r>
              <a:rPr lang="zh-CN" altLang="en-US">
                <a:solidFill>
                  <a:schemeClr val="accent4"/>
                </a:solidFill>
              </a:rPr>
              <a:t>坚持中国特色社会主义法治道路： </a:t>
            </a:r>
            <a:r>
              <a:rPr lang="zh-CN" altLang="en-US"/>
              <a:t>中国在法治建设中坚持中国特色社会主义法治道路，强调法治建设要适应中国国情，吸收借鉴国际先进经验，同时注重结合本国的历史文化和实际情况。</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标题 1"/>
          <p:cNvSpPr txBox="1">
            <a:spLocks noGrp="1"/>
          </p:cNvSpPr>
          <p:nvPr/>
        </p:nvSpPr>
        <p:spPr>
          <a:xfrm>
            <a:off x="2334926" y="1089025"/>
            <a:ext cx="8832787" cy="1981886"/>
          </a:xfrm>
          <a:prstGeom prst="rect">
            <a:avLst/>
          </a:prstGeom>
        </p:spPr>
        <p:txBody>
          <a:bodyPr vert="horz" wrap="square" lIns="91440" tIns="45720" rIns="91440" bIns="45720" anchor="b" anchorCtr="0"/>
          <a:lstStyle>
            <a:lvl1pPr lvl="0" algn="r" defTabSz="914400">
              <a:lnSpc>
                <a:spcPct val="100000"/>
              </a:lnSpc>
              <a:spcBef>
                <a:spcPct val="0"/>
              </a:spcBef>
              <a:buNone/>
              <a:defRPr sz="6600" b="1" kern="1200">
                <a:ln>
                  <a:noFill/>
                </a:ln>
                <a:solidFill>
                  <a:schemeClr val="tx1"/>
                </a:solidFill>
                <a:latin typeface="Arial"/>
                <a:ea typeface="微软雅黑"/>
              </a:defRPr>
            </a:lvl1pPr>
          </a:lstStyle>
          <a:p>
            <a:pPr lvl="0"/>
            <a:r>
              <a:rPr lang="zh-CN" altLang="zh-CN" b="1" i="1">
                <a:latin typeface="等线"/>
                <a:ea typeface="等线"/>
              </a:rPr>
              <a:t>法制体系建设</a:t>
            </a:r>
          </a:p>
        </p:txBody>
      </p:sp>
      <p:sp>
        <p:nvSpPr>
          <p:cNvPr id="4" name="文本框 3"/>
          <p:cNvSpPr txBox="1"/>
          <p:nvPr/>
        </p:nvSpPr>
        <p:spPr>
          <a:xfrm>
            <a:off x="6751320" y="3477956"/>
            <a:ext cx="6096000" cy="1308100"/>
          </a:xfrm>
          <a:prstGeom prst="rect">
            <a:avLst/>
          </a:prstGeom>
        </p:spPr>
        <p:txBody>
          <a:bodyPr>
            <a:spAutoFit/>
          </a:bodyPr>
          <a:lstStyle/>
          <a:p>
            <a:pPr marL="0" lvl="0" indent="0" algn="l" defTabSz="914400">
              <a:lnSpc>
                <a:spcPct val="100000"/>
              </a:lnSpc>
            </a:pPr>
            <a:r>
              <a:rPr lang="zh-CN" altLang="zh-CN" sz="2000" spc="0"/>
              <a:t>宪法和法律体系的构建与完善</a:t>
            </a:r>
            <a:endParaRPr/>
          </a:p>
          <a:p>
            <a:pPr marL="0" lvl="0" indent="0" algn="l" defTabSz="914400">
              <a:lnSpc>
                <a:spcPct val="100000"/>
              </a:lnSpc>
            </a:pPr>
            <a:r>
              <a:rPr lang="zh-CN" altLang="zh-CN" sz="2000" spc="0"/>
              <a:t>司法体制改革与司法独立保障</a:t>
            </a:r>
            <a:endParaRPr/>
          </a:p>
          <a:p>
            <a:pPr marL="0" lvl="0" indent="0" algn="l" defTabSz="914400">
              <a:lnSpc>
                <a:spcPct val="100000"/>
              </a:lnSpc>
            </a:pPr>
            <a:r>
              <a:rPr lang="zh-CN" altLang="zh-CN" sz="2000" spc="0"/>
              <a:t>法治文化、监督建设</a:t>
            </a:r>
            <a:endParaRPr/>
          </a:p>
          <a:p>
            <a:pPr marL="0" lvl="0" indent="0" algn="l" defTabSz="914400">
              <a:lnSpc>
                <a:spcPct val="100000"/>
              </a:lnSpc>
            </a:pPr>
            <a:r>
              <a:rPr lang="zh-CN" altLang="zh-CN" sz="2000" spc="0"/>
              <a:t>基层法治建设与社会参与、国际合作</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标题 8"/>
          <p:cNvSpPr>
            <a:spLocks noGrp="1"/>
          </p:cNvSpPr>
          <p:nvPr/>
        </p:nvSpPr>
        <p:spPr>
          <a:xfrm>
            <a:off x="347265" y="381064"/>
            <a:ext cx="10858500" cy="1028700"/>
          </a:xfrm>
          <a:prstGeom prst="rect">
            <a:avLst/>
          </a:prstGeom>
        </p:spPr>
        <p:txBody>
          <a:bodyPr vert="horz" lIns="91440" tIns="45720" rIns="91440" bIns="45720" anchor="b">
            <a:normAutofit/>
          </a:bodyPr>
          <a:lstStyle>
            <a:lvl1pPr lvl="0" algn="l" defTabSz="914400">
              <a:lnSpc>
                <a:spcPct val="100000"/>
              </a:lnSpc>
              <a:spcBef>
                <a:spcPct val="0"/>
              </a:spcBef>
              <a:buNone/>
              <a:defRPr sz="2800" b="1" kern="1200">
                <a:solidFill>
                  <a:schemeClr val="tx1"/>
                </a:solidFill>
                <a:latin typeface="Arial"/>
                <a:ea typeface="微软雅黑"/>
              </a:defRPr>
            </a:lvl1pPr>
          </a:lstStyle>
          <a:p>
            <a:pPr marL="0" lvl="0" indent="0" algn="l" defTabSz="914400">
              <a:lnSpc>
                <a:spcPct val="100000"/>
              </a:lnSpc>
            </a:pPr>
            <a:r>
              <a:rPr lang="zh-CN" altLang="zh-CN" sz="6000" b="1" i="0" strike="noStrike" spc="0">
                <a:solidFill>
                  <a:srgbClr val="FFFFFF"/>
                </a:solidFill>
                <a:latin typeface="Arial"/>
                <a:ea typeface="微软雅黑"/>
              </a:rPr>
              <a:t>宪法和法律体系的构建与完善</a:t>
            </a:r>
            <a:endParaRPr/>
          </a:p>
        </p:txBody>
      </p:sp>
      <p:sp>
        <p:nvSpPr>
          <p:cNvPr id="4" name="文本框 3"/>
          <p:cNvSpPr txBox="1"/>
          <p:nvPr/>
        </p:nvSpPr>
        <p:spPr>
          <a:xfrm>
            <a:off x="1202876" y="1987243"/>
            <a:ext cx="9245600" cy="3930650"/>
          </a:xfrm>
          <a:prstGeom prst="rect">
            <a:avLst/>
          </a:prstGeom>
        </p:spPr>
        <p:txBody>
          <a:bodyPr>
            <a:spAutoFit/>
          </a:bodyPr>
          <a:lstStyle/>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建立了完善的法律体系，包括制定宪法、民法典、刑法、行政法、民事诉讼法、刑事诉讼法等核心法律法规，以及配套的行政法规和地方法规等。这些法律为社会提供了明确的法律框架和规范，为法治提供了基础。</a:t>
            </a:r>
          </a:p>
          <a:p>
            <a:pPr marL="0" lvl="0" indent="0" algn="l" defTabSz="914400">
              <a:lnSpc>
                <a:spcPct val="100000"/>
              </a:lnSpc>
            </a:pPr>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宪法是国家的根本法律，法律体系是宪法的具体实施和补充。在法治体系建设中，需要不断完善宪法，使其与时俱进，反映社会变革和发展需要。同时，还需要建立完善的法律体系，包括行政法、刑法、民法等各个领域的法律，以保障公民的权益和社会的稳定。</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666814" y="270451"/>
            <a:ext cx="10858500" cy="1028700"/>
          </a:xfrm>
          <a:prstGeom prst="rect">
            <a:avLst/>
          </a:prstGeom>
        </p:spPr>
        <p:txBody>
          <a:bodyPr/>
          <a:lstStyle/>
          <a:p>
            <a:pPr lvl="0"/>
            <a:r>
              <a:rPr lang="zh-CN" altLang="zh-CN" sz="6000" b="1" i="0" strike="noStrike" spc="0">
                <a:solidFill>
                  <a:srgbClr val="FFFFFF"/>
                </a:solidFill>
                <a:latin typeface="Arial"/>
                <a:ea typeface="微软雅黑"/>
              </a:rPr>
              <a:t>司法体制改革与司法独立保障</a:t>
            </a:r>
            <a:endParaRPr/>
          </a:p>
        </p:txBody>
      </p:sp>
      <p:sp>
        <p:nvSpPr>
          <p:cNvPr id="11" name="文本框 10"/>
          <p:cNvSpPr txBox="1"/>
          <p:nvPr/>
        </p:nvSpPr>
        <p:spPr>
          <a:xfrm>
            <a:off x="1287206" y="2032678"/>
            <a:ext cx="9036050" cy="3930650"/>
          </a:xfrm>
          <a:prstGeom prst="rect">
            <a:avLst/>
          </a:prstGeom>
        </p:spPr>
        <p:txBody>
          <a:bodyPr>
            <a:spAutoFit/>
          </a:bodyPr>
          <a:lstStyle/>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加强了司法体系建设，包括法院、检察院等司法机构的建设和改革。提高司法公正性、透明度和效率，加强司法人员的培训与素质提升，以确保司法机构更好地履行其职能。</a:t>
            </a:r>
          </a:p>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司法体制改革是指对司法机构和司法程序的改革和完善。目的是建立一个公正、高效、廉洁的司法体系。同时，为了保障司法的独立性，需要建立相应的制度和机制，确保司法机关能够独立行使审判权，不受其他权力干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prstGeom prst="rect">
            <a:avLst/>
          </a:prstGeom>
        </p:spPr>
        <p:txBody>
          <a:bodyPr/>
          <a:lstStyle/>
          <a:p>
            <a:pPr lvl="0"/>
            <a:r>
              <a:rPr lang="zh-CN" altLang="zh-CN" sz="6000" b="1" i="0" strike="noStrike" spc="0">
                <a:solidFill>
                  <a:srgbClr val="FFFFFF"/>
                </a:solidFill>
                <a:latin typeface="Arial"/>
                <a:ea typeface="微软雅黑"/>
              </a:rPr>
              <a:t>法治文化、监督建设</a:t>
            </a:r>
            <a:endParaRPr/>
          </a:p>
        </p:txBody>
      </p:sp>
      <p:sp>
        <p:nvSpPr>
          <p:cNvPr id="11" name="文本框 10"/>
          <p:cNvSpPr txBox="1"/>
          <p:nvPr/>
        </p:nvSpPr>
        <p:spPr>
          <a:xfrm>
            <a:off x="1093839" y="1558272"/>
            <a:ext cx="9772650" cy="4356100"/>
          </a:xfrm>
          <a:prstGeom prst="rect">
            <a:avLst/>
          </a:prstGeom>
        </p:spPr>
        <p:txBody>
          <a:bodyPr>
            <a:spAutoFit/>
          </a:bodyPr>
          <a:lstStyle/>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倡导法治理念，推动法治文化建设。通过宣传教育、媒体宣传、社会活动等手段，增强全民的法治意识和法治观念，提升公民的法治素养，使法治理念深入人心。</a:t>
            </a:r>
          </a:p>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加强对权力运行的监督，建立健全的监督机制。包括加强对公职人员的监督、推动政务公开、加强舆论监督等多种方式，以防止权力滥用、打击腐败现象，维护社会公平正义。</a:t>
            </a:r>
          </a:p>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强调依法治国，将法治原则贯穿于国家治理的各个领域。从政府管理到社会管理、经济管理，都要遵循法治原则，推动法治观念在社会各方面的贯彻。</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666814" y="860323"/>
            <a:ext cx="10858500" cy="1028700"/>
          </a:xfrm>
          <a:prstGeom prst="rect">
            <a:avLst/>
          </a:prstGeom>
        </p:spPr>
        <p:txBody>
          <a:bodyPr>
            <a:normAutofit fontScale="90000"/>
          </a:bodyPr>
          <a:lstStyle/>
          <a:p>
            <a:pPr lvl="0"/>
            <a:r>
              <a:rPr lang="zh-CN" altLang="zh-CN" sz="6000" b="1" i="0" strike="noStrike" spc="0">
                <a:solidFill>
                  <a:srgbClr val="FFFFFF"/>
                </a:solidFill>
                <a:latin typeface="Arial"/>
                <a:ea typeface="微软雅黑"/>
              </a:rPr>
              <a:t>基层法治建设与社会参与、国际合作</a:t>
            </a:r>
            <a:endParaRPr/>
          </a:p>
        </p:txBody>
      </p:sp>
      <p:sp>
        <p:nvSpPr>
          <p:cNvPr id="11" name="文本框 10"/>
          <p:cNvSpPr txBox="1"/>
          <p:nvPr/>
        </p:nvSpPr>
        <p:spPr>
          <a:xfrm>
            <a:off x="1376516" y="1091381"/>
            <a:ext cx="6002798" cy="5638800"/>
          </a:xfrm>
          <a:prstGeom prst="rect">
            <a:avLst/>
          </a:prstGeom>
        </p:spPr>
        <p:txBody>
          <a:bodyPr>
            <a:spAutoFit/>
          </a:bodyPr>
          <a:lstStyle/>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积极参与国际法律合作，吸收借鉴国际上先进的法治经验和理念。通过与其他国家、国际组织的交流合作，促进中国法治体系的不断完善和发展。</a:t>
            </a:r>
          </a:p>
          <a:p>
            <a:pPr lvl="0"/>
            <a:r>
              <a:rPr lang="en-US" altLang="en-US" sz="2800" b="0" i="0" strike="noStrike" spc="0">
                <a:solidFill>
                  <a:srgbClr val="FFFFFF"/>
                </a:solidFill>
                <a:latin typeface="Arial"/>
                <a:ea typeface="微软雅黑"/>
              </a:rPr>
              <a:t>        </a:t>
            </a:r>
            <a:r>
              <a:rPr lang="zh-CN" altLang="zh-CN" sz="2800" b="0" i="0" strike="noStrike" spc="0">
                <a:solidFill>
                  <a:srgbClr val="FFFFFF"/>
                </a:solidFill>
                <a:latin typeface="Arial"/>
                <a:ea typeface="微软雅黑"/>
              </a:rPr>
              <a:t>基层法治建设是指在社区、乡村等基层单位，建立健全的法治机制和制度。通过加强基层法治建设，可以提高基层治理的能力和水平，增强社会的自治能力和公共服务能力。同时，要鼓励社会各界积极参与法治建设，加强公民的法律意识和法律教育，推动法治理念的深入人心。</a:t>
            </a:r>
          </a:p>
        </p:txBody>
      </p:sp>
      <p:sp>
        <p:nvSpPr>
          <p:cNvPr id="12" name="椭圆 27"/>
          <p:cNvSpPr/>
          <p:nvPr/>
        </p:nvSpPr>
        <p:spPr>
          <a:xfrm>
            <a:off x="7619388" y="1225263"/>
            <a:ext cx="4300426" cy="4300426"/>
          </a:xfrm>
          <a:prstGeom prst="ellipse">
            <a:avLst/>
          </a:prstGeom>
          <a:blipFill rotWithShape="1">
            <a:blip r:embed="rId2">
              <a:duotone>
                <a:schemeClr val="accent1">
                  <a:shade val="45000"/>
                  <a:satMod val="135000"/>
                </a:schemeClr>
                <a:srgbClr val="FFFFFF"/>
              </a:duotone>
            </a:blip>
            <a:stretch>
              <a:fillRect l="-25074" r="-24926"/>
            </a:stretch>
          </a:blipFill>
          <a:ln>
            <a:noFill/>
          </a:ln>
          <a:effectLst/>
        </p:spPr>
        <p:txBody>
          <a:bodyPr rot="0" vert="horz" wrap="square" lIns="91440" tIns="45720" rIns="91440" bIns="45720" numCol="1" spcCol="0" anchor="ctr" anchorCtr="0"/>
          <a:lstStyle/>
          <a:p>
            <a:pPr algn="ctr"/>
            <a:endParaRPr lang="zh-CN" altLang="en-US">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2C028A-7A42-BF89-9480-F0CA7E93D2C8}"/>
              </a:ext>
            </a:extLst>
          </p:cNvPr>
          <p:cNvSpPr>
            <a:spLocks noGrp="1"/>
          </p:cNvSpPr>
          <p:nvPr>
            <p:ph type="title"/>
          </p:nvPr>
        </p:nvSpPr>
        <p:spPr/>
        <p:txBody>
          <a:bodyPr>
            <a:normAutofit/>
          </a:bodyPr>
          <a:lstStyle/>
          <a:p>
            <a:r>
              <a:rPr lang="zh-CN" altLang="zh-CN" sz="3200" dirty="0">
                <a:solidFill>
                  <a:schemeClr val="tx1"/>
                </a:solidFill>
                <a:effectLst/>
                <a:ea typeface="等线" panose="02010600030101010101" pitchFamily="2" charset="-122"/>
                <a:cs typeface="Times New Roman" panose="02020603050405020304" pitchFamily="18" charset="0"/>
              </a:rPr>
              <a:t>法制观念的转变和法治文化的培育</a:t>
            </a:r>
            <a:endParaRPr lang="zh-CN" altLang="en-US" sz="3200" dirty="0">
              <a:solidFill>
                <a:schemeClr val="tx1"/>
              </a:solidFill>
            </a:endParaRPr>
          </a:p>
        </p:txBody>
      </p:sp>
      <p:sp>
        <p:nvSpPr>
          <p:cNvPr id="3" name="内容占位符 2">
            <a:extLst>
              <a:ext uri="{FF2B5EF4-FFF2-40B4-BE49-F238E27FC236}">
                <a16:creationId xmlns:a16="http://schemas.microsoft.com/office/drawing/2014/main" id="{3A960E59-0DC1-F8E4-49E4-4A5D899A4A09}"/>
              </a:ext>
            </a:extLst>
          </p:cNvPr>
          <p:cNvSpPr>
            <a:spLocks noGrp="1"/>
          </p:cNvSpPr>
          <p:nvPr>
            <p:ph idx="1"/>
          </p:nvPr>
        </p:nvSpPr>
        <p:spPr/>
        <p:txBody>
          <a:bodyPr/>
          <a:lstStyle/>
          <a:p>
            <a:pPr marL="0" indent="0">
              <a:buNone/>
            </a:pPr>
            <a:r>
              <a:rPr lang="en-US" altLang="zh-CN" sz="2400" b="1" dirty="0">
                <a:effectLst/>
                <a:latin typeface="Segoe UI" panose="020B0502040204020203" pitchFamily="34" charset="0"/>
                <a:ea typeface="宋体" panose="02010600030101010101" pitchFamily="2" charset="-122"/>
                <a:cs typeface="Segoe UI" panose="020B0502040204020203" pitchFamily="34" charset="0"/>
              </a:rPr>
              <a:t>1.</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教育与宣传：</a:t>
            </a:r>
            <a:r>
              <a:rPr lang="zh-CN" altLang="zh-CN" sz="2400" dirty="0">
                <a:effectLst/>
                <a:latin typeface="宋体" panose="02010600030101010101" pitchFamily="2" charset="-122"/>
                <a:ea typeface="Segoe UI" panose="020B0502040204020203" pitchFamily="34" charset="0"/>
                <a:cs typeface="宋体" panose="02010600030101010101" pitchFamily="2" charset="-122"/>
              </a:rPr>
              <a:t> </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通过教育系统，从小学到高等教育，加强法治观念的教育。培养学生的法治思维，使其在日常生活中树立依法办事的观念。同时，通过各种宣传手段，如媒体、公共广告等，向社会大众传递法治理念，提高公众对法治的认知。</a:t>
            </a:r>
            <a:endParaRPr lang="en-US" altLang="zh-CN" sz="2400" dirty="0">
              <a:effectLst/>
              <a:latin typeface="Segoe UI" panose="020B0502040204020203" pitchFamily="34" charset="0"/>
              <a:ea typeface="宋体" panose="02010600030101010101" pitchFamily="2" charset="-122"/>
              <a:cs typeface="Segoe UI" panose="020B0502040204020203" pitchFamily="34" charset="0"/>
            </a:endParaRPr>
          </a:p>
          <a:p>
            <a:pPr marL="0" indent="0">
              <a:buNone/>
            </a:pPr>
            <a:r>
              <a:rPr lang="en-US" altLang="zh-CN" sz="2400" dirty="0">
                <a:effectLst/>
                <a:latin typeface="宋体" panose="02010600030101010101" pitchFamily="2" charset="-122"/>
                <a:ea typeface="宋体" panose="02010600030101010101" pitchFamily="2" charset="-122"/>
                <a:cs typeface="宋体" panose="02010600030101010101" pitchFamily="2" charset="-122"/>
              </a:rPr>
              <a:t>2.</a:t>
            </a:r>
            <a:r>
              <a:rPr lang="zh-CN" altLang="en-US" sz="2400" b="1" dirty="0">
                <a:effectLst/>
                <a:latin typeface="宋体" panose="02010600030101010101" pitchFamily="2" charset="-122"/>
                <a:ea typeface="宋体" panose="02010600030101010101" pitchFamily="2" charset="-122"/>
                <a:cs typeface="宋体" panose="02010600030101010101" pitchFamily="2" charset="-122"/>
              </a:rPr>
              <a:t>法治宣传与普及</a:t>
            </a:r>
            <a:r>
              <a:rPr lang="zh-CN" altLang="en-US" sz="2400" dirty="0">
                <a:effectLst/>
                <a:latin typeface="宋体" panose="02010600030101010101" pitchFamily="2" charset="-122"/>
                <a:ea typeface="宋体" panose="02010600030101010101" pitchFamily="2" charset="-122"/>
                <a:cs typeface="宋体" panose="02010600030101010101" pitchFamily="2" charset="-122"/>
              </a:rPr>
              <a:t>： 定期组织法治宣传活动，向社会传递法治理念，普及法律知识。这可以通过各类研讨会、讲座、法治教育课程等方式进行，以提高人们对法治概念和原则的理解。</a:t>
            </a:r>
            <a:endParaRPr lang="en-US"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dirty="0">
                <a:latin typeface="宋体" panose="02010600030101010101" pitchFamily="2" charset="-122"/>
                <a:ea typeface="宋体" panose="02010600030101010101" pitchFamily="2" charset="-122"/>
                <a:cs typeface="宋体" panose="02010600030101010101" pitchFamily="2" charset="-122"/>
              </a:rPr>
              <a:t>3.</a:t>
            </a:r>
            <a:r>
              <a:rPr lang="zh-CN" altLang="zh-CN" sz="2400" b="1" dirty="0">
                <a:effectLst/>
                <a:latin typeface="Segoe UI" panose="020B0502040204020203" pitchFamily="34" charset="0"/>
                <a:ea typeface="等线" panose="02010600030101010101" pitchFamily="2" charset="-122"/>
                <a:cs typeface="Segoe UI" panose="020B0502040204020203" pitchFamily="34" charset="0"/>
              </a:rPr>
              <a:t>司法公正与透明：</a:t>
            </a:r>
            <a:r>
              <a:rPr lang="zh-CN" altLang="zh-CN" sz="2400" dirty="0">
                <a:effectLst/>
                <a:ea typeface="Segoe UI" panose="020B0502040204020203" pitchFamily="34" charset="0"/>
              </a:rPr>
              <a:t> </a:t>
            </a:r>
            <a:r>
              <a:rPr lang="zh-CN" altLang="zh-CN" sz="2400" dirty="0">
                <a:effectLst/>
                <a:latin typeface="宋体" panose="02010600030101010101" pitchFamily="2" charset="-122"/>
                <a:ea typeface="宋体" panose="02010600030101010101" pitchFamily="2" charset="-122"/>
                <a:cs typeface="Segoe UI" panose="020B0502040204020203" pitchFamily="34" charset="0"/>
              </a:rPr>
              <a:t>通过提高司法机构的公正性和透明度，确保公民对司法制度的信任。司法公正的体现能够对法治观念的转变产生积极的影响，因为人们更愿意遵守法律，相信法治可以为他们提供公平正义。</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dirty="0"/>
          </a:p>
        </p:txBody>
      </p:sp>
    </p:spTree>
    <p:extLst>
      <p:ext uri="{BB962C8B-B14F-4D97-AF65-F5344CB8AC3E}">
        <p14:creationId xmlns:p14="http://schemas.microsoft.com/office/powerpoint/2010/main" val="19745293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F30582-CD36-E1C9-0E36-B4642887EB7D}"/>
              </a:ext>
            </a:extLst>
          </p:cNvPr>
          <p:cNvSpPr>
            <a:spLocks noGrp="1"/>
          </p:cNvSpPr>
          <p:nvPr>
            <p:ph type="title"/>
          </p:nvPr>
        </p:nvSpPr>
        <p:spPr/>
        <p:txBody>
          <a:bodyPr/>
          <a:lstStyle/>
          <a:p>
            <a:r>
              <a:rPr lang="zh-CN" altLang="zh-CN" sz="2800" dirty="0">
                <a:solidFill>
                  <a:schemeClr val="tx1"/>
                </a:solidFill>
                <a:effectLst/>
                <a:ea typeface="等线" panose="02010600030101010101" pitchFamily="2" charset="-122"/>
                <a:cs typeface="Times New Roman" panose="02020603050405020304" pitchFamily="18" charset="0"/>
              </a:rPr>
              <a:t>法制观念的转变和法治文化的培育</a:t>
            </a:r>
            <a:endParaRPr lang="zh-CN" altLang="en-US" dirty="0"/>
          </a:p>
        </p:txBody>
      </p:sp>
      <p:sp>
        <p:nvSpPr>
          <p:cNvPr id="3" name="内容占位符 2">
            <a:extLst>
              <a:ext uri="{FF2B5EF4-FFF2-40B4-BE49-F238E27FC236}">
                <a16:creationId xmlns:a16="http://schemas.microsoft.com/office/drawing/2014/main" id="{447CE204-F7DB-083C-D159-659FA13A4F66}"/>
              </a:ext>
            </a:extLst>
          </p:cNvPr>
          <p:cNvSpPr>
            <a:spLocks noGrp="1"/>
          </p:cNvSpPr>
          <p:nvPr>
            <p:ph idx="1"/>
          </p:nvPr>
        </p:nvSpPr>
        <p:spPr/>
        <p:txBody>
          <a:bodyPr>
            <a:normAutofit/>
          </a:bodyPr>
          <a:lstStyle/>
          <a:p>
            <a:pPr marL="0" indent="0">
              <a:buNone/>
            </a:pPr>
            <a:r>
              <a:rPr lang="en-US" altLang="zh-CN" sz="2400" dirty="0"/>
              <a:t>4.</a:t>
            </a:r>
            <a:r>
              <a:rPr lang="zh-CN" altLang="en-US" sz="2400" b="1" dirty="0"/>
              <a:t>公民参与与法治建设</a:t>
            </a:r>
            <a:r>
              <a:rPr lang="zh-CN" altLang="en-US" sz="2400" dirty="0"/>
              <a:t>： </a:t>
            </a:r>
            <a:r>
              <a:rPr lang="zh-CN" altLang="en-US" sz="2400" dirty="0">
                <a:latin typeface="宋体" panose="02010600030101010101" pitchFamily="2" charset="-122"/>
                <a:ea typeface="宋体" panose="02010600030101010101" pitchFamily="2" charset="-122"/>
              </a:rPr>
              <a:t>鼓励公民参与法治建设，使其能够更直接地感受到法治的好处。例如，可以通过公民参与法律制定的方式，增加公众对法律制定过程的参与度，使法治观念更加深入人心。</a:t>
            </a:r>
            <a:endParaRPr lang="en-US" altLang="zh-CN" sz="2400" dirty="0">
              <a:latin typeface="宋体" panose="02010600030101010101" pitchFamily="2" charset="-122"/>
              <a:ea typeface="宋体" panose="02010600030101010101" pitchFamily="2" charset="-122"/>
            </a:endParaRPr>
          </a:p>
          <a:p>
            <a:pPr marL="0" lvl="0" indent="0">
              <a:buNone/>
              <a:tabLst>
                <a:tab pos="457200" algn="l"/>
              </a:tabLst>
            </a:pPr>
            <a:r>
              <a:rPr lang="en-US" altLang="zh-CN" sz="2400" b="1" dirty="0">
                <a:effectLst/>
                <a:latin typeface="Segoe UI" panose="020B0502040204020203" pitchFamily="34" charset="0"/>
                <a:ea typeface="宋体" panose="02010600030101010101" pitchFamily="2" charset="-122"/>
                <a:cs typeface="Segoe UI" panose="020B0502040204020203" pitchFamily="34" charset="0"/>
              </a:rPr>
              <a:t>5.</a:t>
            </a:r>
            <a:r>
              <a:rPr lang="zh-CN" altLang="zh-CN" sz="2400" b="1" dirty="0">
                <a:effectLst/>
                <a:latin typeface="+mn-ea"/>
                <a:cs typeface="Segoe UI" panose="020B0502040204020203" pitchFamily="34" charset="0"/>
              </a:rPr>
              <a:t>法治文化的塑造</a:t>
            </a:r>
            <a:r>
              <a:rPr lang="zh-CN" altLang="en-US"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引导社会形成尊重法律的文化氛围。这包括在文艺作品、娱乐节目中宣传法治观念，通过各种途径营造尊重法律的社会风尚。</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2400" dirty="0"/>
              <a:t>6.</a:t>
            </a:r>
            <a:r>
              <a:rPr lang="zh-CN" altLang="en-US" sz="2400" b="1" dirty="0"/>
              <a:t>法治体制的健全</a:t>
            </a:r>
            <a:r>
              <a:rPr lang="zh-CN" altLang="en-US" sz="2400" dirty="0"/>
              <a:t>：</a:t>
            </a:r>
            <a:r>
              <a:rPr lang="zh-CN" altLang="en-US" sz="2400" dirty="0">
                <a:latin typeface="宋体" panose="02010600030101010101" pitchFamily="2" charset="-122"/>
                <a:ea typeface="宋体" panose="02010600030101010101" pitchFamily="2" charset="-122"/>
              </a:rPr>
              <a:t>建立完善的法治体制，包括健全的法律制度、高效的司法机构等。这样的体制可以为法治观念的深入人心提供有力支持。</a:t>
            </a:r>
            <a:endParaRPr lang="en-US" altLang="zh-CN" sz="2400" dirty="0">
              <a:latin typeface="宋体" panose="02010600030101010101" pitchFamily="2" charset="-122"/>
              <a:ea typeface="宋体" panose="02010600030101010101" pitchFamily="2" charset="-122"/>
            </a:endParaRPr>
          </a:p>
          <a:p>
            <a:pPr marL="0" indent="0">
              <a:buNone/>
            </a:pPr>
            <a:r>
              <a:rPr lang="en-US" altLang="zh-CN" sz="2400" dirty="0">
                <a:latin typeface="宋体" panose="02010600030101010101" pitchFamily="2" charset="-122"/>
                <a:ea typeface="宋体" panose="02010600030101010101" pitchFamily="2" charset="-122"/>
              </a:rPr>
              <a:t>7.</a:t>
            </a:r>
            <a:r>
              <a:rPr lang="zh-CN" altLang="en-US" sz="2400" b="1" dirty="0">
                <a:latin typeface="+mn-ea"/>
              </a:rPr>
              <a:t>国际合作与借鉴</a:t>
            </a:r>
            <a:r>
              <a:rPr lang="zh-CN" altLang="en-US" sz="2400" dirty="0">
                <a:latin typeface="宋体" panose="02010600030101010101" pitchFamily="2" charset="-122"/>
                <a:ea typeface="宋体" panose="02010600030101010101" pitchFamily="2" charset="-122"/>
              </a:rPr>
              <a:t>：借鉴国际上成功的法治建设经验，吸收和融合其他国家的法治文化元素，以丰富和完善本国的法治体系。</a:t>
            </a:r>
          </a:p>
        </p:txBody>
      </p:sp>
    </p:spTree>
    <p:extLst>
      <p:ext uri="{BB962C8B-B14F-4D97-AF65-F5344CB8AC3E}">
        <p14:creationId xmlns:p14="http://schemas.microsoft.com/office/powerpoint/2010/main" val="365271076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AD720-9376-488F-F056-61A8B437E4CD}"/>
              </a:ext>
            </a:extLst>
          </p:cNvPr>
          <p:cNvSpPr>
            <a:spLocks noGrp="1"/>
          </p:cNvSpPr>
          <p:nvPr>
            <p:ph type="title"/>
          </p:nvPr>
        </p:nvSpPr>
        <p:spPr/>
        <p:txBody>
          <a:bodyPr>
            <a:normAutofit/>
          </a:bodyPr>
          <a:lstStyle/>
          <a:p>
            <a:r>
              <a:rPr lang="zh-CN" altLang="zh-CN" dirty="0">
                <a:solidFill>
                  <a:schemeClr val="tx1"/>
                </a:solidFill>
                <a:effectLst/>
                <a:ea typeface="等线" panose="02010600030101010101" pitchFamily="2" charset="-122"/>
                <a:cs typeface="Times New Roman" panose="02020603050405020304" pitchFamily="18" charset="0"/>
              </a:rPr>
              <a:t>依法治国的制度建设和法治实践的创新</a:t>
            </a:r>
            <a:endParaRPr lang="zh-CN" altLang="en-US" dirty="0">
              <a:solidFill>
                <a:schemeClr val="tx1"/>
              </a:solidFill>
            </a:endParaRPr>
          </a:p>
        </p:txBody>
      </p:sp>
      <p:sp>
        <p:nvSpPr>
          <p:cNvPr id="3" name="内容占位符 2">
            <a:extLst>
              <a:ext uri="{FF2B5EF4-FFF2-40B4-BE49-F238E27FC236}">
                <a16:creationId xmlns:a16="http://schemas.microsoft.com/office/drawing/2014/main" id="{B985DC5D-8E90-7BFD-8BC2-953656D4E652}"/>
              </a:ext>
            </a:extLst>
          </p:cNvPr>
          <p:cNvSpPr>
            <a:spLocks noGrp="1"/>
          </p:cNvSpPr>
          <p:nvPr>
            <p:ph idx="1"/>
          </p:nvPr>
        </p:nvSpPr>
        <p:spPr/>
        <p:txBody>
          <a:bodyPr>
            <a:normAutofit lnSpcReduction="10000"/>
          </a:bodyPr>
          <a:lstStyle/>
          <a:p>
            <a:pPr marL="0" indent="0">
              <a:buNone/>
            </a:pPr>
            <a:r>
              <a:rPr lang="en-US" altLang="zh-CN" sz="2800"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法律体系建设</a:t>
            </a:r>
            <a:r>
              <a:rPr lang="zh-CN" altLang="en-US" sz="2800" dirty="0">
                <a:latin typeface="宋体" panose="02010600030101010101" pitchFamily="2" charset="-122"/>
                <a:ea typeface="宋体" panose="02010600030101010101" pitchFamily="2" charset="-122"/>
              </a:rPr>
              <a:t>： 依法治国的基础是完备的法律体系。国家需要建设健全的法律框架，不断修订和完善相关法规，以适应社会的变化和发展。同时，法律体系的透明度和稳定性也是制度建设的关键。</a:t>
            </a:r>
          </a:p>
          <a:p>
            <a:pPr marL="0" indent="0">
              <a:buNone/>
            </a:pPr>
            <a:r>
              <a:rPr lang="en-US" altLang="zh-CN" sz="2800"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司法体制改革</a:t>
            </a:r>
            <a:r>
              <a:rPr lang="zh-CN" altLang="en-US" sz="2800" dirty="0">
                <a:latin typeface="宋体" panose="02010600030101010101" pitchFamily="2" charset="-122"/>
                <a:ea typeface="宋体" panose="02010600030101010101" pitchFamily="2" charset="-122"/>
              </a:rPr>
              <a:t>：确保司法机关的独立性和公正性是依法治国的核心要素。通过司法体制改革，加强法官和检察官的专业培训，提高司法透明度，确保司法裁决的公正性，是推动法治实践创新的重要方向。</a:t>
            </a:r>
          </a:p>
          <a:p>
            <a:pPr marL="0" indent="0">
              <a:buNone/>
            </a:pPr>
            <a:r>
              <a:rPr lang="en-US" altLang="zh-CN" sz="2800"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法治文化建设</a:t>
            </a:r>
            <a:r>
              <a:rPr lang="zh-CN" altLang="en-US" sz="2800" dirty="0">
                <a:latin typeface="宋体" panose="02010600030101010101" pitchFamily="2" charset="-122"/>
                <a:ea typeface="宋体" panose="02010600030101010101" pitchFamily="2" charset="-122"/>
              </a:rPr>
              <a:t>：建设法治文化是培养公民法治观念的基础。通过教育、媒体等途径，加强法治宣传，提高公众的法治意识，促使社会成员更加自觉地遵守法律。</a:t>
            </a:r>
          </a:p>
          <a:p>
            <a:pPr marL="0" indent="0">
              <a:buNone/>
            </a:pPr>
            <a:r>
              <a:rPr lang="en-US" altLang="zh-CN" sz="2800"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智能化和信息技术的运用</a:t>
            </a:r>
            <a:r>
              <a:rPr lang="zh-CN" altLang="en-US" sz="2800" dirty="0">
                <a:latin typeface="宋体" panose="02010600030101010101" pitchFamily="2" charset="-122"/>
                <a:ea typeface="宋体" panose="02010600030101010101" pitchFamily="2" charset="-122"/>
              </a:rPr>
              <a:t>：利用先进的技术手段，如大数据、人工智能等，提升法治实践的效率和智能化水平。这包括建设智能法律服务系统、电子法庭等，以加强对法律事务的管理和监督。</a:t>
            </a:r>
          </a:p>
          <a:p>
            <a:pPr marL="0" indent="0">
              <a:buNone/>
            </a:pPr>
            <a:endParaRPr lang="zh-CN" altLang="en-US" dirty="0"/>
          </a:p>
        </p:txBody>
      </p:sp>
    </p:spTree>
    <p:extLst>
      <p:ext uri="{BB962C8B-B14F-4D97-AF65-F5344CB8AC3E}">
        <p14:creationId xmlns:p14="http://schemas.microsoft.com/office/powerpoint/2010/main" val="358943036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3D7456-FD5E-FBB0-31D4-B2BF27D01B42}"/>
              </a:ext>
            </a:extLst>
          </p:cNvPr>
          <p:cNvSpPr>
            <a:spLocks noGrp="1"/>
          </p:cNvSpPr>
          <p:nvPr>
            <p:ph type="title"/>
          </p:nvPr>
        </p:nvSpPr>
        <p:spPr/>
        <p:txBody>
          <a:bodyPr/>
          <a:lstStyle/>
          <a:p>
            <a:r>
              <a:rPr lang="zh-CN" altLang="zh-CN" dirty="0">
                <a:solidFill>
                  <a:schemeClr val="tx1"/>
                </a:solidFill>
                <a:effectLst/>
                <a:ea typeface="等线" panose="02010600030101010101" pitchFamily="2" charset="-122"/>
                <a:cs typeface="Times New Roman" panose="02020603050405020304" pitchFamily="18" charset="0"/>
              </a:rPr>
              <a:t>依法治国的制度建设和法治实践的创新</a:t>
            </a:r>
            <a:endParaRPr lang="zh-CN" altLang="en-US" dirty="0"/>
          </a:p>
        </p:txBody>
      </p:sp>
      <p:sp>
        <p:nvSpPr>
          <p:cNvPr id="3" name="内容占位符 2">
            <a:extLst>
              <a:ext uri="{FF2B5EF4-FFF2-40B4-BE49-F238E27FC236}">
                <a16:creationId xmlns:a16="http://schemas.microsoft.com/office/drawing/2014/main" id="{15B21781-16D7-B996-032C-AECBDF479C27}"/>
              </a:ext>
            </a:extLst>
          </p:cNvPr>
          <p:cNvSpPr>
            <a:spLocks noGrp="1"/>
          </p:cNvSpPr>
          <p:nvPr>
            <p:ph idx="1"/>
          </p:nvPr>
        </p:nvSpPr>
        <p:spPr/>
        <p:txBody>
          <a:bodyPr>
            <a:normAutofit/>
          </a:bodyPr>
          <a:lstStyle/>
          <a:p>
            <a:pPr marL="0" indent="0">
              <a:buNone/>
            </a:pPr>
            <a:r>
              <a:rPr lang="en-US" altLang="zh-CN" sz="2400" dirty="0"/>
              <a:t>5. </a:t>
            </a:r>
            <a:r>
              <a:rPr lang="zh-CN" altLang="en-US" sz="2400" dirty="0"/>
              <a:t>司法公正与公平：</a:t>
            </a:r>
            <a:r>
              <a:rPr lang="zh-CN" altLang="en-US" sz="2400" dirty="0">
                <a:latin typeface="宋体" panose="02010600030101010101" pitchFamily="2" charset="-122"/>
                <a:ea typeface="宋体" panose="02010600030101010101" pitchFamily="2" charset="-122"/>
              </a:rPr>
              <a:t>加强司法公正和公平的实践，确保每个公民在法律面前都是平等的。这涉及到改善司法程序、加强法官和检察官的培训，以及建设公平公正的法律环境。</a:t>
            </a:r>
          </a:p>
          <a:p>
            <a:pPr marL="0" indent="0">
              <a:buNone/>
            </a:pPr>
            <a:r>
              <a:rPr lang="en-US" altLang="zh-CN" sz="2400" dirty="0"/>
              <a:t>6. </a:t>
            </a:r>
            <a:r>
              <a:rPr lang="zh-CN" altLang="en-US" sz="2400" dirty="0"/>
              <a:t>依法行政：</a:t>
            </a:r>
            <a:r>
              <a:rPr lang="zh-CN" altLang="en-US" sz="2400" dirty="0">
                <a:latin typeface="宋体" panose="02010600030101010101" pitchFamily="2" charset="-122"/>
                <a:ea typeface="宋体" panose="02010600030101010101" pitchFamily="2" charset="-122"/>
              </a:rPr>
              <a:t>推动政府依法行政，加强公共管理和服务的法治化水平。建设公正、透明、高效的行政管理体系，维护公民的合法权益，提高政府决策和执行的合法性和合理性。</a:t>
            </a:r>
          </a:p>
          <a:p>
            <a:pPr marL="0" indent="0">
              <a:buNone/>
            </a:pPr>
            <a:r>
              <a:rPr lang="en-US" altLang="zh-CN" sz="2400" dirty="0"/>
              <a:t>7. </a:t>
            </a:r>
            <a:r>
              <a:rPr lang="zh-CN" altLang="en-US" sz="2400" dirty="0"/>
              <a:t>参与式法治：</a:t>
            </a:r>
            <a:r>
              <a:rPr lang="zh-CN" altLang="en-US" sz="2400" dirty="0">
                <a:latin typeface="宋体" panose="02010600030101010101" pitchFamily="2" charset="-122"/>
                <a:ea typeface="宋体" panose="02010600030101010101" pitchFamily="2" charset="-122"/>
              </a:rPr>
              <a:t>鼓励公民参与法治建设和监督。可以通过法治教育、公民论坛、社会组织等方式，促使公民更加积极地参与法治实践，形成全社会共同维护法治的良好氛围。</a:t>
            </a:r>
          </a:p>
          <a:p>
            <a:pPr marL="0" indent="0">
              <a:buNone/>
            </a:pPr>
            <a:r>
              <a:rPr lang="en-US" altLang="zh-CN" sz="2400" dirty="0"/>
              <a:t>8. </a:t>
            </a:r>
            <a:r>
              <a:rPr lang="zh-CN" altLang="en-US" sz="2400" dirty="0"/>
              <a:t>创新法律手段：</a:t>
            </a:r>
            <a:r>
              <a:rPr lang="zh-CN" altLang="en-US" sz="2400" dirty="0">
                <a:latin typeface="宋体" panose="02010600030101010101" pitchFamily="2" charset="-122"/>
                <a:ea typeface="宋体" panose="02010600030101010101" pitchFamily="2" charset="-122"/>
              </a:rPr>
              <a:t>针对新兴问题，不断创新法律手段。这包括制定灵活的法规，借鉴国际先进经验，以更好地适应社会的发展和变化。</a:t>
            </a:r>
          </a:p>
          <a:p>
            <a:pPr marL="0" indent="0">
              <a:buNone/>
            </a:pPr>
            <a:endParaRPr lang="zh-CN" altLang="en-US" dirty="0"/>
          </a:p>
        </p:txBody>
      </p:sp>
    </p:spTree>
    <p:extLst>
      <p:ext uri="{BB962C8B-B14F-4D97-AF65-F5344CB8AC3E}">
        <p14:creationId xmlns:p14="http://schemas.microsoft.com/office/powerpoint/2010/main" val="390394478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79762-79BD-838F-2990-8C7CAEC28D4D}"/>
              </a:ext>
            </a:extLst>
          </p:cNvPr>
          <p:cNvSpPr>
            <a:spLocks noGrp="1"/>
          </p:cNvSpPr>
          <p:nvPr>
            <p:ph type="title"/>
          </p:nvPr>
        </p:nvSpPr>
        <p:spPr/>
        <p:txBody>
          <a:bodyPr/>
          <a:lstStyle/>
          <a:p>
            <a:r>
              <a:rPr lang="zh-CN" altLang="en-US" dirty="0">
                <a:solidFill>
                  <a:schemeClr val="tx1"/>
                </a:solidFill>
              </a:rPr>
              <a:t>中国特色社会主义法治道路的成果成就</a:t>
            </a:r>
          </a:p>
        </p:txBody>
      </p:sp>
      <p:sp>
        <p:nvSpPr>
          <p:cNvPr id="3" name="内容占位符 2">
            <a:extLst>
              <a:ext uri="{FF2B5EF4-FFF2-40B4-BE49-F238E27FC236}">
                <a16:creationId xmlns:a16="http://schemas.microsoft.com/office/drawing/2014/main" id="{732FADE0-5208-D43F-3884-A3B7231CCA64}"/>
              </a:ext>
            </a:extLst>
          </p:cNvPr>
          <p:cNvSpPr>
            <a:spLocks noGrp="1"/>
          </p:cNvSpPr>
          <p:nvPr>
            <p:ph idx="1"/>
          </p:nvPr>
        </p:nvSpPr>
        <p:spPr>
          <a:xfrm>
            <a:off x="660400" y="1092199"/>
            <a:ext cx="10858500" cy="5413703"/>
          </a:xfrm>
        </p:spPr>
        <p:txBody>
          <a:bodyPr>
            <a:normAutofit lnSpcReduction="10000"/>
          </a:bodyPr>
          <a:lstStyle/>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法律体系逐步完善</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中国特色社会主义法治道路的一个显著成就是法律体系的逐步完善。国家先后颁布了大量法律法规，形成了涵盖各个领域的法律框架，为国家治理提供了有力法律支持。</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司法体制不断改革</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中国通过司法改革，强调司法独立、公正、廉洁。建立了更为专业化和规范化的司法机构，加强了法官和检察官队伍建设，提高了司法公信力。</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法治文化日益树立</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在法治建设中，中国注重培育法治文化。通过教育、媒体等途径，加强法治观念的宣传，提高公众对法治的认同和信仰，形成了尊法重法的社会风气。</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法治智能化与信息技术的融合</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中国在法治建设中积极推动智能化和信息技术的运用，以提高法治实践的效率和精确度。电子政务、智能法院等技术手段的引入为法治建设注入新动力。</a:t>
            </a:r>
            <a:endParaRPr lang="en-US" altLang="zh-CN" sz="2400" dirty="0">
              <a:effectLst/>
              <a:latin typeface="Segoe UI" panose="020B0502040204020203" pitchFamily="34" charset="0"/>
              <a:ea typeface="宋体" panose="02010600030101010101" pitchFamily="2" charset="-122"/>
              <a:cs typeface="Segoe UI" panose="020B0502040204020203" pitchFamily="34" charset="0"/>
            </a:endParaRPr>
          </a:p>
          <a:p>
            <a:pPr marL="342900" indent="-342900">
              <a:buFont typeface="+mj-lt"/>
              <a:buAutoNum type="arabicPeriod"/>
              <a:tabLst>
                <a:tab pos="457200" algn="l"/>
              </a:tabLst>
            </a:pPr>
            <a:r>
              <a:rPr lang="zh-CN" altLang="en-US" sz="2400" b="1" dirty="0"/>
              <a:t>依法行政取得显著成果</a:t>
            </a:r>
            <a:r>
              <a:rPr lang="zh-CN" altLang="en-US" sz="2400" dirty="0"/>
              <a:t>： </a:t>
            </a:r>
            <a:r>
              <a:rPr lang="zh-CN" altLang="en-US" sz="2400" dirty="0">
                <a:latin typeface="宋体" panose="02010600030101010101" pitchFamily="2" charset="-122"/>
                <a:ea typeface="宋体" panose="02010600030101010101" pitchFamily="2" charset="-122"/>
              </a:rPr>
              <a:t>中国政府强调依法行政，推动行政管理更加法治化。建立了更加规范、透明的行政管理制度，保障了公民的合法权益，提高了政府决策和执行的合法性和合理性。</a:t>
            </a:r>
          </a:p>
          <a:p>
            <a:pPr marL="342900" lvl="0" indent="-342900">
              <a:buFont typeface="+mj-lt"/>
              <a:buAutoNum type="arabicPeriod"/>
              <a:tabLst>
                <a:tab pos="457200" algn="l"/>
              </a:tabLst>
            </a:pP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dirty="0"/>
          </a:p>
        </p:txBody>
      </p:sp>
    </p:spTree>
    <p:extLst>
      <p:ext uri="{BB962C8B-B14F-4D97-AF65-F5344CB8AC3E}">
        <p14:creationId xmlns:p14="http://schemas.microsoft.com/office/powerpoint/2010/main" val="272230683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C432F-3B67-1733-639D-7AA0935F1DC8}"/>
              </a:ext>
            </a:extLst>
          </p:cNvPr>
          <p:cNvSpPr>
            <a:spLocks noGrp="1"/>
          </p:cNvSpPr>
          <p:nvPr>
            <p:ph type="title"/>
          </p:nvPr>
        </p:nvSpPr>
        <p:spPr/>
        <p:txBody>
          <a:bodyPr/>
          <a:lstStyle/>
          <a:p>
            <a:r>
              <a:rPr lang="zh-CN" altLang="en-US" dirty="0">
                <a:solidFill>
                  <a:schemeClr val="tx1"/>
                </a:solidFill>
              </a:rPr>
              <a:t>展望未来法治建设的发展方向和重点</a:t>
            </a:r>
          </a:p>
        </p:txBody>
      </p:sp>
      <p:sp>
        <p:nvSpPr>
          <p:cNvPr id="3" name="内容占位符 2">
            <a:extLst>
              <a:ext uri="{FF2B5EF4-FFF2-40B4-BE49-F238E27FC236}">
                <a16:creationId xmlns:a16="http://schemas.microsoft.com/office/drawing/2014/main" id="{5A758BF9-641A-8F6A-A746-949034F2AEE3}"/>
              </a:ext>
            </a:extLst>
          </p:cNvPr>
          <p:cNvSpPr>
            <a:spLocks noGrp="1"/>
          </p:cNvSpPr>
          <p:nvPr>
            <p:ph idx="1"/>
          </p:nvPr>
        </p:nvSpPr>
        <p:spPr/>
        <p:txBody>
          <a:bodyPr>
            <a:normAutofit/>
          </a:bodyPr>
          <a:lstStyle/>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强化法治意识和法治文化</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进一步加强法治观念的教育，培养公民的法治意识，形成尊法守法的社会共识。推动法治文化建设，使法治理念深入人心。</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深化司法体制改革</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不断深化司法体制改革，提高司法机关的独立性、公正性和效能。进一步加强法官、检察官的职业培训，提高司法公信力。</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推进智能法治建设</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加强智能化和信息技术在法治建设中的应用，构建智能法治体系，提升法治实践的科技水平和效率。</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r>
              <a:rPr lang="zh-CN" altLang="zh-CN" sz="2400" b="1" dirty="0">
                <a:effectLst/>
                <a:latin typeface="+mn-ea"/>
                <a:cs typeface="Segoe UI" panose="020B0502040204020203" pitchFamily="34" charset="0"/>
              </a:rPr>
              <a:t>深入推进依法治理</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继续推动依法治理，加强公共管理和服务的法治化水平，促进政府决策更加科学、公正、透明。</a:t>
            </a:r>
            <a:endParaRPr lang="en-US" altLang="zh-CN" sz="2400" dirty="0">
              <a:effectLst/>
              <a:latin typeface="Segoe UI" panose="020B0502040204020203" pitchFamily="34" charset="0"/>
              <a:ea typeface="宋体" panose="02010600030101010101" pitchFamily="2" charset="-122"/>
              <a:cs typeface="Segoe UI" panose="020B0502040204020203" pitchFamily="34" charset="0"/>
            </a:endParaRPr>
          </a:p>
          <a:p>
            <a:pPr marL="0" lvl="0" indent="0">
              <a:buNone/>
              <a:tabLst>
                <a:tab pos="457200" algn="l"/>
              </a:tabLst>
            </a:pPr>
            <a:r>
              <a:rPr lang="en-US" altLang="zh-CN" sz="2400" b="1" dirty="0">
                <a:effectLst/>
                <a:latin typeface="Segoe UI" panose="020B0502040204020203" pitchFamily="34" charset="0"/>
                <a:ea typeface="宋体" panose="02010600030101010101" pitchFamily="2" charset="-122"/>
                <a:cs typeface="Segoe UI" panose="020B0502040204020203" pitchFamily="34" charset="0"/>
              </a:rPr>
              <a:t>5. </a:t>
            </a:r>
            <a:r>
              <a:rPr lang="zh-CN" altLang="zh-CN" sz="2400" b="1" dirty="0">
                <a:effectLst/>
                <a:latin typeface="+mn-ea"/>
                <a:cs typeface="Segoe UI" panose="020B0502040204020203" pitchFamily="34" charset="0"/>
              </a:rPr>
              <a:t>加强公民参与</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宋体" panose="02010600030101010101" pitchFamily="2" charset="-122"/>
                <a:ea typeface="Segoe UI" panose="020B0502040204020203" pitchFamily="34" charset="0"/>
                <a:cs typeface="宋体" panose="02010600030101010101" pitchFamily="2" charset="-122"/>
              </a:rPr>
              <a:t> </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鼓励公民更加积极地参与法治建设，形成全社会共同维护法治的良好氛围。通过法治教育、社会组织等途径，提高公民的法治素养。</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lvl="0" indent="0">
              <a:buNone/>
              <a:tabLst>
                <a:tab pos="457200" algn="l"/>
              </a:tabLst>
            </a:pPr>
            <a:r>
              <a:rPr lang="en-US" altLang="zh-CN" sz="2400" b="1" dirty="0">
                <a:effectLst/>
                <a:latin typeface="Segoe UI" panose="020B0502040204020203" pitchFamily="34" charset="0"/>
                <a:ea typeface="宋体" panose="02010600030101010101" pitchFamily="2" charset="-122"/>
                <a:cs typeface="Segoe UI" panose="020B0502040204020203" pitchFamily="34" charset="0"/>
              </a:rPr>
              <a:t>6.</a:t>
            </a:r>
            <a:r>
              <a:rPr lang="zh-CN" altLang="en-US" sz="2400" b="1" dirty="0">
                <a:effectLst/>
                <a:latin typeface="Segoe UI" panose="020B0502040204020203" pitchFamily="34" charset="0"/>
                <a:ea typeface="宋体" panose="02010600030101010101" pitchFamily="2" charset="-122"/>
                <a:cs typeface="Segoe UI" panose="020B0502040204020203" pitchFamily="34" charset="0"/>
              </a:rPr>
              <a:t> </a:t>
            </a:r>
            <a:r>
              <a:rPr lang="zh-CN" altLang="zh-CN" sz="2400" b="1" dirty="0">
                <a:effectLst/>
                <a:latin typeface="+mj-ea"/>
                <a:ea typeface="+mj-ea"/>
                <a:cs typeface="Segoe UI" panose="020B0502040204020203" pitchFamily="34" charset="0"/>
              </a:rPr>
              <a:t>应对新挑战</a:t>
            </a:r>
            <a:r>
              <a:rPr lang="zh-CN" altLang="zh-CN" sz="2400" b="1" dirty="0">
                <a:effectLst/>
                <a:latin typeface="Segoe UI" panose="020B0502040204020203" pitchFamily="34" charset="0"/>
                <a:ea typeface="宋体" panose="02010600030101010101" pitchFamily="2" charset="-122"/>
                <a:cs typeface="Segoe UI" panose="020B0502040204020203" pitchFamily="34" charset="0"/>
              </a:rPr>
              <a:t>：</a:t>
            </a:r>
            <a:r>
              <a:rPr lang="zh-CN" altLang="zh-CN" sz="2400" dirty="0">
                <a:effectLst/>
                <a:latin typeface="宋体" panose="02010600030101010101" pitchFamily="2" charset="-122"/>
                <a:ea typeface="Segoe UI" panose="020B0502040204020203" pitchFamily="34" charset="0"/>
                <a:cs typeface="宋体" panose="02010600030101010101" pitchFamily="2" charset="-122"/>
              </a:rPr>
              <a:t> </a:t>
            </a:r>
            <a:r>
              <a:rPr lang="zh-CN" altLang="zh-CN" sz="2400" dirty="0">
                <a:effectLst/>
                <a:latin typeface="Segoe UI" panose="020B0502040204020203" pitchFamily="34" charset="0"/>
                <a:ea typeface="宋体" panose="02010600030101010101" pitchFamily="2" charset="-122"/>
                <a:cs typeface="Segoe UI" panose="020B0502040204020203" pitchFamily="34" charset="0"/>
              </a:rPr>
              <a:t>面对社会的快速变化，法治建设需要不断创新应对新挑战。通过灵活的法律手段，及时跟进新兴问题，确保法治体系的适应性和灵活性。</a:t>
            </a: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342900" lvl="0" indent="-342900">
              <a:buFont typeface="+mj-lt"/>
              <a:buAutoNum type="arabicPeriod"/>
              <a:tabLst>
                <a:tab pos="457200" algn="l"/>
              </a:tabLst>
            </a:pPr>
            <a:endParaRPr lang="zh-CN" altLang="zh-CN" sz="24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dirty="0"/>
          </a:p>
        </p:txBody>
      </p:sp>
    </p:spTree>
    <p:extLst>
      <p:ext uri="{BB962C8B-B14F-4D97-AF65-F5344CB8AC3E}">
        <p14:creationId xmlns:p14="http://schemas.microsoft.com/office/powerpoint/2010/main" val="174680851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4EFBD0-635A-6995-CB8A-6864E1A0726E}"/>
              </a:ext>
            </a:extLst>
          </p:cNvPr>
          <p:cNvSpPr>
            <a:spLocks noGrp="1"/>
          </p:cNvSpPr>
          <p:nvPr>
            <p:ph type="title"/>
          </p:nvPr>
        </p:nvSpPr>
        <p:spPr/>
        <p:txBody>
          <a:bodyPr>
            <a:normAutofit/>
          </a:bodyPr>
          <a:lstStyle/>
          <a:p>
            <a:r>
              <a:rPr lang="zh-CN" altLang="zh-CN" dirty="0">
                <a:solidFill>
                  <a:schemeClr val="tx1"/>
                </a:solidFill>
                <a:effectLst/>
                <a:latin typeface="Segoe UI" panose="020B0502040204020203" pitchFamily="34" charset="0"/>
                <a:ea typeface="等线" panose="02010600030101010101" pitchFamily="2" charset="-122"/>
                <a:cs typeface="Segoe UI" panose="020B0502040204020203" pitchFamily="34" charset="0"/>
              </a:rPr>
              <a:t>中国社会主义特色法治道路的重要意义</a:t>
            </a:r>
            <a:endParaRPr lang="zh-CN" altLang="en-US" dirty="0">
              <a:solidFill>
                <a:schemeClr val="tx1"/>
              </a:solidFill>
            </a:endParaRPr>
          </a:p>
        </p:txBody>
      </p:sp>
      <p:sp>
        <p:nvSpPr>
          <p:cNvPr id="3" name="内容占位符 2">
            <a:extLst>
              <a:ext uri="{FF2B5EF4-FFF2-40B4-BE49-F238E27FC236}">
                <a16:creationId xmlns:a16="http://schemas.microsoft.com/office/drawing/2014/main" id="{D08DB512-77AD-2512-DE86-B79F84CD4FE8}"/>
              </a:ext>
            </a:extLst>
          </p:cNvPr>
          <p:cNvSpPr>
            <a:spLocks noGrp="1"/>
          </p:cNvSpPr>
          <p:nvPr>
            <p:ph idx="1"/>
          </p:nvPr>
        </p:nvSpPr>
        <p:spPr/>
        <p:txBody>
          <a:bodyPr/>
          <a:lstStyle/>
          <a:p>
            <a:pPr marL="0" indent="0">
              <a:buNone/>
            </a:pPr>
            <a:r>
              <a:rPr lang="en-US" altLang="zh-CN" sz="2400" dirty="0"/>
              <a:t>1.</a:t>
            </a:r>
            <a:r>
              <a:rPr lang="zh-CN" altLang="en-US" sz="2400" dirty="0"/>
              <a:t>维护社会稳定和公平正义：</a:t>
            </a:r>
            <a:r>
              <a:rPr lang="zh-CN" altLang="en-US" sz="2400" dirty="0">
                <a:latin typeface="宋体" panose="02010600030101010101" pitchFamily="2" charset="-122"/>
                <a:ea typeface="宋体" panose="02010600030101010101" pitchFamily="2" charset="-122"/>
              </a:rPr>
              <a:t>中国特色社会主义法治道路的制度设计旨在维护社会稳定和公平正义，通过法治手段解决社会矛盾，确保社会的和谐发展。</a:t>
            </a:r>
          </a:p>
          <a:p>
            <a:pPr marL="0" indent="0">
              <a:buNone/>
            </a:pPr>
            <a:r>
              <a:rPr lang="en-US" altLang="zh-CN" sz="2400" dirty="0"/>
              <a:t>2.</a:t>
            </a:r>
            <a:r>
              <a:rPr lang="zh-CN" altLang="en-US" sz="2400" dirty="0"/>
              <a:t>促进经济发展和市场秩序：</a:t>
            </a:r>
            <a:r>
              <a:rPr lang="zh-CN" altLang="en-US" sz="2400" dirty="0">
                <a:latin typeface="宋体" panose="02010600030101010101" pitchFamily="2" charset="-122"/>
                <a:ea typeface="宋体" panose="02010600030101010101" pitchFamily="2" charset="-122"/>
              </a:rPr>
              <a:t>法治环境有助于建立公平竞争的市场秩序，为经济发展提供法治保障，鼓励创新和企业活力。</a:t>
            </a:r>
          </a:p>
          <a:p>
            <a:pPr marL="0" indent="0">
              <a:buNone/>
            </a:pPr>
            <a:r>
              <a:rPr lang="en-US" altLang="zh-CN" sz="2400" dirty="0"/>
              <a:t>3.</a:t>
            </a:r>
            <a:r>
              <a:rPr lang="zh-CN" altLang="en-US" sz="2400" dirty="0"/>
              <a:t>保障公民权利和社会公正：</a:t>
            </a:r>
            <a:r>
              <a:rPr lang="zh-CN" altLang="en-US" sz="2400" dirty="0">
                <a:latin typeface="宋体" panose="02010600030101010101" pitchFamily="2" charset="-122"/>
                <a:ea typeface="宋体" panose="02010600030101010101" pitchFamily="2" charset="-122"/>
              </a:rPr>
              <a:t>法治体系的建设有助于保障公民的合法权益，强调法律面前人人平等，维护社会的公正和公平。</a:t>
            </a:r>
          </a:p>
          <a:p>
            <a:pPr marL="0" indent="0">
              <a:buNone/>
            </a:pPr>
            <a:r>
              <a:rPr lang="en-US" altLang="zh-CN" sz="2400" dirty="0"/>
              <a:t>4.</a:t>
            </a:r>
            <a:r>
              <a:rPr lang="zh-CN" altLang="en-US" sz="2400" dirty="0"/>
              <a:t>提升国际形象和吸引外资：</a:t>
            </a:r>
            <a:r>
              <a:rPr lang="zh-CN" altLang="en-US" sz="2400" dirty="0">
                <a:latin typeface="宋体" panose="02010600030101010101" pitchFamily="2" charset="-122"/>
                <a:ea typeface="宋体" panose="02010600030101010101" pitchFamily="2" charset="-122"/>
              </a:rPr>
              <a:t>健全的法治体系提高了国家的法治水平，增强了国际社会对中国的信任，有利于吸引外资和推动国际合作。</a:t>
            </a:r>
          </a:p>
          <a:p>
            <a:pPr marL="0" indent="0">
              <a:buNone/>
            </a:pPr>
            <a:r>
              <a:rPr lang="en-US" altLang="zh-CN" sz="2400" dirty="0"/>
              <a:t>5.</a:t>
            </a:r>
            <a:r>
              <a:rPr lang="zh-CN" altLang="en-US" sz="2400" dirty="0"/>
              <a:t>增强治理效能和权威性：</a:t>
            </a:r>
            <a:r>
              <a:rPr lang="zh-CN" altLang="en-US" sz="2400" dirty="0">
                <a:latin typeface="宋体" panose="02010600030101010101" pitchFamily="2" charset="-122"/>
                <a:ea typeface="宋体" panose="02010600030101010101" pitchFamily="2" charset="-122"/>
              </a:rPr>
              <a:t>法治道路强调法律的权威性，有助于提高国家治理的效能，使政府决策和执行更为规范和有力。</a:t>
            </a:r>
          </a:p>
          <a:p>
            <a:pPr marL="0" indent="0">
              <a:buNone/>
            </a:pPr>
            <a:endParaRPr lang="zh-CN" altLang="en-US" dirty="0"/>
          </a:p>
        </p:txBody>
      </p:sp>
    </p:spTree>
    <p:extLst>
      <p:ext uri="{BB962C8B-B14F-4D97-AF65-F5344CB8AC3E}">
        <p14:creationId xmlns:p14="http://schemas.microsoft.com/office/powerpoint/2010/main" val="383233801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3873-DBA6-5AB2-2179-CBB2D957A1EA}"/>
              </a:ext>
            </a:extLst>
          </p:cNvPr>
          <p:cNvSpPr>
            <a:spLocks noGrp="1"/>
          </p:cNvSpPr>
          <p:nvPr>
            <p:ph type="title"/>
          </p:nvPr>
        </p:nvSpPr>
        <p:spPr/>
        <p:txBody>
          <a:bodyPr>
            <a:normAutofit/>
          </a:bodyPr>
          <a:lstStyle/>
          <a:p>
            <a:r>
              <a:rPr lang="zh-CN" altLang="zh-CN" dirty="0">
                <a:solidFill>
                  <a:schemeClr val="tx1"/>
                </a:solidFill>
                <a:effectLst/>
                <a:ea typeface="等线" panose="02010600030101010101" pitchFamily="2" charset="-122"/>
                <a:cs typeface="Times New Roman" panose="02020603050405020304" pitchFamily="18" charset="0"/>
              </a:rPr>
              <a:t>持续深化法治建设的必要性和紧迫性</a:t>
            </a:r>
            <a:endParaRPr lang="zh-CN" altLang="en-US" dirty="0">
              <a:solidFill>
                <a:schemeClr val="tx1"/>
              </a:solidFill>
            </a:endParaRPr>
          </a:p>
        </p:txBody>
      </p:sp>
      <p:sp>
        <p:nvSpPr>
          <p:cNvPr id="3" name="内容占位符 2">
            <a:extLst>
              <a:ext uri="{FF2B5EF4-FFF2-40B4-BE49-F238E27FC236}">
                <a16:creationId xmlns:a16="http://schemas.microsoft.com/office/drawing/2014/main" id="{DAE9EC88-18E3-8015-8F01-8D28672F142D}"/>
              </a:ext>
            </a:extLst>
          </p:cNvPr>
          <p:cNvSpPr>
            <a:spLocks noGrp="1"/>
          </p:cNvSpPr>
          <p:nvPr>
            <p:ph idx="1"/>
          </p:nvPr>
        </p:nvSpPr>
        <p:spPr/>
        <p:txBody>
          <a:bodyPr/>
          <a:lstStyle/>
          <a:p>
            <a:pPr marL="0" indent="0">
              <a:buNone/>
            </a:pPr>
            <a:r>
              <a:rPr lang="en-US" altLang="zh-CN" sz="2400" dirty="0"/>
              <a:t>1.</a:t>
            </a:r>
            <a:r>
              <a:rPr lang="zh-CN" altLang="en-US" sz="2400" dirty="0"/>
              <a:t>社会变革需要法治适应： </a:t>
            </a:r>
            <a:r>
              <a:rPr lang="zh-CN" altLang="en-US" sz="2400" dirty="0">
                <a:latin typeface="宋体" panose="02010600030101010101" pitchFamily="2" charset="-122"/>
                <a:ea typeface="宋体" panose="02010600030101010101" pitchFamily="2" charset="-122"/>
              </a:rPr>
              <a:t>面对社会经济快速发展和变革，法治体系需要不断适应新的社会需求和问题，以保持对社会的有效治理。</a:t>
            </a:r>
          </a:p>
          <a:p>
            <a:pPr marL="0" indent="0">
              <a:buNone/>
            </a:pPr>
            <a:r>
              <a:rPr lang="en-US" altLang="zh-CN" sz="2400" dirty="0"/>
              <a:t>2.</a:t>
            </a:r>
            <a:r>
              <a:rPr lang="zh-CN" altLang="en-US" sz="2400" dirty="0"/>
              <a:t>全球化背景下的法治竞争： </a:t>
            </a:r>
            <a:r>
              <a:rPr lang="zh-CN" altLang="en-US" sz="2400" dirty="0">
                <a:latin typeface="宋体" panose="02010600030101010101" pitchFamily="2" charset="-122"/>
                <a:ea typeface="宋体" panose="02010600030101010101" pitchFamily="2" charset="-122"/>
              </a:rPr>
              <a:t>在全球化的背景下，国家之间的法治水平成为吸引投资和合作的重要因素，持续深化法治建设是提高国际竞争力的关键。</a:t>
            </a:r>
          </a:p>
          <a:p>
            <a:pPr marL="0" indent="0">
              <a:buNone/>
            </a:pPr>
            <a:r>
              <a:rPr lang="en-US" altLang="zh-CN" sz="2400" dirty="0"/>
              <a:t>3.</a:t>
            </a:r>
            <a:r>
              <a:rPr lang="zh-CN" altLang="en-US" sz="2400" dirty="0"/>
              <a:t>社会矛盾需要法治解决： </a:t>
            </a:r>
            <a:r>
              <a:rPr lang="zh-CN" altLang="en-US" sz="2400" dirty="0">
                <a:latin typeface="宋体" panose="02010600030101010101" pitchFamily="2" charset="-122"/>
                <a:ea typeface="宋体" panose="02010600030101010101" pitchFamily="2" charset="-122"/>
              </a:rPr>
              <a:t>社会矛盾不断涌现，通过法治手段解决矛盾是维护社会稳定的有效途径，有助于减少社会冲突。</a:t>
            </a:r>
          </a:p>
          <a:p>
            <a:pPr marL="0" indent="0">
              <a:buNone/>
            </a:pPr>
            <a:r>
              <a:rPr lang="en-US" altLang="zh-CN" sz="2400" dirty="0"/>
              <a:t>4.</a:t>
            </a:r>
            <a:r>
              <a:rPr lang="zh-CN" altLang="en-US" sz="2400" dirty="0"/>
              <a:t>信息化时代的挑战： </a:t>
            </a:r>
            <a:r>
              <a:rPr lang="zh-CN" altLang="en-US" sz="2400" dirty="0">
                <a:latin typeface="宋体" panose="02010600030101010101" pitchFamily="2" charset="-122"/>
                <a:ea typeface="宋体" panose="02010600030101010101" pitchFamily="2" charset="-122"/>
              </a:rPr>
              <a:t>面对信息化时代的挑战，法治建设需要充分利用科技手段，以应对新兴问题，保护个人信息安全，维护网络空间秩序。</a:t>
            </a:r>
          </a:p>
          <a:p>
            <a:pPr marL="0" indent="0">
              <a:buNone/>
            </a:pPr>
            <a:r>
              <a:rPr lang="en-US" altLang="zh-CN" sz="2400" dirty="0"/>
              <a:t>5.</a:t>
            </a:r>
            <a:r>
              <a:rPr lang="zh-CN" altLang="en-US" sz="2400" dirty="0"/>
              <a:t>加强对权力的制约和监督： </a:t>
            </a:r>
            <a:r>
              <a:rPr lang="zh-CN" altLang="en-US" sz="2400" dirty="0">
                <a:latin typeface="宋体" panose="02010600030101010101" pitchFamily="2" charset="-122"/>
                <a:ea typeface="宋体" panose="02010600030101010101" pitchFamily="2" charset="-122"/>
              </a:rPr>
              <a:t>持续深化法治建设有助于建立更加完善的法治体系，强化对政府和权力的制约和监督，确保权力不被滥用。</a:t>
            </a:r>
          </a:p>
          <a:p>
            <a:pPr marL="0" indent="0">
              <a:buNone/>
            </a:pPr>
            <a:endParaRPr lang="zh-CN" altLang="en-US" dirty="0"/>
          </a:p>
          <a:p>
            <a:pPr marL="0" indent="0">
              <a:buNone/>
            </a:pPr>
            <a:endParaRPr lang="zh-CN" altLang="en-US" dirty="0"/>
          </a:p>
        </p:txBody>
      </p:sp>
    </p:spTree>
    <p:extLst>
      <p:ext uri="{BB962C8B-B14F-4D97-AF65-F5344CB8AC3E}">
        <p14:creationId xmlns:p14="http://schemas.microsoft.com/office/powerpoint/2010/main" val="210288609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LIDE.IMAGE" val="e76d2cce-c79d-74b2-6517-177855200260.png"/>
  <p:tag name="ISLIDE.IMAGEPOSITION" val="right-bottom"/>
  <p:tag name="ISLIDE.OUTLINE" val="55357"/>
  <p:tag name="ISLIDE.THEME" val="e76d2cce-c79d-74b2-6517-177855200260-12_133370669104752888.pptx"/>
</p:tagLst>
</file>

<file path=ppt/tags/tag2.xml><?xml version="1.0" encoding="utf-8"?>
<p:tagLst xmlns:a="http://schemas.openxmlformats.org/drawingml/2006/main" xmlns:r="http://schemas.openxmlformats.org/officeDocument/2006/relationships" xmlns:p="http://schemas.openxmlformats.org/presentationml/2006/main">
  <p:tag name="AS_UNIQUEID" val="82"/>
</p:tagLst>
</file>

<file path=ppt/tags/tag3.xml><?xml version="1.0" encoding="utf-8"?>
<p:tagLst xmlns:a="http://schemas.openxmlformats.org/drawingml/2006/main" xmlns:r="http://schemas.openxmlformats.org/officeDocument/2006/relationships" xmlns:p="http://schemas.openxmlformats.org/presentationml/2006/main">
  <p:tag name="AS_UNIQUEID" val="83"/>
</p:tagLst>
</file>

<file path=ppt/tags/tag4.xml><?xml version="1.0" encoding="utf-8"?>
<p:tagLst xmlns:a="http://schemas.openxmlformats.org/drawingml/2006/main" xmlns:r="http://schemas.openxmlformats.org/officeDocument/2006/relationships" xmlns:p="http://schemas.openxmlformats.org/presentationml/2006/main">
  <p:tag name="AS_UNIQUEID" val="84"/>
</p:tagLst>
</file>

<file path=ppt/tags/tag5.xml><?xml version="1.0" encoding="utf-8"?>
<p:tagLst xmlns:a="http://schemas.openxmlformats.org/drawingml/2006/main" xmlns:r="http://schemas.openxmlformats.org/officeDocument/2006/relationships" xmlns:p="http://schemas.openxmlformats.org/presentationml/2006/main">
  <p:tag name="AS_UNIQUEID" val="85"/>
</p:tagLst>
</file>

<file path=ppt/tags/tag6.xml><?xml version="1.0" encoding="utf-8"?>
<p:tagLst xmlns:a="http://schemas.openxmlformats.org/drawingml/2006/main" xmlns:r="http://schemas.openxmlformats.org/officeDocument/2006/relationships" xmlns:p="http://schemas.openxmlformats.org/presentationml/2006/main">
  <p:tag name="AS_UNIQUEID" val="86"/>
</p:tagLst>
</file>

<file path=ppt/tags/tag7.xml><?xml version="1.0" encoding="utf-8"?>
<p:tagLst xmlns:a="http://schemas.openxmlformats.org/drawingml/2006/main" xmlns:r="http://schemas.openxmlformats.org/officeDocument/2006/relationships" xmlns:p="http://schemas.openxmlformats.org/presentationml/2006/main">
  <p:tag name="AS_UNIQUEID" val="24"/>
</p:tagLst>
</file>

<file path=ppt/tags/tag8.xml><?xml version="1.0" encoding="utf-8"?>
<p:tagLst xmlns:a="http://schemas.openxmlformats.org/drawingml/2006/main" xmlns:r="http://schemas.openxmlformats.org/officeDocument/2006/relationships" xmlns:p="http://schemas.openxmlformats.org/presentationml/2006/main">
  <p:tag name="AS_UNIQUEID" val="25"/>
</p:tagLst>
</file>

<file path=ppt/tags/tag9.xml><?xml version="1.0" encoding="utf-8"?>
<p:tagLst xmlns:a="http://schemas.openxmlformats.org/drawingml/2006/main" xmlns:r="http://schemas.openxmlformats.org/officeDocument/2006/relationships" xmlns:p="http://schemas.openxmlformats.org/presentationml/2006/main">
  <p:tag name="AS_UNIQUEID" val="26"/>
</p:tagLst>
</file>

<file path=ppt/tags/tag10.xml><?xml version="1.0" encoding="utf-8"?>
<p:tagLst xmlns:a="http://schemas.openxmlformats.org/drawingml/2006/main" xmlns:r="http://schemas.openxmlformats.org/officeDocument/2006/relationships" xmlns:p="http://schemas.openxmlformats.org/presentationml/2006/main">
  <p:tag name="AS_UNIQUEID" val="27"/>
</p:tagLst>
</file>

<file path=ppt/tags/tag11.xml><?xml version="1.0" encoding="utf-8"?>
<p:tagLst xmlns:a="http://schemas.openxmlformats.org/drawingml/2006/main" xmlns:r="http://schemas.openxmlformats.org/officeDocument/2006/relationships" xmlns:p="http://schemas.openxmlformats.org/presentationml/2006/main">
  <p:tag name="AS_UNIQUEID" val="34"/>
</p:tagLst>
</file>

<file path=ppt/tags/tag12.xml><?xml version="1.0" encoding="utf-8"?>
<p:tagLst xmlns:a="http://schemas.openxmlformats.org/drawingml/2006/main" xmlns:r="http://schemas.openxmlformats.org/officeDocument/2006/relationships" xmlns:p="http://schemas.openxmlformats.org/presentationml/2006/main">
  <p:tag name="AS_UNIQUEID" val="35"/>
</p:tagLst>
</file>

<file path=ppt/tags/tag13.xml><?xml version="1.0" encoding="utf-8"?>
<p:tagLst xmlns:a="http://schemas.openxmlformats.org/drawingml/2006/main" xmlns:r="http://schemas.openxmlformats.org/officeDocument/2006/relationships" xmlns:p="http://schemas.openxmlformats.org/presentationml/2006/main">
  <p:tag name="AS_UNIQUEID" val="36"/>
</p:tagLst>
</file>

<file path=ppt/tags/tag14.xml><?xml version="1.0" encoding="utf-8"?>
<p:tagLst xmlns:a="http://schemas.openxmlformats.org/drawingml/2006/main" xmlns:r="http://schemas.openxmlformats.org/officeDocument/2006/relationships" xmlns:p="http://schemas.openxmlformats.org/presentationml/2006/main">
  <p:tag name="AS_UNIQUEID" val="37"/>
</p:tagLst>
</file>

<file path=ppt/tags/tag15.xml><?xml version="1.0" encoding="utf-8"?>
<p:tagLst xmlns:a="http://schemas.openxmlformats.org/drawingml/2006/main" xmlns:r="http://schemas.openxmlformats.org/officeDocument/2006/relationships" xmlns:p="http://schemas.openxmlformats.org/presentationml/2006/main">
  <p:tag name="AS_UNIQUEID" val="38"/>
</p:tagLst>
</file>

<file path=ppt/tags/tag16.xml><?xml version="1.0" encoding="utf-8"?>
<p:tagLst xmlns:a="http://schemas.openxmlformats.org/drawingml/2006/main" xmlns:r="http://schemas.openxmlformats.org/officeDocument/2006/relationships" xmlns:p="http://schemas.openxmlformats.org/presentationml/2006/main">
  <p:tag name="AS_UNIQUEID" val="40"/>
</p:tagLst>
</file>

<file path=ppt/tags/tag17.xml><?xml version="1.0" encoding="utf-8"?>
<p:tagLst xmlns:a="http://schemas.openxmlformats.org/drawingml/2006/main" xmlns:r="http://schemas.openxmlformats.org/officeDocument/2006/relationships" xmlns:p="http://schemas.openxmlformats.org/presentationml/2006/main">
  <p:tag name="AS_UNIQUEID" val="41"/>
</p:tagLst>
</file>

<file path=ppt/tags/tag18.xml><?xml version="1.0" encoding="utf-8"?>
<p:tagLst xmlns:a="http://schemas.openxmlformats.org/drawingml/2006/main" xmlns:r="http://schemas.openxmlformats.org/officeDocument/2006/relationships" xmlns:p="http://schemas.openxmlformats.org/presentationml/2006/main">
  <p:tag name="AS_UNIQUEID" val="42"/>
</p:tagLst>
</file>

<file path=ppt/tags/tag19.xml><?xml version="1.0" encoding="utf-8"?>
<p:tagLst xmlns:a="http://schemas.openxmlformats.org/drawingml/2006/main" xmlns:r="http://schemas.openxmlformats.org/officeDocument/2006/relationships" xmlns:p="http://schemas.openxmlformats.org/presentationml/2006/main">
  <p:tag name="AS_UNIQUEID" val="43"/>
</p:tagLst>
</file>

<file path=ppt/tags/tag20.xml><?xml version="1.0" encoding="utf-8"?>
<p:tagLst xmlns:a="http://schemas.openxmlformats.org/drawingml/2006/main" xmlns:r="http://schemas.openxmlformats.org/officeDocument/2006/relationships" xmlns:p="http://schemas.openxmlformats.org/presentationml/2006/main">
  <p:tag name="AS_UNIQUEID" val="44"/>
</p:tagLst>
</file>

<file path=ppt/tags/tag21.xml><?xml version="1.0" encoding="utf-8"?>
<p:tagLst xmlns:a="http://schemas.openxmlformats.org/drawingml/2006/main" xmlns:r="http://schemas.openxmlformats.org/officeDocument/2006/relationships" xmlns:p="http://schemas.openxmlformats.org/presentationml/2006/main">
  <p:tag name="AS_UNIQUEID" val="45"/>
</p:tagLst>
</file>

<file path=ppt/tags/tag22.xml><?xml version="1.0" encoding="utf-8"?>
<p:tagLst xmlns:a="http://schemas.openxmlformats.org/drawingml/2006/main" xmlns:r="http://schemas.openxmlformats.org/officeDocument/2006/relationships" xmlns:p="http://schemas.openxmlformats.org/presentationml/2006/main">
  <p:tag name="AS_UNIQUEID" val="56"/>
</p:tagLst>
</file>

<file path=ppt/tags/tag23.xml><?xml version="1.0" encoding="utf-8"?>
<p:tagLst xmlns:a="http://schemas.openxmlformats.org/drawingml/2006/main" xmlns:r="http://schemas.openxmlformats.org/officeDocument/2006/relationships" xmlns:p="http://schemas.openxmlformats.org/presentationml/2006/main">
  <p:tag name="AS_UNIQUEID" val="57"/>
</p:tagLst>
</file>

<file path=ppt/tags/tag24.xml><?xml version="1.0" encoding="utf-8"?>
<p:tagLst xmlns:a="http://schemas.openxmlformats.org/drawingml/2006/main" xmlns:r="http://schemas.openxmlformats.org/officeDocument/2006/relationships" xmlns:p="http://schemas.openxmlformats.org/presentationml/2006/main">
  <p:tag name="AS_UNIQUEID" val="58"/>
</p:tagLst>
</file>

<file path=ppt/tags/tag25.xml><?xml version="1.0" encoding="utf-8"?>
<p:tagLst xmlns:a="http://schemas.openxmlformats.org/drawingml/2006/main" xmlns:r="http://schemas.openxmlformats.org/officeDocument/2006/relationships" xmlns:p="http://schemas.openxmlformats.org/presentationml/2006/main">
  <p:tag name="AS_UNIQUEID" val="59"/>
</p:tagLst>
</file>

<file path=ppt/tags/tag26.xml><?xml version="1.0" encoding="utf-8"?>
<p:tagLst xmlns:a="http://schemas.openxmlformats.org/drawingml/2006/main" xmlns:r="http://schemas.openxmlformats.org/officeDocument/2006/relationships" xmlns:p="http://schemas.openxmlformats.org/presentationml/2006/main">
  <p:tag name="AS_UNIQUEID" val="60"/>
</p:tagLst>
</file>

<file path=ppt/tags/tag27.xml><?xml version="1.0" encoding="utf-8"?>
<p:tagLst xmlns:a="http://schemas.openxmlformats.org/drawingml/2006/main" xmlns:r="http://schemas.openxmlformats.org/officeDocument/2006/relationships" xmlns:p="http://schemas.openxmlformats.org/presentationml/2006/main">
  <p:tag name="AS_UNIQUEID" val="62"/>
</p:tagLst>
</file>

<file path=ppt/tags/tag28.xml><?xml version="1.0" encoding="utf-8"?>
<p:tagLst xmlns:a="http://schemas.openxmlformats.org/drawingml/2006/main" xmlns:r="http://schemas.openxmlformats.org/officeDocument/2006/relationships" xmlns:p="http://schemas.openxmlformats.org/presentationml/2006/main">
  <p:tag name="AS_UNIQUEID" val="63"/>
</p:tagLst>
</file>

<file path=ppt/tags/tag29.xml><?xml version="1.0" encoding="utf-8"?>
<p:tagLst xmlns:a="http://schemas.openxmlformats.org/drawingml/2006/main" xmlns:r="http://schemas.openxmlformats.org/officeDocument/2006/relationships" xmlns:p="http://schemas.openxmlformats.org/presentationml/2006/main">
  <p:tag name="AS_UNIQUEID" val="64"/>
</p:tagLst>
</file>

<file path=ppt/tags/tag30.xml><?xml version="1.0" encoding="utf-8"?>
<p:tagLst xmlns:a="http://schemas.openxmlformats.org/drawingml/2006/main" xmlns:r="http://schemas.openxmlformats.org/officeDocument/2006/relationships" xmlns:p="http://schemas.openxmlformats.org/presentationml/2006/main">
  <p:tag name="AS_UNIQUEID" val="65"/>
</p:tagLst>
</file>

<file path=ppt/tags/tag31.xml><?xml version="1.0" encoding="utf-8"?>
<p:tagLst xmlns:a="http://schemas.openxmlformats.org/drawingml/2006/main" xmlns:r="http://schemas.openxmlformats.org/officeDocument/2006/relationships" xmlns:p="http://schemas.openxmlformats.org/presentationml/2006/main">
  <p:tag name="AS_UNIQUEID" val="67"/>
</p:tagLst>
</file>

<file path=ppt/tags/tag32.xml><?xml version="1.0" encoding="utf-8"?>
<p:tagLst xmlns:a="http://schemas.openxmlformats.org/drawingml/2006/main" xmlns:r="http://schemas.openxmlformats.org/officeDocument/2006/relationships" xmlns:p="http://schemas.openxmlformats.org/presentationml/2006/main">
  <p:tag name="AS_UNIQUEID" val="68"/>
</p:tagLst>
</file>

<file path=ppt/tags/tag33.xml><?xml version="1.0" encoding="utf-8"?>
<p:tagLst xmlns:a="http://schemas.openxmlformats.org/drawingml/2006/main" xmlns:r="http://schemas.openxmlformats.org/officeDocument/2006/relationships" xmlns:p="http://schemas.openxmlformats.org/presentationml/2006/main">
  <p:tag name="AS_UNIQUEID" val="69"/>
</p:tagLst>
</file>

<file path=ppt/tags/tag34.xml><?xml version="1.0" encoding="utf-8"?>
<p:tagLst xmlns:a="http://schemas.openxmlformats.org/drawingml/2006/main" xmlns:r="http://schemas.openxmlformats.org/officeDocument/2006/relationships" xmlns:p="http://schemas.openxmlformats.org/presentationml/2006/main">
  <p:tag name="AS_UNIQUEID" val="74"/>
</p:tagLst>
</file>

<file path=ppt/tags/tag35.xml><?xml version="1.0" encoding="utf-8"?>
<p:tagLst xmlns:a="http://schemas.openxmlformats.org/drawingml/2006/main" xmlns:r="http://schemas.openxmlformats.org/officeDocument/2006/relationships" xmlns:p="http://schemas.openxmlformats.org/presentationml/2006/main">
  <p:tag name="AS_UNIQUEID" val="78"/>
</p:tagLst>
</file>

<file path=ppt/tags/tag36.xml><?xml version="1.0" encoding="utf-8"?>
<p:tagLst xmlns:a="http://schemas.openxmlformats.org/drawingml/2006/main" xmlns:r="http://schemas.openxmlformats.org/officeDocument/2006/relationships" xmlns:p="http://schemas.openxmlformats.org/presentationml/2006/main">
  <p:tag name="AS_UNIQUEID" val="79"/>
</p:tagLst>
</file>

<file path=ppt/tags/tag37.xml><?xml version="1.0" encoding="utf-8"?>
<p:tagLst xmlns:a="http://schemas.openxmlformats.org/drawingml/2006/main" xmlns:r="http://schemas.openxmlformats.org/officeDocument/2006/relationships" xmlns:p="http://schemas.openxmlformats.org/presentationml/2006/main">
  <p:tag name="AS_UNIQUEID" val="80"/>
</p:tagLst>
</file>

<file path=ppt/tags/tag38.xml><?xml version="1.0" encoding="utf-8"?>
<p:tagLst xmlns:a="http://schemas.openxmlformats.org/drawingml/2006/main" xmlns:r="http://schemas.openxmlformats.org/officeDocument/2006/relationships" xmlns:p="http://schemas.openxmlformats.org/presentationml/2006/main">
  <p:tag name="AS_UNIQUEID" val="0"/>
</p:tagLst>
</file>

<file path=ppt/tags/tag39.xml><?xml version="1.0" encoding="utf-8"?>
<p:tagLst xmlns:a="http://schemas.openxmlformats.org/drawingml/2006/main" xmlns:r="http://schemas.openxmlformats.org/officeDocument/2006/relationships" xmlns:p="http://schemas.openxmlformats.org/presentationml/2006/main">
  <p:tag name="AS_UNIQUEID" val="1"/>
</p:tagLst>
</file>

<file path=ppt/tags/tag40.xml><?xml version="1.0" encoding="utf-8"?>
<p:tagLst xmlns:a="http://schemas.openxmlformats.org/drawingml/2006/main" xmlns:r="http://schemas.openxmlformats.org/officeDocument/2006/relationships" xmlns:p="http://schemas.openxmlformats.org/presentationml/2006/main">
  <p:tag name="AS_UNIQUEID" val="2"/>
</p:tagLst>
</file>

<file path=ppt/tags/tag41.xml><?xml version="1.0" encoding="utf-8"?>
<p:tagLst xmlns:a="http://schemas.openxmlformats.org/drawingml/2006/main" xmlns:r="http://schemas.openxmlformats.org/officeDocument/2006/relationships" xmlns:p="http://schemas.openxmlformats.org/presentationml/2006/main">
  <p:tag name="AS_UNIQUEID" val="3"/>
</p:tagLst>
</file>

<file path=ppt/tags/tag42.xml><?xml version="1.0" encoding="utf-8"?>
<p:tagLst xmlns:a="http://schemas.openxmlformats.org/drawingml/2006/main" xmlns:r="http://schemas.openxmlformats.org/officeDocument/2006/relationships" xmlns:p="http://schemas.openxmlformats.org/presentationml/2006/main">
  <p:tag name="AS_UNIQUEID" val="6"/>
</p:tagLst>
</file>

<file path=ppt/tags/tag43.xml><?xml version="1.0" encoding="utf-8"?>
<p:tagLst xmlns:a="http://schemas.openxmlformats.org/drawingml/2006/main" xmlns:r="http://schemas.openxmlformats.org/officeDocument/2006/relationships" xmlns:p="http://schemas.openxmlformats.org/presentationml/2006/main">
  <p:tag name="AS_UNIQUEID" val="7"/>
</p:tagLst>
</file>

<file path=ppt/tags/tag44.xml><?xml version="1.0" encoding="utf-8"?>
<p:tagLst xmlns:a="http://schemas.openxmlformats.org/drawingml/2006/main" xmlns:r="http://schemas.openxmlformats.org/officeDocument/2006/relationships" xmlns:p="http://schemas.openxmlformats.org/presentationml/2006/main">
  <p:tag name="AS_UNIQUEID" val="133"/>
</p:tagLst>
</file>

<file path=ppt/tags/tag45.xml><?xml version="1.0" encoding="utf-8"?>
<p:tagLst xmlns:a="http://schemas.openxmlformats.org/drawingml/2006/main" xmlns:r="http://schemas.openxmlformats.org/officeDocument/2006/relationships" xmlns:p="http://schemas.openxmlformats.org/presentationml/2006/main">
  <p:tag name="AS_UNIQUEID" val="8"/>
</p:tagLst>
</file>

<file path=ppt/theme/theme1.xml><?xml version="1.0" encoding="utf-8"?>
<a:theme xmlns:a="http://schemas.openxmlformats.org/drawingml/2006/main" name="Designed by OfficePLUS">
  <a:themeElements>
    <a:clrScheme name="iSlide">
      <a:dk1>
        <a:srgbClr val="000000"/>
      </a:dk1>
      <a:lt1>
        <a:srgbClr val="FFFFFF"/>
      </a:lt1>
      <a:dk2>
        <a:srgbClr val="778495"/>
      </a:dk2>
      <a:lt2>
        <a:srgbClr val="F0F0F0"/>
      </a:lt2>
      <a:accent1>
        <a:srgbClr val="EA3225"/>
      </a:accent1>
      <a:accent2>
        <a:srgbClr val="F89C3A"/>
      </a:accent2>
      <a:accent3>
        <a:srgbClr val="E38622"/>
      </a:accent3>
      <a:accent4>
        <a:srgbClr val="FFF590"/>
      </a:accent4>
      <a:accent5>
        <a:srgbClr val="A70304"/>
      </a:accent5>
      <a:accent6>
        <a:srgbClr val="A5A5A5"/>
      </a:accent6>
      <a:hlink>
        <a:srgbClr val="4472C4"/>
      </a:hlink>
      <a:folHlink>
        <a:srgbClr val="BFBFBF"/>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TotalTime>
  <Words>3460</Words>
  <Application>Microsoft Office PowerPoint</Application>
  <PresentationFormat>宽屏</PresentationFormat>
  <Paragraphs>114</Paragraphs>
  <Slides>18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等线</vt:lpstr>
      <vt:lpstr>宋体</vt:lpstr>
      <vt:lpstr>微软雅黑</vt:lpstr>
      <vt:lpstr>Arial</vt:lpstr>
      <vt:lpstr>Segoe UI</vt:lpstr>
      <vt:lpstr>Designed by OfficePLUS</vt:lpstr>
      <vt:lpstr>正确认识和理解中国特色法治道路</vt:lpstr>
      <vt:lpstr>法治的概念：法治是一种通过法律来维护社会秩序、保障公民权益，以及规范政府行为的政治理念和制度安排。在法治社会中，法律是最高的权威，所有公民和政府机构都受到法律的约束和保护。        中国特色社会主义法治道路的重要性：</vt:lpstr>
      <vt:lpstr>社会主义法制的理论基础</vt:lpstr>
      <vt:lpstr>中国特色社会主义法制的重要意义</vt:lpstr>
      <vt:lpstr>中国特色社会主义法治的特点:</vt:lpstr>
      <vt:lpstr>PowerPoint 演示文稿</vt:lpstr>
      <vt:lpstr>PowerPoint 演示文稿</vt:lpstr>
      <vt:lpstr>司法体制改革与司法独立保障</vt:lpstr>
      <vt:lpstr>法治文化、监督建设</vt:lpstr>
      <vt:lpstr>基层法治建设与社会参与、国际合作</vt:lpstr>
      <vt:lpstr>法制观念的转变和法治文化的培育</vt:lpstr>
      <vt:lpstr>法制观念的转变和法治文化的培育</vt:lpstr>
      <vt:lpstr>依法治国的制度建设和法治实践的创新</vt:lpstr>
      <vt:lpstr>依法治国的制度建设和法治实践的创新</vt:lpstr>
      <vt:lpstr>中国特色社会主义法治道路的成果成就</vt:lpstr>
      <vt:lpstr>展望未来法治建设的发展方向和重点</vt:lpstr>
      <vt:lpstr>中国社会主义特色法治道路的重要意义</vt:lpstr>
      <vt:lpstr>持续深化法治建设的必要性和紧迫性</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软 微</cp:lastModifiedBy>
  <cp:revision>14</cp:revision>
  <cp:lastPrinted>2023-11-27T16:00:00Z</cp:lastPrinted>
  <dcterms:created xsi:type="dcterms:W3CDTF">2023-11-27T16:00:00Z</dcterms:created>
  <dcterms:modified xsi:type="dcterms:W3CDTF">2023-12-12T15:19:43Z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1d2bfeba-367b-41c8-b838-26e1545c3476</vt:lpwstr>
  </property>
</Properties>
</file>