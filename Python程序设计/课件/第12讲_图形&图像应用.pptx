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2"/>
  </p:notesMasterIdLst>
  <p:sldIdLst>
    <p:sldId id="2007578628" r:id="rId2"/>
    <p:sldId id="2007578629" r:id="rId3"/>
    <p:sldId id="2007578630" r:id="rId4"/>
    <p:sldId id="2007578631" r:id="rId5"/>
    <p:sldId id="2007578632" r:id="rId6"/>
    <p:sldId id="2007578633" r:id="rId7"/>
    <p:sldId id="2007578634" r:id="rId8"/>
    <p:sldId id="2007578635" r:id="rId9"/>
    <p:sldId id="2007578636" r:id="rId10"/>
    <p:sldId id="2007578637" r:id="rId11"/>
    <p:sldId id="2007578638" r:id="rId12"/>
    <p:sldId id="2007578639" r:id="rId13"/>
    <p:sldId id="2007578640" r:id="rId14"/>
    <p:sldId id="2007579081" r:id="rId15"/>
    <p:sldId id="315" r:id="rId16"/>
    <p:sldId id="316" r:id="rId17"/>
    <p:sldId id="324" r:id="rId18"/>
    <p:sldId id="325" r:id="rId19"/>
    <p:sldId id="319" r:id="rId20"/>
    <p:sldId id="318" r:id="rId21"/>
    <p:sldId id="320" r:id="rId22"/>
    <p:sldId id="2007579084" r:id="rId23"/>
    <p:sldId id="321" r:id="rId24"/>
    <p:sldId id="2007579083" r:id="rId25"/>
    <p:sldId id="322" r:id="rId26"/>
    <p:sldId id="323" r:id="rId27"/>
    <p:sldId id="328" r:id="rId28"/>
    <p:sldId id="2007579085" r:id="rId29"/>
    <p:sldId id="326" r:id="rId30"/>
    <p:sldId id="2007578726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54FA32-D6BC-4D32-985E-F4F930615ED8}" type="datetimeFigureOut">
              <a:rPr lang="zh-CN" altLang="en-US" smtClean="0"/>
              <a:t>2023/11/30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094932-1609-4890-A55C-651C192CE8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4290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完成大量图像处理工作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ED8765-8EF3-408C-9341-152904E414E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4588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防止打开文件失败</a:t>
            </a:r>
            <a:endParaRPr lang="en-US" altLang="zh-CN"/>
          </a:p>
          <a:p>
            <a:r>
              <a:rPr lang="zh-CN" altLang="en-US"/>
              <a:t>图像路径不要太复杂</a:t>
            </a:r>
            <a:endParaRPr lang="en-US" altLang="zh-CN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ED8765-8EF3-408C-9341-152904E414E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45282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流水账式的语句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ED8765-8EF3-408C-9341-152904E414E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2526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数据可视化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ED8765-8EF3-408C-9341-152904E414E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12365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调用出错时</a:t>
            </a:r>
            <a:endParaRPr lang="en-US" altLang="zh-CN"/>
          </a:p>
          <a:p>
            <a:r>
              <a:rPr lang="en-US" altLang="zh-CN"/>
              <a:t>Pip3 uninstall matPlotlib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/>
              <a:t>Pip3 install matPlotlib==3.0.3  </a:t>
            </a:r>
            <a:r>
              <a:rPr lang="zh-CN" altLang="en-US"/>
              <a:t>旧的包，兼容性好</a:t>
            </a: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ED8765-8EF3-408C-9341-152904E414E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1081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Plt</a:t>
            </a:r>
            <a:r>
              <a:rPr lang="zh-CN" altLang="en-US"/>
              <a:t>也可以用列表，但元素都是数字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ED8765-8EF3-408C-9341-152904E414E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83444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尾翼比四分位距离往外</a:t>
            </a:r>
            <a:r>
              <a:rPr lang="en-US" altLang="zh-CN"/>
              <a:t>1.5</a:t>
            </a:r>
            <a:r>
              <a:rPr lang="zh-CN" altLang="en-US"/>
              <a:t>，但箱子的尾翼往外</a:t>
            </a:r>
            <a:r>
              <a:rPr lang="en-US" altLang="zh-CN"/>
              <a:t>1.5</a:t>
            </a:r>
            <a:r>
              <a:rPr lang="zh-CN" altLang="en-US"/>
              <a:t>倍看起来没那么长</a:t>
            </a:r>
            <a:endParaRPr lang="en-US" altLang="zh-CN"/>
          </a:p>
          <a:p>
            <a:r>
              <a:rPr lang="zh-CN" altLang="en-US"/>
              <a:t>如果数据没有到达那么远的距离，那么尾翼只画到最远的元素位置</a:t>
            </a:r>
            <a:endParaRPr lang="en-US" altLang="zh-CN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ED8765-8EF3-408C-9341-152904E414E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96077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>
                <a:solidFill>
                  <a:srgbClr val="121212"/>
                </a:solidFill>
                <a:effectLst/>
                <a:latin typeface="-apple-system"/>
              </a:rPr>
              <a:t>饼图：</a:t>
            </a:r>
            <a:r>
              <a:rPr lang="zh-CN" altLang="en-US" b="0" i="0">
                <a:solidFill>
                  <a:srgbClr val="121212"/>
                </a:solidFill>
                <a:effectLst/>
                <a:latin typeface="-apple-system"/>
              </a:rPr>
              <a:t>用于表示不同分类的占比情况，通过弧度大小来对比各种分类。</a:t>
            </a:r>
            <a:br>
              <a:rPr lang="zh-CN" altLang="en-US" b="0" i="0">
                <a:solidFill>
                  <a:srgbClr val="121212"/>
                </a:solidFill>
                <a:effectLst/>
                <a:latin typeface="-apple-system"/>
              </a:rPr>
            </a:br>
            <a:r>
              <a:rPr lang="zh-CN" altLang="en-US" b="1" i="0">
                <a:solidFill>
                  <a:srgbClr val="121212"/>
                </a:solidFill>
                <a:effectLst/>
                <a:latin typeface="-apple-system"/>
              </a:rPr>
              <a:t>特点：分类数据的占比情况</a:t>
            </a:r>
            <a:r>
              <a:rPr lang="en-US" altLang="zh-CN" b="1" i="0">
                <a:solidFill>
                  <a:srgbClr val="121212"/>
                </a:solidFill>
                <a:effectLst/>
                <a:latin typeface="-apple-system"/>
              </a:rPr>
              <a:t>(</a:t>
            </a:r>
            <a:r>
              <a:rPr lang="zh-CN" altLang="en-US" b="1" i="0">
                <a:solidFill>
                  <a:srgbClr val="121212"/>
                </a:solidFill>
                <a:effectLst/>
                <a:latin typeface="-apple-system"/>
              </a:rPr>
              <a:t>占比</a:t>
            </a:r>
            <a:r>
              <a:rPr lang="en-US" altLang="zh-CN" b="1" i="0">
                <a:solidFill>
                  <a:srgbClr val="121212"/>
                </a:solidFill>
                <a:effectLst/>
                <a:latin typeface="-apple-system"/>
              </a:rPr>
              <a:t>)</a:t>
            </a:r>
            <a:br>
              <a:rPr lang="zh-CN" altLang="en-US" b="0" i="0">
                <a:solidFill>
                  <a:srgbClr val="121212"/>
                </a:solidFill>
                <a:effectLst/>
                <a:latin typeface="-apple-system"/>
              </a:rPr>
            </a:br>
            <a:r>
              <a:rPr lang="en-US" altLang="zh-CN" b="0" i="0">
                <a:solidFill>
                  <a:srgbClr val="121212"/>
                </a:solidFill>
                <a:effectLst/>
                <a:latin typeface="-apple-system"/>
              </a:rPr>
              <a:t>api</a:t>
            </a:r>
            <a:r>
              <a:rPr lang="zh-CN" altLang="en-US" b="0" i="0">
                <a:solidFill>
                  <a:srgbClr val="121212"/>
                </a:solidFill>
                <a:effectLst/>
                <a:latin typeface="-apple-system"/>
              </a:rPr>
              <a:t>：</a:t>
            </a:r>
            <a:r>
              <a:rPr lang="en-US" altLang="zh-CN" b="0" i="0">
                <a:solidFill>
                  <a:srgbClr val="121212"/>
                </a:solidFill>
                <a:effectLst/>
                <a:latin typeface="-apple-system"/>
              </a:rPr>
              <a:t>plt.pie(x, labels=,autopct=,colors)</a:t>
            </a:r>
          </a:p>
          <a:p>
            <a:pPr algn="l"/>
            <a:r>
              <a:rPr lang="en-US" altLang="zh-CN" b="0" i="0">
                <a:solidFill>
                  <a:srgbClr val="121212"/>
                </a:solidFill>
                <a:effectLst/>
                <a:latin typeface="-apple-system"/>
              </a:rPr>
              <a:t>Parameters: </a:t>
            </a:r>
          </a:p>
          <a:p>
            <a:pPr algn="l"/>
            <a:r>
              <a:rPr lang="en-US" altLang="zh-CN" b="0" i="0">
                <a:solidFill>
                  <a:srgbClr val="121212"/>
                </a:solidFill>
                <a:effectLst/>
                <a:latin typeface="-apple-system"/>
              </a:rPr>
              <a:t>x:</a:t>
            </a:r>
            <a:r>
              <a:rPr lang="zh-CN" altLang="en-US" b="0" i="0">
                <a:solidFill>
                  <a:srgbClr val="121212"/>
                </a:solidFill>
                <a:effectLst/>
                <a:latin typeface="-apple-system"/>
              </a:rPr>
              <a:t>数量，自动算百分比 </a:t>
            </a:r>
            <a:endParaRPr lang="en-US" altLang="zh-CN" b="0" i="0">
              <a:solidFill>
                <a:srgbClr val="121212"/>
              </a:solidFill>
              <a:effectLst/>
              <a:latin typeface="-apple-system"/>
            </a:endParaRPr>
          </a:p>
          <a:p>
            <a:pPr algn="l"/>
            <a:r>
              <a:rPr lang="en-US" altLang="zh-CN" b="0" i="0">
                <a:solidFill>
                  <a:srgbClr val="121212"/>
                </a:solidFill>
                <a:effectLst/>
                <a:latin typeface="-apple-system"/>
              </a:rPr>
              <a:t>labels:</a:t>
            </a:r>
            <a:r>
              <a:rPr lang="zh-CN" altLang="en-US" b="0" i="0">
                <a:solidFill>
                  <a:srgbClr val="121212"/>
                </a:solidFill>
                <a:effectLst/>
                <a:latin typeface="-apple-system"/>
              </a:rPr>
              <a:t>每部分名称 </a:t>
            </a:r>
            <a:endParaRPr lang="en-US" altLang="zh-CN" b="0" i="0">
              <a:solidFill>
                <a:srgbClr val="121212"/>
              </a:solidFill>
              <a:effectLst/>
              <a:latin typeface="-apple-system"/>
            </a:endParaRPr>
          </a:p>
          <a:p>
            <a:pPr algn="l"/>
            <a:r>
              <a:rPr lang="en-US" altLang="zh-CN" b="0" i="0">
                <a:solidFill>
                  <a:srgbClr val="121212"/>
                </a:solidFill>
                <a:effectLst/>
                <a:latin typeface="-apple-system"/>
              </a:rPr>
              <a:t>autopct:</a:t>
            </a:r>
            <a:r>
              <a:rPr lang="zh-CN" altLang="en-US" b="0" i="0">
                <a:solidFill>
                  <a:srgbClr val="121212"/>
                </a:solidFill>
                <a:effectLst/>
                <a:latin typeface="-apple-system"/>
              </a:rPr>
              <a:t>占比显示指定</a:t>
            </a:r>
            <a:r>
              <a:rPr lang="en-US" altLang="zh-CN" b="0" i="0">
                <a:solidFill>
                  <a:srgbClr val="121212"/>
                </a:solidFill>
                <a:effectLst/>
                <a:latin typeface="-apple-system"/>
              </a:rPr>
              <a:t>%1.2f%% </a:t>
            </a:r>
          </a:p>
          <a:p>
            <a:pPr algn="l"/>
            <a:r>
              <a:rPr lang="en-US" altLang="zh-CN" b="0" i="0">
                <a:solidFill>
                  <a:srgbClr val="121212"/>
                </a:solidFill>
                <a:effectLst/>
                <a:latin typeface="-apple-system"/>
              </a:rPr>
              <a:t>colors:</a:t>
            </a:r>
            <a:r>
              <a:rPr lang="zh-CN" altLang="en-US" b="0" i="0">
                <a:solidFill>
                  <a:srgbClr val="121212"/>
                </a:solidFill>
                <a:effectLst/>
                <a:latin typeface="-apple-system"/>
              </a:rPr>
              <a:t>每部分颜色</a:t>
            </a:r>
            <a:endParaRPr lang="en-US" altLang="zh-CN" b="0" i="0">
              <a:solidFill>
                <a:srgbClr val="121212"/>
              </a:solidFill>
              <a:effectLst/>
              <a:latin typeface="-apple-system"/>
            </a:endParaRPr>
          </a:p>
          <a:p>
            <a:pPr algn="l"/>
            <a:endParaRPr lang="en-US" altLang="zh-CN" b="0" i="0">
              <a:solidFill>
                <a:srgbClr val="121212"/>
              </a:solidFill>
              <a:effectLst/>
              <a:latin typeface="-apple-system"/>
            </a:endParaRPr>
          </a:p>
          <a:p>
            <a:pPr algn="l"/>
            <a:r>
              <a:rPr lang="en-US" altLang="zh-CN" b="0" i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1" i="0">
                <a:effectLst/>
                <a:latin typeface="Consolas" panose="020B0609020204030204" pitchFamily="49" charset="0"/>
              </a:rPr>
              <a:t>x: Any</a:t>
            </a:r>
            <a:r>
              <a:rPr lang="en-US" altLang="zh-CN" b="0" i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explode: ArrayLike = ..., labels: Sequence[str] = ..., colors: ArrayLike = ..., autopct: str | ((...) -&gt; Any) | None = ..., pctdistance: float = ..., shadow: bool = ..., labeldistance: float | None = ..., startangle: float = ..., radius: float = ..., counterclock: bool = ..., wedgeprops: dict = ..., textprops: dict = ..., center: tuple[float, float] = ..., frame: bool = ..., rotatelabels: bool = ..., *, normalize: bool = ..., data: ... = ...) -&gt; Any</a:t>
            </a:r>
            <a:endParaRPr lang="zh-CN" altLang="en-US" b="0" i="0">
              <a:solidFill>
                <a:srgbClr val="121212"/>
              </a:solidFill>
              <a:effectLst/>
              <a:latin typeface="-apple-system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ED8765-8EF3-408C-9341-152904E414E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26193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直方图是频度分布图</a:t>
            </a:r>
            <a:endParaRPr lang="en-US" altLang="zh-CN"/>
          </a:p>
          <a:p>
            <a:r>
              <a:rPr lang="zh-CN" altLang="en-US"/>
              <a:t>数值做</a:t>
            </a:r>
            <a:r>
              <a:rPr lang="en-US" altLang="zh-CN"/>
              <a:t>x</a:t>
            </a:r>
            <a:r>
              <a:rPr lang="zh-CN" altLang="en-US"/>
              <a:t>轴，</a:t>
            </a:r>
            <a:r>
              <a:rPr lang="en-US" altLang="zh-CN"/>
              <a:t>y</a:t>
            </a:r>
            <a:r>
              <a:rPr lang="zh-CN" altLang="en-US"/>
              <a:t>轴是个数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fig, ax = plt.subplots()</a:t>
            </a:r>
            <a:r>
              <a:rPr lang="zh-CN" altLang="en-US"/>
              <a:t>的作用？</a:t>
            </a:r>
            <a:endParaRPr lang="en-US" altLang="zh-CN"/>
          </a:p>
          <a:p>
            <a:r>
              <a:rPr lang="zh-CN" altLang="en-US"/>
              <a:t>它是用来创建 总画布</a:t>
            </a:r>
            <a:r>
              <a:rPr lang="en-US" altLang="zh-CN"/>
              <a:t>/figure“</a:t>
            </a:r>
            <a:r>
              <a:rPr lang="zh-CN" altLang="en-US"/>
              <a:t>窗口”的，有</a:t>
            </a:r>
            <a:r>
              <a:rPr lang="en-US" altLang="zh-CN"/>
              <a:t>figure</a:t>
            </a:r>
            <a:r>
              <a:rPr lang="zh-CN" altLang="en-US"/>
              <a:t>就可以在上边（或其中一个子网格</a:t>
            </a:r>
            <a:r>
              <a:rPr lang="en-US" altLang="zh-CN"/>
              <a:t>/subplot</a:t>
            </a:r>
            <a:r>
              <a:rPr lang="zh-CN" altLang="en-US"/>
              <a:t>上）作图了，（</a:t>
            </a:r>
            <a:r>
              <a:rPr lang="en-US" altLang="zh-CN"/>
              <a:t>fig</a:t>
            </a:r>
            <a:r>
              <a:rPr lang="zh-CN" altLang="en-US"/>
              <a:t>：是</a:t>
            </a:r>
            <a:r>
              <a:rPr lang="en-US" altLang="zh-CN"/>
              <a:t>figure</a:t>
            </a:r>
            <a:r>
              <a:rPr lang="zh-CN" altLang="en-US"/>
              <a:t>的缩写）。</a:t>
            </a:r>
            <a:endParaRPr lang="en-US" altLang="zh-CN"/>
          </a:p>
          <a:p>
            <a:r>
              <a:rPr lang="en-US" altLang="zh-CN"/>
              <a:t>plt.subplot(111)</a:t>
            </a:r>
            <a:r>
              <a:rPr lang="zh-CN" altLang="en-US"/>
              <a:t>是</a:t>
            </a:r>
            <a:r>
              <a:rPr lang="en-US" altLang="zh-CN"/>
              <a:t>plt.subplot(1, 1, 1)</a:t>
            </a:r>
            <a:r>
              <a:rPr lang="zh-CN" altLang="en-US"/>
              <a:t>另一个写法而已</a:t>
            </a:r>
            <a:r>
              <a:rPr lang="en-US" altLang="zh-CN"/>
              <a:t>[</a:t>
            </a:r>
            <a:r>
              <a:rPr lang="zh-CN" altLang="en-US"/>
              <a:t>引用链接</a:t>
            </a:r>
            <a:r>
              <a:rPr lang="en-US" altLang="zh-CN"/>
              <a:t>]</a:t>
            </a:r>
            <a:r>
              <a:rPr lang="zh-CN" altLang="en-US"/>
              <a:t>，更完整的写法是</a:t>
            </a:r>
            <a:r>
              <a:rPr lang="en-US" altLang="zh-CN"/>
              <a:t>plt.subplot(nrows=1, ncols=1, index=1)[</a:t>
            </a:r>
            <a:r>
              <a:rPr lang="zh-CN" altLang="en-US"/>
              <a:t>官网</a:t>
            </a:r>
            <a:r>
              <a:rPr lang="en-US" altLang="zh-CN"/>
              <a:t>matplot.pyplot.subplot</a:t>
            </a:r>
            <a:r>
              <a:rPr lang="zh-CN" altLang="en-US"/>
              <a:t>链接</a:t>
            </a:r>
            <a:r>
              <a:rPr lang="en-US" altLang="zh-CN"/>
              <a:t>]</a:t>
            </a:r>
            <a:r>
              <a:rPr lang="zh-CN" altLang="en-US"/>
              <a:t>；</a:t>
            </a:r>
            <a:endParaRPr lang="en-US" altLang="zh-CN"/>
          </a:p>
          <a:p>
            <a:r>
              <a:rPr lang="en-US" altLang="zh-CN"/>
              <a:t>fig, ax = plt.subplots()</a:t>
            </a:r>
            <a:r>
              <a:rPr lang="zh-CN" altLang="en-US"/>
              <a:t>等价于</a:t>
            </a:r>
            <a:r>
              <a:rPr lang="en-US" altLang="zh-CN"/>
              <a:t>fig, ax = plt.subplots(11)[</a:t>
            </a:r>
            <a:r>
              <a:rPr lang="zh-CN" altLang="en-US"/>
              <a:t>引用链接</a:t>
            </a:r>
            <a:r>
              <a:rPr lang="en-US" altLang="zh-CN"/>
              <a:t>]</a:t>
            </a:r>
            <a:r>
              <a:rPr lang="zh-CN" altLang="en-US"/>
              <a:t>。</a:t>
            </a:r>
            <a:endParaRPr lang="en-US" altLang="zh-CN"/>
          </a:p>
          <a:p>
            <a:r>
              <a:rPr lang="en-US" altLang="zh-CN"/>
              <a:t>fig, axes = plt.subplots(2, 3)</a:t>
            </a:r>
            <a:r>
              <a:rPr lang="zh-CN" altLang="en-US"/>
              <a:t>：即表示一次性在</a:t>
            </a:r>
            <a:r>
              <a:rPr lang="en-US" altLang="zh-CN"/>
              <a:t>figure</a:t>
            </a:r>
            <a:r>
              <a:rPr lang="zh-CN" altLang="en-US"/>
              <a:t>上创建成</a:t>
            </a:r>
            <a:r>
              <a:rPr lang="en-US" altLang="zh-CN"/>
              <a:t>2*3</a:t>
            </a:r>
            <a:r>
              <a:rPr lang="zh-CN" altLang="en-US"/>
              <a:t>的网格，使用</a:t>
            </a:r>
            <a:r>
              <a:rPr lang="en-US" altLang="zh-CN"/>
              <a:t>plt.subplot()</a:t>
            </a:r>
            <a:r>
              <a:rPr lang="zh-CN" altLang="en-US"/>
              <a:t>只能一个一个的添加</a:t>
            </a:r>
            <a:r>
              <a:rPr lang="en-US" altLang="zh-CN"/>
              <a:t>[</a:t>
            </a:r>
            <a:r>
              <a:rPr lang="zh-CN" altLang="en-US"/>
              <a:t>引用链接</a:t>
            </a:r>
            <a:r>
              <a:rPr lang="en-US" altLang="zh-CN"/>
              <a:t>]</a:t>
            </a:r>
            <a:r>
              <a:rPr lang="zh-CN" altLang="en-US"/>
              <a:t>：</a:t>
            </a:r>
          </a:p>
          <a:p>
            <a:r>
              <a:rPr lang="en-US" altLang="zh-CN"/>
              <a:t>————————————————</a:t>
            </a:r>
          </a:p>
          <a:p>
            <a:r>
              <a:rPr lang="zh-CN" altLang="en-US"/>
              <a:t>版权声明：本文为</a:t>
            </a:r>
            <a:r>
              <a:rPr lang="en-US" altLang="zh-CN"/>
              <a:t>CSDN</a:t>
            </a:r>
            <a:r>
              <a:rPr lang="zh-CN" altLang="en-US"/>
              <a:t>博主「</a:t>
            </a:r>
            <a:r>
              <a:rPr lang="en-US" altLang="zh-CN"/>
              <a:t>htuhxf</a:t>
            </a:r>
            <a:r>
              <a:rPr lang="zh-CN" altLang="en-US"/>
              <a:t>」的原创文章，遵循</a:t>
            </a:r>
            <a:r>
              <a:rPr lang="en-US" altLang="zh-CN"/>
              <a:t>CC 4.0 BY-SA</a:t>
            </a:r>
            <a:r>
              <a:rPr lang="zh-CN" altLang="en-US"/>
              <a:t>版权协议，转载请附上原文出处链接及本声明。</a:t>
            </a:r>
          </a:p>
          <a:p>
            <a:r>
              <a:rPr lang="zh-CN" altLang="en-US"/>
              <a:t>原文链接：</a:t>
            </a:r>
            <a:r>
              <a:rPr lang="en-US" altLang="zh-CN"/>
              <a:t>https://blog.csdn.net/htuhxf/article/details/82986440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ED8765-8EF3-408C-9341-152904E414E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47644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zh-CN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设置字体的形式，后面的 </a:t>
            </a:r>
            <a:r>
              <a:rPr lang="en-US" altLang="zh-CN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sans-serif </a:t>
            </a:r>
            <a:r>
              <a:rPr lang="zh-CN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就是一种形式，也就是装饰字体</a:t>
            </a:r>
            <a:endParaRPr lang="zh-CN" alt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US" altLang="zh-CN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rcParams</a:t>
            </a:r>
            <a:r>
              <a:rPr lang="en-US" altLang="zh-CN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'font.family'</a:t>
            </a:r>
            <a:r>
              <a:rPr lang="en-US" altLang="zh-CN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altLang="zh-CN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'sans-serif'</a:t>
            </a:r>
            <a:r>
              <a:rPr lang="en-US" altLang="zh-CN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altLang="zh-CN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zh-CN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常见的还有：</a:t>
            </a:r>
            <a:endParaRPr lang="zh-CN" alt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serif</a:t>
            </a:r>
            <a:r>
              <a:rPr lang="zh-CN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：衬线字体，就是边角有特殊修饰的字体。比如宋体字就是有衬线字体。</a:t>
            </a:r>
            <a:endParaRPr lang="zh-CN" alt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sans-serif</a:t>
            </a:r>
            <a:r>
              <a:rPr lang="zh-CN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：</a:t>
            </a:r>
            <a:r>
              <a:rPr lang="en-US" altLang="zh-CN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sans</a:t>
            </a:r>
            <a:r>
              <a:rPr lang="zh-CN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在法语里的意思是“无”，所有就是无衬线字体。比如下面用到的黑体字。</a:t>
            </a:r>
            <a:endParaRPr lang="zh-CN" alt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monospace</a:t>
            </a:r>
            <a:r>
              <a:rPr lang="zh-CN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：等宽字体，每个字母都一般宽的字体。</a:t>
            </a:r>
            <a:endParaRPr lang="zh-CN" alt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zh-CN" alt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US" altLang="zh-CN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rcParams</a:t>
            </a:r>
            <a:r>
              <a:rPr lang="en-US" altLang="zh-CN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'font.sans-serif'</a:t>
            </a:r>
            <a:r>
              <a:rPr lang="en-US" altLang="zh-CN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altLang="zh-CN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'SimHei'</a:t>
            </a:r>
            <a:r>
              <a:rPr lang="en-US" altLang="zh-CN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altLang="zh-CN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设置所用的字体，当前设置的</a:t>
            </a:r>
            <a:r>
              <a:rPr lang="en-US" altLang="zh-CN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SimHei</a:t>
            </a:r>
            <a:r>
              <a:rPr lang="zh-CN" alt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，也就是黑体。</a:t>
            </a:r>
            <a:endParaRPr lang="zh-CN" alt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ED8765-8EF3-408C-9341-152904E414E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89403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Color</a:t>
            </a:r>
            <a:r>
              <a:rPr lang="zh-CN" altLang="en-US"/>
              <a:t>和</a:t>
            </a:r>
            <a:r>
              <a:rPr lang="en-US" altLang="zh-CN"/>
              <a:t>marker</a:t>
            </a:r>
            <a:r>
              <a:rPr lang="zh-CN" altLang="en-US"/>
              <a:t>可以结合起来写，颜色 </a:t>
            </a:r>
            <a:r>
              <a:rPr lang="en-US" altLang="zh-CN"/>
              <a:t>r g b y; marker</a:t>
            </a:r>
            <a:r>
              <a:rPr lang="zh-CN" altLang="en-US"/>
              <a:t>有 </a:t>
            </a:r>
            <a:r>
              <a:rPr lang="en-US" altLang="zh-CN"/>
              <a:t>o</a:t>
            </a:r>
            <a:r>
              <a:rPr lang="zh-CN" altLang="en-US"/>
              <a:t>圆点，</a:t>
            </a:r>
            <a:r>
              <a:rPr lang="en-US" altLang="zh-CN"/>
              <a:t>s</a:t>
            </a:r>
            <a:r>
              <a:rPr lang="zh-CN" altLang="en-US"/>
              <a:t>方块，</a:t>
            </a:r>
            <a:r>
              <a:rPr lang="en-US" altLang="zh-CN"/>
              <a:t>^</a:t>
            </a:r>
            <a:r>
              <a:rPr lang="zh-CN" altLang="en-US"/>
              <a:t>三角点 </a:t>
            </a:r>
            <a:r>
              <a:rPr lang="en-US" altLang="zh-CN"/>
              <a:t>: </a:t>
            </a:r>
            <a:r>
              <a:rPr lang="zh-CN" altLang="en-US"/>
              <a:t>点画线 还有短划线</a:t>
            </a:r>
            <a:endParaRPr lang="en-US" altLang="zh-CN"/>
          </a:p>
          <a:p>
            <a:r>
              <a:rPr lang="en-US" altLang="zh-CN"/>
              <a:t>Ro</a:t>
            </a:r>
            <a:r>
              <a:rPr lang="zh-CN" altLang="en-US"/>
              <a:t>表示红色圆点，</a:t>
            </a:r>
            <a:r>
              <a:rPr lang="en-US" altLang="zh-CN"/>
              <a:t>gs</a:t>
            </a:r>
            <a:r>
              <a:rPr lang="zh-CN" altLang="en-US"/>
              <a:t>绿色方块</a:t>
            </a:r>
            <a:endParaRPr lang="en-US" altLang="zh-CN"/>
          </a:p>
          <a:p>
            <a:endParaRPr lang="en-US" altLang="zh-CN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使用</a:t>
            </a:r>
            <a:r>
              <a:rPr lang="en-US" altLang="zh-CN" b="0" i="0">
                <a:solidFill>
                  <a:srgbClr val="F73131"/>
                </a:solidFill>
                <a:effectLst/>
                <a:latin typeface="Arial" panose="020B0604020202020204" pitchFamily="34" charset="0"/>
              </a:rPr>
              <a:t>plt.rcParams[</a:t>
            </a:r>
            <a:r>
              <a:rPr lang="en-US" altLang="zh-CN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"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参数名</a:t>
            </a:r>
            <a:r>
              <a:rPr lang="en-US" altLang="zh-CN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"] = 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值的形式</a:t>
            </a:r>
            <a:r>
              <a:rPr lang="en-US" altLang="zh-CN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,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可以修改特定参数的值。</a:t>
            </a:r>
            <a:endParaRPr lang="zh-CN" altLang="en-US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ED8765-8EF3-408C-9341-152904E414E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56279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使用</a:t>
            </a:r>
            <a:r>
              <a:rPr lang="en-US" altLang="zh-CN" b="0" i="0">
                <a:solidFill>
                  <a:srgbClr val="F73131"/>
                </a:solidFill>
                <a:effectLst/>
                <a:latin typeface="Arial" panose="020B0604020202020204" pitchFamily="34" charset="0"/>
              </a:rPr>
              <a:t>plt.rcParams[</a:t>
            </a:r>
            <a:r>
              <a:rPr lang="en-US" altLang="zh-CN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"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参数名</a:t>
            </a:r>
            <a:r>
              <a:rPr lang="en-US" altLang="zh-CN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"] = 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值的形式</a:t>
            </a:r>
            <a:r>
              <a:rPr lang="en-US" altLang="zh-CN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,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可以修改特定参数的值。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ED8765-8EF3-408C-9341-152904E414E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84802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gradFill flip="none" rotWithShape="1">
          <a:gsLst>
            <a:gs pos="41000">
              <a:schemeClr val="accent1"/>
            </a:gs>
            <a:gs pos="100000">
              <a:schemeClr val="accent1">
                <a:alpha val="90000"/>
              </a:scheme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1990725"/>
            <a:ext cx="7965440" cy="1757362"/>
          </a:xfrm>
        </p:spPr>
        <p:txBody>
          <a:bodyPr vert="horz" lIns="91440" tIns="45720" rIns="91440" bIns="45720" rtlCol="0" anchor="b">
            <a:noAutofit/>
          </a:bodyPr>
          <a:lstStyle>
            <a:lvl1pPr algn="l">
              <a:defRPr lang="zh-CN" altLang="en-US" sz="6000" b="1" dirty="0">
                <a:solidFill>
                  <a:srgbClr val="FFFFFF"/>
                </a:solidFill>
              </a:defRPr>
            </a:lvl1pPr>
          </a:lstStyle>
          <a:p>
            <a:pPr lvl="0" defTabSz="914332"/>
            <a:r>
              <a:rPr lang="zh-CN" altLang="en-US" dirty="0"/>
              <a:t>商务几何扁平</a:t>
            </a:r>
            <a:r>
              <a:rPr lang="en-US" altLang="zh-CN" dirty="0"/>
              <a:t>PPT</a:t>
            </a:r>
            <a:r>
              <a:rPr lang="zh-CN" altLang="en-US" dirty="0"/>
              <a:t>模板</a:t>
            </a:r>
          </a:p>
        </p:txBody>
      </p:sp>
      <p:sp>
        <p:nvSpPr>
          <p:cNvPr id="8" name="Speaker Placeholder 3">
            <a:extLst>
              <a:ext uri="{FF2B5EF4-FFF2-40B4-BE49-F238E27FC236}">
                <a16:creationId xmlns:a16="http://schemas.microsoft.com/office/drawing/2014/main" id="{44C4A721-803B-47CB-B99E-1D01E8E016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0401" y="3921193"/>
            <a:ext cx="5568951" cy="296271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lang="en-US" altLang="zh-CN" sz="2000" b="0" smtClean="0">
                <a:solidFill>
                  <a:srgbClr val="FFFFFF"/>
                </a:solidFill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zh-CN" altLang="en-US" dirty="0"/>
              <a:t>汇报人：</a:t>
            </a:r>
            <a:r>
              <a:rPr lang="en-US" altLang="zh-CN" dirty="0"/>
              <a:t>XXX</a:t>
            </a:r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CA939A61-406D-45DC-B757-059EFAA0586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0401" y="4326535"/>
            <a:ext cx="5568951" cy="3354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lang="en-US" altLang="zh-CN" sz="2000" b="0" smtClean="0">
                <a:solidFill>
                  <a:srgbClr val="FFFFFF"/>
                </a:solidFill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zh-CN" altLang="en-US" dirty="0"/>
              <a:t>日期：</a:t>
            </a:r>
            <a:r>
              <a:rPr lang="en-US" altLang="zh-CN" dirty="0"/>
              <a:t>20XX</a:t>
            </a:r>
            <a:r>
              <a:rPr lang="zh-CN" altLang="en-US" dirty="0"/>
              <a:t>年</a:t>
            </a:r>
            <a:r>
              <a:rPr lang="en-US" altLang="zh-CN" dirty="0"/>
              <a:t>XX</a:t>
            </a:r>
            <a:r>
              <a:rPr lang="zh-CN" altLang="en-US" dirty="0"/>
              <a:t>月</a:t>
            </a:r>
            <a:r>
              <a:rPr lang="en-US" altLang="zh-CN" dirty="0"/>
              <a:t>XX</a:t>
            </a:r>
            <a:r>
              <a:rPr lang="zh-CN" altLang="en-US" dirty="0"/>
              <a:t>日</a:t>
            </a:r>
            <a:endParaRPr lang="en-US" altLang="en-US" dirty="0"/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EC150303-72BE-99D1-AED7-E4050488661E}"/>
              </a:ext>
            </a:extLst>
          </p:cNvPr>
          <p:cNvGrpSpPr/>
          <p:nvPr userDrawn="1"/>
        </p:nvGrpSpPr>
        <p:grpSpPr>
          <a:xfrm>
            <a:off x="4643122" y="42334"/>
            <a:ext cx="7182311" cy="6773332"/>
            <a:chOff x="4648426" y="84668"/>
            <a:chExt cx="7182311" cy="6773332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424C7F08-71A0-00F5-EBBA-322ACAF13151}"/>
                </a:ext>
              </a:extLst>
            </p:cNvPr>
            <p:cNvSpPr/>
            <p:nvPr userDrawn="1"/>
          </p:nvSpPr>
          <p:spPr>
            <a:xfrm>
              <a:off x="4792887" y="84668"/>
              <a:ext cx="7037850" cy="6773332"/>
            </a:xfrm>
            <a:prstGeom prst="ellipse">
              <a:avLst/>
            </a:prstGeom>
            <a:gradFill flip="none" rotWithShape="1">
              <a:gsLst>
                <a:gs pos="25000">
                  <a:schemeClr val="accent1">
                    <a:lumMod val="45000"/>
                    <a:lumOff val="55000"/>
                    <a:alpha val="45000"/>
                  </a:schemeClr>
                </a:gs>
                <a:gs pos="83000">
                  <a:schemeClr val="accent1">
                    <a:alpha val="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273E1D4D-50D8-6D9E-A448-01F5EC6C8A48}"/>
                </a:ext>
              </a:extLst>
            </p:cNvPr>
            <p:cNvSpPr/>
            <p:nvPr userDrawn="1"/>
          </p:nvSpPr>
          <p:spPr>
            <a:xfrm>
              <a:off x="7949862" y="3285063"/>
              <a:ext cx="2838859" cy="2950637"/>
            </a:xfrm>
            <a:prstGeom prst="ellipse">
              <a:avLst/>
            </a:prstGeom>
            <a:gradFill flip="none" rotWithShape="1">
              <a:gsLst>
                <a:gs pos="11000">
                  <a:srgbClr val="B1B6D1">
                    <a:alpha val="0"/>
                  </a:srgbClr>
                </a:gs>
                <a:gs pos="44000">
                  <a:srgbClr val="8B93C4">
                    <a:alpha val="42000"/>
                  </a:srgbClr>
                </a:gs>
                <a:gs pos="74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E5140AED-15FA-1550-1408-ABCC3DA6258A}"/>
                </a:ext>
              </a:extLst>
            </p:cNvPr>
            <p:cNvSpPr/>
            <p:nvPr userDrawn="1"/>
          </p:nvSpPr>
          <p:spPr>
            <a:xfrm>
              <a:off x="4648426" y="897517"/>
              <a:ext cx="1312288" cy="1363958"/>
            </a:xfrm>
            <a:prstGeom prst="ellipse">
              <a:avLst/>
            </a:prstGeom>
            <a:gradFill flip="none" rotWithShape="1">
              <a:gsLst>
                <a:gs pos="20000">
                  <a:schemeClr val="accent2">
                    <a:alpha val="36000"/>
                  </a:schemeClr>
                </a:gs>
                <a:gs pos="100000">
                  <a:schemeClr val="accent1">
                    <a:alpha val="55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3D31BE62-CC50-6DDF-053D-8D4A349275AD}"/>
              </a:ext>
            </a:extLst>
          </p:cNvPr>
          <p:cNvSpPr/>
          <p:nvPr userDrawn="1"/>
        </p:nvSpPr>
        <p:spPr>
          <a:xfrm>
            <a:off x="1" y="2"/>
            <a:ext cx="2712356" cy="2713385"/>
          </a:xfrm>
          <a:custGeom>
            <a:avLst/>
            <a:gdLst>
              <a:gd name="connsiteX0" fmla="*/ 0 w 2712356"/>
              <a:gd name="connsiteY0" fmla="*/ 0 h 2713385"/>
              <a:gd name="connsiteX1" fmla="*/ 2635987 w 2712356"/>
              <a:gd name="connsiteY1" fmla="*/ 0 h 2713385"/>
              <a:gd name="connsiteX2" fmla="*/ 2670483 w 2712356"/>
              <a:gd name="connsiteY2" fmla="*/ 139441 h 2713385"/>
              <a:gd name="connsiteX3" fmla="*/ 2712356 w 2712356"/>
              <a:gd name="connsiteY3" fmla="*/ 571172 h 2713385"/>
              <a:gd name="connsiteX4" fmla="*/ 651295 w 2712356"/>
              <a:gd name="connsiteY4" fmla="*/ 2713385 h 2713385"/>
              <a:gd name="connsiteX5" fmla="*/ 38398 w 2712356"/>
              <a:gd name="connsiteY5" fmla="*/ 2617075 h 2713385"/>
              <a:gd name="connsiteX6" fmla="*/ 0 w 2712356"/>
              <a:gd name="connsiteY6" fmla="*/ 2602468 h 2713385"/>
              <a:gd name="connsiteX7" fmla="*/ 0 w 2712356"/>
              <a:gd name="connsiteY7" fmla="*/ 0 h 2713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12356" h="2713385">
                <a:moveTo>
                  <a:pt x="0" y="0"/>
                </a:moveTo>
                <a:lnTo>
                  <a:pt x="2635987" y="0"/>
                </a:lnTo>
                <a:lnTo>
                  <a:pt x="2670483" y="139441"/>
                </a:lnTo>
                <a:cubicBezTo>
                  <a:pt x="2697938" y="278894"/>
                  <a:pt x="2712356" y="423283"/>
                  <a:pt x="2712356" y="571172"/>
                </a:cubicBezTo>
                <a:cubicBezTo>
                  <a:pt x="2712356" y="1754284"/>
                  <a:pt x="1789588" y="2713385"/>
                  <a:pt x="651295" y="2713385"/>
                </a:cubicBezTo>
                <a:cubicBezTo>
                  <a:pt x="437865" y="2713385"/>
                  <a:pt x="232012" y="2679667"/>
                  <a:pt x="38398" y="2617075"/>
                </a:cubicBezTo>
                <a:lnTo>
                  <a:pt x="0" y="2602468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86000">
                <a:srgbClr val="B1B6D1">
                  <a:alpha val="0"/>
                </a:srgbClr>
              </a:gs>
              <a:gs pos="34000">
                <a:srgbClr val="8B93C4">
                  <a:alpha val="42000"/>
                </a:srgbClr>
              </a:gs>
              <a:gs pos="79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1156923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AD982555-EA3F-4B74-7506-7B4EBD37E234}"/>
              </a:ext>
            </a:extLst>
          </p:cNvPr>
          <p:cNvSpPr/>
          <p:nvPr userDrawn="1"/>
        </p:nvSpPr>
        <p:spPr>
          <a:xfrm>
            <a:off x="1" y="0"/>
            <a:ext cx="425099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DF03A82-401C-4A0E-BE21-BE588E87414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0401" y="1784096"/>
            <a:ext cx="3045372" cy="594626"/>
          </a:xfrm>
        </p:spPr>
        <p:txBody>
          <a:bodyPr anchor="ctr" anchorCtr="0">
            <a:noAutofit/>
          </a:bodyPr>
          <a:lstStyle>
            <a:lvl1pPr marL="0" indent="0" algn="ctr">
              <a:buFont typeface="+mj-lt"/>
              <a:buNone/>
              <a:defRPr sz="4000" b="1">
                <a:solidFill>
                  <a:srgbClr val="FFFFFF"/>
                </a:solidFill>
                <a:latin typeface="+mj-ea"/>
                <a:ea typeface="+mj-ea"/>
              </a:defRPr>
            </a:lvl1pPr>
            <a:lvl2pPr marL="457189" indent="0">
              <a:buFont typeface="+mj-ea"/>
              <a:buNone/>
              <a:defRPr/>
            </a:lvl2pPr>
            <a:lvl3pPr marL="1257269" indent="-342891">
              <a:buFont typeface="+mj-lt"/>
              <a:buAutoNum type="alphaLcParenR"/>
              <a:defRPr/>
            </a:lvl3pPr>
          </a:lstStyle>
          <a:p>
            <a:pPr lvl="0"/>
            <a:r>
              <a:rPr lang="en-US" altLang="zh-CN" dirty="0"/>
              <a:t>Contents</a:t>
            </a:r>
            <a:endParaRPr lang="zh-CN" altLang="en-US" dirty="0"/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EFDB9EF8-9BCC-B7E0-416E-F38D808442D6}"/>
              </a:ext>
            </a:extLst>
          </p:cNvPr>
          <p:cNvGrpSpPr/>
          <p:nvPr userDrawn="1"/>
        </p:nvGrpSpPr>
        <p:grpSpPr>
          <a:xfrm>
            <a:off x="409577" y="2622550"/>
            <a:ext cx="3762375" cy="3436252"/>
            <a:chOff x="4648426" y="84668"/>
            <a:chExt cx="7182311" cy="6773332"/>
          </a:xfrm>
        </p:grpSpPr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4FC22150-351F-1D32-05AB-F7EA0286743B}"/>
                </a:ext>
              </a:extLst>
            </p:cNvPr>
            <p:cNvSpPr/>
            <p:nvPr userDrawn="1"/>
          </p:nvSpPr>
          <p:spPr>
            <a:xfrm>
              <a:off x="4792887" y="84668"/>
              <a:ext cx="7037850" cy="6773332"/>
            </a:xfrm>
            <a:prstGeom prst="ellipse">
              <a:avLst/>
            </a:prstGeom>
            <a:gradFill flip="none" rotWithShape="1">
              <a:gsLst>
                <a:gs pos="25000">
                  <a:schemeClr val="accent1">
                    <a:lumMod val="45000"/>
                    <a:lumOff val="55000"/>
                    <a:alpha val="45000"/>
                  </a:schemeClr>
                </a:gs>
                <a:gs pos="83000">
                  <a:schemeClr val="accent1">
                    <a:alpha val="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E1618A74-B359-D3CA-7690-4D04767D5E33}"/>
                </a:ext>
              </a:extLst>
            </p:cNvPr>
            <p:cNvSpPr/>
            <p:nvPr userDrawn="1"/>
          </p:nvSpPr>
          <p:spPr>
            <a:xfrm>
              <a:off x="7949862" y="3285063"/>
              <a:ext cx="2838859" cy="2950637"/>
            </a:xfrm>
            <a:prstGeom prst="ellipse">
              <a:avLst/>
            </a:prstGeom>
            <a:gradFill flip="none" rotWithShape="1">
              <a:gsLst>
                <a:gs pos="34000">
                  <a:schemeClr val="accent2">
                    <a:alpha val="34000"/>
                  </a:schemeClr>
                </a:gs>
                <a:gs pos="74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0CD826CB-6E0B-1B05-4FDD-2984599D3762}"/>
                </a:ext>
              </a:extLst>
            </p:cNvPr>
            <p:cNvSpPr/>
            <p:nvPr userDrawn="1"/>
          </p:nvSpPr>
          <p:spPr>
            <a:xfrm>
              <a:off x="4648426" y="897517"/>
              <a:ext cx="1312288" cy="1363958"/>
            </a:xfrm>
            <a:prstGeom prst="ellipse">
              <a:avLst/>
            </a:prstGeom>
            <a:gradFill flip="none" rotWithShape="1">
              <a:gsLst>
                <a:gs pos="20000">
                  <a:schemeClr val="accent2">
                    <a:alpha val="36000"/>
                  </a:schemeClr>
                </a:gs>
                <a:gs pos="100000">
                  <a:schemeClr val="accent1">
                    <a:alpha val="55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9E5BD2CD-BEC8-A5D8-00BD-2A3A6C32C4A9}"/>
              </a:ext>
            </a:extLst>
          </p:cNvPr>
          <p:cNvSpPr/>
          <p:nvPr userDrawn="1"/>
        </p:nvSpPr>
        <p:spPr>
          <a:xfrm>
            <a:off x="2" y="3"/>
            <a:ext cx="1543049" cy="1580547"/>
          </a:xfrm>
          <a:custGeom>
            <a:avLst/>
            <a:gdLst>
              <a:gd name="connsiteX0" fmla="*/ 0 w 1543049"/>
              <a:gd name="connsiteY0" fmla="*/ 0 h 1580547"/>
              <a:gd name="connsiteX1" fmla="*/ 1389702 w 1543049"/>
              <a:gd name="connsiteY1" fmla="*/ 0 h 1580547"/>
              <a:gd name="connsiteX2" fmla="*/ 1464863 w 1543049"/>
              <a:gd name="connsiteY2" fmla="*/ 143926 h 1580547"/>
              <a:gd name="connsiteX3" fmla="*/ 1543049 w 1543049"/>
              <a:gd name="connsiteY3" fmla="*/ 546445 h 1580547"/>
              <a:gd name="connsiteX4" fmla="*/ 548121 w 1543049"/>
              <a:gd name="connsiteY4" fmla="*/ 1580547 h 1580547"/>
              <a:gd name="connsiteX5" fmla="*/ 73879 w 1543049"/>
              <a:gd name="connsiteY5" fmla="*/ 1455737 h 1580547"/>
              <a:gd name="connsiteX6" fmla="*/ 0 w 1543049"/>
              <a:gd name="connsiteY6" fmla="*/ 1409087 h 1580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43049" h="1580547">
                <a:moveTo>
                  <a:pt x="0" y="0"/>
                </a:moveTo>
                <a:lnTo>
                  <a:pt x="1389702" y="0"/>
                </a:lnTo>
                <a:lnTo>
                  <a:pt x="1464863" y="143926"/>
                </a:lnTo>
                <a:cubicBezTo>
                  <a:pt x="1515209" y="267644"/>
                  <a:pt x="1543049" y="403665"/>
                  <a:pt x="1543049" y="546445"/>
                </a:cubicBezTo>
                <a:cubicBezTo>
                  <a:pt x="1543049" y="1117564"/>
                  <a:pt x="1097605" y="1580547"/>
                  <a:pt x="548121" y="1580547"/>
                </a:cubicBezTo>
                <a:cubicBezTo>
                  <a:pt x="376407" y="1580547"/>
                  <a:pt x="214854" y="1535334"/>
                  <a:pt x="73879" y="1455737"/>
                </a:cubicBezTo>
                <a:lnTo>
                  <a:pt x="0" y="1409087"/>
                </a:lnTo>
                <a:close/>
              </a:path>
            </a:pathLst>
          </a:custGeom>
          <a:gradFill flip="none" rotWithShape="1">
            <a:gsLst>
              <a:gs pos="20000">
                <a:schemeClr val="accent2">
                  <a:alpha val="36000"/>
                </a:schemeClr>
              </a:gs>
              <a:gs pos="100000">
                <a:schemeClr val="accent1">
                  <a:alpha val="5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0"/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FDFBE58A-F4DC-EF1E-5D13-F8DFE171653F}"/>
              </a:ext>
            </a:extLst>
          </p:cNvPr>
          <p:cNvSpPr/>
          <p:nvPr userDrawn="1"/>
        </p:nvSpPr>
        <p:spPr>
          <a:xfrm>
            <a:off x="869210" y="2394698"/>
            <a:ext cx="2836561" cy="859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1927794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C7662-4F6D-4B06-BB36-235FC06BF8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3112284"/>
            <a:ext cx="7401560" cy="95105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zh-CN" altLang="en-US" sz="4800">
                <a:solidFill>
                  <a:schemeClr val="tx1"/>
                </a:solidFill>
              </a:defRPr>
            </a:lvl1pPr>
          </a:lstStyle>
          <a:p>
            <a:pPr lvl="0" defTabSz="914332"/>
            <a:r>
              <a:rPr lang="zh-CN" altLang="en-US" dirty="0"/>
              <a:t>单击此处添加主标题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F9930E-40DF-417D-8161-BD38EB172DC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60400" y="4111117"/>
            <a:ext cx="7401560" cy="440729"/>
          </a:xfrm>
        </p:spPr>
        <p:txBody>
          <a:bodyPr>
            <a:normAutofit/>
          </a:bodyPr>
          <a:lstStyle>
            <a:lvl1pPr marL="0" indent="0">
              <a:buNone/>
              <a:defRPr lang="en-US" altLang="zh-CN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点击简单描述该章节的大概内容，阐述核心思想</a:t>
            </a: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49A950A1-B947-717D-E187-AD0063089D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2113598"/>
            <a:ext cx="7401187" cy="950912"/>
          </a:xfrm>
        </p:spPr>
        <p:txBody>
          <a:bodyPr anchor="b">
            <a:noAutofit/>
          </a:bodyPr>
          <a:lstStyle>
            <a:lvl1pPr marL="0" indent="0">
              <a:buNone/>
              <a:defRPr sz="6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5D2D51EC-47FD-72C3-B4F8-45F79C45684E}"/>
              </a:ext>
            </a:extLst>
          </p:cNvPr>
          <p:cNvSpPr/>
          <p:nvPr userDrawn="1"/>
        </p:nvSpPr>
        <p:spPr>
          <a:xfrm>
            <a:off x="4907279" y="3"/>
            <a:ext cx="7284723" cy="6857999"/>
          </a:xfrm>
          <a:custGeom>
            <a:avLst/>
            <a:gdLst>
              <a:gd name="connsiteX0" fmla="*/ 1966125 w 7284723"/>
              <a:gd name="connsiteY0" fmla="*/ 0 h 6857999"/>
              <a:gd name="connsiteX1" fmla="*/ 7284723 w 7284723"/>
              <a:gd name="connsiteY1" fmla="*/ 0 h 6857999"/>
              <a:gd name="connsiteX2" fmla="*/ 7284723 w 7284723"/>
              <a:gd name="connsiteY2" fmla="*/ 6857999 h 6857999"/>
              <a:gd name="connsiteX3" fmla="*/ 1340755 w 7284723"/>
              <a:gd name="connsiteY3" fmla="*/ 6857999 h 6857999"/>
              <a:gd name="connsiteX4" fmla="*/ 1292639 w 7284723"/>
              <a:gd name="connsiteY4" fmla="*/ 6810960 h 6857999"/>
              <a:gd name="connsiteX5" fmla="*/ 0 w 7284723"/>
              <a:gd name="connsiteY5" fmla="*/ 3692584 h 6857999"/>
              <a:gd name="connsiteX6" fmla="*/ 1810751 w 7284723"/>
              <a:gd name="connsiteY6" fmla="*/ 113805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284723" h="6857999">
                <a:moveTo>
                  <a:pt x="1966125" y="0"/>
                </a:moveTo>
                <a:lnTo>
                  <a:pt x="7284723" y="0"/>
                </a:lnTo>
                <a:lnTo>
                  <a:pt x="7284723" y="6857999"/>
                </a:lnTo>
                <a:lnTo>
                  <a:pt x="1340755" y="6857999"/>
                </a:lnTo>
                <a:lnTo>
                  <a:pt x="1292639" y="6810960"/>
                </a:lnTo>
                <a:cubicBezTo>
                  <a:pt x="489500" y="5987340"/>
                  <a:pt x="0" y="4893243"/>
                  <a:pt x="0" y="3692584"/>
                </a:cubicBezTo>
                <a:cubicBezTo>
                  <a:pt x="0" y="2251793"/>
                  <a:pt x="704880" y="964452"/>
                  <a:pt x="1810751" y="113805"/>
                </a:cubicBezTo>
                <a:close/>
              </a:path>
            </a:pathLst>
          </a:custGeom>
          <a:gradFill flip="none" rotWithShape="1">
            <a:gsLst>
              <a:gs pos="0">
                <a:srgbClr val="6B78C4"/>
              </a:gs>
              <a:gs pos="32000">
                <a:schemeClr val="accent1">
                  <a:lumMod val="45000"/>
                  <a:lumOff val="55000"/>
                  <a:alpha val="46000"/>
                </a:schemeClr>
              </a:gs>
              <a:gs pos="84000">
                <a:schemeClr val="accent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0"/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C8B77142-FA8F-519E-7BBD-ABAE915BDE36}"/>
              </a:ext>
            </a:extLst>
          </p:cNvPr>
          <p:cNvSpPr/>
          <p:nvPr userDrawn="1"/>
        </p:nvSpPr>
        <p:spPr>
          <a:xfrm>
            <a:off x="7528557" y="1698"/>
            <a:ext cx="6891224" cy="9100292"/>
          </a:xfrm>
          <a:custGeom>
            <a:avLst/>
            <a:gdLst>
              <a:gd name="connsiteX0" fmla="*/ 3621363 w 6891224"/>
              <a:gd name="connsiteY0" fmla="*/ 0 h 9100292"/>
              <a:gd name="connsiteX1" fmla="*/ 4663443 w 6891224"/>
              <a:gd name="connsiteY1" fmla="*/ 0 h 9100292"/>
              <a:gd name="connsiteX2" fmla="*/ 4663443 w 6891224"/>
              <a:gd name="connsiteY2" fmla="*/ 8743717 h 9100292"/>
              <a:gd name="connsiteX3" fmla="*/ 6891224 w 6891224"/>
              <a:gd name="connsiteY3" fmla="*/ 8743717 h 9100292"/>
              <a:gd name="connsiteX4" fmla="*/ 6686729 w 6891224"/>
              <a:gd name="connsiteY4" fmla="*/ 8818869 h 9100292"/>
              <a:gd name="connsiteX5" fmla="*/ 4975861 w 6891224"/>
              <a:gd name="connsiteY5" fmla="*/ 9100292 h 9100292"/>
              <a:gd name="connsiteX6" fmla="*/ 0 w 6891224"/>
              <a:gd name="connsiteY6" fmla="*/ 4462457 h 9100292"/>
              <a:gd name="connsiteX7" fmla="*/ 3496192 w 6891224"/>
              <a:gd name="connsiteY7" fmla="*/ 33130 h 9100292"/>
              <a:gd name="connsiteX8" fmla="*/ 3621363 w 6891224"/>
              <a:gd name="connsiteY8" fmla="*/ 0 h 9100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91224" h="9100292">
                <a:moveTo>
                  <a:pt x="3621363" y="0"/>
                </a:moveTo>
                <a:lnTo>
                  <a:pt x="4663443" y="0"/>
                </a:lnTo>
                <a:lnTo>
                  <a:pt x="4663443" y="8743717"/>
                </a:lnTo>
                <a:lnTo>
                  <a:pt x="6891224" y="8743717"/>
                </a:lnTo>
                <a:lnTo>
                  <a:pt x="6686729" y="8818869"/>
                </a:lnTo>
                <a:cubicBezTo>
                  <a:pt x="6153253" y="9000932"/>
                  <a:pt x="5577006" y="9100292"/>
                  <a:pt x="4975861" y="9100292"/>
                </a:cubicBezTo>
                <a:cubicBezTo>
                  <a:pt x="2227769" y="9100292"/>
                  <a:pt x="0" y="7023863"/>
                  <a:pt x="0" y="4462457"/>
                </a:cubicBezTo>
                <a:cubicBezTo>
                  <a:pt x="0" y="2381315"/>
                  <a:pt x="1470676" y="620333"/>
                  <a:pt x="3496192" y="33130"/>
                </a:cubicBezTo>
                <a:lnTo>
                  <a:pt x="3621363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45000"/>
                  <a:lumOff val="55000"/>
                  <a:alpha val="45000"/>
                </a:schemeClr>
              </a:gs>
              <a:gs pos="50000">
                <a:schemeClr val="accent1">
                  <a:alpha val="0"/>
                </a:schemeClr>
              </a:gs>
              <a:gs pos="0">
                <a:schemeClr val="accent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0"/>
          </a:p>
        </p:txBody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49B6B922-9FE0-ACC0-2856-83979932223A}"/>
              </a:ext>
            </a:extLst>
          </p:cNvPr>
          <p:cNvSpPr/>
          <p:nvPr userDrawn="1"/>
        </p:nvSpPr>
        <p:spPr>
          <a:xfrm>
            <a:off x="6242193" y="3655434"/>
            <a:ext cx="5949809" cy="3202566"/>
          </a:xfrm>
          <a:custGeom>
            <a:avLst/>
            <a:gdLst>
              <a:gd name="connsiteX0" fmla="*/ 4151489 w 5949809"/>
              <a:gd name="connsiteY0" fmla="*/ 0 h 3202566"/>
              <a:gd name="connsiteX1" fmla="*/ 5824340 w 5949809"/>
              <a:gd name="connsiteY1" fmla="*/ 337733 h 3202566"/>
              <a:gd name="connsiteX2" fmla="*/ 5949809 w 5949809"/>
              <a:gd name="connsiteY2" fmla="*/ 394457 h 3202566"/>
              <a:gd name="connsiteX3" fmla="*/ 5949809 w 5949809"/>
              <a:gd name="connsiteY3" fmla="*/ 3202566 h 3202566"/>
              <a:gd name="connsiteX4" fmla="*/ 0 w 5949809"/>
              <a:gd name="connsiteY4" fmla="*/ 3202566 h 3202566"/>
              <a:gd name="connsiteX5" fmla="*/ 47025 w 5949809"/>
              <a:gd name="connsiteY5" fmla="*/ 3019682 h 3202566"/>
              <a:gd name="connsiteX6" fmla="*/ 4151489 w 5949809"/>
              <a:gd name="connsiteY6" fmla="*/ 0 h 3202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49809" h="3202566">
                <a:moveTo>
                  <a:pt x="4151489" y="0"/>
                </a:moveTo>
                <a:cubicBezTo>
                  <a:pt x="4744875" y="0"/>
                  <a:pt x="5310173" y="120259"/>
                  <a:pt x="5824340" y="337733"/>
                </a:cubicBezTo>
                <a:lnTo>
                  <a:pt x="5949809" y="394457"/>
                </a:lnTo>
                <a:lnTo>
                  <a:pt x="5949809" y="3202566"/>
                </a:lnTo>
                <a:lnTo>
                  <a:pt x="0" y="3202566"/>
                </a:lnTo>
                <a:lnTo>
                  <a:pt x="47025" y="3019682"/>
                </a:lnTo>
                <a:cubicBezTo>
                  <a:pt x="591160" y="1270231"/>
                  <a:pt x="2222986" y="0"/>
                  <a:pt x="415148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836664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3BD5DC2-93F8-A6A6-D337-0AFDC4E3B7D9}"/>
              </a:ext>
            </a:extLst>
          </p:cNvPr>
          <p:cNvSpPr/>
          <p:nvPr userDrawn="1"/>
        </p:nvSpPr>
        <p:spPr>
          <a:xfrm>
            <a:off x="0" y="2"/>
            <a:ext cx="12192000" cy="8831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2EDE83-63CC-4B33-B715-3953EADE21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1" y="90327"/>
            <a:ext cx="10858500" cy="792781"/>
          </a:xfrm>
        </p:spPr>
        <p:txBody>
          <a:bodyPr anchor="ctr" anchorCtr="0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单击此处添加主标题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330E0B63-DF19-3794-3DF0-9401BE50367F}"/>
              </a:ext>
            </a:extLst>
          </p:cNvPr>
          <p:cNvGrpSpPr/>
          <p:nvPr userDrawn="1"/>
        </p:nvGrpSpPr>
        <p:grpSpPr>
          <a:xfrm>
            <a:off x="11074400" y="-89836"/>
            <a:ext cx="1117600" cy="972451"/>
            <a:chOff x="4792887" y="84668"/>
            <a:chExt cx="7037850" cy="6773332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3F370A4D-BC39-B3D9-65E0-793CBEA4D82A}"/>
                </a:ext>
              </a:extLst>
            </p:cNvPr>
            <p:cNvSpPr/>
            <p:nvPr userDrawn="1"/>
          </p:nvSpPr>
          <p:spPr>
            <a:xfrm>
              <a:off x="4792887" y="84668"/>
              <a:ext cx="7037850" cy="6773332"/>
            </a:xfrm>
            <a:prstGeom prst="ellipse">
              <a:avLst/>
            </a:prstGeom>
            <a:gradFill flip="none" rotWithShape="1">
              <a:gsLst>
                <a:gs pos="25000">
                  <a:schemeClr val="accent1">
                    <a:lumMod val="45000"/>
                    <a:lumOff val="55000"/>
                    <a:alpha val="45000"/>
                  </a:schemeClr>
                </a:gs>
                <a:gs pos="83000">
                  <a:schemeClr val="accent1">
                    <a:alpha val="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6BF1186D-E493-415B-0DB8-79DE79037869}"/>
                </a:ext>
              </a:extLst>
            </p:cNvPr>
            <p:cNvSpPr/>
            <p:nvPr userDrawn="1"/>
          </p:nvSpPr>
          <p:spPr>
            <a:xfrm>
              <a:off x="7949863" y="3285061"/>
              <a:ext cx="2838856" cy="2950641"/>
            </a:xfrm>
            <a:prstGeom prst="ellipse">
              <a:avLst/>
            </a:prstGeom>
            <a:gradFill flip="none" rotWithShape="1">
              <a:gsLst>
                <a:gs pos="34000">
                  <a:schemeClr val="accent2">
                    <a:alpha val="34000"/>
                  </a:schemeClr>
                </a:gs>
                <a:gs pos="74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705CAEB6-4A51-02B2-D69B-9EF3C0945242}"/>
              </a:ext>
            </a:extLst>
          </p:cNvPr>
          <p:cNvSpPr/>
          <p:nvPr userDrawn="1"/>
        </p:nvSpPr>
        <p:spPr>
          <a:xfrm>
            <a:off x="0" y="2"/>
            <a:ext cx="792480" cy="792781"/>
          </a:xfrm>
          <a:custGeom>
            <a:avLst/>
            <a:gdLst>
              <a:gd name="connsiteX0" fmla="*/ 0 w 2712356"/>
              <a:gd name="connsiteY0" fmla="*/ 0 h 2713385"/>
              <a:gd name="connsiteX1" fmla="*/ 2635987 w 2712356"/>
              <a:gd name="connsiteY1" fmla="*/ 0 h 2713385"/>
              <a:gd name="connsiteX2" fmla="*/ 2670483 w 2712356"/>
              <a:gd name="connsiteY2" fmla="*/ 139441 h 2713385"/>
              <a:gd name="connsiteX3" fmla="*/ 2712356 w 2712356"/>
              <a:gd name="connsiteY3" fmla="*/ 571172 h 2713385"/>
              <a:gd name="connsiteX4" fmla="*/ 651295 w 2712356"/>
              <a:gd name="connsiteY4" fmla="*/ 2713385 h 2713385"/>
              <a:gd name="connsiteX5" fmla="*/ 38398 w 2712356"/>
              <a:gd name="connsiteY5" fmla="*/ 2617075 h 2713385"/>
              <a:gd name="connsiteX6" fmla="*/ 0 w 2712356"/>
              <a:gd name="connsiteY6" fmla="*/ 2602468 h 2713385"/>
              <a:gd name="connsiteX7" fmla="*/ 0 w 2712356"/>
              <a:gd name="connsiteY7" fmla="*/ 0 h 2713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12356" h="2713385">
                <a:moveTo>
                  <a:pt x="0" y="0"/>
                </a:moveTo>
                <a:lnTo>
                  <a:pt x="2635987" y="0"/>
                </a:lnTo>
                <a:lnTo>
                  <a:pt x="2670483" y="139441"/>
                </a:lnTo>
                <a:cubicBezTo>
                  <a:pt x="2697938" y="278894"/>
                  <a:pt x="2712356" y="423283"/>
                  <a:pt x="2712356" y="571172"/>
                </a:cubicBezTo>
                <a:cubicBezTo>
                  <a:pt x="2712356" y="1754284"/>
                  <a:pt x="1789588" y="2713385"/>
                  <a:pt x="651295" y="2713385"/>
                </a:cubicBezTo>
                <a:cubicBezTo>
                  <a:pt x="437865" y="2713385"/>
                  <a:pt x="232012" y="2679667"/>
                  <a:pt x="38398" y="2617075"/>
                </a:cubicBezTo>
                <a:lnTo>
                  <a:pt x="0" y="2602468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86000">
                <a:srgbClr val="B1B6D1">
                  <a:alpha val="0"/>
                </a:srgbClr>
              </a:gs>
              <a:gs pos="34000">
                <a:srgbClr val="8B93C4">
                  <a:alpha val="42000"/>
                </a:srgbClr>
              </a:gs>
              <a:gs pos="79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2804327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3BD5DC2-93F8-A6A6-D337-0AFDC4E3B7D9}"/>
              </a:ext>
            </a:extLst>
          </p:cNvPr>
          <p:cNvSpPr/>
          <p:nvPr userDrawn="1"/>
        </p:nvSpPr>
        <p:spPr>
          <a:xfrm>
            <a:off x="0" y="2"/>
            <a:ext cx="12192000" cy="8831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2EDE83-63CC-4B33-B715-3953EADE21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1" y="90327"/>
            <a:ext cx="10858500" cy="792781"/>
          </a:xfrm>
        </p:spPr>
        <p:txBody>
          <a:bodyPr anchor="ctr" anchorCtr="0">
            <a:normAutofit/>
          </a:bodyPr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单击此处添加主标题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330E0B63-DF19-3794-3DF0-9401BE50367F}"/>
              </a:ext>
            </a:extLst>
          </p:cNvPr>
          <p:cNvGrpSpPr/>
          <p:nvPr userDrawn="1"/>
        </p:nvGrpSpPr>
        <p:grpSpPr>
          <a:xfrm>
            <a:off x="11074400" y="-89836"/>
            <a:ext cx="1117600" cy="972451"/>
            <a:chOff x="4792887" y="84668"/>
            <a:chExt cx="7037850" cy="6773332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3F370A4D-BC39-B3D9-65E0-793CBEA4D82A}"/>
                </a:ext>
              </a:extLst>
            </p:cNvPr>
            <p:cNvSpPr/>
            <p:nvPr userDrawn="1"/>
          </p:nvSpPr>
          <p:spPr>
            <a:xfrm>
              <a:off x="4792887" y="84668"/>
              <a:ext cx="7037850" cy="6773332"/>
            </a:xfrm>
            <a:prstGeom prst="ellipse">
              <a:avLst/>
            </a:prstGeom>
            <a:gradFill flip="none" rotWithShape="1">
              <a:gsLst>
                <a:gs pos="25000">
                  <a:schemeClr val="accent1">
                    <a:lumMod val="45000"/>
                    <a:lumOff val="55000"/>
                    <a:alpha val="45000"/>
                  </a:schemeClr>
                </a:gs>
                <a:gs pos="83000">
                  <a:schemeClr val="accent1">
                    <a:alpha val="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6BF1186D-E493-415B-0DB8-79DE79037869}"/>
                </a:ext>
              </a:extLst>
            </p:cNvPr>
            <p:cNvSpPr/>
            <p:nvPr userDrawn="1"/>
          </p:nvSpPr>
          <p:spPr>
            <a:xfrm>
              <a:off x="7949863" y="3285061"/>
              <a:ext cx="2838856" cy="2950641"/>
            </a:xfrm>
            <a:prstGeom prst="ellipse">
              <a:avLst/>
            </a:prstGeom>
            <a:gradFill flip="none" rotWithShape="1">
              <a:gsLst>
                <a:gs pos="34000">
                  <a:schemeClr val="accent2">
                    <a:alpha val="34000"/>
                  </a:schemeClr>
                </a:gs>
                <a:gs pos="74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705CAEB6-4A51-02B2-D69B-9EF3C0945242}"/>
              </a:ext>
            </a:extLst>
          </p:cNvPr>
          <p:cNvSpPr/>
          <p:nvPr userDrawn="1"/>
        </p:nvSpPr>
        <p:spPr>
          <a:xfrm>
            <a:off x="0" y="2"/>
            <a:ext cx="792480" cy="792781"/>
          </a:xfrm>
          <a:custGeom>
            <a:avLst/>
            <a:gdLst>
              <a:gd name="connsiteX0" fmla="*/ 0 w 2712356"/>
              <a:gd name="connsiteY0" fmla="*/ 0 h 2713385"/>
              <a:gd name="connsiteX1" fmla="*/ 2635987 w 2712356"/>
              <a:gd name="connsiteY1" fmla="*/ 0 h 2713385"/>
              <a:gd name="connsiteX2" fmla="*/ 2670483 w 2712356"/>
              <a:gd name="connsiteY2" fmla="*/ 139441 h 2713385"/>
              <a:gd name="connsiteX3" fmla="*/ 2712356 w 2712356"/>
              <a:gd name="connsiteY3" fmla="*/ 571172 h 2713385"/>
              <a:gd name="connsiteX4" fmla="*/ 651295 w 2712356"/>
              <a:gd name="connsiteY4" fmla="*/ 2713385 h 2713385"/>
              <a:gd name="connsiteX5" fmla="*/ 38398 w 2712356"/>
              <a:gd name="connsiteY5" fmla="*/ 2617075 h 2713385"/>
              <a:gd name="connsiteX6" fmla="*/ 0 w 2712356"/>
              <a:gd name="connsiteY6" fmla="*/ 2602468 h 2713385"/>
              <a:gd name="connsiteX7" fmla="*/ 0 w 2712356"/>
              <a:gd name="connsiteY7" fmla="*/ 0 h 2713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12356" h="2713385">
                <a:moveTo>
                  <a:pt x="0" y="0"/>
                </a:moveTo>
                <a:lnTo>
                  <a:pt x="2635987" y="0"/>
                </a:lnTo>
                <a:lnTo>
                  <a:pt x="2670483" y="139441"/>
                </a:lnTo>
                <a:cubicBezTo>
                  <a:pt x="2697938" y="278894"/>
                  <a:pt x="2712356" y="423283"/>
                  <a:pt x="2712356" y="571172"/>
                </a:cubicBezTo>
                <a:cubicBezTo>
                  <a:pt x="2712356" y="1754284"/>
                  <a:pt x="1789588" y="2713385"/>
                  <a:pt x="651295" y="2713385"/>
                </a:cubicBezTo>
                <a:cubicBezTo>
                  <a:pt x="437865" y="2713385"/>
                  <a:pt x="232012" y="2679667"/>
                  <a:pt x="38398" y="2617075"/>
                </a:cubicBezTo>
                <a:lnTo>
                  <a:pt x="0" y="2602468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86000">
                <a:srgbClr val="B1B6D1">
                  <a:alpha val="0"/>
                </a:srgbClr>
              </a:gs>
              <a:gs pos="34000">
                <a:srgbClr val="8B93C4">
                  <a:alpha val="42000"/>
                </a:srgbClr>
              </a:gs>
              <a:gs pos="79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A9F09-7DDC-32D6-81D8-6D33FC4931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1" y="1130300"/>
            <a:ext cx="10858500" cy="5003800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spcBef>
                <a:spcPts val="600"/>
              </a:spcBef>
              <a:defRPr sz="2400"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 sz="2000" baseline="0"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 sz="1800" baseline="0"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 sz="1600" baseline="0"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 sz="1600" baseline="0"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88562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C6DA8-D137-41D2-A934-63CB8FFB8B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altLang="zh-CN" dirty="0"/>
              <a:t>Click to edit title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AB63B05-F6A0-3D6F-F801-8D11984D0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81C77-C049-4AAA-A3C8-544909BBB11E}" type="datetime1">
              <a:rPr lang="zh-CN" altLang="en-US" smtClean="0"/>
              <a:t>2023/11/30</a:t>
            </a:fld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27CA976-277E-412D-DEC7-ABBF4B1C5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6246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 www.51pptmoban.c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F34B5E9-7F1A-757A-6933-C2854022C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81C77-C049-4AAA-A3C8-544909BBB11E}" type="datetime1">
              <a:rPr lang="zh-CN" altLang="en-US" smtClean="0"/>
              <a:t>2023/11/30</a:t>
            </a:fld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ED42E90-FD3D-CF04-A89E-B408C6596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商务</a:t>
            </a:r>
            <a:r>
              <a:rPr lang="en-US" altLang="zh-CN"/>
              <a:t>PPT</a:t>
            </a:r>
            <a:r>
              <a:rPr lang="zh-CN" altLang="en-US"/>
              <a:t>模板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C451E9D-D337-3CDB-5813-83070E69D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1605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gradFill>
          <a:gsLst>
            <a:gs pos="41000">
              <a:schemeClr val="accent1"/>
            </a:gs>
            <a:gs pos="100000">
              <a:schemeClr val="accent1">
                <a:alpha val="90000"/>
              </a:schemeClr>
            </a:gs>
          </a:gsLst>
          <a:path path="circle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AAA98E5A-3A9B-76BC-8AC3-016C59AA4760}"/>
              </a:ext>
            </a:extLst>
          </p:cNvPr>
          <p:cNvGrpSpPr/>
          <p:nvPr userDrawn="1"/>
        </p:nvGrpSpPr>
        <p:grpSpPr>
          <a:xfrm>
            <a:off x="4643122" y="42334"/>
            <a:ext cx="7182311" cy="6773332"/>
            <a:chOff x="4648426" y="84668"/>
            <a:chExt cx="7182311" cy="6773332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443180D6-55C2-456A-876B-6DFD6FED559E}"/>
                </a:ext>
              </a:extLst>
            </p:cNvPr>
            <p:cNvSpPr/>
            <p:nvPr userDrawn="1"/>
          </p:nvSpPr>
          <p:spPr>
            <a:xfrm>
              <a:off x="4792887" y="84668"/>
              <a:ext cx="7037850" cy="6773332"/>
            </a:xfrm>
            <a:prstGeom prst="ellipse">
              <a:avLst/>
            </a:prstGeom>
            <a:gradFill flip="none" rotWithShape="1">
              <a:gsLst>
                <a:gs pos="25000">
                  <a:schemeClr val="accent1">
                    <a:lumMod val="45000"/>
                    <a:lumOff val="55000"/>
                    <a:alpha val="45000"/>
                  </a:schemeClr>
                </a:gs>
                <a:gs pos="83000">
                  <a:schemeClr val="accent1">
                    <a:alpha val="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CCE37F71-F955-2E51-24EA-BAE38D51B2AA}"/>
                </a:ext>
              </a:extLst>
            </p:cNvPr>
            <p:cNvSpPr/>
            <p:nvPr userDrawn="1"/>
          </p:nvSpPr>
          <p:spPr>
            <a:xfrm>
              <a:off x="7949862" y="3285063"/>
              <a:ext cx="2838859" cy="2950637"/>
            </a:xfrm>
            <a:prstGeom prst="ellipse">
              <a:avLst/>
            </a:prstGeom>
            <a:gradFill flip="none" rotWithShape="1">
              <a:gsLst>
                <a:gs pos="11000">
                  <a:srgbClr val="B1B6D1">
                    <a:alpha val="0"/>
                  </a:srgbClr>
                </a:gs>
                <a:gs pos="44000">
                  <a:srgbClr val="8B93C4">
                    <a:alpha val="42000"/>
                  </a:srgbClr>
                </a:gs>
                <a:gs pos="74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2863C955-22E4-E129-BD9B-0A61289448AA}"/>
                </a:ext>
              </a:extLst>
            </p:cNvPr>
            <p:cNvSpPr/>
            <p:nvPr userDrawn="1"/>
          </p:nvSpPr>
          <p:spPr>
            <a:xfrm>
              <a:off x="4648426" y="897517"/>
              <a:ext cx="1312288" cy="1363958"/>
            </a:xfrm>
            <a:prstGeom prst="ellipse">
              <a:avLst/>
            </a:prstGeom>
            <a:gradFill flip="none" rotWithShape="1">
              <a:gsLst>
                <a:gs pos="20000">
                  <a:schemeClr val="accent2">
                    <a:alpha val="36000"/>
                  </a:schemeClr>
                </a:gs>
                <a:gs pos="100000">
                  <a:schemeClr val="accent1">
                    <a:alpha val="55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9BF1409B-5AAA-AD35-F9DB-81783BA40697}"/>
              </a:ext>
            </a:extLst>
          </p:cNvPr>
          <p:cNvSpPr/>
          <p:nvPr userDrawn="1"/>
        </p:nvSpPr>
        <p:spPr>
          <a:xfrm>
            <a:off x="1" y="2"/>
            <a:ext cx="2712356" cy="2713385"/>
          </a:xfrm>
          <a:custGeom>
            <a:avLst/>
            <a:gdLst>
              <a:gd name="connsiteX0" fmla="*/ 0 w 2712356"/>
              <a:gd name="connsiteY0" fmla="*/ 0 h 2713385"/>
              <a:gd name="connsiteX1" fmla="*/ 2635987 w 2712356"/>
              <a:gd name="connsiteY1" fmla="*/ 0 h 2713385"/>
              <a:gd name="connsiteX2" fmla="*/ 2670483 w 2712356"/>
              <a:gd name="connsiteY2" fmla="*/ 139441 h 2713385"/>
              <a:gd name="connsiteX3" fmla="*/ 2712356 w 2712356"/>
              <a:gd name="connsiteY3" fmla="*/ 571172 h 2713385"/>
              <a:gd name="connsiteX4" fmla="*/ 651295 w 2712356"/>
              <a:gd name="connsiteY4" fmla="*/ 2713385 h 2713385"/>
              <a:gd name="connsiteX5" fmla="*/ 38398 w 2712356"/>
              <a:gd name="connsiteY5" fmla="*/ 2617075 h 2713385"/>
              <a:gd name="connsiteX6" fmla="*/ 0 w 2712356"/>
              <a:gd name="connsiteY6" fmla="*/ 2602468 h 2713385"/>
              <a:gd name="connsiteX7" fmla="*/ 0 w 2712356"/>
              <a:gd name="connsiteY7" fmla="*/ 0 h 2713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12356" h="2713385">
                <a:moveTo>
                  <a:pt x="0" y="0"/>
                </a:moveTo>
                <a:lnTo>
                  <a:pt x="2635987" y="0"/>
                </a:lnTo>
                <a:lnTo>
                  <a:pt x="2670483" y="139441"/>
                </a:lnTo>
                <a:cubicBezTo>
                  <a:pt x="2697938" y="278894"/>
                  <a:pt x="2712356" y="423283"/>
                  <a:pt x="2712356" y="571172"/>
                </a:cubicBezTo>
                <a:cubicBezTo>
                  <a:pt x="2712356" y="1754284"/>
                  <a:pt x="1789588" y="2713385"/>
                  <a:pt x="651295" y="2713385"/>
                </a:cubicBezTo>
                <a:cubicBezTo>
                  <a:pt x="437865" y="2713385"/>
                  <a:pt x="232012" y="2679667"/>
                  <a:pt x="38398" y="2617075"/>
                </a:cubicBezTo>
                <a:lnTo>
                  <a:pt x="0" y="2602468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86000">
                <a:srgbClr val="B1B6D1">
                  <a:alpha val="0"/>
                </a:srgbClr>
              </a:gs>
              <a:gs pos="34000">
                <a:srgbClr val="8B93C4">
                  <a:alpha val="42000"/>
                </a:srgbClr>
              </a:gs>
              <a:gs pos="79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10" name="Speaker Placeholder 3">
            <a:extLst>
              <a:ext uri="{FF2B5EF4-FFF2-40B4-BE49-F238E27FC236}">
                <a16:creationId xmlns:a16="http://schemas.microsoft.com/office/drawing/2014/main" id="{393CF57B-4E6D-EC77-AFD7-10BC4CE1EE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0401" y="3769098"/>
            <a:ext cx="5568951" cy="296271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lang="en-US" altLang="zh-CN" sz="2000" b="0" smtClean="0">
                <a:solidFill>
                  <a:srgbClr val="FFFFFF"/>
                </a:solidFill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zh-CN" altLang="en-US" dirty="0"/>
              <a:t>汇报人：</a:t>
            </a:r>
            <a:r>
              <a:rPr lang="en-US" altLang="zh-CN" dirty="0"/>
              <a:t>XXX</a:t>
            </a:r>
          </a:p>
        </p:txBody>
      </p:sp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0491E251-5B90-7136-462F-BC5F844245A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0401" y="4174440"/>
            <a:ext cx="5568951" cy="3354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lang="en-US" altLang="zh-CN" sz="2000" b="0" smtClean="0">
                <a:solidFill>
                  <a:srgbClr val="FFFFFF"/>
                </a:solidFill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zh-CN" altLang="en-US" dirty="0"/>
              <a:t>日期：</a:t>
            </a:r>
            <a:r>
              <a:rPr lang="en-US" altLang="zh-CN" dirty="0"/>
              <a:t>20XX</a:t>
            </a:r>
            <a:r>
              <a:rPr lang="zh-CN" altLang="en-US" dirty="0"/>
              <a:t>年</a:t>
            </a:r>
            <a:r>
              <a:rPr lang="en-US" altLang="zh-CN" dirty="0"/>
              <a:t>XX</a:t>
            </a:r>
            <a:r>
              <a:rPr lang="zh-CN" altLang="en-US" dirty="0"/>
              <a:t>月</a:t>
            </a:r>
            <a:r>
              <a:rPr lang="en-US" altLang="zh-CN" dirty="0"/>
              <a:t>XX</a:t>
            </a:r>
            <a:r>
              <a:rPr lang="zh-CN" altLang="en-US" dirty="0"/>
              <a:t>日</a:t>
            </a:r>
            <a:endParaRPr lang="en-US" alt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C2320649-ACD7-42E9-A261-E6ED46ACB4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0401" y="2753098"/>
            <a:ext cx="10858500" cy="885891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buNone/>
              <a:defRPr lang="en-US" altLang="zh-CN" sz="6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marL="457189" indent="0">
              <a:buNone/>
              <a:defRPr lang="en-US" altLang="zh-CN" smtClean="0"/>
            </a:lvl2pPr>
            <a:lvl3pPr>
              <a:defRPr lang="en-US" altLang="zh-CN" smtClean="0"/>
            </a:lvl3pPr>
            <a:lvl4pPr>
              <a:defRPr lang="en-US" altLang="zh-CN" smtClean="0"/>
            </a:lvl4pPr>
            <a:lvl5pPr>
              <a:defRPr lang="zh-CN" altLang="en-US"/>
            </a:lvl5pPr>
          </a:lstStyle>
          <a:p>
            <a:pPr marL="228594" lvl="0" indent="-228594" defTabSz="914332">
              <a:spcBef>
                <a:spcPct val="0"/>
              </a:spcBef>
            </a:pPr>
            <a:r>
              <a:rPr lang="en-US" altLang="zh-CN" dirty="0"/>
              <a:t>THANK YOU</a:t>
            </a:r>
            <a:r>
              <a:rPr lang="zh-CN" altLang="en-US" dirty="0"/>
              <a:t>！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04749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1959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737358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307103-D92B-4D3C-B386-9FD58793C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1" y="0"/>
            <a:ext cx="10858500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 defTabSz="914332"/>
            <a:r>
              <a:rPr lang="en-US" altLang="zh-CN" dirty="0"/>
              <a:t>Click to edit title</a:t>
            </a:r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8920D0-E0E5-40BB-AEDA-3D7A090924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401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16C00-AE39-4635-9F10-B7233D2AC2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401" y="6438900"/>
            <a:ext cx="3992171" cy="215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zh-CN" altLang="en-US"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zh-CN" altLang="en-US"/>
              <a:t>商务</a:t>
            </a:r>
            <a:r>
              <a:rPr lang="en-US" altLang="zh-CN"/>
              <a:t>PPT</a:t>
            </a:r>
            <a:r>
              <a:rPr lang="zh-CN" altLang="en-US"/>
              <a:t>模板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2D871-753D-4991-B44B-EFAE9F8682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4657" y="6438900"/>
            <a:ext cx="1802924" cy="215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altLang="en-US" sz="100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22581C77-C049-4AAA-A3C8-544909BBB11E}" type="datetime1">
              <a:rPr lang="zh-CN" altLang="en-US" smtClean="0"/>
              <a:t>2023/11/30</a:t>
            </a:fld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3E9ED-4E00-42D1-BFBF-5EBD27D298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57452" y="6438900"/>
            <a:ext cx="2661448" cy="215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altLang="en-US" sz="100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F65B630-C7FF-41C0-9923-C5E5E29EED8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4706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>
          <p15:clr>
            <a:srgbClr val="F26B43"/>
          </p15:clr>
        </p15:guide>
        <p15:guide id="2" pos="7256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28">
          <p15:clr>
            <a:srgbClr val="F26B43"/>
          </p15:clr>
        </p15:guide>
        <p15:guide id="6" orient="horz" pos="3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4400"/>
              <a:t>第</a:t>
            </a:r>
            <a:r>
              <a:rPr lang="en-US" altLang="zh-CN" sz="4400"/>
              <a:t>13</a:t>
            </a:r>
            <a:r>
              <a:rPr lang="zh-CN" altLang="en-US" sz="4400"/>
              <a:t>讲 图形</a:t>
            </a:r>
            <a:r>
              <a:rPr lang="en-US" altLang="zh-CN" sz="4400"/>
              <a:t>&amp;</a:t>
            </a:r>
            <a:r>
              <a:rPr lang="zh-CN" altLang="en-US" sz="4400"/>
              <a:t>图像应用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4EEC5B0-A375-3351-0C7E-26F7836A91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9873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Turtle</a:t>
            </a:r>
            <a:r>
              <a:rPr lang="zh-CN" altLang="en-US"/>
              <a:t>与</a:t>
            </a:r>
            <a:r>
              <a:rPr lang="en-US" altLang="zh-CN"/>
              <a:t>Pillow</a:t>
            </a:r>
            <a:r>
              <a:rPr lang="zh-CN" altLang="en-US"/>
              <a:t>图像处理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zh-CN" altLang="en-US"/>
              <a:t>一、</a:t>
            </a:r>
            <a:r>
              <a:rPr lang="en-US" altLang="zh-CN"/>
              <a:t>Turtle</a:t>
            </a:r>
            <a:r>
              <a:rPr lang="zh-CN" altLang="en-US"/>
              <a:t>简介</a:t>
            </a:r>
          </a:p>
          <a:p>
            <a:pPr lvl="1">
              <a:spcBef>
                <a:spcPts val="1200"/>
              </a:spcBef>
            </a:pPr>
            <a:r>
              <a:rPr lang="en-US" altLang="zh-CN"/>
              <a:t>(1) </a:t>
            </a:r>
            <a:r>
              <a:rPr lang="zh-CN" altLang="en-US"/>
              <a:t>什么是</a:t>
            </a:r>
            <a:r>
              <a:rPr lang="en-US" altLang="zh-CN"/>
              <a:t>Turtle</a:t>
            </a:r>
            <a:r>
              <a:rPr lang="zh-CN" altLang="en-US"/>
              <a:t>？</a:t>
            </a:r>
          </a:p>
          <a:p>
            <a:pPr lvl="2">
              <a:lnSpc>
                <a:spcPct val="130000"/>
              </a:lnSpc>
              <a:spcBef>
                <a:spcPts val="1200"/>
              </a:spcBef>
            </a:pPr>
            <a:r>
              <a:rPr lang="en-US" altLang="zh-CN"/>
              <a:t>Turtle</a:t>
            </a:r>
            <a:r>
              <a:rPr lang="zh-CN" altLang="en-US"/>
              <a:t>库是</a:t>
            </a:r>
            <a:r>
              <a:rPr lang="en-US" altLang="zh-CN"/>
              <a:t>Python</a:t>
            </a:r>
            <a:r>
              <a:rPr lang="zh-CN" altLang="en-US"/>
              <a:t>语言中一个很流行的绘制图像的函数库，想象一个小乌龟，在一个横轴为</a:t>
            </a:r>
            <a:r>
              <a:rPr lang="en-US" altLang="zh-CN"/>
              <a:t>x</a:t>
            </a:r>
            <a:r>
              <a:rPr lang="zh-CN" altLang="en-US"/>
              <a:t>、纵轴为</a:t>
            </a:r>
            <a:r>
              <a:rPr lang="en-US" altLang="zh-CN"/>
              <a:t>y</a:t>
            </a:r>
            <a:r>
              <a:rPr lang="zh-CN" altLang="en-US"/>
              <a:t>的坐标系原点</a:t>
            </a:r>
            <a:r>
              <a:rPr lang="en-US" altLang="zh-CN"/>
              <a:t>(0,0)</a:t>
            </a:r>
            <a:r>
              <a:rPr lang="zh-CN" altLang="en-US"/>
              <a:t>位置开始，它根据一组函数指令的控制，在这个平面坐标系中移动，从而在它爬行的路径上绘制了图形。</a:t>
            </a:r>
            <a:endParaRPr lang="en-US" altLang="zh-CN"/>
          </a:p>
          <a:p>
            <a:pPr lvl="1">
              <a:spcBef>
                <a:spcPts val="1200"/>
              </a:spcBef>
            </a:pPr>
            <a:r>
              <a:rPr lang="en-US" altLang="zh-CN"/>
              <a:t>(2) </a:t>
            </a:r>
            <a:r>
              <a:rPr lang="zh-CN" altLang="en-US"/>
              <a:t>引用</a:t>
            </a:r>
            <a:r>
              <a:rPr lang="en-US" altLang="zh-CN"/>
              <a:t>turtle</a:t>
            </a:r>
            <a:r>
              <a:rPr lang="zh-CN" altLang="en-US"/>
              <a:t>库</a:t>
            </a:r>
          </a:p>
          <a:p>
            <a:pPr lvl="2">
              <a:spcBef>
                <a:spcPts val="1200"/>
              </a:spcBef>
            </a:pPr>
            <a:r>
              <a:rPr lang="zh-CN" altLang="en-US"/>
              <a:t>启用</a:t>
            </a:r>
            <a:r>
              <a:rPr lang="en-US" altLang="zh-CN"/>
              <a:t>turtle</a:t>
            </a:r>
          </a:p>
          <a:p>
            <a:pPr lvl="3">
              <a:spcBef>
                <a:spcPts val="1200"/>
              </a:spcBef>
            </a:pPr>
            <a:r>
              <a:rPr lang="en-US" altLang="zh-CN" sz="1800"/>
              <a:t>import turtle as tl</a:t>
            </a:r>
          </a:p>
          <a:p>
            <a:pPr lvl="4">
              <a:spcBef>
                <a:spcPts val="1200"/>
              </a:spcBef>
            </a:pPr>
            <a:r>
              <a:rPr lang="zh-CN" altLang="en-US" sz="1800"/>
              <a:t>引用其函数，需要带有类的别名“</a:t>
            </a:r>
            <a:r>
              <a:rPr lang="en-US" altLang="zh-CN" sz="1800"/>
              <a:t>tl</a:t>
            </a:r>
            <a:r>
              <a:rPr lang="zh-CN" altLang="en-US" sz="1800"/>
              <a:t>”</a:t>
            </a:r>
            <a:endParaRPr lang="en-US" altLang="zh-CN" sz="1800"/>
          </a:p>
          <a:p>
            <a:pPr lvl="3">
              <a:spcBef>
                <a:spcPts val="1200"/>
              </a:spcBef>
            </a:pPr>
            <a:r>
              <a:rPr lang="en-US" altLang="zh-CN" sz="1800"/>
              <a:t>from turtle  import  *</a:t>
            </a:r>
          </a:p>
          <a:p>
            <a:pPr lvl="4">
              <a:spcBef>
                <a:spcPts val="1200"/>
              </a:spcBef>
            </a:pPr>
            <a:r>
              <a:rPr lang="zh-CN" altLang="en-US" sz="1800"/>
              <a:t>引用其函数，可直接调用其内置的函数，</a:t>
            </a:r>
            <a:r>
              <a:rPr lang="zh-CN" altLang="en-US" sz="1800">
                <a:solidFill>
                  <a:srgbClr val="FF0000"/>
                </a:solidFill>
              </a:rPr>
              <a:t>前面不用带库名</a:t>
            </a:r>
          </a:p>
        </p:txBody>
      </p:sp>
    </p:spTree>
    <p:extLst>
      <p:ext uri="{BB962C8B-B14F-4D97-AF65-F5344CB8AC3E}">
        <p14:creationId xmlns:p14="http://schemas.microsoft.com/office/powerpoint/2010/main" val="3570719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Turtle</a:t>
            </a:r>
            <a:r>
              <a:rPr lang="zh-CN" altLang="en-US"/>
              <a:t>与</a:t>
            </a:r>
            <a:r>
              <a:rPr lang="en-US" altLang="zh-CN"/>
              <a:t>Pillow</a:t>
            </a:r>
            <a:r>
              <a:rPr lang="zh-CN" altLang="en-US"/>
              <a:t>图像处理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zh-CN" altLang="en-US"/>
              <a:t>一、</a:t>
            </a:r>
            <a:r>
              <a:rPr lang="en-US" altLang="zh-CN"/>
              <a:t>Turtle</a:t>
            </a:r>
            <a:r>
              <a:rPr lang="zh-CN" altLang="en-US"/>
              <a:t>简介</a:t>
            </a:r>
          </a:p>
          <a:p>
            <a:pPr lvl="1">
              <a:spcBef>
                <a:spcPts val="1200"/>
              </a:spcBef>
            </a:pPr>
            <a:r>
              <a:rPr lang="en-US" altLang="zh-CN"/>
              <a:t>(3)</a:t>
            </a:r>
            <a:r>
              <a:rPr lang="zh-CN" altLang="en-US"/>
              <a:t>绘图的思路</a:t>
            </a:r>
          </a:p>
          <a:p>
            <a:pPr lvl="2">
              <a:lnSpc>
                <a:spcPct val="130000"/>
              </a:lnSpc>
              <a:spcBef>
                <a:spcPts val="1200"/>
              </a:spcBef>
            </a:pPr>
            <a:r>
              <a:rPr lang="zh-CN" altLang="en-US"/>
              <a:t>在画布上，默认有一个坐标原点为画布中心的坐标轴，坐标原点上有一只面朝</a:t>
            </a:r>
            <a:r>
              <a:rPr lang="en-US" altLang="zh-CN"/>
              <a:t>x</a:t>
            </a:r>
            <a:r>
              <a:rPr lang="zh-CN" altLang="en-US"/>
              <a:t>轴正方向小乌龟。这里我们描述小乌龟时使用了两个词语：坐标原点</a:t>
            </a:r>
            <a:r>
              <a:rPr lang="en-US" altLang="zh-CN"/>
              <a:t>(</a:t>
            </a:r>
            <a:r>
              <a:rPr lang="zh-CN" altLang="en-US"/>
              <a:t>位置</a:t>
            </a:r>
            <a:r>
              <a:rPr lang="en-US" altLang="zh-CN"/>
              <a:t>)</a:t>
            </a:r>
            <a:r>
              <a:rPr lang="zh-CN" altLang="en-US"/>
              <a:t>，面朝</a:t>
            </a:r>
            <a:r>
              <a:rPr lang="en-US" altLang="zh-CN"/>
              <a:t>x</a:t>
            </a:r>
            <a:r>
              <a:rPr lang="zh-CN" altLang="en-US"/>
              <a:t>轴正方向</a:t>
            </a:r>
            <a:r>
              <a:rPr lang="en-US" altLang="zh-CN"/>
              <a:t>(</a:t>
            </a:r>
            <a:r>
              <a:rPr lang="zh-CN" altLang="en-US"/>
              <a:t>方向</a:t>
            </a:r>
            <a:r>
              <a:rPr lang="en-US" altLang="zh-CN"/>
              <a:t>)</a:t>
            </a:r>
            <a:r>
              <a:rPr lang="zh-CN" altLang="en-US"/>
              <a:t>， </a:t>
            </a:r>
            <a:r>
              <a:rPr lang="en-US" altLang="zh-CN"/>
              <a:t>turtle</a:t>
            </a:r>
            <a:r>
              <a:rPr lang="zh-CN" altLang="en-US"/>
              <a:t>绘图中，就是使用位置方向描述小乌龟</a:t>
            </a:r>
            <a:r>
              <a:rPr lang="en-US" altLang="zh-CN"/>
              <a:t>(</a:t>
            </a:r>
            <a:r>
              <a:rPr lang="zh-CN" altLang="en-US"/>
              <a:t>画笔</a:t>
            </a:r>
            <a:r>
              <a:rPr lang="en-US" altLang="zh-CN"/>
              <a:t>)</a:t>
            </a:r>
            <a:r>
              <a:rPr lang="zh-CN" altLang="en-US"/>
              <a:t>的状态。</a:t>
            </a:r>
          </a:p>
          <a:p>
            <a:pPr lvl="1">
              <a:spcBef>
                <a:spcPts val="1200"/>
              </a:spcBef>
            </a:pPr>
            <a:r>
              <a:rPr lang="en-US" altLang="zh-CN"/>
              <a:t>(4)turtle</a:t>
            </a:r>
            <a:r>
              <a:rPr lang="zh-CN" altLang="en-US"/>
              <a:t>的绘图指令</a:t>
            </a:r>
          </a:p>
          <a:p>
            <a:pPr lvl="2">
              <a:spcBef>
                <a:spcPts val="1200"/>
              </a:spcBef>
            </a:pPr>
            <a:r>
              <a:rPr lang="en-US" altLang="zh-CN"/>
              <a:t>forward(</a:t>
            </a:r>
            <a:r>
              <a:rPr lang="zh-CN" altLang="en-US"/>
              <a:t>长度</a:t>
            </a:r>
            <a:r>
              <a:rPr lang="en-US" altLang="zh-CN"/>
              <a:t>)</a:t>
            </a:r>
            <a:r>
              <a:rPr lang="zh-CN" altLang="en-US"/>
              <a:t>、</a:t>
            </a:r>
            <a:r>
              <a:rPr lang="en-US" altLang="zh-CN"/>
              <a:t>backward</a:t>
            </a:r>
            <a:r>
              <a:rPr lang="zh-CN" altLang="en-US"/>
              <a:t>（长度）、</a:t>
            </a:r>
            <a:endParaRPr lang="en-US" altLang="zh-CN"/>
          </a:p>
          <a:p>
            <a:pPr lvl="2">
              <a:spcBef>
                <a:spcPts val="1200"/>
              </a:spcBef>
            </a:pPr>
            <a:r>
              <a:rPr lang="en-US" altLang="zh-CN"/>
              <a:t>right(</a:t>
            </a:r>
            <a:r>
              <a:rPr lang="zh-CN" altLang="en-US"/>
              <a:t>角度</a:t>
            </a:r>
            <a:r>
              <a:rPr lang="en-US" altLang="zh-CN"/>
              <a:t>)</a:t>
            </a:r>
            <a:r>
              <a:rPr lang="zh-CN" altLang="en-US"/>
              <a:t>、</a:t>
            </a:r>
            <a:r>
              <a:rPr lang="en-US" altLang="zh-CN"/>
              <a:t>left</a:t>
            </a:r>
            <a:r>
              <a:rPr lang="zh-CN" altLang="en-US"/>
              <a:t>（角度）</a:t>
            </a:r>
            <a:endParaRPr lang="en-US" altLang="zh-CN"/>
          </a:p>
          <a:p>
            <a:pPr lvl="2">
              <a:spcBef>
                <a:spcPts val="1200"/>
              </a:spcBef>
            </a:pPr>
            <a:r>
              <a:rPr lang="en-US" altLang="zh-CN"/>
              <a:t>pensize(</a:t>
            </a:r>
            <a:r>
              <a:rPr lang="zh-CN" altLang="en-US"/>
              <a:t>粗细</a:t>
            </a:r>
            <a:r>
              <a:rPr lang="en-US" altLang="zh-CN"/>
              <a:t>)</a:t>
            </a:r>
          </a:p>
          <a:p>
            <a:pPr lvl="2">
              <a:spcBef>
                <a:spcPts val="1200"/>
              </a:spcBef>
            </a:pPr>
            <a:r>
              <a:rPr lang="en-US" altLang="zh-CN"/>
              <a:t>pencolor(</a:t>
            </a:r>
            <a:r>
              <a:rPr lang="zh-CN" altLang="en-US"/>
              <a:t>红，绿，蓝</a:t>
            </a:r>
            <a:r>
              <a:rPr lang="en-US" altLang="zh-CN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32812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Turtle</a:t>
            </a:r>
            <a:r>
              <a:rPr lang="zh-CN" altLang="en-US"/>
              <a:t>与</a:t>
            </a:r>
            <a:r>
              <a:rPr lang="en-US" altLang="zh-CN"/>
              <a:t>Pillow</a:t>
            </a:r>
            <a:r>
              <a:rPr lang="zh-CN" altLang="en-US"/>
              <a:t>图像处理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0401" y="1130299"/>
            <a:ext cx="10858500" cy="5637373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zh-CN" altLang="en-US"/>
              <a:t>一、</a:t>
            </a:r>
            <a:r>
              <a:rPr lang="en-US" altLang="zh-CN"/>
              <a:t>Turtle</a:t>
            </a:r>
            <a:r>
              <a:rPr lang="zh-CN" altLang="en-US"/>
              <a:t>简介</a:t>
            </a:r>
          </a:p>
          <a:p>
            <a:pPr lvl="1">
              <a:spcBef>
                <a:spcPts val="1200"/>
              </a:spcBef>
            </a:pPr>
            <a:r>
              <a:rPr lang="en-US" altLang="zh-CN"/>
              <a:t>(4)turtle</a:t>
            </a:r>
            <a:r>
              <a:rPr lang="zh-CN" altLang="en-US"/>
              <a:t>的绘图指令</a:t>
            </a:r>
          </a:p>
          <a:p>
            <a:pPr lvl="2">
              <a:spcBef>
                <a:spcPts val="1200"/>
              </a:spcBef>
            </a:pPr>
            <a:r>
              <a:rPr lang="en-US" altLang="zh-CN"/>
              <a:t>penup():          </a:t>
            </a:r>
            <a:r>
              <a:rPr lang="zh-CN" altLang="en-US"/>
              <a:t>抬起画笔；</a:t>
            </a:r>
          </a:p>
          <a:p>
            <a:pPr lvl="2">
              <a:spcBef>
                <a:spcPts val="1200"/>
              </a:spcBef>
            </a:pPr>
            <a:r>
              <a:rPr lang="en-US" altLang="zh-CN"/>
              <a:t>pendown():       </a:t>
            </a:r>
            <a:r>
              <a:rPr lang="zh-CN" altLang="en-US"/>
              <a:t>落下画笔；</a:t>
            </a:r>
            <a:endParaRPr lang="en-US" altLang="zh-CN"/>
          </a:p>
          <a:p>
            <a:pPr lvl="2">
              <a:spcBef>
                <a:spcPts val="1200"/>
              </a:spcBef>
            </a:pPr>
            <a:r>
              <a:rPr lang="en-US" altLang="zh-CN"/>
              <a:t>circle(r, extent = None)</a:t>
            </a:r>
          </a:p>
          <a:p>
            <a:pPr lvl="3">
              <a:spcBef>
                <a:spcPts val="1200"/>
              </a:spcBef>
            </a:pPr>
            <a:r>
              <a:rPr lang="en-US" altLang="zh-CN" sz="1800"/>
              <a:t>#</a:t>
            </a:r>
            <a:r>
              <a:rPr lang="zh-CN" altLang="en-US" sz="1800"/>
              <a:t>绘制半径为 </a:t>
            </a:r>
            <a:r>
              <a:rPr lang="en-US" altLang="zh-CN" sz="1800"/>
              <a:t>r</a:t>
            </a:r>
            <a:r>
              <a:rPr lang="zh-CN" altLang="en-US" sz="1800"/>
              <a:t>，角度为 </a:t>
            </a:r>
            <a:r>
              <a:rPr lang="en-US" altLang="zh-CN" sz="1800"/>
              <a:t>extent </a:t>
            </a:r>
            <a:r>
              <a:rPr lang="zh-CN" altLang="en-US" sz="1800"/>
              <a:t>的弧形，圆心默认在海龟左侧距离 </a:t>
            </a:r>
            <a:r>
              <a:rPr lang="en-US" altLang="zh-CN" sz="1800"/>
              <a:t>r </a:t>
            </a:r>
            <a:r>
              <a:rPr lang="zh-CN" altLang="en-US" sz="1800"/>
              <a:t>的位置；</a:t>
            </a:r>
            <a:endParaRPr lang="en-US" altLang="zh-CN" sz="1800"/>
          </a:p>
          <a:p>
            <a:pPr lvl="2">
              <a:spcBef>
                <a:spcPts val="1200"/>
              </a:spcBef>
            </a:pPr>
            <a:r>
              <a:rPr lang="en-US" altLang="zh-CN"/>
              <a:t>setheading(angle)/seth(angle)</a:t>
            </a:r>
          </a:p>
          <a:p>
            <a:pPr lvl="3">
              <a:spcBef>
                <a:spcPts val="1200"/>
              </a:spcBef>
            </a:pPr>
            <a:r>
              <a:rPr lang="en-US" altLang="zh-CN" sz="1800"/>
              <a:t>#</a:t>
            </a:r>
            <a:r>
              <a:rPr lang="zh-CN" altLang="en-US" sz="1800"/>
              <a:t>改变前进方向；</a:t>
            </a:r>
            <a:endParaRPr lang="en-US" altLang="zh-CN" sz="1800"/>
          </a:p>
          <a:p>
            <a:pPr lvl="2">
              <a:spcBef>
                <a:spcPts val="1200"/>
              </a:spcBef>
            </a:pPr>
            <a:r>
              <a:rPr lang="en-US" altLang="zh-CN"/>
              <a:t>begin_fill()          #</a:t>
            </a:r>
            <a:r>
              <a:rPr lang="zh-CN" altLang="en-US"/>
              <a:t>启动填充</a:t>
            </a:r>
            <a:endParaRPr lang="en-US" altLang="zh-CN"/>
          </a:p>
          <a:p>
            <a:pPr lvl="2">
              <a:spcBef>
                <a:spcPts val="1200"/>
              </a:spcBef>
            </a:pPr>
            <a:r>
              <a:rPr lang="en-US" altLang="zh-CN"/>
              <a:t>end_fill()             #</a:t>
            </a:r>
            <a:r>
              <a:rPr lang="zh-CN" altLang="en-US"/>
              <a:t>结束填充</a:t>
            </a:r>
            <a:endParaRPr lang="en-US" altLang="zh-CN"/>
          </a:p>
          <a:p>
            <a:pPr lvl="2">
              <a:spcBef>
                <a:spcPts val="1200"/>
              </a:spcBef>
            </a:pPr>
            <a:r>
              <a:rPr lang="en-US" altLang="zh-CN"/>
              <a:t>abs(turtle.pos())  #</a:t>
            </a:r>
            <a:r>
              <a:rPr lang="zh-CN" altLang="en-US"/>
              <a:t>获得小乌龟当前距离原点的直线距离</a:t>
            </a:r>
            <a:endParaRPr lang="en-US" altLang="zh-CN" sz="1600"/>
          </a:p>
        </p:txBody>
      </p:sp>
    </p:spTree>
    <p:extLst>
      <p:ext uri="{BB962C8B-B14F-4D97-AF65-F5344CB8AC3E}">
        <p14:creationId xmlns:p14="http://schemas.microsoft.com/office/powerpoint/2010/main" val="2908019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Turtle</a:t>
            </a:r>
            <a:r>
              <a:rPr lang="zh-CN" altLang="en-US"/>
              <a:t>与</a:t>
            </a:r>
            <a:r>
              <a:rPr lang="en-US" altLang="zh-CN"/>
              <a:t>Pillow</a:t>
            </a:r>
            <a:r>
              <a:rPr lang="zh-CN" altLang="en-US"/>
              <a:t>图像处理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zh-CN" altLang="en-US"/>
              <a:t>一、</a:t>
            </a:r>
            <a:r>
              <a:rPr lang="en-US" altLang="zh-CN"/>
              <a:t>Turtle</a:t>
            </a:r>
            <a:r>
              <a:rPr lang="zh-CN" altLang="en-US"/>
              <a:t>简介</a:t>
            </a:r>
          </a:p>
          <a:p>
            <a:pPr lvl="1">
              <a:spcBef>
                <a:spcPts val="1200"/>
              </a:spcBef>
            </a:pPr>
            <a:r>
              <a:rPr lang="en-US" altLang="zh-CN"/>
              <a:t>(5)</a:t>
            </a:r>
            <a:r>
              <a:rPr lang="zh-CN" altLang="en-US"/>
              <a:t>实例</a:t>
            </a:r>
            <a:endParaRPr lang="en-US" altLang="zh-CN" sz="140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2DDA642-CBAD-0A03-2576-0B5453952950}"/>
              </a:ext>
            </a:extLst>
          </p:cNvPr>
          <p:cNvSpPr txBox="1"/>
          <p:nvPr/>
        </p:nvSpPr>
        <p:spPr>
          <a:xfrm>
            <a:off x="1221740" y="2385705"/>
            <a:ext cx="6101080" cy="249299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200" b="0" i="1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import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turtle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1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from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turtle </a:t>
            </a:r>
            <a:r>
              <a:rPr kumimoji="0" lang="zh-CN" altLang="zh-CN" sz="1200" b="0" i="1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import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*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pensize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pencolor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0.87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0.17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0.91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circle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10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circle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20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pencolor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"red"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circle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40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pencolor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'Green'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circle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80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pencolor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"purple"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circle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180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Arial" panose="020B0604020202020204" pitchFamily="34" charset="0"/>
              <a:ea typeface="思源黑体 CN Normal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7AD8CA1-5D62-2F07-50F9-4DCCA9CCCE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0836" y="1665013"/>
            <a:ext cx="4401164" cy="393437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39AA906-DD1A-8B7B-1CC5-287D308C01C6}"/>
              </a:ext>
            </a:extLst>
          </p:cNvPr>
          <p:cNvSpPr txBox="1"/>
          <p:nvPr/>
        </p:nvSpPr>
        <p:spPr>
          <a:xfrm>
            <a:off x="1223578" y="2275556"/>
            <a:ext cx="6099242" cy="289310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import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 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turtle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from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turtle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import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*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      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声明下面的函数基本来自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turtle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这个库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pensize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2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pencolor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((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0.87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0.17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0.91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circle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10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circle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20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pencolor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"red"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circle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40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pencolor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'Green'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circle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80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pencolor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"purple"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circle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180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76629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Turtle</a:t>
            </a:r>
            <a:r>
              <a:rPr lang="zh-CN" altLang="en-US"/>
              <a:t>与</a:t>
            </a:r>
            <a:r>
              <a:rPr lang="en-US" altLang="zh-CN"/>
              <a:t>Pillow</a:t>
            </a:r>
            <a:r>
              <a:rPr lang="zh-CN" altLang="en-US"/>
              <a:t>图像处理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zh-CN" altLang="en-US"/>
              <a:t>一、</a:t>
            </a:r>
            <a:r>
              <a:rPr lang="en-US" altLang="zh-CN"/>
              <a:t>Turtle</a:t>
            </a:r>
            <a:r>
              <a:rPr lang="zh-CN" altLang="en-US"/>
              <a:t>简介</a:t>
            </a:r>
          </a:p>
          <a:p>
            <a:pPr lvl="1">
              <a:spcBef>
                <a:spcPts val="1200"/>
              </a:spcBef>
            </a:pPr>
            <a:r>
              <a:rPr lang="en-US" altLang="zh-CN"/>
              <a:t>(5)</a:t>
            </a:r>
            <a:r>
              <a:rPr lang="zh-CN" altLang="en-US"/>
              <a:t>实例</a:t>
            </a:r>
            <a:endParaRPr lang="en-US" altLang="zh-CN"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E5A8A6C-142A-A3D2-B867-186986A98971}"/>
              </a:ext>
            </a:extLst>
          </p:cNvPr>
          <p:cNvSpPr txBox="1"/>
          <p:nvPr/>
        </p:nvSpPr>
        <p:spPr>
          <a:xfrm>
            <a:off x="1116724" y="2403713"/>
            <a:ext cx="6101254" cy="3323987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400" b="0" i="1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import 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turtle</a:t>
            </a:r>
            <a:b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400" b="0" i="1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from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turtle </a:t>
            </a:r>
            <a:r>
              <a:rPr kumimoji="0" lang="zh-CN" altLang="zh-CN" sz="1400" b="0" i="1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import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*</a:t>
            </a:r>
            <a:b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b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pensize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pencolor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((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.87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.17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.91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))</a:t>
            </a:r>
            <a:b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color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"red"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"yellow"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b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begin_fill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()</a:t>
            </a:r>
            <a:b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400" b="0" i="1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while True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:</a:t>
            </a:r>
            <a:b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   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forward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400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   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left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170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    </a:t>
            </a:r>
            <a:r>
              <a:rPr kumimoji="0" lang="zh-CN" altLang="zh-CN" sz="1400" b="0" i="1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if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abs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pos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())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&lt;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1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:</a:t>
            </a:r>
            <a:b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        </a:t>
            </a:r>
            <a:r>
              <a:rPr kumimoji="0" lang="zh-CN" altLang="zh-CN" sz="1400" b="0" i="1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break</a:t>
            </a:r>
            <a:br>
              <a:rPr kumimoji="0" lang="zh-CN" altLang="zh-CN" sz="1400" b="0" i="1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end_fill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()</a:t>
            </a:r>
            <a:b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done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()</a:t>
            </a:r>
            <a:endParaRPr kumimoji="0" lang="zh-CN" altLang="zh-CN" sz="2000" b="0" i="0" u="none" strike="noStrike" kern="1200" cap="none" spc="0" normalizeH="0" baseline="0" noProof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Arial" panose="020B0604020202020204" pitchFamily="34" charset="0"/>
              <a:ea typeface="思源黑体 CN Normal"/>
              <a:cs typeface="+mn-cs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7AC8720-3FC1-6A42-9CF5-AF54C4331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8272" y="2059106"/>
            <a:ext cx="3896212" cy="40132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71DD9E4-3B2E-E9A1-925C-A014916FEB6C}"/>
              </a:ext>
            </a:extLst>
          </p:cNvPr>
          <p:cNvSpPr txBox="1"/>
          <p:nvPr/>
        </p:nvSpPr>
        <p:spPr>
          <a:xfrm>
            <a:off x="1118736" y="2391470"/>
            <a:ext cx="6099242" cy="353943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import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 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turtle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from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turtle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import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*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pensize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2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pencolor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((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.87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.17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.91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color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"red"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"yellow"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begin_fill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while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True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forward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400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left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170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if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abs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pos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())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&lt;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   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break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end_fill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done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812085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Turtle</a:t>
            </a:r>
            <a:r>
              <a:rPr lang="zh-CN" altLang="en-US"/>
              <a:t>与</a:t>
            </a:r>
            <a:r>
              <a:rPr lang="en-US" altLang="zh-CN"/>
              <a:t>Pillow</a:t>
            </a:r>
            <a:r>
              <a:rPr lang="zh-CN" altLang="en-US"/>
              <a:t>图像处理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zh-CN" altLang="en-US"/>
              <a:t>一、</a:t>
            </a:r>
            <a:r>
              <a:rPr lang="en-US" altLang="zh-CN"/>
              <a:t>Turtle</a:t>
            </a:r>
            <a:r>
              <a:rPr lang="zh-CN" altLang="en-US"/>
              <a:t>简介</a:t>
            </a:r>
          </a:p>
          <a:p>
            <a:pPr lvl="1">
              <a:spcBef>
                <a:spcPts val="1200"/>
              </a:spcBef>
            </a:pPr>
            <a:r>
              <a:rPr lang="en-US" altLang="zh-CN"/>
              <a:t>(5)</a:t>
            </a:r>
            <a:r>
              <a:rPr lang="zh-CN" altLang="en-US"/>
              <a:t>实例</a:t>
            </a:r>
            <a:endParaRPr lang="en-US" altLang="zh-CN"/>
          </a:p>
          <a:p>
            <a:pPr lvl="2">
              <a:spcBef>
                <a:spcPts val="1200"/>
              </a:spcBef>
            </a:pPr>
            <a:r>
              <a:rPr lang="zh-CN" altLang="en-US"/>
              <a:t>利用</a:t>
            </a:r>
            <a:r>
              <a:rPr lang="en-US" altLang="zh-CN"/>
              <a:t>Turtle</a:t>
            </a:r>
            <a:r>
              <a:rPr lang="zh-CN" altLang="en-US"/>
              <a:t>库，结合数学知识，绘制较为简单的</a:t>
            </a:r>
            <a:r>
              <a:rPr lang="en-US" altLang="zh-CN"/>
              <a:t>Koch</a:t>
            </a:r>
            <a:r>
              <a:rPr lang="zh-CN" altLang="en-US"/>
              <a:t>图。</a:t>
            </a:r>
            <a:endParaRPr lang="en-US" altLang="zh-CN"/>
          </a:p>
          <a:p>
            <a:pPr lvl="2">
              <a:spcBef>
                <a:spcPts val="1200"/>
              </a:spcBef>
            </a:pPr>
            <a:endParaRPr lang="en-US" altLang="zh-CN" sz="80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069951F-2D02-679F-F63E-ABE25D551746}"/>
              </a:ext>
            </a:extLst>
          </p:cNvPr>
          <p:cNvSpPr txBox="1"/>
          <p:nvPr/>
        </p:nvSpPr>
        <p:spPr>
          <a:xfrm>
            <a:off x="5824953" y="2518350"/>
            <a:ext cx="6101254" cy="433965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200" b="0" i="1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import 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turtle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1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from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turtle </a:t>
            </a:r>
            <a:r>
              <a:rPr kumimoji="0" lang="zh-CN" altLang="zh-CN" sz="1200" b="0" i="1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import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*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1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def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6E22E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koch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200" b="0" i="1" u="none" strike="noStrike" kern="1200" cap="none" spc="0" normalizeH="0" baseline="0" noProof="0">
                <a:ln>
                  <a:noFill/>
                </a:ln>
                <a:solidFill>
                  <a:srgbClr val="FD971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size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200" b="0" i="1" u="none" strike="noStrike" kern="1200" cap="none" spc="0" normalizeH="0" baseline="0" noProof="0">
                <a:ln>
                  <a:noFill/>
                </a:ln>
                <a:solidFill>
                  <a:srgbClr val="FD971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n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: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    </a:t>
            </a:r>
            <a:r>
              <a:rPr kumimoji="0" lang="zh-CN" altLang="zh-CN" sz="1200" b="0" i="1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if </a:t>
            </a:r>
            <a:r>
              <a:rPr kumimoji="0" lang="zh-CN" altLang="zh-CN" sz="1200" b="0" i="1" u="none" strike="noStrike" kern="1200" cap="none" spc="0" normalizeH="0" baseline="0" noProof="0">
                <a:ln>
                  <a:noFill/>
                </a:ln>
                <a:solidFill>
                  <a:srgbClr val="FD971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n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==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0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: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       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fd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200" b="0" i="1" u="none" strike="noStrike" kern="1200" cap="none" spc="0" normalizeH="0" baseline="0" noProof="0">
                <a:ln>
                  <a:noFill/>
                </a:ln>
                <a:solidFill>
                  <a:srgbClr val="FD971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size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    </a:t>
            </a:r>
            <a:r>
              <a:rPr kumimoji="0" lang="zh-CN" altLang="zh-CN" sz="1200" b="0" i="1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else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: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        </a:t>
            </a:r>
            <a:r>
              <a:rPr kumimoji="0" lang="zh-CN" altLang="zh-CN" sz="1200" b="0" i="1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for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angle </a:t>
            </a:r>
            <a:r>
              <a:rPr kumimoji="0" lang="zh-CN" altLang="zh-CN" sz="1200" b="0" i="1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in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[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0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60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-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120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60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]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: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           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left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(angle)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           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koch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200" b="0" i="1" u="none" strike="noStrike" kern="1200" cap="none" spc="0" normalizeH="0" baseline="0" noProof="0">
                <a:ln>
                  <a:noFill/>
                </a:ln>
                <a:solidFill>
                  <a:srgbClr val="FD971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size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/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3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200" b="0" i="1" u="none" strike="noStrike" kern="1200" cap="none" spc="0" normalizeH="0" baseline="0" noProof="0">
                <a:ln>
                  <a:noFill/>
                </a:ln>
                <a:solidFill>
                  <a:srgbClr val="FD971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n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-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1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1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def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6E22E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main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()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: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   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setup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800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400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   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speed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0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   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penup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   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goto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-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300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-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50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   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pendown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   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pensize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   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koch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600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3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   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hideturtle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1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if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__name__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==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'__main__'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: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   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main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()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Arial" panose="020B0604020202020204" pitchFamily="34" charset="0"/>
              <a:ea typeface="思源黑体 CN Normal"/>
              <a:cs typeface="+mn-cs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EE7703F-BADF-3730-95F2-1E5F87CF01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388" t="12638" r="1412" b="19734"/>
          <a:stretch/>
        </p:blipFill>
        <p:spPr>
          <a:xfrm>
            <a:off x="1259725" y="2622548"/>
            <a:ext cx="3965904" cy="387350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AFE8954-B546-4D2A-83D5-EA6D1A3B98DA}"/>
              </a:ext>
            </a:extLst>
          </p:cNvPr>
          <p:cNvSpPr txBox="1"/>
          <p:nvPr/>
        </p:nvSpPr>
        <p:spPr>
          <a:xfrm>
            <a:off x="5824953" y="2518350"/>
            <a:ext cx="6099242" cy="433965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import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 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turtle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from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turtle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import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*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def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koch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size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if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==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0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   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fd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size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else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   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for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angle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in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[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0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60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-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120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60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       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left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angle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       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koch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size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/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3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-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       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def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main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setup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800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400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speed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0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penup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goto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-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300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-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50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pendown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pensize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2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koch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600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3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hideturtle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if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__name__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==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'__main__'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main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920688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Turtle</a:t>
            </a:r>
            <a:r>
              <a:rPr lang="zh-CN" altLang="en-US"/>
              <a:t>与</a:t>
            </a:r>
            <a:r>
              <a:rPr lang="en-US" altLang="zh-CN"/>
              <a:t>Pillow</a:t>
            </a:r>
            <a:r>
              <a:rPr lang="zh-CN" altLang="en-US"/>
              <a:t>图像处理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zh-CN" altLang="en-US"/>
              <a:t>二、</a:t>
            </a:r>
            <a:r>
              <a:rPr lang="en-US" altLang="zh-CN"/>
              <a:t>Pillow</a:t>
            </a:r>
            <a:r>
              <a:rPr lang="zh-CN" altLang="en-US"/>
              <a:t>简介</a:t>
            </a:r>
          </a:p>
          <a:p>
            <a:pPr lvl="1">
              <a:spcBef>
                <a:spcPts val="1200"/>
              </a:spcBef>
            </a:pPr>
            <a:r>
              <a:rPr lang="en-US" altLang="zh-CN"/>
              <a:t>(1)</a:t>
            </a:r>
            <a:r>
              <a:rPr lang="zh-CN" altLang="en-US"/>
              <a:t>什么是</a:t>
            </a:r>
            <a:r>
              <a:rPr lang="en-US" altLang="zh-CN"/>
              <a:t>Pillow</a:t>
            </a:r>
            <a:r>
              <a:rPr lang="zh-CN" altLang="en-US"/>
              <a:t>？</a:t>
            </a:r>
            <a:endParaRPr lang="en-US" altLang="zh-CN"/>
          </a:p>
          <a:p>
            <a:pPr lvl="2">
              <a:lnSpc>
                <a:spcPct val="130000"/>
              </a:lnSpc>
              <a:spcBef>
                <a:spcPts val="1200"/>
              </a:spcBef>
            </a:pPr>
            <a:r>
              <a:rPr lang="zh-CN" altLang="en-US"/>
              <a:t>在</a:t>
            </a:r>
            <a:r>
              <a:rPr lang="en-US" altLang="zh-CN"/>
              <a:t>Python2</a:t>
            </a:r>
            <a:r>
              <a:rPr lang="zh-CN" altLang="en-US"/>
              <a:t>中，</a:t>
            </a:r>
            <a:r>
              <a:rPr lang="en-US" altLang="zh-CN"/>
              <a:t>PIL(Python Imaging Library)</a:t>
            </a:r>
            <a:r>
              <a:rPr lang="zh-CN" altLang="en-US"/>
              <a:t>是非常好用的图像处理库，但</a:t>
            </a:r>
            <a:r>
              <a:rPr lang="en-US" altLang="zh-CN"/>
              <a:t>PIL</a:t>
            </a:r>
            <a:r>
              <a:rPr lang="zh-CN" altLang="en-US"/>
              <a:t>不支持</a:t>
            </a:r>
            <a:r>
              <a:rPr lang="en-US" altLang="zh-CN"/>
              <a:t>Python3</a:t>
            </a:r>
            <a:r>
              <a:rPr lang="zh-CN" altLang="en-US"/>
              <a:t>，所以有人</a:t>
            </a:r>
            <a:r>
              <a:rPr lang="en-US" altLang="zh-CN"/>
              <a:t>(Alex Clark</a:t>
            </a:r>
            <a:r>
              <a:rPr lang="zh-CN" altLang="en-US"/>
              <a:t>和</a:t>
            </a:r>
            <a:r>
              <a:rPr lang="en-US" altLang="zh-CN"/>
              <a:t>Contributors)</a:t>
            </a:r>
            <a:r>
              <a:rPr lang="zh-CN" altLang="en-US"/>
              <a:t>提供了</a:t>
            </a:r>
            <a:r>
              <a:rPr lang="en-US" altLang="zh-CN"/>
              <a:t>Pillow</a:t>
            </a:r>
            <a:r>
              <a:rPr lang="zh-CN" altLang="en-US"/>
              <a:t>，可以在</a:t>
            </a:r>
            <a:r>
              <a:rPr lang="en-US" altLang="zh-CN"/>
              <a:t>Python3</a:t>
            </a:r>
            <a:r>
              <a:rPr lang="zh-CN" altLang="en-US"/>
              <a:t>中使用。</a:t>
            </a:r>
            <a:endParaRPr lang="en-US" altLang="zh-CN"/>
          </a:p>
          <a:p>
            <a:pPr lvl="2">
              <a:lnSpc>
                <a:spcPct val="130000"/>
              </a:lnSpc>
              <a:spcBef>
                <a:spcPts val="1200"/>
              </a:spcBef>
            </a:pPr>
            <a:r>
              <a:rPr lang="zh-CN" altLang="en-US"/>
              <a:t>在</a:t>
            </a:r>
            <a:r>
              <a:rPr lang="en-US" altLang="zh-CN"/>
              <a:t>Pillow</a:t>
            </a:r>
            <a:r>
              <a:rPr lang="zh-CN" altLang="en-US"/>
              <a:t>库中，除了有二十多个模块，还支持非常多的插件。其中最常用的是</a:t>
            </a:r>
            <a:r>
              <a:rPr lang="en-US" altLang="zh-CN"/>
              <a:t>Image</a:t>
            </a:r>
            <a:r>
              <a:rPr lang="zh-CN" altLang="en-US"/>
              <a:t>模块中同名的</a:t>
            </a:r>
            <a:r>
              <a:rPr lang="en-US" altLang="zh-CN"/>
              <a:t>Image</a:t>
            </a:r>
            <a:r>
              <a:rPr lang="zh-CN" altLang="en-US"/>
              <a:t>类，其他很多模块都是在</a:t>
            </a:r>
            <a:r>
              <a:rPr lang="en-US" altLang="zh-CN"/>
              <a:t>Image</a:t>
            </a:r>
            <a:r>
              <a:rPr lang="zh-CN" altLang="en-US"/>
              <a:t>模块的基础上对</a:t>
            </a:r>
            <a:r>
              <a:rPr lang="zh-CN" altLang="en-US">
                <a:solidFill>
                  <a:srgbClr val="FF0000"/>
                </a:solidFill>
              </a:rPr>
              <a:t>图像</a:t>
            </a:r>
            <a:r>
              <a:rPr lang="zh-CN" altLang="en-US"/>
              <a:t>做进一步的特殊处理。</a:t>
            </a:r>
            <a:endParaRPr lang="en-US" altLang="zh-CN"/>
          </a:p>
          <a:p>
            <a:pPr lvl="2">
              <a:lnSpc>
                <a:spcPct val="130000"/>
              </a:lnSpc>
              <a:spcBef>
                <a:spcPts val="1200"/>
              </a:spcBef>
            </a:pPr>
            <a:r>
              <a:rPr lang="en-US" altLang="zh-CN"/>
              <a:t>Pillow</a:t>
            </a:r>
            <a:r>
              <a:rPr lang="zh-CN" altLang="en-US"/>
              <a:t>的核心</a:t>
            </a:r>
            <a:r>
              <a:rPr lang="en-US" altLang="zh-CN"/>
              <a:t>class</a:t>
            </a:r>
            <a:r>
              <a:rPr lang="zh-CN" altLang="en-US"/>
              <a:t>（类）就是</a:t>
            </a:r>
            <a:r>
              <a:rPr lang="en-US" altLang="zh-CN">
                <a:solidFill>
                  <a:srgbClr val="FF0000"/>
                </a:solidFill>
              </a:rPr>
              <a:t>Image——</a:t>
            </a:r>
            <a:r>
              <a:rPr lang="zh-CN" altLang="en-US">
                <a:solidFill>
                  <a:srgbClr val="FF0000"/>
                </a:solidFill>
              </a:rPr>
              <a:t>常见的图像的处理</a:t>
            </a:r>
            <a:r>
              <a:rPr lang="zh-CN" altLang="en-US"/>
              <a:t>，特别是针对</a:t>
            </a:r>
            <a:r>
              <a:rPr lang="en-US" altLang="zh-CN">
                <a:solidFill>
                  <a:srgbClr val="FF0000"/>
                </a:solidFill>
              </a:rPr>
              <a:t>jpg</a:t>
            </a:r>
            <a:r>
              <a:rPr lang="zh-CN" altLang="en-US">
                <a:solidFill>
                  <a:srgbClr val="FF0000"/>
                </a:solidFill>
              </a:rPr>
              <a:t>格式文档</a:t>
            </a:r>
            <a:r>
              <a:rPr lang="zh-CN" altLang="en-US"/>
              <a:t>的处理技术。封装了图像处理的基本操作。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2994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Turtle</a:t>
            </a:r>
            <a:r>
              <a:rPr lang="zh-CN" altLang="en-US"/>
              <a:t>与</a:t>
            </a:r>
            <a:r>
              <a:rPr lang="en-US" altLang="zh-CN"/>
              <a:t>Pillow</a:t>
            </a:r>
            <a:r>
              <a:rPr lang="zh-CN" altLang="en-US"/>
              <a:t>图像处理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</a:pPr>
            <a:r>
              <a:rPr lang="zh-CN" altLang="en-US"/>
              <a:t>二、</a:t>
            </a:r>
            <a:r>
              <a:rPr lang="en-US" altLang="zh-CN"/>
              <a:t>Pillow</a:t>
            </a:r>
            <a:r>
              <a:rPr lang="zh-CN" altLang="en-US"/>
              <a:t>简介</a:t>
            </a:r>
          </a:p>
          <a:p>
            <a:pPr lvl="1">
              <a:lnSpc>
                <a:spcPct val="130000"/>
              </a:lnSpc>
              <a:spcBef>
                <a:spcPts val="1200"/>
              </a:spcBef>
            </a:pPr>
            <a:r>
              <a:rPr lang="en-US" altLang="zh-CN"/>
              <a:t>(2)Pillow</a:t>
            </a:r>
            <a:r>
              <a:rPr lang="zh-CN" altLang="en-US"/>
              <a:t>的应用与处理</a:t>
            </a:r>
            <a:endParaRPr lang="en-US" altLang="zh-CN"/>
          </a:p>
          <a:p>
            <a:pPr lvl="2">
              <a:lnSpc>
                <a:spcPct val="130000"/>
              </a:lnSpc>
              <a:spcBef>
                <a:spcPts val="1200"/>
              </a:spcBef>
            </a:pPr>
            <a:r>
              <a:rPr lang="zh-CN" altLang="en-US"/>
              <a:t>在</a:t>
            </a:r>
            <a:r>
              <a:rPr lang="en-US" altLang="zh-CN"/>
              <a:t>Pillow</a:t>
            </a:r>
            <a:r>
              <a:rPr lang="zh-CN" altLang="en-US"/>
              <a:t>技术中，借助于</a:t>
            </a:r>
            <a:r>
              <a:rPr lang="en-US" altLang="zh-CN"/>
              <a:t>Image</a:t>
            </a:r>
            <a:r>
              <a:rPr lang="zh-CN" altLang="en-US"/>
              <a:t>类实现对图像的处理。用户需要先通过命令：</a:t>
            </a:r>
            <a:r>
              <a:rPr lang="en-US" altLang="zh-CN">
                <a:solidFill>
                  <a:srgbClr val="FF0000"/>
                </a:solidFill>
              </a:rPr>
              <a:t>from PIL import Image</a:t>
            </a:r>
            <a:r>
              <a:rPr lang="zh-CN" altLang="en-US">
                <a:solidFill>
                  <a:srgbClr val="FF0000"/>
                </a:solidFill>
              </a:rPr>
              <a:t>启用</a:t>
            </a:r>
            <a:r>
              <a:rPr lang="en-US" altLang="zh-CN">
                <a:solidFill>
                  <a:srgbClr val="FF0000"/>
                </a:solidFill>
              </a:rPr>
              <a:t>Image</a:t>
            </a:r>
            <a:r>
              <a:rPr lang="zh-CN" altLang="en-US">
                <a:solidFill>
                  <a:srgbClr val="FF0000"/>
                </a:solidFill>
              </a:rPr>
              <a:t>类</a:t>
            </a:r>
            <a:r>
              <a:rPr lang="zh-CN" altLang="en-US"/>
              <a:t>，然后就能在后续的命令中借助</a:t>
            </a:r>
            <a:r>
              <a:rPr lang="en-US" altLang="zh-CN"/>
              <a:t>Image</a:t>
            </a:r>
            <a:r>
              <a:rPr lang="zh-CN" altLang="en-US"/>
              <a:t>操作图像文档了。</a:t>
            </a:r>
          </a:p>
          <a:p>
            <a:pPr lvl="2">
              <a:lnSpc>
                <a:spcPct val="130000"/>
              </a:lnSpc>
              <a:spcBef>
                <a:spcPts val="1200"/>
              </a:spcBef>
            </a:pPr>
            <a:r>
              <a:rPr lang="en-US" altLang="zh-CN"/>
              <a:t>(a)</a:t>
            </a:r>
            <a:r>
              <a:rPr lang="zh-CN" altLang="en-US"/>
              <a:t>利用</a:t>
            </a:r>
            <a:r>
              <a:rPr lang="en-US" altLang="zh-CN"/>
              <a:t>Image</a:t>
            </a:r>
            <a:r>
              <a:rPr lang="zh-CN" altLang="en-US"/>
              <a:t>打开图像文档的命令是：</a:t>
            </a:r>
            <a:endParaRPr lang="en-US" altLang="zh-CN"/>
          </a:p>
          <a:p>
            <a:pPr lvl="3">
              <a:lnSpc>
                <a:spcPct val="130000"/>
              </a:lnSpc>
              <a:spcBef>
                <a:spcPts val="1200"/>
              </a:spcBef>
            </a:pPr>
            <a:r>
              <a:rPr lang="en-US" altLang="zh-CN" sz="1800">
                <a:solidFill>
                  <a:srgbClr val="FF0000"/>
                </a:solidFill>
              </a:rPr>
              <a:t>fn=Image.open</a:t>
            </a:r>
            <a:r>
              <a:rPr lang="zh-CN" altLang="en-US" sz="1800">
                <a:solidFill>
                  <a:srgbClr val="FF0000"/>
                </a:solidFill>
              </a:rPr>
              <a:t>（</a:t>
            </a:r>
            <a:r>
              <a:rPr lang="en-US" altLang="zh-CN" sz="1800">
                <a:solidFill>
                  <a:srgbClr val="FF0000"/>
                </a:solidFill>
              </a:rPr>
              <a:t>“</a:t>
            </a:r>
            <a:r>
              <a:rPr lang="zh-CN" altLang="en-US" sz="1800">
                <a:solidFill>
                  <a:srgbClr val="FF0000"/>
                </a:solidFill>
              </a:rPr>
              <a:t>图像文件名</a:t>
            </a:r>
            <a:r>
              <a:rPr lang="en-US" altLang="zh-CN" sz="1800">
                <a:solidFill>
                  <a:srgbClr val="FF0000"/>
                </a:solidFill>
              </a:rPr>
              <a:t>”,“rb”</a:t>
            </a:r>
            <a:r>
              <a:rPr lang="zh-CN" altLang="en-US" sz="1800">
                <a:solidFill>
                  <a:srgbClr val="FF0000"/>
                </a:solidFill>
              </a:rPr>
              <a:t>）</a:t>
            </a:r>
            <a:r>
              <a:rPr lang="en-US" altLang="zh-CN" sz="1800">
                <a:solidFill>
                  <a:srgbClr val="FF0000"/>
                </a:solidFill>
              </a:rPr>
              <a:t> </a:t>
            </a:r>
            <a:r>
              <a:rPr lang="en-US" altLang="zh-CN" sz="1800"/>
              <a:t>#</a:t>
            </a:r>
            <a:r>
              <a:rPr lang="zh-CN" altLang="en-US" sz="1800"/>
              <a:t>二进制码文件</a:t>
            </a:r>
            <a:endParaRPr lang="en-US" altLang="zh-CN" sz="1800"/>
          </a:p>
          <a:p>
            <a:pPr lvl="3">
              <a:lnSpc>
                <a:spcPct val="130000"/>
              </a:lnSpc>
              <a:spcBef>
                <a:spcPts val="1200"/>
              </a:spcBef>
            </a:pPr>
            <a:r>
              <a:rPr lang="zh-CN" altLang="en-US" sz="1800"/>
              <a:t>借助于已经打开的</a:t>
            </a:r>
            <a:r>
              <a:rPr lang="en-US" altLang="zh-CN" sz="1800"/>
              <a:t>fn</a:t>
            </a:r>
            <a:r>
              <a:rPr lang="zh-CN" altLang="en-US" sz="1800"/>
              <a:t>，就能实现各种操作了</a:t>
            </a:r>
            <a:r>
              <a:rPr lang="en-US" altLang="zh-CN" sz="1800"/>
              <a:t>——</a:t>
            </a:r>
            <a:r>
              <a:rPr lang="zh-CN" altLang="en-US" sz="1800"/>
              <a:t>比如图片的翻转、做缩略图，等等</a:t>
            </a:r>
            <a:endParaRPr lang="en-US" altLang="zh-CN" sz="1800"/>
          </a:p>
          <a:p>
            <a:pPr lvl="3">
              <a:lnSpc>
                <a:spcPct val="130000"/>
              </a:lnSpc>
              <a:spcBef>
                <a:spcPts val="1200"/>
              </a:spcBef>
            </a:pPr>
            <a:r>
              <a:rPr lang="zh-CN" altLang="en-US" sz="1800">
                <a:solidFill>
                  <a:srgbClr val="FF0000"/>
                </a:solidFill>
              </a:rPr>
              <a:t>注意：凡是对于非内存中的数据操作，要防止操作失败，要捕捉异常</a:t>
            </a:r>
            <a:endParaRPr lang="en-US" altLang="zh-CN" sz="800"/>
          </a:p>
        </p:txBody>
      </p:sp>
    </p:spTree>
    <p:extLst>
      <p:ext uri="{BB962C8B-B14F-4D97-AF65-F5344CB8AC3E}">
        <p14:creationId xmlns:p14="http://schemas.microsoft.com/office/powerpoint/2010/main" val="1594196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Turtle</a:t>
            </a:r>
            <a:r>
              <a:rPr lang="zh-CN" altLang="en-US"/>
              <a:t>与</a:t>
            </a:r>
            <a:r>
              <a:rPr lang="en-US" altLang="zh-CN"/>
              <a:t>Pillow</a:t>
            </a:r>
            <a:r>
              <a:rPr lang="zh-CN" altLang="en-US"/>
              <a:t>图像处理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zh-CN" altLang="en-US"/>
              <a:t>二、</a:t>
            </a:r>
            <a:r>
              <a:rPr lang="en-US" altLang="zh-CN"/>
              <a:t>Pillow</a:t>
            </a:r>
            <a:r>
              <a:rPr lang="zh-CN" altLang="en-US"/>
              <a:t>简介</a:t>
            </a:r>
          </a:p>
          <a:p>
            <a:pPr lvl="1">
              <a:spcBef>
                <a:spcPts val="1200"/>
              </a:spcBef>
            </a:pPr>
            <a:r>
              <a:rPr lang="en-US" altLang="zh-CN"/>
              <a:t>(2)Pillow</a:t>
            </a:r>
            <a:r>
              <a:rPr lang="zh-CN" altLang="en-US"/>
              <a:t>的应用与处理</a:t>
            </a:r>
            <a:endParaRPr lang="en-US" altLang="zh-CN"/>
          </a:p>
          <a:p>
            <a:pPr lvl="2">
              <a:spcBef>
                <a:spcPts val="1200"/>
              </a:spcBef>
            </a:pPr>
            <a:r>
              <a:rPr lang="en-US" altLang="zh-CN"/>
              <a:t>(b)</a:t>
            </a:r>
            <a:r>
              <a:rPr lang="zh-CN" altLang="en-US"/>
              <a:t>面向</a:t>
            </a:r>
            <a:r>
              <a:rPr lang="en-US" altLang="zh-CN"/>
              <a:t>Image</a:t>
            </a:r>
            <a:r>
              <a:rPr lang="zh-CN" altLang="en-US"/>
              <a:t>的常见操作方法</a:t>
            </a:r>
            <a:endParaRPr lang="en-US" altLang="zh-CN"/>
          </a:p>
          <a:p>
            <a:pPr lvl="3">
              <a:spcBef>
                <a:spcPts val="1200"/>
              </a:spcBef>
            </a:pPr>
            <a:r>
              <a:rPr lang="en-US" altLang="zh-CN"/>
              <a:t>fn=Image.open</a:t>
            </a:r>
            <a:r>
              <a:rPr lang="zh-CN" altLang="en-US"/>
              <a:t>（</a:t>
            </a:r>
            <a:r>
              <a:rPr lang="en-US" altLang="zh-CN"/>
              <a:t>"</a:t>
            </a:r>
            <a:r>
              <a:rPr lang="zh-CN" altLang="en-US"/>
              <a:t>图像文件名</a:t>
            </a:r>
            <a:r>
              <a:rPr lang="en-US" altLang="zh-CN"/>
              <a:t>","rb"</a:t>
            </a:r>
            <a:r>
              <a:rPr lang="zh-CN" altLang="en-US"/>
              <a:t>）</a:t>
            </a:r>
            <a:endParaRPr lang="en-US" altLang="zh-CN"/>
          </a:p>
          <a:p>
            <a:pPr lvl="3">
              <a:spcBef>
                <a:spcPts val="1200"/>
              </a:spcBef>
            </a:pPr>
            <a:r>
              <a:rPr lang="zh-CN" altLang="en-US"/>
              <a:t>显示图像：</a:t>
            </a:r>
            <a:r>
              <a:rPr lang="en-US" altLang="zh-CN"/>
              <a:t>fn.show()</a:t>
            </a:r>
          </a:p>
          <a:p>
            <a:pPr lvl="3">
              <a:spcBef>
                <a:spcPts val="1200"/>
              </a:spcBef>
            </a:pPr>
            <a:r>
              <a:rPr lang="zh-CN" altLang="en-US"/>
              <a:t>另存图像：</a:t>
            </a:r>
            <a:r>
              <a:rPr lang="en-US" altLang="zh-CN"/>
              <a:t>fn.save(</a:t>
            </a:r>
            <a:r>
              <a:rPr lang="zh-CN" altLang="en-US"/>
              <a:t>文件名</a:t>
            </a:r>
            <a:r>
              <a:rPr lang="en-US" altLang="zh-CN"/>
              <a:t>)</a:t>
            </a:r>
          </a:p>
          <a:p>
            <a:pPr lvl="3">
              <a:spcBef>
                <a:spcPts val="1200"/>
              </a:spcBef>
            </a:pPr>
            <a:r>
              <a:rPr lang="zh-CN" altLang="en-US"/>
              <a:t>翻转图：</a:t>
            </a:r>
            <a:r>
              <a:rPr lang="en-US" altLang="zh-CN"/>
              <a:t>new1=fn.resize((</a:t>
            </a:r>
            <a:r>
              <a:rPr lang="zh-CN" altLang="en-US"/>
              <a:t>宽</a:t>
            </a:r>
            <a:r>
              <a:rPr lang="en-US" altLang="zh-CN"/>
              <a:t>,</a:t>
            </a:r>
            <a:r>
              <a:rPr lang="zh-CN" altLang="en-US"/>
              <a:t>高）</a:t>
            </a:r>
            <a:r>
              <a:rPr lang="en-US" altLang="zh-CN"/>
              <a:t>,Image.NEAREST)</a:t>
            </a:r>
          </a:p>
          <a:p>
            <a:pPr lvl="3">
              <a:spcBef>
                <a:spcPts val="1200"/>
              </a:spcBef>
            </a:pPr>
            <a:r>
              <a:rPr lang="zh-CN" altLang="en-US"/>
              <a:t>旋转图片：</a:t>
            </a:r>
            <a:r>
              <a:rPr lang="en-US" altLang="zh-CN"/>
              <a:t>new2=fn.rotate(</a:t>
            </a:r>
            <a:r>
              <a:rPr lang="zh-CN" altLang="en-US"/>
              <a:t>角度</a:t>
            </a:r>
            <a:r>
              <a:rPr lang="en-US" altLang="zh-CN"/>
              <a:t>)</a:t>
            </a:r>
          </a:p>
          <a:p>
            <a:pPr lvl="3">
              <a:spcBef>
                <a:spcPts val="1200"/>
              </a:spcBef>
            </a:pPr>
            <a:r>
              <a:rPr lang="zh-CN" altLang="en-US"/>
              <a:t>缩略图：</a:t>
            </a:r>
            <a:r>
              <a:rPr lang="en-US" altLang="zh-CN"/>
              <a:t>new3=fn.thumbnail((</a:t>
            </a:r>
            <a:r>
              <a:rPr lang="zh-CN" altLang="en-US"/>
              <a:t>宽度</a:t>
            </a:r>
            <a:r>
              <a:rPr lang="en-US" altLang="zh-CN"/>
              <a:t>,</a:t>
            </a:r>
            <a:r>
              <a:rPr lang="zh-CN" altLang="en-US"/>
              <a:t>高度</a:t>
            </a:r>
            <a:r>
              <a:rPr lang="en-US" altLang="zh-CN"/>
              <a:t>))</a:t>
            </a:r>
          </a:p>
          <a:p>
            <a:pPr lvl="3">
              <a:spcBef>
                <a:spcPts val="1200"/>
              </a:spcBef>
            </a:pPr>
            <a:r>
              <a:rPr lang="zh-CN" altLang="en-US"/>
              <a:t>变色调整：</a:t>
            </a:r>
            <a:r>
              <a:rPr lang="en-US" altLang="zh-CN"/>
              <a:t>new4=fn.merge("rgb",(</a:t>
            </a:r>
            <a:r>
              <a:rPr lang="zh-CN" altLang="en-US"/>
              <a:t>红，绿，蓝</a:t>
            </a:r>
            <a:r>
              <a:rPr lang="en-US" altLang="zh-CN"/>
              <a:t>))</a:t>
            </a:r>
          </a:p>
          <a:p>
            <a:pPr lvl="3">
              <a:spcBef>
                <a:spcPts val="1200"/>
              </a:spcBef>
            </a:pPr>
            <a:endParaRPr lang="en-US" altLang="zh-CN"/>
          </a:p>
          <a:p>
            <a:pPr lvl="3">
              <a:spcBef>
                <a:spcPts val="1200"/>
              </a:spcBef>
            </a:pPr>
            <a:endParaRPr lang="en-US" altLang="zh-CN" sz="600"/>
          </a:p>
        </p:txBody>
      </p:sp>
    </p:spTree>
    <p:extLst>
      <p:ext uri="{BB962C8B-B14F-4D97-AF65-F5344CB8AC3E}">
        <p14:creationId xmlns:p14="http://schemas.microsoft.com/office/powerpoint/2010/main" val="4256518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Turtle</a:t>
            </a:r>
            <a:r>
              <a:rPr lang="zh-CN" altLang="en-US"/>
              <a:t>与</a:t>
            </a:r>
            <a:r>
              <a:rPr lang="en-US" altLang="zh-CN"/>
              <a:t>Pillow</a:t>
            </a:r>
            <a:r>
              <a:rPr lang="zh-CN" altLang="en-US"/>
              <a:t>图像处理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zh-CN" altLang="en-US"/>
              <a:t>二、</a:t>
            </a:r>
            <a:r>
              <a:rPr lang="en-US" altLang="zh-CN"/>
              <a:t>Pillow</a:t>
            </a:r>
            <a:r>
              <a:rPr lang="zh-CN" altLang="en-US"/>
              <a:t>简介</a:t>
            </a:r>
          </a:p>
          <a:p>
            <a:pPr lvl="1">
              <a:spcBef>
                <a:spcPts val="1200"/>
              </a:spcBef>
            </a:pPr>
            <a:r>
              <a:rPr lang="en-US" altLang="zh-CN"/>
              <a:t>(3)Pillow</a:t>
            </a:r>
            <a:r>
              <a:rPr lang="zh-CN" altLang="en-US"/>
              <a:t>应用的实例</a:t>
            </a:r>
            <a:endParaRPr lang="en-US" altLang="zh-CN"/>
          </a:p>
          <a:p>
            <a:pPr lvl="2">
              <a:spcBef>
                <a:spcPts val="1200"/>
              </a:spcBef>
            </a:pPr>
            <a:endParaRPr lang="en-US" altLang="zh-CN" sz="80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DBF5F0-BB36-95BD-E3E1-187DAB41DED8}"/>
              </a:ext>
            </a:extLst>
          </p:cNvPr>
          <p:cNvSpPr txBox="1"/>
          <p:nvPr/>
        </p:nvSpPr>
        <p:spPr>
          <a:xfrm>
            <a:off x="4503683" y="1848188"/>
            <a:ext cx="5956161" cy="4893647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200" b="0" i="1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from 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PIL </a:t>
            </a:r>
            <a:r>
              <a:rPr kumimoji="0" lang="zh-CN" altLang="zh-CN" sz="1200" b="0" i="1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import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Image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im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Image.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open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r"D:\pythonfile\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图片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11.png"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(im.mode, im.format, im.size)  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#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显示图像的模式、格式和大小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</a:b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im.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show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#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缩放图片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height, width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200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300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out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im.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resize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((width, height), Image.NEAREST)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out.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show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#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旋转图片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our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im.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rotate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90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our.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show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#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制作缩略图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im.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thumbnail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128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128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im.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show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#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变色与调整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r, g, b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im.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split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()  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#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分解三基色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ourm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Image.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merge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"RGB"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(b,r,g))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ourm.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show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#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保存新的图片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our.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save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r"D:\pythonfile\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图片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12.png"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))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Arial" panose="020B0604020202020204" pitchFamily="34" charset="0"/>
              <a:ea typeface="思源黑体 CN Normal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14FECB6-9979-5B35-EDD6-08F1A61DE6D2}"/>
              </a:ext>
            </a:extLst>
          </p:cNvPr>
          <p:cNvSpPr txBox="1"/>
          <p:nvPr/>
        </p:nvSpPr>
        <p:spPr>
          <a:xfrm>
            <a:off x="4503683" y="883108"/>
            <a:ext cx="6515416" cy="6124754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from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 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PIL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import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Image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im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Image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open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r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811F3F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"F: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EE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\p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811F3F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ython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EE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\z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811F3F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h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EE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\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EE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程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811F3F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序素材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EE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\c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811F3F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ar1.jpg"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im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mode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im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format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im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size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  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显示图像的模式、格式和大小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im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show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im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save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((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r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811F3F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"F: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EE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\p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811F3F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ython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EE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\z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811F3F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h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EE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\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EE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程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811F3F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序素材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EE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\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EE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图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811F3F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片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811F3F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11.png"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缩放图片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height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width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200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300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out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im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resize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((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width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height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),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Image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NEAREST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out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show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旋转图片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our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im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rotate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90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our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show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制作缩略图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im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thumbnail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((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128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128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im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show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变色与调整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r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g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b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im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split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()  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分解三基色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ourm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Image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merge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"RGB"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(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b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r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g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ourm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show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保存新的图片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our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save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((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r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811F3F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"F: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EE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\p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811F3F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ython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EE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\z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811F3F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h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EE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\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EE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程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811F3F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序素材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EE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\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EE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图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811F3F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片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811F3F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12.png"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12062778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Turtle</a:t>
            </a:r>
            <a:r>
              <a:rPr lang="zh-CN" altLang="en-US"/>
              <a:t>与</a:t>
            </a:r>
            <a:r>
              <a:rPr lang="en-US" altLang="zh-CN"/>
              <a:t>Pillow</a:t>
            </a:r>
            <a:r>
              <a:rPr lang="zh-CN" altLang="en-US"/>
              <a:t>图像处理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zh-CN" altLang="en-US"/>
              <a:t>二、</a:t>
            </a:r>
            <a:r>
              <a:rPr lang="en-US" altLang="zh-CN"/>
              <a:t>Pillow</a:t>
            </a:r>
            <a:r>
              <a:rPr lang="zh-CN" altLang="en-US"/>
              <a:t>简介</a:t>
            </a:r>
          </a:p>
          <a:p>
            <a:pPr lvl="1">
              <a:spcBef>
                <a:spcPts val="1200"/>
              </a:spcBef>
            </a:pPr>
            <a:r>
              <a:rPr lang="en-US" altLang="zh-CN"/>
              <a:t>(4)</a:t>
            </a:r>
            <a:r>
              <a:rPr lang="zh-CN" altLang="en-US"/>
              <a:t>其他的探究式活动</a:t>
            </a:r>
            <a:endParaRPr lang="en-US" altLang="zh-CN"/>
          </a:p>
          <a:p>
            <a:pPr lvl="2">
              <a:spcBef>
                <a:spcPts val="1200"/>
              </a:spcBef>
            </a:pPr>
            <a:r>
              <a:rPr lang="zh-CN" altLang="en-US"/>
              <a:t>百度搜索：</a:t>
            </a:r>
            <a:endParaRPr lang="en-US" altLang="zh-CN"/>
          </a:p>
          <a:p>
            <a:pPr lvl="3">
              <a:spcBef>
                <a:spcPts val="1200"/>
              </a:spcBef>
            </a:pPr>
            <a:r>
              <a:rPr lang="en-US" altLang="zh-CN"/>
              <a:t>pillow</a:t>
            </a:r>
            <a:r>
              <a:rPr lang="zh-CN" altLang="en-US"/>
              <a:t>中的各种应用和案例</a:t>
            </a:r>
            <a:endParaRPr lang="en-US" altLang="zh-CN"/>
          </a:p>
          <a:p>
            <a:pPr lvl="2">
              <a:spcBef>
                <a:spcPts val="1200"/>
              </a:spcBef>
            </a:pPr>
            <a:endParaRPr lang="en-US" altLang="zh-CN" sz="800"/>
          </a:p>
        </p:txBody>
      </p:sp>
    </p:spTree>
    <p:extLst>
      <p:ext uri="{BB962C8B-B14F-4D97-AF65-F5344CB8AC3E}">
        <p14:creationId xmlns:p14="http://schemas.microsoft.com/office/powerpoint/2010/main" val="40817333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MatPlotLib</a:t>
            </a:r>
            <a:r>
              <a:rPr lang="zh-CN" altLang="en-US"/>
              <a:t>的应用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zh-CN" altLang="en-US"/>
              <a:t>一、</a:t>
            </a:r>
            <a:r>
              <a:rPr lang="en-US" altLang="zh-CN"/>
              <a:t>MatPlotLib</a:t>
            </a:r>
            <a:r>
              <a:rPr lang="zh-CN" altLang="en-US"/>
              <a:t>简介</a:t>
            </a:r>
          </a:p>
          <a:p>
            <a:pPr lvl="1">
              <a:spcBef>
                <a:spcPts val="1200"/>
              </a:spcBef>
            </a:pPr>
            <a:r>
              <a:rPr lang="en-US" altLang="zh-CN"/>
              <a:t>(1)</a:t>
            </a:r>
            <a:r>
              <a:rPr lang="zh-CN" altLang="en-US"/>
              <a:t>什么是</a:t>
            </a:r>
            <a:r>
              <a:rPr lang="en-US" altLang="zh-CN"/>
              <a:t>MatPlotLib</a:t>
            </a:r>
            <a:r>
              <a:rPr lang="zh-CN" altLang="en-US"/>
              <a:t>？</a:t>
            </a:r>
          </a:p>
          <a:p>
            <a:pPr lvl="2">
              <a:lnSpc>
                <a:spcPct val="150000"/>
              </a:lnSpc>
              <a:spcBef>
                <a:spcPts val="1200"/>
              </a:spcBef>
            </a:pPr>
            <a:r>
              <a:rPr lang="en-US" altLang="zh-CN"/>
              <a:t>MatPlotlib</a:t>
            </a:r>
            <a:r>
              <a:rPr lang="zh-CN" altLang="en-US"/>
              <a:t>是基于</a:t>
            </a:r>
            <a:r>
              <a:rPr lang="en-US" altLang="zh-CN"/>
              <a:t>Python</a:t>
            </a:r>
            <a:r>
              <a:rPr lang="zh-CN" altLang="en-US"/>
              <a:t>语言的开源项目，旨在为</a:t>
            </a:r>
            <a:r>
              <a:rPr lang="en-US" altLang="zh-CN"/>
              <a:t>Python</a:t>
            </a:r>
            <a:r>
              <a:rPr lang="zh-CN" altLang="en-US"/>
              <a:t>提供一个数据绘图包。</a:t>
            </a:r>
            <a:endParaRPr lang="en-US" altLang="zh-CN"/>
          </a:p>
          <a:p>
            <a:pPr lvl="2">
              <a:lnSpc>
                <a:spcPct val="150000"/>
              </a:lnSpc>
              <a:spcBef>
                <a:spcPts val="1200"/>
              </a:spcBef>
            </a:pPr>
            <a:r>
              <a:rPr lang="zh-CN" altLang="en-US"/>
              <a:t>以数组类型的数据为基础</a:t>
            </a:r>
            <a:endParaRPr lang="en-US" altLang="zh-CN"/>
          </a:p>
          <a:p>
            <a:pPr lvl="2">
              <a:lnSpc>
                <a:spcPct val="150000"/>
              </a:lnSpc>
              <a:spcBef>
                <a:spcPts val="1200"/>
              </a:spcBef>
            </a:pPr>
            <a:r>
              <a:rPr lang="en-US" altLang="zh-CN"/>
              <a:t>Matplotlib</a:t>
            </a:r>
            <a:r>
              <a:rPr lang="zh-CN" altLang="en-US"/>
              <a:t>是受</a:t>
            </a:r>
            <a:r>
              <a:rPr lang="en-US" altLang="zh-CN"/>
              <a:t>MATLAB</a:t>
            </a:r>
            <a:r>
              <a:rPr lang="zh-CN" altLang="en-US"/>
              <a:t>的启发构建的。</a:t>
            </a:r>
            <a:r>
              <a:rPr lang="en-US" altLang="zh-CN"/>
              <a:t>MATLAB</a:t>
            </a:r>
            <a:r>
              <a:rPr lang="zh-CN" altLang="en-US"/>
              <a:t>是数据绘图领域广泛使用的语言和工具。</a:t>
            </a:r>
            <a:r>
              <a:rPr lang="en-US" altLang="zh-CN"/>
              <a:t>MATLAB</a:t>
            </a:r>
            <a:r>
              <a:rPr lang="zh-CN" altLang="en-US"/>
              <a:t>语言是面向过程的。利用函数的调用，</a:t>
            </a:r>
            <a:r>
              <a:rPr lang="en-US" altLang="zh-CN"/>
              <a:t>MATLAB</a:t>
            </a:r>
            <a:r>
              <a:rPr lang="zh-CN" altLang="en-US"/>
              <a:t>中可以轻松的利用一行命令来绘制直线，然后再用一系列的函数调整结果。</a:t>
            </a:r>
            <a:endParaRPr lang="en-US" altLang="zh-CN"/>
          </a:p>
          <a:p>
            <a:pPr lvl="2">
              <a:lnSpc>
                <a:spcPct val="150000"/>
              </a:lnSpc>
              <a:spcBef>
                <a:spcPts val="1200"/>
              </a:spcBef>
            </a:pPr>
            <a:r>
              <a:rPr lang="zh-CN" altLang="en-US"/>
              <a:t>因此，</a:t>
            </a:r>
            <a:r>
              <a:rPr lang="en-US" altLang="zh-CN"/>
              <a:t>MatPlotLib</a:t>
            </a:r>
            <a:r>
              <a:rPr lang="zh-CN" altLang="en-US"/>
              <a:t>有一套完全仿照</a:t>
            </a:r>
            <a:r>
              <a:rPr lang="en-US" altLang="zh-CN"/>
              <a:t>MATLAB</a:t>
            </a:r>
            <a:r>
              <a:rPr lang="zh-CN" altLang="en-US"/>
              <a:t>的函数形式的绘图接口，放置于在</a:t>
            </a:r>
            <a:r>
              <a:rPr lang="en-US" altLang="zh-CN"/>
              <a:t>matplotlib.pyplot</a:t>
            </a:r>
            <a:r>
              <a:rPr lang="zh-CN" altLang="en-US"/>
              <a:t>模块中。这套函数接口方便</a:t>
            </a:r>
            <a:r>
              <a:rPr lang="en-US" altLang="zh-CN"/>
              <a:t>MATLAB</a:t>
            </a:r>
            <a:r>
              <a:rPr lang="zh-CN" altLang="en-US"/>
              <a:t>用户过度到</a:t>
            </a:r>
            <a:r>
              <a:rPr lang="en-US" altLang="zh-CN"/>
              <a:t>matplotlib</a:t>
            </a:r>
            <a:r>
              <a:rPr lang="zh-CN" altLang="en-US"/>
              <a:t>包。</a:t>
            </a:r>
          </a:p>
        </p:txBody>
      </p:sp>
    </p:spTree>
    <p:extLst>
      <p:ext uri="{BB962C8B-B14F-4D97-AF65-F5344CB8AC3E}">
        <p14:creationId xmlns:p14="http://schemas.microsoft.com/office/powerpoint/2010/main" val="18470828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DCA2DFA7-2A9A-681A-EC2F-62E94881E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36ECB521-487C-B9DF-8996-84F16794B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434" y="1130300"/>
            <a:ext cx="11469065" cy="500380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altLang="zh-CN" sz="2000"/>
              <a:t>figure</a:t>
            </a:r>
            <a:r>
              <a:rPr lang="zh-CN" altLang="zh-CN" sz="2000"/>
              <a:t>中的一切元素都可以根据业务需求或个人喜好自定义：弹框的标题、坐标轴位置、坐标轴精度、坐标轴刻度、坐标轴显示或隐藏、绘图的线条样式、线条宽度、线条颜色、图例、注解等所有元素。 </a:t>
            </a:r>
          </a:p>
          <a:p>
            <a:pPr algn="just">
              <a:lnSpc>
                <a:spcPct val="150000"/>
              </a:lnSpc>
            </a:pPr>
            <a:endParaRPr lang="zh-CN" altLang="en-US" sz="200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8F04C93-DDB1-A5E1-E89D-B762628D2E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92" t="6395" r="3699" b="3475"/>
          <a:stretch/>
        </p:blipFill>
        <p:spPr>
          <a:xfrm>
            <a:off x="5256997" y="2114651"/>
            <a:ext cx="6261904" cy="4653022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ED80D15C-E48E-1982-E45E-F3E4A0DEDC6A}"/>
              </a:ext>
            </a:extLst>
          </p:cNvPr>
          <p:cNvSpPr txBox="1"/>
          <p:nvPr/>
        </p:nvSpPr>
        <p:spPr>
          <a:xfrm>
            <a:off x="775503" y="6568180"/>
            <a:ext cx="40504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https://zhuanlan.zhihu.com/p/650289570?utm_id=0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思源黑体 CN Normal"/>
              <a:ea typeface="思源黑体 CN Normal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47322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MatPlotLib</a:t>
            </a:r>
            <a:r>
              <a:rPr lang="zh-CN" altLang="en-US"/>
              <a:t>的应用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zh-CN" altLang="en-US"/>
              <a:t>一、</a:t>
            </a:r>
            <a:r>
              <a:rPr lang="en-US" altLang="zh-CN"/>
              <a:t>MatPlotLib</a:t>
            </a:r>
            <a:r>
              <a:rPr lang="zh-CN" altLang="en-US"/>
              <a:t>简介</a:t>
            </a:r>
          </a:p>
          <a:p>
            <a:pPr lvl="1">
              <a:spcBef>
                <a:spcPts val="1200"/>
              </a:spcBef>
            </a:pPr>
            <a:r>
              <a:rPr lang="en-US" altLang="zh-CN"/>
              <a:t>(2)</a:t>
            </a:r>
            <a:r>
              <a:rPr lang="zh-CN" altLang="en-US"/>
              <a:t>启用</a:t>
            </a:r>
            <a:r>
              <a:rPr lang="en-US" altLang="zh-CN"/>
              <a:t>MatPlotLib</a:t>
            </a:r>
            <a:r>
              <a:rPr lang="zh-CN" altLang="en-US"/>
              <a:t>绘图并显示图像</a:t>
            </a:r>
          </a:p>
          <a:p>
            <a:pPr lvl="2">
              <a:spcBef>
                <a:spcPts val="1200"/>
              </a:spcBef>
            </a:pPr>
            <a:r>
              <a:rPr lang="zh-CN" altLang="en-US"/>
              <a:t>在任何绘图之前，均需要一个</a:t>
            </a:r>
            <a:r>
              <a:rPr lang="en-US" altLang="zh-CN"/>
              <a:t>Figure</a:t>
            </a:r>
            <a:r>
              <a:rPr lang="zh-CN" altLang="en-US"/>
              <a:t>对象，可以理解成我们需要一张画板才能开始绘图。</a:t>
            </a:r>
          </a:p>
          <a:p>
            <a:pPr lvl="2">
              <a:spcBef>
                <a:spcPts val="1200"/>
              </a:spcBef>
            </a:pPr>
            <a:r>
              <a:rPr lang="zh-CN" altLang="en-US"/>
              <a:t>采用的命令：</a:t>
            </a:r>
            <a:r>
              <a:rPr lang="en-US" altLang="zh-CN"/>
              <a:t>import matplotlib.pyplot as plt</a:t>
            </a:r>
          </a:p>
          <a:p>
            <a:pPr lvl="2">
              <a:spcBef>
                <a:spcPts val="1200"/>
              </a:spcBef>
            </a:pPr>
            <a:r>
              <a:rPr lang="zh-CN" altLang="en-US"/>
              <a:t>依赖数组提供数据：</a:t>
            </a:r>
            <a:r>
              <a:rPr lang="en-US" altLang="zh-CN"/>
              <a:t>import numpy as np</a:t>
            </a:r>
          </a:p>
          <a:p>
            <a:pPr lvl="2">
              <a:spcBef>
                <a:spcPts val="1200"/>
              </a:spcBef>
            </a:pPr>
            <a:r>
              <a:rPr lang="zh-CN" altLang="en-US"/>
              <a:t>采用的命令：</a:t>
            </a:r>
            <a:r>
              <a:rPr lang="en-US" altLang="zh-CN"/>
              <a:t>fig=plt.figure()        #</a:t>
            </a:r>
            <a:r>
              <a:rPr lang="zh-CN" altLang="en-US"/>
              <a:t>获得画板对象</a:t>
            </a:r>
            <a:endParaRPr lang="en-US" altLang="zh-CN"/>
          </a:p>
          <a:p>
            <a:pPr lvl="2">
              <a:spcBef>
                <a:spcPts val="1200"/>
              </a:spcBef>
            </a:pPr>
            <a:r>
              <a:rPr lang="zh-CN" altLang="en-US"/>
              <a:t>显示出图形：</a:t>
            </a:r>
            <a:r>
              <a:rPr lang="en-US" altLang="zh-CN"/>
              <a:t>plt.show()</a:t>
            </a:r>
          </a:p>
          <a:p>
            <a:pPr lvl="2">
              <a:spcBef>
                <a:spcPts val="1200"/>
              </a:spcBef>
            </a:pPr>
            <a:endParaRPr lang="en-US" altLang="zh-CN"/>
          </a:p>
          <a:p>
            <a:pPr lvl="2">
              <a:spcBef>
                <a:spcPts val="120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82623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MatPlotLib</a:t>
            </a:r>
            <a:r>
              <a:rPr lang="zh-CN" altLang="en-US"/>
              <a:t>的应用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zh-CN" altLang="en-US"/>
              <a:t>一、</a:t>
            </a:r>
            <a:r>
              <a:rPr lang="en-US" altLang="zh-CN" err="1"/>
              <a:t>MatPlotLib</a:t>
            </a:r>
            <a:r>
              <a:rPr lang="zh-CN" altLang="en-US"/>
              <a:t>简介</a:t>
            </a:r>
          </a:p>
          <a:p>
            <a:pPr lvl="1">
              <a:spcBef>
                <a:spcPts val="1200"/>
              </a:spcBef>
            </a:pPr>
            <a:r>
              <a:rPr lang="en-US" altLang="zh-CN"/>
              <a:t>(3)</a:t>
            </a:r>
            <a:r>
              <a:rPr lang="zh-CN" altLang="en-US"/>
              <a:t>设置</a:t>
            </a:r>
            <a:r>
              <a:rPr lang="en-US" altLang="zh-CN" err="1"/>
              <a:t>plt</a:t>
            </a:r>
            <a:r>
              <a:rPr lang="zh-CN" altLang="en-US"/>
              <a:t>的各个参数，配置属性</a:t>
            </a:r>
            <a:endParaRPr lang="en-US" altLang="zh-CN"/>
          </a:p>
          <a:p>
            <a:pPr lvl="2">
              <a:spcBef>
                <a:spcPts val="1200"/>
              </a:spcBef>
            </a:pPr>
            <a:r>
              <a:rPr lang="zh-CN" altLang="en-US"/>
              <a:t>基本参数</a:t>
            </a:r>
          </a:p>
          <a:p>
            <a:pPr lvl="3">
              <a:spcBef>
                <a:spcPts val="1200"/>
              </a:spcBef>
            </a:pPr>
            <a:r>
              <a:rPr lang="en-US" altLang="zh-CN" err="1"/>
              <a:t>plt.grid</a:t>
            </a:r>
            <a:r>
              <a:rPr lang="en-US" altLang="zh-CN"/>
              <a:t>()                              #</a:t>
            </a:r>
            <a:r>
              <a:rPr lang="zh-CN" altLang="en-US"/>
              <a:t>绘出网格</a:t>
            </a:r>
          </a:p>
          <a:p>
            <a:pPr lvl="3">
              <a:spcBef>
                <a:spcPts val="1200"/>
              </a:spcBef>
            </a:pPr>
            <a:r>
              <a:rPr lang="en-US" altLang="zh-CN" err="1"/>
              <a:t>plt.xlabel</a:t>
            </a:r>
            <a:r>
              <a:rPr lang="en-US" altLang="zh-CN"/>
              <a:t>('</a:t>
            </a:r>
            <a:r>
              <a:rPr lang="zh-CN" altLang="en-US"/>
              <a:t>字符串</a:t>
            </a:r>
            <a:r>
              <a:rPr lang="en-US" altLang="zh-CN"/>
              <a:t>')               #</a:t>
            </a:r>
            <a:r>
              <a:rPr lang="zh-CN" altLang="en-US"/>
              <a:t>设置</a:t>
            </a:r>
            <a:r>
              <a:rPr lang="en-US" altLang="zh-CN"/>
              <a:t>x</a:t>
            </a:r>
            <a:r>
              <a:rPr lang="zh-CN" altLang="en-US"/>
              <a:t>轴的标题</a:t>
            </a:r>
          </a:p>
          <a:p>
            <a:pPr lvl="3">
              <a:spcBef>
                <a:spcPts val="1200"/>
              </a:spcBef>
            </a:pPr>
            <a:r>
              <a:rPr lang="en-US" altLang="zh-CN" err="1"/>
              <a:t>plt.xlim</a:t>
            </a:r>
            <a:r>
              <a:rPr lang="en-US" altLang="zh-CN"/>
              <a:t>(</a:t>
            </a:r>
            <a:r>
              <a:rPr lang="zh-CN" altLang="en-US"/>
              <a:t>下限，上限</a:t>
            </a:r>
            <a:r>
              <a:rPr lang="en-US" altLang="zh-CN"/>
              <a:t>)            #</a:t>
            </a:r>
            <a:r>
              <a:rPr lang="zh-CN" altLang="en-US"/>
              <a:t>设置</a:t>
            </a:r>
            <a:r>
              <a:rPr lang="en-US" altLang="zh-CN"/>
              <a:t>x</a:t>
            </a:r>
            <a:r>
              <a:rPr lang="zh-CN" altLang="en-US"/>
              <a:t>轴的范围</a:t>
            </a:r>
          </a:p>
          <a:p>
            <a:pPr lvl="3">
              <a:spcBef>
                <a:spcPts val="1200"/>
              </a:spcBef>
            </a:pPr>
            <a:r>
              <a:rPr lang="en-US" altLang="zh-CN" err="1"/>
              <a:t>plt.title</a:t>
            </a:r>
            <a:r>
              <a:rPr lang="en-US" altLang="zh-CN"/>
              <a:t>('</a:t>
            </a:r>
            <a:r>
              <a:rPr lang="zh-CN" altLang="en-US"/>
              <a:t>图表的标题</a:t>
            </a:r>
            <a:r>
              <a:rPr lang="en-US" altLang="zh-CN"/>
              <a:t>’)</a:t>
            </a:r>
          </a:p>
          <a:p>
            <a:pPr lvl="3">
              <a:spcBef>
                <a:spcPts val="1200"/>
              </a:spcBef>
            </a:pPr>
            <a:r>
              <a:rPr lang="en-US" altLang="zh-CN"/>
              <a:t>Plt.figtext(x,y,“</a:t>
            </a:r>
            <a:r>
              <a:rPr lang="zh-CN" altLang="en-US"/>
              <a:t>标题文字</a:t>
            </a:r>
            <a:r>
              <a:rPr lang="en-US" altLang="zh-CN"/>
              <a:t>”,ha=‘center’)   #</a:t>
            </a:r>
            <a:r>
              <a:rPr lang="zh-CN" altLang="en-US"/>
              <a:t>设置图表的标题，</a:t>
            </a:r>
            <a:r>
              <a:rPr lang="en-US" altLang="zh-CN"/>
              <a:t>ha</a:t>
            </a:r>
            <a:r>
              <a:rPr lang="zh-CN" altLang="en-US"/>
              <a:t>表示标题文字水平对齐</a:t>
            </a:r>
            <a:endParaRPr lang="en-US" altLang="zh-CN"/>
          </a:p>
          <a:p>
            <a:pPr lvl="2">
              <a:spcBef>
                <a:spcPts val="1200"/>
              </a:spcBef>
            </a:pPr>
            <a:r>
              <a:rPr lang="en-US" altLang="zh-CN" err="1"/>
              <a:t>plt</a:t>
            </a:r>
            <a:r>
              <a:rPr lang="zh-CN" altLang="en-US"/>
              <a:t>的数据</a:t>
            </a:r>
            <a:endParaRPr lang="en-US" altLang="zh-CN"/>
          </a:p>
          <a:p>
            <a:pPr lvl="3">
              <a:spcBef>
                <a:spcPts val="1200"/>
              </a:spcBef>
            </a:pPr>
            <a:r>
              <a:rPr lang="en-US" altLang="zh-CN" err="1"/>
              <a:t>plt</a:t>
            </a:r>
            <a:r>
              <a:rPr lang="zh-CN" altLang="en-US"/>
              <a:t>的数据通常为数组型内容，建议</a:t>
            </a:r>
            <a:r>
              <a:rPr lang="zh-CN" altLang="en-US">
                <a:solidFill>
                  <a:srgbClr val="FF0000"/>
                </a:solidFill>
              </a:rPr>
              <a:t>多使用一维数组</a:t>
            </a:r>
            <a:r>
              <a:rPr lang="zh-CN" altLang="en-US"/>
              <a:t>。</a:t>
            </a:r>
            <a:endParaRPr lang="en-US" altLang="zh-CN"/>
          </a:p>
          <a:p>
            <a:pPr lvl="2">
              <a:spcBef>
                <a:spcPts val="120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00407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MatPlotLib</a:t>
            </a:r>
            <a:r>
              <a:rPr lang="zh-CN" altLang="en-US"/>
              <a:t>的应用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zh-CN" altLang="en-US"/>
              <a:t>一、</a:t>
            </a:r>
            <a:r>
              <a:rPr lang="en-US" altLang="zh-CN" err="1"/>
              <a:t>MatPlotLib</a:t>
            </a:r>
            <a:r>
              <a:rPr lang="zh-CN" altLang="en-US"/>
              <a:t>简介</a:t>
            </a:r>
          </a:p>
          <a:p>
            <a:pPr lvl="1">
              <a:spcBef>
                <a:spcPts val="1200"/>
              </a:spcBef>
            </a:pPr>
            <a:r>
              <a:rPr lang="en-US" altLang="zh-CN"/>
              <a:t>(4)</a:t>
            </a:r>
            <a:r>
              <a:rPr lang="zh-CN" altLang="en-US"/>
              <a:t>图形的类型</a:t>
            </a:r>
          </a:p>
          <a:p>
            <a:pPr lvl="2">
              <a:spcBef>
                <a:spcPts val="1200"/>
              </a:spcBef>
            </a:pPr>
            <a:r>
              <a:rPr lang="zh-CN" altLang="en-US"/>
              <a:t>折线图</a:t>
            </a:r>
            <a:endParaRPr lang="en-US" altLang="zh-CN"/>
          </a:p>
          <a:p>
            <a:pPr lvl="3">
              <a:spcBef>
                <a:spcPts val="1200"/>
              </a:spcBef>
            </a:pPr>
            <a:r>
              <a:rPr lang="en-US" altLang="zh-CN" err="1">
                <a:solidFill>
                  <a:srgbClr val="FF0000"/>
                </a:solidFill>
              </a:rPr>
              <a:t>plt.plot</a:t>
            </a:r>
            <a:r>
              <a:rPr lang="en-US" altLang="zh-CN">
                <a:solidFill>
                  <a:srgbClr val="FF0000"/>
                </a:solidFill>
              </a:rPr>
              <a:t>(</a:t>
            </a:r>
            <a:r>
              <a:rPr lang="zh-CN" altLang="en-US">
                <a:solidFill>
                  <a:srgbClr val="FF0000"/>
                </a:solidFill>
              </a:rPr>
              <a:t>数据序列，</a:t>
            </a:r>
            <a:r>
              <a:rPr lang="en-US" altLang="zh-CN">
                <a:solidFill>
                  <a:srgbClr val="FF0000"/>
                </a:solidFill>
              </a:rPr>
              <a:t>’</a:t>
            </a:r>
            <a:r>
              <a:rPr lang="zh-CN" altLang="en-US">
                <a:solidFill>
                  <a:srgbClr val="FF0000"/>
                </a:solidFill>
              </a:rPr>
              <a:t>格式符</a:t>
            </a:r>
            <a:r>
              <a:rPr lang="en-US" altLang="zh-CN">
                <a:solidFill>
                  <a:srgbClr val="FF0000"/>
                </a:solidFill>
              </a:rPr>
              <a:t>’,</a:t>
            </a:r>
            <a:r>
              <a:rPr lang="zh-CN" altLang="en-US">
                <a:solidFill>
                  <a:srgbClr val="FF0000"/>
                </a:solidFill>
              </a:rPr>
              <a:t> </a:t>
            </a:r>
            <a:r>
              <a:rPr lang="en-US" altLang="zh-CN">
                <a:solidFill>
                  <a:srgbClr val="FF0000"/>
                </a:solidFill>
              </a:rPr>
              <a:t>c=‘</a:t>
            </a:r>
            <a:r>
              <a:rPr lang="zh-CN" altLang="en-US">
                <a:solidFill>
                  <a:srgbClr val="FF0000"/>
                </a:solidFill>
              </a:rPr>
              <a:t>颜色</a:t>
            </a:r>
            <a:r>
              <a:rPr lang="en-US" altLang="zh-CN">
                <a:solidFill>
                  <a:srgbClr val="FF0000"/>
                </a:solidFill>
              </a:rPr>
              <a:t>’, lindwidth=</a:t>
            </a:r>
            <a:r>
              <a:rPr lang="zh-CN" altLang="en-US">
                <a:solidFill>
                  <a:srgbClr val="FF0000"/>
                </a:solidFill>
              </a:rPr>
              <a:t>线宽，</a:t>
            </a:r>
            <a:r>
              <a:rPr lang="en-US" altLang="zh-CN">
                <a:solidFill>
                  <a:srgbClr val="FF0000"/>
                </a:solidFill>
              </a:rPr>
              <a:t>label=‘</a:t>
            </a:r>
            <a:r>
              <a:rPr lang="zh-CN" altLang="en-US">
                <a:solidFill>
                  <a:srgbClr val="FF0000"/>
                </a:solidFill>
              </a:rPr>
              <a:t>图例</a:t>
            </a:r>
            <a:r>
              <a:rPr lang="en-US" altLang="zh-CN"/>
              <a:t>’)    #</a:t>
            </a:r>
            <a:r>
              <a:rPr lang="zh-CN" altLang="en-US"/>
              <a:t>这里的</a:t>
            </a:r>
            <a:r>
              <a:rPr lang="en-US" altLang="zh-CN"/>
              <a:t>label</a:t>
            </a:r>
            <a:r>
              <a:rPr lang="zh-CN" altLang="en-US"/>
              <a:t>是单一图例，格式符包括颜色、点、线性</a:t>
            </a:r>
            <a:endParaRPr lang="en-US" altLang="zh-CN"/>
          </a:p>
          <a:p>
            <a:pPr lvl="3">
              <a:spcBef>
                <a:spcPts val="1200"/>
              </a:spcBef>
            </a:pPr>
            <a:r>
              <a:rPr lang="en-US" altLang="zh-CN" err="1">
                <a:solidFill>
                  <a:srgbClr val="FF0000"/>
                </a:solidFill>
              </a:rPr>
              <a:t>plt.plot</a:t>
            </a:r>
            <a:r>
              <a:rPr lang="en-US" altLang="zh-CN">
                <a:solidFill>
                  <a:srgbClr val="FF0000"/>
                </a:solidFill>
              </a:rPr>
              <a:t>(x</a:t>
            </a:r>
            <a:r>
              <a:rPr lang="zh-CN" altLang="en-US">
                <a:solidFill>
                  <a:srgbClr val="FF0000"/>
                </a:solidFill>
              </a:rPr>
              <a:t>序列，</a:t>
            </a:r>
            <a:r>
              <a:rPr lang="en-US" altLang="zh-CN">
                <a:solidFill>
                  <a:srgbClr val="FF0000"/>
                </a:solidFill>
              </a:rPr>
              <a:t>y</a:t>
            </a:r>
            <a:r>
              <a:rPr lang="zh-CN" altLang="en-US">
                <a:solidFill>
                  <a:srgbClr val="FF0000"/>
                </a:solidFill>
              </a:rPr>
              <a:t>序列</a:t>
            </a:r>
            <a:r>
              <a:rPr lang="en-US" altLang="zh-CN">
                <a:solidFill>
                  <a:srgbClr val="FF0000"/>
                </a:solidFill>
              </a:rPr>
              <a:t>)             #</a:t>
            </a:r>
            <a:r>
              <a:rPr lang="zh-CN" altLang="en-US">
                <a:solidFill>
                  <a:srgbClr val="FF0000"/>
                </a:solidFill>
              </a:rPr>
              <a:t>绘制折线图  </a:t>
            </a:r>
            <a:r>
              <a:rPr lang="en-US" altLang="zh-CN">
                <a:solidFill>
                  <a:srgbClr val="FF0000"/>
                </a:solidFill>
              </a:rPr>
              <a:t>x1,y1,x2,y2</a:t>
            </a:r>
          </a:p>
          <a:p>
            <a:pPr lvl="2">
              <a:spcBef>
                <a:spcPts val="1200"/>
              </a:spcBef>
            </a:pPr>
            <a:r>
              <a:rPr lang="zh-CN" altLang="en-US"/>
              <a:t>散点图</a:t>
            </a:r>
            <a:endParaRPr lang="zh-CN" altLang="en-US" b="1"/>
          </a:p>
          <a:p>
            <a:pPr lvl="3">
              <a:spcBef>
                <a:spcPts val="1200"/>
              </a:spcBef>
            </a:pPr>
            <a:r>
              <a:rPr lang="en-US" altLang="zh-CN" err="1">
                <a:solidFill>
                  <a:srgbClr val="FF0000"/>
                </a:solidFill>
              </a:rPr>
              <a:t>plt.scatter</a:t>
            </a:r>
            <a:r>
              <a:rPr lang="en-US" altLang="zh-CN">
                <a:solidFill>
                  <a:srgbClr val="FF0000"/>
                </a:solidFill>
              </a:rPr>
              <a:t>(x</a:t>
            </a:r>
            <a:r>
              <a:rPr lang="zh-CN" altLang="en-US">
                <a:solidFill>
                  <a:srgbClr val="FF0000"/>
                </a:solidFill>
              </a:rPr>
              <a:t>数据序列，</a:t>
            </a:r>
            <a:r>
              <a:rPr lang="en-US" altLang="zh-CN">
                <a:solidFill>
                  <a:srgbClr val="FF0000"/>
                </a:solidFill>
              </a:rPr>
              <a:t>y</a:t>
            </a:r>
            <a:r>
              <a:rPr lang="zh-CN" altLang="en-US">
                <a:solidFill>
                  <a:srgbClr val="FF0000"/>
                </a:solidFill>
              </a:rPr>
              <a:t>数据序列，</a:t>
            </a:r>
            <a:r>
              <a:rPr lang="en-US" altLang="zh-CN">
                <a:solidFill>
                  <a:srgbClr val="FF0000"/>
                </a:solidFill>
              </a:rPr>
              <a:t>marker='</a:t>
            </a:r>
            <a:r>
              <a:rPr lang="zh-CN" altLang="en-US">
                <a:solidFill>
                  <a:srgbClr val="FF0000"/>
                </a:solidFill>
              </a:rPr>
              <a:t>颜色</a:t>
            </a:r>
            <a:r>
              <a:rPr lang="en-US" altLang="zh-CN">
                <a:solidFill>
                  <a:srgbClr val="FF0000"/>
                </a:solidFill>
              </a:rPr>
              <a:t>’, c='</a:t>
            </a:r>
            <a:r>
              <a:rPr lang="zh-CN" altLang="en-US">
                <a:solidFill>
                  <a:srgbClr val="FF0000"/>
                </a:solidFill>
              </a:rPr>
              <a:t>颜色</a:t>
            </a:r>
            <a:r>
              <a:rPr lang="en-US" altLang="zh-CN">
                <a:solidFill>
                  <a:srgbClr val="FF0000"/>
                </a:solidFill>
              </a:rPr>
              <a:t>')</a:t>
            </a:r>
          </a:p>
          <a:p>
            <a:pPr lvl="2">
              <a:spcBef>
                <a:spcPts val="1200"/>
              </a:spcBef>
            </a:pPr>
            <a:r>
              <a:rPr lang="zh-CN" altLang="en-US"/>
              <a:t>饼图</a:t>
            </a:r>
            <a:endParaRPr lang="en-US" altLang="zh-CN"/>
          </a:p>
          <a:p>
            <a:pPr lvl="3">
              <a:spcBef>
                <a:spcPts val="1200"/>
              </a:spcBef>
            </a:pPr>
            <a:r>
              <a:rPr lang="en-US" altLang="zh-CN" err="1">
                <a:solidFill>
                  <a:srgbClr val="FF0000"/>
                </a:solidFill>
              </a:rPr>
              <a:t>plt.pie</a:t>
            </a:r>
            <a:r>
              <a:rPr lang="en-US" altLang="zh-CN">
                <a:solidFill>
                  <a:srgbClr val="FF0000"/>
                </a:solidFill>
              </a:rPr>
              <a:t>(</a:t>
            </a:r>
            <a:r>
              <a:rPr lang="zh-CN" altLang="en-US">
                <a:solidFill>
                  <a:srgbClr val="FF0000"/>
                </a:solidFill>
              </a:rPr>
              <a:t>数据序列</a:t>
            </a:r>
            <a:r>
              <a:rPr lang="en-US" altLang="zh-CN">
                <a:solidFill>
                  <a:srgbClr val="FF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084435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MatPlotLib</a:t>
            </a:r>
            <a:r>
              <a:rPr lang="zh-CN" altLang="en-US"/>
              <a:t>的应用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zh-CN" altLang="en-US"/>
              <a:t>一、</a:t>
            </a:r>
            <a:r>
              <a:rPr lang="en-US" altLang="zh-CN"/>
              <a:t>MatPlotLib</a:t>
            </a:r>
            <a:r>
              <a:rPr lang="zh-CN" altLang="en-US"/>
              <a:t>简介</a:t>
            </a:r>
          </a:p>
          <a:p>
            <a:pPr lvl="1">
              <a:spcBef>
                <a:spcPts val="1200"/>
              </a:spcBef>
            </a:pPr>
            <a:r>
              <a:rPr lang="en-US" altLang="zh-CN"/>
              <a:t>(4)</a:t>
            </a:r>
            <a:r>
              <a:rPr lang="zh-CN" altLang="en-US"/>
              <a:t>图形的类型</a:t>
            </a:r>
            <a:endParaRPr lang="en-US" altLang="zh-CN"/>
          </a:p>
          <a:p>
            <a:pPr lvl="2">
              <a:spcBef>
                <a:spcPts val="1200"/>
              </a:spcBef>
            </a:pPr>
            <a:r>
              <a:rPr lang="zh-CN" altLang="en-US"/>
              <a:t>箱图</a:t>
            </a:r>
            <a:endParaRPr lang="en-US" altLang="zh-CN"/>
          </a:p>
          <a:p>
            <a:pPr lvl="3">
              <a:spcBef>
                <a:spcPts val="1200"/>
              </a:spcBef>
            </a:pPr>
            <a:r>
              <a:rPr lang="en-US" altLang="zh-CN" b="1"/>
              <a:t>plt.boxplot(</a:t>
            </a:r>
            <a:r>
              <a:rPr lang="zh-CN" altLang="en-US" b="1"/>
              <a:t>数据序列</a:t>
            </a:r>
            <a:r>
              <a:rPr lang="en-US" altLang="zh-CN" b="1"/>
              <a:t>)</a:t>
            </a:r>
            <a:endParaRPr lang="zh-CN" altLang="en-US" b="1"/>
          </a:p>
          <a:p>
            <a:pPr lvl="1">
              <a:spcBef>
                <a:spcPts val="1200"/>
              </a:spcBef>
            </a:pPr>
            <a:endParaRPr lang="zh-CN" altLang="en-US"/>
          </a:p>
          <a:p>
            <a:pPr lvl="2">
              <a:spcBef>
                <a:spcPts val="1200"/>
              </a:spcBef>
            </a:pPr>
            <a:r>
              <a:rPr lang="zh-CN" altLang="en-US"/>
              <a:t>绘制直方图</a:t>
            </a:r>
            <a:endParaRPr lang="en-US" altLang="zh-CN"/>
          </a:p>
          <a:p>
            <a:pPr lvl="3">
              <a:spcBef>
                <a:spcPts val="1200"/>
              </a:spcBef>
            </a:pPr>
            <a:r>
              <a:rPr lang="en-US" altLang="zh-CN"/>
              <a:t>plt.hist(</a:t>
            </a:r>
            <a:r>
              <a:rPr lang="zh-CN" altLang="en-US"/>
              <a:t>数据序列</a:t>
            </a:r>
            <a:r>
              <a:rPr lang="en-US" altLang="zh-CN"/>
              <a:t>)</a:t>
            </a:r>
          </a:p>
          <a:p>
            <a:pPr lvl="2">
              <a:spcBef>
                <a:spcPts val="1200"/>
              </a:spcBef>
            </a:pPr>
            <a:endParaRPr lang="en-US" altLang="zh-CN"/>
          </a:p>
          <a:p>
            <a:pPr lvl="2">
              <a:spcBef>
                <a:spcPts val="1200"/>
              </a:spcBef>
            </a:pPr>
            <a:endParaRPr lang="en-US" altLang="zh-CN"/>
          </a:p>
          <a:p>
            <a:pPr lvl="2">
              <a:spcBef>
                <a:spcPts val="1200"/>
              </a:spcBef>
            </a:pPr>
            <a:endParaRPr lang="en-US" altLang="zh-CN"/>
          </a:p>
          <a:p>
            <a:pPr lvl="2">
              <a:spcBef>
                <a:spcPts val="1200"/>
              </a:spcBef>
            </a:pPr>
            <a:endParaRPr lang="en-US" altLang="zh-CN"/>
          </a:p>
          <a:p>
            <a:pPr lvl="2">
              <a:spcBef>
                <a:spcPts val="1200"/>
              </a:spcBef>
            </a:pPr>
            <a:endParaRPr lang="en-US" altLang="zh-CN"/>
          </a:p>
          <a:p>
            <a:pPr lvl="2">
              <a:spcBef>
                <a:spcPts val="1200"/>
              </a:spcBef>
            </a:pPr>
            <a:endParaRPr lang="en-US" altLang="zh-CN"/>
          </a:p>
          <a:p>
            <a:pPr lvl="2">
              <a:spcBef>
                <a:spcPts val="1200"/>
              </a:spcBef>
            </a:pPr>
            <a:endParaRPr lang="en-US" altLang="zh-CN"/>
          </a:p>
          <a:p>
            <a:pPr lvl="2">
              <a:spcBef>
                <a:spcPts val="1200"/>
              </a:spcBef>
            </a:pPr>
            <a:endParaRPr lang="en-US" altLang="zh-CN"/>
          </a:p>
          <a:p>
            <a:pPr lvl="2">
              <a:spcBef>
                <a:spcPts val="1200"/>
              </a:spcBef>
            </a:pPr>
            <a:endParaRPr lang="en-US" altLang="zh-CN"/>
          </a:p>
          <a:p>
            <a:pPr lvl="2">
              <a:spcBef>
                <a:spcPts val="1200"/>
              </a:spcBef>
            </a:pPr>
            <a:endParaRPr lang="en-US" altLang="zh-CN"/>
          </a:p>
          <a:p>
            <a:pPr lvl="2">
              <a:spcBef>
                <a:spcPts val="1200"/>
              </a:spcBef>
            </a:pPr>
            <a:endParaRPr lang="en-US" altLang="zh-CN"/>
          </a:p>
          <a:p>
            <a:pPr lvl="2">
              <a:spcBef>
                <a:spcPts val="1200"/>
              </a:spcBef>
            </a:pPr>
            <a:endParaRPr lang="en-US" altLang="zh-CN"/>
          </a:p>
          <a:p>
            <a:pPr lvl="2">
              <a:spcBef>
                <a:spcPts val="1200"/>
              </a:spcBef>
            </a:pPr>
            <a:endParaRPr lang="en-US" altLang="zh-CN"/>
          </a:p>
          <a:p>
            <a:pPr lvl="2">
              <a:spcBef>
                <a:spcPts val="1200"/>
              </a:spcBef>
            </a:pP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7891" y="0"/>
            <a:ext cx="4244109" cy="331233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BE09EF7-A8E7-5A75-57AB-4A30268CC2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353" y="4442637"/>
            <a:ext cx="6403366" cy="495384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5520118D-8B33-EC91-6394-1C385F4C20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7891" y="3402664"/>
            <a:ext cx="4162425" cy="31242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8794ADE0-F56E-6D6C-7DB8-40561E64D03F}"/>
              </a:ext>
            </a:extLst>
          </p:cNvPr>
          <p:cNvSpPr txBox="1"/>
          <p:nvPr/>
        </p:nvSpPr>
        <p:spPr>
          <a:xfrm>
            <a:off x="9064245" y="6613611"/>
            <a:ext cx="304607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https://zhuanlan.zhihu.com/p/634796969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思源黑体 CN Normal"/>
              <a:ea typeface="思源黑体 CN Normal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34412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MatPlotLib</a:t>
            </a:r>
            <a:r>
              <a:rPr lang="zh-CN" altLang="en-US"/>
              <a:t>的应用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zh-CN" altLang="en-US" b="1"/>
              <a:t>一、</a:t>
            </a:r>
            <a:r>
              <a:rPr lang="en-US" altLang="zh-CN" b="1" err="1"/>
              <a:t>MatPlotLib</a:t>
            </a:r>
            <a:r>
              <a:rPr lang="zh-CN" altLang="en-US" b="1"/>
              <a:t>简介</a:t>
            </a:r>
          </a:p>
          <a:p>
            <a:pPr lvl="1">
              <a:spcBef>
                <a:spcPts val="1200"/>
              </a:spcBef>
            </a:pPr>
            <a:r>
              <a:rPr lang="en-US" altLang="zh-CN" b="1"/>
              <a:t>(5)</a:t>
            </a:r>
            <a:r>
              <a:rPr lang="zh-CN" altLang="en-US" b="1"/>
              <a:t>详细设计格式示例</a:t>
            </a:r>
          </a:p>
          <a:p>
            <a:pPr lvl="2">
              <a:spcBef>
                <a:spcPts val="1200"/>
              </a:spcBef>
            </a:pPr>
            <a:r>
              <a:rPr lang="zh-CN" altLang="en-US"/>
              <a:t>绘制圆饼图</a:t>
            </a:r>
            <a:endParaRPr lang="en-US" altLang="zh-CN"/>
          </a:p>
          <a:p>
            <a:pPr lvl="2">
              <a:spcBef>
                <a:spcPts val="1200"/>
              </a:spcBef>
            </a:pPr>
            <a:endParaRPr lang="en-US" altLang="zh-CN"/>
          </a:p>
          <a:p>
            <a:pPr lvl="2">
              <a:spcBef>
                <a:spcPts val="1200"/>
              </a:spcBef>
            </a:pPr>
            <a:endParaRPr lang="en-US" altLang="zh-CN"/>
          </a:p>
          <a:p>
            <a:pPr lvl="2">
              <a:spcBef>
                <a:spcPts val="1200"/>
              </a:spcBef>
            </a:pPr>
            <a:endParaRPr lang="en-US" altLang="zh-CN"/>
          </a:p>
          <a:p>
            <a:pPr lvl="2">
              <a:spcBef>
                <a:spcPts val="1200"/>
              </a:spcBef>
            </a:pPr>
            <a:endParaRPr lang="en-US" altLang="zh-CN"/>
          </a:p>
          <a:p>
            <a:pPr lvl="2">
              <a:spcBef>
                <a:spcPts val="0"/>
              </a:spcBef>
            </a:pPr>
            <a:r>
              <a:rPr lang="en-US" altLang="zh-CN" b="1"/>
              <a:t>size</a:t>
            </a:r>
            <a:r>
              <a:rPr lang="zh-CN" altLang="en-US" b="1"/>
              <a:t>：列表式，用于控制圆饼中各块的大小；</a:t>
            </a:r>
          </a:p>
          <a:p>
            <a:pPr lvl="2">
              <a:spcBef>
                <a:spcPts val="0"/>
              </a:spcBef>
            </a:pPr>
            <a:r>
              <a:rPr lang="en-US" altLang="zh-CN" b="1"/>
              <a:t>explode</a:t>
            </a:r>
            <a:r>
              <a:rPr lang="zh-CN" altLang="en-US" b="1"/>
              <a:t>：是否突出显示某块，</a:t>
            </a:r>
            <a:r>
              <a:rPr lang="en-US" altLang="zh-CN" b="1"/>
              <a:t>0.1</a:t>
            </a:r>
            <a:r>
              <a:rPr lang="zh-CN" altLang="en-US" b="1"/>
              <a:t>对应的位置突出；</a:t>
            </a:r>
            <a:endParaRPr lang="en-US" altLang="zh-CN" b="1"/>
          </a:p>
          <a:p>
            <a:pPr lvl="2">
              <a:spcBef>
                <a:spcPts val="0"/>
              </a:spcBef>
            </a:pPr>
            <a:r>
              <a:rPr lang="en-US" altLang="zh-CN" b="1"/>
              <a:t>labels:</a:t>
            </a:r>
            <a:r>
              <a:rPr lang="zh-CN" altLang="en-US" b="1"/>
              <a:t>每部分名称 </a:t>
            </a:r>
          </a:p>
          <a:p>
            <a:pPr lvl="2">
              <a:spcBef>
                <a:spcPts val="0"/>
              </a:spcBef>
            </a:pPr>
            <a:r>
              <a:rPr lang="en-US" altLang="zh-CN" b="1"/>
              <a:t>autopct:</a:t>
            </a:r>
            <a:r>
              <a:rPr lang="zh-CN" altLang="en-US" b="1"/>
              <a:t>占比显示指定</a:t>
            </a:r>
            <a:r>
              <a:rPr lang="en-US" altLang="zh-CN" b="1"/>
              <a:t>%1.2f%% </a:t>
            </a:r>
          </a:p>
          <a:p>
            <a:pPr lvl="2">
              <a:spcBef>
                <a:spcPts val="0"/>
              </a:spcBef>
            </a:pPr>
            <a:r>
              <a:rPr lang="en-US" altLang="zh-CN" b="1"/>
              <a:t>startangle</a:t>
            </a:r>
            <a:r>
              <a:rPr lang="zh-CN" altLang="en-US" b="1"/>
              <a:t>：圆饼的起始角度；</a:t>
            </a:r>
            <a:endParaRPr lang="en-US" altLang="zh-CN" b="1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F9239A8-FF55-9621-5F87-8F311C4F9C79}"/>
              </a:ext>
            </a:extLst>
          </p:cNvPr>
          <p:cNvSpPr txBox="1"/>
          <p:nvPr/>
        </p:nvSpPr>
        <p:spPr>
          <a:xfrm>
            <a:off x="1416578" y="2595155"/>
            <a:ext cx="9546062" cy="1384995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200" b="0" i="1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import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matplotlib.pyplot </a:t>
            </a:r>
            <a:r>
              <a:rPr kumimoji="0" lang="zh-CN" altLang="zh-CN" sz="1200" b="0" i="1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as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plt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labels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[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娱乐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育儿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饮食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房贷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交通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其它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]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sizes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[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5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12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70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9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]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explode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0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0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0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0.1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0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0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plt.rcParams[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'font.sans-serif'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]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[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'SimHei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’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] 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8F8F2"/>
              </a:solidFill>
              <a:effectLst/>
              <a:uLnTx/>
              <a:uFillTx/>
              <a:latin typeface="Courier New" panose="02070309020205020404" pitchFamily="49" charset="0"/>
              <a:ea typeface="思源黑体 CN Normal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plt.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pie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(sizes,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A4926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explode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explode,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A4926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labels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labels,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A4926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autopct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'%1.1f%%'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A4926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shadow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</a:t>
            </a:r>
            <a:r>
              <a:rPr kumimoji="0" lang="zh-CN" altLang="zh-CN" sz="1200" b="0" i="1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False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A4926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startangle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150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Arial" panose="020B0604020202020204" pitchFamily="34" charset="0"/>
              <a:ea typeface="思源黑体 CN Normal"/>
              <a:cs typeface="+mn-cs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11C4A367-F012-DFF5-6923-35AAD97E9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plt.rcParams[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'font.sans-serif'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] = [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'SimHei'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]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Arial" panose="020B0604020202020204" pitchFamily="34" charset="0"/>
              <a:ea typeface="思源黑体 CN Normal"/>
              <a:cs typeface="+mn-cs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696EDEE-6B3C-69BA-03A3-22DEF2238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0718" y="4309253"/>
            <a:ext cx="3835258" cy="254874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81C3CA3-F6BB-D669-80F0-52497FFF6D2F}"/>
              </a:ext>
            </a:extLst>
          </p:cNvPr>
          <p:cNvSpPr txBox="1"/>
          <p:nvPr/>
        </p:nvSpPr>
        <p:spPr>
          <a:xfrm>
            <a:off x="1416578" y="2609975"/>
            <a:ext cx="9864980" cy="1600438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import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matplotlib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pyplot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as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plt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labels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[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娱乐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育儿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饮食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房贷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交通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其它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sizes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[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2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5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12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70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2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9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explode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(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0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0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0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0.1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0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0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plt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rcParams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[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'font.sans-serif'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[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'SimHei'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plt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pie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sizes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explode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explode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labels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labels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autopct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%1.1f%%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shadow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False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startangle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150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665611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MatPlotLib</a:t>
            </a:r>
            <a:r>
              <a:rPr lang="zh-CN" altLang="en-US"/>
              <a:t>的应用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zh-CN" altLang="en-US"/>
              <a:t>一、</a:t>
            </a:r>
            <a:r>
              <a:rPr lang="en-US" altLang="zh-CN" err="1"/>
              <a:t>MatPlotLib</a:t>
            </a:r>
            <a:r>
              <a:rPr lang="zh-CN" altLang="en-US"/>
              <a:t>简介</a:t>
            </a:r>
          </a:p>
          <a:p>
            <a:pPr lvl="1">
              <a:spcBef>
                <a:spcPts val="1200"/>
              </a:spcBef>
            </a:pPr>
            <a:r>
              <a:rPr lang="en-US" altLang="zh-CN"/>
              <a:t>(5)</a:t>
            </a:r>
            <a:r>
              <a:rPr lang="zh-CN" altLang="en-US"/>
              <a:t>详细设计格式示例</a:t>
            </a:r>
          </a:p>
          <a:p>
            <a:pPr lvl="2">
              <a:spcBef>
                <a:spcPts val="1200"/>
              </a:spcBef>
            </a:pPr>
            <a:r>
              <a:rPr lang="zh-CN" altLang="en-US"/>
              <a:t>绘制直方图的实例</a:t>
            </a:r>
            <a:endParaRPr lang="en-US" altLang="zh-CN"/>
          </a:p>
          <a:p>
            <a:pPr lvl="2">
              <a:spcBef>
                <a:spcPts val="1200"/>
              </a:spcBef>
            </a:pPr>
            <a:endParaRPr lang="en-US" altLang="zh-CN"/>
          </a:p>
          <a:p>
            <a:pPr lvl="2">
              <a:spcBef>
                <a:spcPts val="1200"/>
              </a:spcBef>
            </a:pPr>
            <a:endParaRPr lang="en-US" altLang="zh-CN"/>
          </a:p>
          <a:p>
            <a:pPr lvl="2">
              <a:spcBef>
                <a:spcPts val="1200"/>
              </a:spcBef>
            </a:pPr>
            <a:endParaRPr lang="en-US" altLang="zh-CN"/>
          </a:p>
          <a:p>
            <a:pPr lvl="2">
              <a:spcBef>
                <a:spcPts val="1200"/>
              </a:spcBef>
            </a:pPr>
            <a:endParaRPr lang="en-US" altLang="zh-CN"/>
          </a:p>
          <a:p>
            <a:pPr lvl="2">
              <a:spcBef>
                <a:spcPts val="1200"/>
              </a:spcBef>
            </a:pPr>
            <a:endParaRPr lang="en-US" altLang="zh-CN"/>
          </a:p>
          <a:p>
            <a:pPr lvl="2">
              <a:spcBef>
                <a:spcPts val="1200"/>
              </a:spcBef>
            </a:pPr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C11248C-32C9-54DD-5CD2-3217512386DB}"/>
              </a:ext>
            </a:extLst>
          </p:cNvPr>
          <p:cNvSpPr txBox="1"/>
          <p:nvPr/>
        </p:nvSpPr>
        <p:spPr>
          <a:xfrm>
            <a:off x="408940" y="2754759"/>
            <a:ext cx="6885940" cy="2677656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200" b="0" i="1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import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matplotlib.pyplot </a:t>
            </a:r>
            <a:r>
              <a:rPr kumimoji="0" lang="zh-CN" altLang="zh-CN" sz="1200" b="0" i="1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as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plt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1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import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numpy </a:t>
            </a:r>
            <a:r>
              <a:rPr kumimoji="0" lang="zh-CN" altLang="zh-CN" sz="1200" b="0" i="1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as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np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1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import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math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plt.rcParams[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'font.sans-serif'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]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[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'SimHei'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]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plt.rcParams[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'axes.unicode_minus'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]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200" b="0" i="1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False</a:t>
            </a:r>
            <a:br>
              <a:rPr kumimoji="0" lang="zh-CN" altLang="zh-CN" sz="1200" b="0" i="1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fig, ax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plt.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subplots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1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1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a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np.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array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([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22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87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5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43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56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73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55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54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11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20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51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5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79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31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27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])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ax.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hist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(a,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A4926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bins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[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0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25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50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75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100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])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ax.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set_title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结果直方图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ax.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set_xticks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([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0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25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50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75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100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])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ax.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set_xlabel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分数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ax.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set_ylabel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学生数量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plt.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show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()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Arial" panose="020B0604020202020204" pitchFamily="34" charset="0"/>
              <a:ea typeface="思源黑体 CN Normal"/>
              <a:cs typeface="+mn-cs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789AE4A-275A-78E8-A095-69FFA5D98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6918" y="2754759"/>
            <a:ext cx="3962400" cy="288419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8318535-187A-E038-7C14-CCCE1960C52C}"/>
              </a:ext>
            </a:extLst>
          </p:cNvPr>
          <p:cNvSpPr txBox="1"/>
          <p:nvPr/>
        </p:nvSpPr>
        <p:spPr>
          <a:xfrm>
            <a:off x="408939" y="2754759"/>
            <a:ext cx="7137402" cy="3108543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import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matplotlib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pyplot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as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plt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import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numpy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as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np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import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math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plt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rcParams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[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'font.sans-serif'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[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'SimHei'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plt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rcParams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[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'axes.unicode_minus'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False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fig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ax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plt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subplots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   #1*1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维度的子图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np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array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([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22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87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5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43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56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73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55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54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11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20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51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5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79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31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27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ax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hist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bins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[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0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25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50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75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100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ax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set_title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结果直方图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ax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set_xticks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([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0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25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50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75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100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ax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set_xlabel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分数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ax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set_ylabel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学生数量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plt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show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()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3210FFA-3F9F-9C4A-F914-9251FDE13CB6}"/>
              </a:ext>
            </a:extLst>
          </p:cNvPr>
          <p:cNvSpPr txBox="1"/>
          <p:nvPr/>
        </p:nvSpPr>
        <p:spPr>
          <a:xfrm>
            <a:off x="5082641" y="2261831"/>
            <a:ext cx="6103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给出一组数据，计算频数分布，绘制直方图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14914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F3FA7ED2-AD1B-45FB-E298-D700C6B07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0433" y="3895106"/>
            <a:ext cx="3621567" cy="296915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MatPlotLib</a:t>
            </a:r>
            <a:r>
              <a:rPr lang="zh-CN" altLang="en-US"/>
              <a:t>的应用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ts val="1200"/>
              </a:spcBef>
            </a:pPr>
            <a:r>
              <a:rPr lang="zh-CN" altLang="en-US"/>
              <a:t>一、</a:t>
            </a:r>
            <a:r>
              <a:rPr lang="en-US" altLang="zh-CN"/>
              <a:t>MatPlotLib</a:t>
            </a:r>
            <a:r>
              <a:rPr lang="zh-CN" altLang="en-US"/>
              <a:t>简介</a:t>
            </a:r>
          </a:p>
          <a:p>
            <a:pPr lvl="1">
              <a:spcBef>
                <a:spcPts val="1200"/>
              </a:spcBef>
            </a:pPr>
            <a:r>
              <a:rPr lang="en-US" altLang="zh-CN"/>
              <a:t>(5)</a:t>
            </a:r>
            <a:r>
              <a:rPr lang="zh-CN" altLang="en-US"/>
              <a:t>详细设计格式示例</a:t>
            </a:r>
          </a:p>
          <a:p>
            <a:pPr lvl="2">
              <a:spcBef>
                <a:spcPts val="1200"/>
              </a:spcBef>
            </a:pPr>
            <a:r>
              <a:rPr lang="zh-CN" altLang="en-US"/>
              <a:t>绘制箱体图</a:t>
            </a:r>
            <a:endParaRPr lang="en-US" altLang="zh-CN"/>
          </a:p>
          <a:p>
            <a:pPr lvl="2">
              <a:spcBef>
                <a:spcPts val="1200"/>
              </a:spcBef>
            </a:pPr>
            <a:endParaRPr lang="en-US" altLang="zh-CN"/>
          </a:p>
          <a:p>
            <a:pPr lvl="2">
              <a:spcBef>
                <a:spcPts val="1200"/>
              </a:spcBef>
            </a:pPr>
            <a:endParaRPr lang="en-US" altLang="zh-CN"/>
          </a:p>
          <a:p>
            <a:pPr lvl="2">
              <a:spcBef>
                <a:spcPts val="1200"/>
              </a:spcBef>
            </a:pPr>
            <a:endParaRPr lang="en-US" altLang="zh-CN"/>
          </a:p>
          <a:p>
            <a:pPr lvl="2">
              <a:spcBef>
                <a:spcPts val="1200"/>
              </a:spcBef>
            </a:pPr>
            <a:endParaRPr lang="en-US" altLang="zh-CN"/>
          </a:p>
          <a:p>
            <a:pPr lvl="2">
              <a:spcBef>
                <a:spcPts val="1200"/>
              </a:spcBef>
            </a:pPr>
            <a:endParaRPr lang="en-US" altLang="zh-CN"/>
          </a:p>
          <a:p>
            <a:pPr lvl="2">
              <a:spcBef>
                <a:spcPts val="0"/>
              </a:spcBef>
            </a:pPr>
            <a:r>
              <a:rPr lang="en-US" altLang="zh-CN" b="1"/>
              <a:t>x</a:t>
            </a:r>
            <a:r>
              <a:rPr lang="zh-CN" altLang="en-US" b="1"/>
              <a:t>：指定要绘制箱线图的数据；</a:t>
            </a:r>
          </a:p>
          <a:p>
            <a:pPr lvl="2">
              <a:spcBef>
                <a:spcPts val="0"/>
              </a:spcBef>
            </a:pPr>
            <a:r>
              <a:rPr lang="en-US" altLang="zh-CN" b="1"/>
              <a:t>notch</a:t>
            </a:r>
            <a:r>
              <a:rPr lang="zh-CN" altLang="en-US" b="1"/>
              <a:t>：是否是凹口的形式展现箱线图，默认非凹口；</a:t>
            </a:r>
          </a:p>
          <a:p>
            <a:pPr lvl="2">
              <a:spcBef>
                <a:spcPts val="0"/>
              </a:spcBef>
            </a:pPr>
            <a:r>
              <a:rPr lang="en-US" altLang="zh-CN" b="1"/>
              <a:t>sym</a:t>
            </a:r>
            <a:r>
              <a:rPr lang="zh-CN" altLang="en-US" b="1"/>
              <a:t>：指定异常点的形状，默认为</a:t>
            </a:r>
            <a:r>
              <a:rPr lang="en-US" altLang="zh-CN" b="1"/>
              <a:t>+</a:t>
            </a:r>
            <a:r>
              <a:rPr lang="zh-CN" altLang="en-US" b="1"/>
              <a:t>号显示；</a:t>
            </a:r>
          </a:p>
          <a:p>
            <a:pPr lvl="2">
              <a:spcBef>
                <a:spcPts val="0"/>
              </a:spcBef>
            </a:pPr>
            <a:r>
              <a:rPr lang="en-US" altLang="zh-CN" b="1"/>
              <a:t>vert</a:t>
            </a:r>
            <a:r>
              <a:rPr lang="zh-CN" altLang="en-US" b="1"/>
              <a:t>：是否需要将箱线图垂直摆放，默认垂直摆放；</a:t>
            </a:r>
          </a:p>
          <a:p>
            <a:pPr lvl="2">
              <a:spcBef>
                <a:spcPts val="0"/>
              </a:spcBef>
            </a:pPr>
            <a:r>
              <a:rPr lang="en-US" altLang="zh-CN" b="1"/>
              <a:t>whis</a:t>
            </a:r>
            <a:r>
              <a:rPr lang="zh-CN" altLang="en-US" b="1"/>
              <a:t>：指定上下须与上下四分位的距离，默认为</a:t>
            </a:r>
            <a:r>
              <a:rPr lang="en-US" altLang="zh-CN" b="1"/>
              <a:t>1.5</a:t>
            </a:r>
            <a:r>
              <a:rPr lang="zh-CN" altLang="en-US" b="1"/>
              <a:t>倍的四分位差；</a:t>
            </a:r>
            <a:endParaRPr lang="en-US" altLang="zh-CN" b="1"/>
          </a:p>
          <a:p>
            <a:pPr lvl="2">
              <a:spcBef>
                <a:spcPts val="1200"/>
              </a:spcBef>
            </a:pPr>
            <a:endParaRPr lang="en-US" altLang="zh-CN"/>
          </a:p>
          <a:p>
            <a:pPr lvl="2">
              <a:spcBef>
                <a:spcPts val="1200"/>
              </a:spcBef>
            </a:pPr>
            <a:endParaRPr lang="en-US" altLang="zh-CN"/>
          </a:p>
          <a:p>
            <a:pPr lvl="2">
              <a:spcBef>
                <a:spcPts val="1200"/>
              </a:spcBef>
            </a:pPr>
            <a:endParaRPr lang="en-US" altLang="zh-CN"/>
          </a:p>
          <a:p>
            <a:pPr lvl="2">
              <a:spcBef>
                <a:spcPts val="1200"/>
              </a:spcBef>
            </a:pPr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A49346B-E74C-CED8-0A94-A7621D7EB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3777" y="723900"/>
            <a:ext cx="4934134" cy="3716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2928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146AC4-D18F-4340-B8BC-821D67AF4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C6AB70-7D91-E651-AF41-37700C615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1" y="927100"/>
            <a:ext cx="10858500" cy="50038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CN" altLang="en-US"/>
              <a:t>二、</a:t>
            </a:r>
            <a:r>
              <a:rPr lang="en-US" altLang="zh-CN"/>
              <a:t>MatPlotLib</a:t>
            </a:r>
            <a:r>
              <a:rPr lang="zh-CN" altLang="en-US"/>
              <a:t>的应用实例</a:t>
            </a:r>
          </a:p>
          <a:p>
            <a:pPr lvl="1">
              <a:spcBef>
                <a:spcPts val="1200"/>
              </a:spcBef>
            </a:pPr>
            <a:r>
              <a:rPr lang="en-US" altLang="zh-CN"/>
              <a:t>(1)</a:t>
            </a:r>
            <a:r>
              <a:rPr lang="zh-CN" altLang="en-US"/>
              <a:t>实例</a:t>
            </a:r>
            <a:r>
              <a:rPr lang="en-US" altLang="zh-CN"/>
              <a:t>——</a:t>
            </a:r>
            <a:r>
              <a:rPr lang="zh-CN" altLang="en-US"/>
              <a:t>柱状图的示例</a:t>
            </a:r>
            <a:endParaRPr lang="en-US" altLang="zh-CN"/>
          </a:p>
          <a:p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4585B2F-4DA1-D3E3-6E51-5AC1F765A4C4}"/>
              </a:ext>
            </a:extLst>
          </p:cNvPr>
          <p:cNvSpPr txBox="1"/>
          <p:nvPr/>
        </p:nvSpPr>
        <p:spPr>
          <a:xfrm>
            <a:off x="140876" y="1976320"/>
            <a:ext cx="6534788" cy="483209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import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numpy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as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np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import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matplotlib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pyplot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as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plt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以上引用外部包并给予别名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plt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rcParams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[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"font.family"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"SimHei"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plt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rcParams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[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"font.sans-serif"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[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"SimHei"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lab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[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不及格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合格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一般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良好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优秀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    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定义说明信息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data1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[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6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11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37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21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8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                  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作图的数据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一班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data2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[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3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19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22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31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18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xPos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np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arange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5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                      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设置绘制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Bar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的起始位置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mm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[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一班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二班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                    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设置图例的信息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bWidth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0.4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                           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设置每个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Bar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的宽度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plt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xticks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xPos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lab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                  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绘制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x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刻度标签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plt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bar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x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xPos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height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data1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width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bWidth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color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"g"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  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绘制第一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Bar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#x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是绘制每个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Bar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的位置，可由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np.arange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产生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,height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是作图数据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#width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是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Bar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的宽度，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color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是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bar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的颜色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plt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bar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x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xPos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+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bWidth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height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data2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width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bWidth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color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"b"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绘制第二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Bar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plt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legend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mm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                        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把图例信息添加到图里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plt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show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()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15F45BE-94DB-7543-6D87-EC59BF6F8ECA}"/>
              </a:ext>
            </a:extLst>
          </p:cNvPr>
          <p:cNvSpPr txBox="1"/>
          <p:nvPr/>
        </p:nvSpPr>
        <p:spPr>
          <a:xfrm>
            <a:off x="5097483" y="236777"/>
            <a:ext cx="61336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已知两个班学生的成绩分布，基于已有的两组统计数据绘制条形图，以直观显示两个班级的成绩分布。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FC8E0E9A-0737-894A-B80D-B0B7F42A2F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0667" y="1306406"/>
            <a:ext cx="5051961" cy="381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3208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MatPlotLib</a:t>
            </a:r>
            <a:r>
              <a:rPr lang="zh-CN" altLang="en-US"/>
              <a:t>的应用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zh-CN" altLang="en-US"/>
              <a:t>二、</a:t>
            </a:r>
            <a:r>
              <a:rPr lang="en-US" altLang="zh-CN"/>
              <a:t>MatPlotLib</a:t>
            </a:r>
            <a:r>
              <a:rPr lang="zh-CN" altLang="en-US"/>
              <a:t>的应用实例</a:t>
            </a:r>
          </a:p>
          <a:p>
            <a:pPr lvl="1">
              <a:spcBef>
                <a:spcPts val="1200"/>
              </a:spcBef>
            </a:pPr>
            <a:r>
              <a:rPr lang="en-US" altLang="zh-CN"/>
              <a:t>(2)</a:t>
            </a:r>
            <a:r>
              <a:rPr lang="zh-CN" altLang="en-US"/>
              <a:t>实例</a:t>
            </a:r>
            <a:r>
              <a:rPr lang="en-US" altLang="zh-CN"/>
              <a:t>——</a:t>
            </a:r>
            <a:r>
              <a:rPr lang="zh-CN" altLang="en-US"/>
              <a:t>基于数据做个饼状图</a:t>
            </a:r>
          </a:p>
          <a:p>
            <a:pPr lvl="2">
              <a:spcBef>
                <a:spcPts val="1200"/>
              </a:spcBef>
            </a:pPr>
            <a:endParaRPr lang="en-US" altLang="zh-CN"/>
          </a:p>
          <a:p>
            <a:pPr lvl="2">
              <a:spcBef>
                <a:spcPts val="1200"/>
              </a:spcBef>
            </a:pPr>
            <a:endParaRPr lang="en-US" altLang="zh-CN"/>
          </a:p>
          <a:p>
            <a:pPr lvl="2">
              <a:spcBef>
                <a:spcPts val="1200"/>
              </a:spcBef>
            </a:pPr>
            <a:endParaRPr lang="en-US" altLang="zh-CN"/>
          </a:p>
          <a:p>
            <a:pPr lvl="2">
              <a:spcBef>
                <a:spcPts val="1200"/>
              </a:spcBef>
            </a:pPr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2DABBE2-796A-7C00-0650-242ADE4A8A75}"/>
              </a:ext>
            </a:extLst>
          </p:cNvPr>
          <p:cNvSpPr txBox="1"/>
          <p:nvPr/>
        </p:nvSpPr>
        <p:spPr>
          <a:xfrm>
            <a:off x="977899" y="2354927"/>
            <a:ext cx="7980986" cy="3296287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import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matplotlib.pyplot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as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plt</a:t>
            </a:r>
            <a:b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labels = [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‘frogs’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‘hogs’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‘dogs’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‘logs’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]</a:t>
            </a:r>
            <a:b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sizes = [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15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20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45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10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]  </a:t>
            </a:r>
            <a:r>
              <a:rPr kumimoji="0" lang="zh-CN" altLang="zh-CN" sz="1400" b="0" i="1" u="none" strike="noStrike" kern="1200" cap="none" spc="0" normalizeH="0" baseline="0" noProof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#[15, 20, 45, 10]</a:t>
            </a:r>
            <a:r>
              <a:rPr kumimoji="0" lang="zh-CN" altLang="zh-CN" sz="1400" b="0" i="1" u="none" strike="noStrike" kern="1200" cap="none" spc="0" normalizeH="0" baseline="0" noProof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也可以，按比例计算总</a:t>
            </a:r>
            <a:r>
              <a:rPr kumimoji="0" lang="zh-CN" altLang="zh-CN" sz="1400" b="0" i="1" u="none" strike="noStrike" kern="1200" cap="none" spc="0" normalizeH="0" baseline="0" noProof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90</a:t>
            </a:r>
            <a:r>
              <a:rPr kumimoji="0" lang="zh-CN" altLang="zh-CN" sz="1400" b="0" i="1" u="none" strike="noStrike" kern="1200" cap="none" spc="0" normalizeH="0" baseline="0" noProof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，</a:t>
            </a:r>
            <a:r>
              <a:rPr kumimoji="0" lang="zh-CN" altLang="zh-CN" sz="1400" b="0" i="1" u="none" strike="noStrike" kern="1200" cap="none" spc="0" normalizeH="0" baseline="0" noProof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45</a:t>
            </a:r>
            <a:r>
              <a:rPr kumimoji="0" lang="zh-CN" altLang="zh-CN" sz="1400" b="0" i="1" u="none" strike="noStrike" kern="1200" cap="none" spc="0" normalizeH="0" baseline="0" noProof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占</a:t>
            </a:r>
            <a:r>
              <a:rPr kumimoji="0" lang="zh-CN" altLang="zh-CN" sz="1400" b="0" i="1" u="none" strike="noStrike" kern="1200" cap="none" spc="0" normalizeH="0" baseline="0" noProof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50%</a:t>
            </a:r>
            <a:br>
              <a:rPr kumimoji="0" lang="zh-CN" altLang="zh-CN" sz="1400" b="0" i="1" u="none" strike="noStrike" kern="1200" cap="none" spc="0" normalizeH="0" baseline="0" noProof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colors = [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‘yellowgreen’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‘gold’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‘lightskyblue’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‘lightcoral’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]</a:t>
            </a:r>
            <a:b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explode = [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0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0.1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0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0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] </a:t>
            </a:r>
            <a:r>
              <a:rPr kumimoji="0" lang="zh-CN" altLang="zh-CN" sz="1400" b="0" i="1" u="none" strike="noStrike" kern="1200" cap="none" spc="0" normalizeH="0" baseline="0" noProof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#0.1</a:t>
            </a:r>
            <a:r>
              <a:rPr kumimoji="0" lang="zh-CN" altLang="zh-CN" sz="1400" b="0" i="1" u="none" strike="noStrike" kern="1200" cap="none" spc="0" normalizeH="0" baseline="0" noProof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表示将</a:t>
            </a:r>
            <a:r>
              <a:rPr kumimoji="0" lang="zh-CN" altLang="zh-CN" sz="1400" b="0" i="1" u="none" strike="noStrike" kern="1200" cap="none" spc="0" normalizeH="0" baseline="0" noProof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Hogs</a:t>
            </a:r>
            <a:r>
              <a:rPr kumimoji="0" lang="zh-CN" altLang="zh-CN" sz="1400" b="0" i="1" u="none" strike="noStrike" kern="1200" cap="none" spc="0" normalizeH="0" baseline="0" noProof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那一块凸显出来</a:t>
            </a:r>
            <a:br>
              <a:rPr kumimoji="0" lang="zh-CN" altLang="zh-CN" sz="1400" b="0" i="1" u="none" strike="noStrike" kern="1200" cap="none" spc="0" normalizeH="0" baseline="0" noProof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</a:b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plt.pie(sizes,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99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explode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=explode,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99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labels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=labels,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99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colors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=colors,</a:t>
            </a:r>
            <a:b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       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99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autopct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‘%1.1f%%’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99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shadow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True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99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startangle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50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400" b="0" i="1" u="none" strike="noStrike" kern="1200" cap="none" spc="0" normalizeH="0" baseline="0" noProof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#startangle</a:t>
            </a:r>
            <a:r>
              <a:rPr kumimoji="0" lang="zh-CN" altLang="zh-CN" sz="1400" b="0" i="1" u="none" strike="noStrike" kern="1200" cap="none" spc="0" normalizeH="0" baseline="0" noProof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表示饼图的起始角度</a:t>
            </a:r>
            <a:br>
              <a:rPr kumimoji="0" lang="zh-CN" altLang="zh-CN" sz="1400" b="0" i="1" u="none" strike="noStrike" kern="1200" cap="none" spc="0" normalizeH="0" baseline="0" noProof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</a:b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plt.axis(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‘equal’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    </a:t>
            </a:r>
            <a:r>
              <a:rPr kumimoji="0" lang="en-US" altLang="zh-CN" sz="1400" b="0" i="1" u="none" strike="noStrike" kern="1200" cap="none" spc="0" normalizeH="0" baseline="0" noProof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#</a:t>
            </a:r>
            <a:r>
              <a:rPr kumimoji="0" lang="zh-CN" altLang="en-US" sz="1400" b="0" i="1" u="none" strike="noStrike" kern="1200" cap="none" spc="0" normalizeH="0" baseline="0" noProof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让饼图显示为一个长宽相等的饼图</a:t>
            </a:r>
            <a:b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plt.show()</a:t>
            </a:r>
            <a:endParaRPr kumimoji="0" lang="zh-CN" altLang="zh-CN" sz="2000" b="0" i="0" u="none" strike="noStrike" kern="1200" cap="none" spc="0" normalizeH="0" baseline="0" noProof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Arial" panose="020B0604020202020204" pitchFamily="34" charset="0"/>
              <a:ea typeface="思源黑体 CN Normal"/>
              <a:cs typeface="+mn-cs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3E7A3B3-F79A-BFEB-8B00-DB2486D5C22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96233" y="3840480"/>
            <a:ext cx="3685320" cy="301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5216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546DFF-83B8-62D5-54B5-94ED4D876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BE45163-175E-EFC4-D59F-C3B8BC89CE82}"/>
              </a:ext>
            </a:extLst>
          </p:cNvPr>
          <p:cNvSpPr txBox="1"/>
          <p:nvPr/>
        </p:nvSpPr>
        <p:spPr>
          <a:xfrm>
            <a:off x="130315" y="1370042"/>
            <a:ext cx="8493538" cy="452431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import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numpy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as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np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import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matplotlib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pyplot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as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plt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以上引用外部包并给予别名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plt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rcParams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[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"font.family"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"SimHei"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plt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rcParams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[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"font.sans-serif"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[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"SimHei"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labels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[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不及格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合格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一般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良好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优秀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    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定义说明信息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data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[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6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11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37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21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8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                            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作图的数据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explod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[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0.1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0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0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0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0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                  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设置某块为突出显示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colors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[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'red'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'green'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'yellow'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'blue'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'gold'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  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设置相应的颜色值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startPos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=-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90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                         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设置圆周的起始角度，不及格在底部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plt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pie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data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labels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labels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colors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colors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   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explode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explod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shadow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True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,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startangle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startPos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autopct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%0.3f%%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在本程序中，各参数表达式的左侧为保留字，右侧为其值。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比如：颜色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colors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选用预定义的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colors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列表变量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,autopct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显示何种百分比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plt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show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()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055352A-5E50-9D66-9774-A0D4FF170ED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507896" y="883108"/>
            <a:ext cx="3684104" cy="3675825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2C2A068F-07F5-329E-7EC8-A9DD2B382218}"/>
              </a:ext>
            </a:extLst>
          </p:cNvPr>
          <p:cNvSpPr txBox="1"/>
          <p:nvPr/>
        </p:nvSpPr>
        <p:spPr>
          <a:xfrm>
            <a:off x="130315" y="963643"/>
            <a:ext cx="6103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根据学生成绩绘制饼图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45436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MatPlotLib</a:t>
            </a:r>
            <a:r>
              <a:rPr lang="zh-CN" altLang="en-US"/>
              <a:t>的应用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990197"/>
            <a:ext cx="10858500" cy="5003800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zh-CN" altLang="en-US"/>
              <a:t>二、</a:t>
            </a:r>
            <a:r>
              <a:rPr lang="en-US" altLang="zh-CN" err="1"/>
              <a:t>MatPlotLib</a:t>
            </a:r>
            <a:r>
              <a:rPr lang="zh-CN" altLang="en-US"/>
              <a:t>的应用实例</a:t>
            </a:r>
          </a:p>
          <a:p>
            <a:pPr lvl="1">
              <a:spcBef>
                <a:spcPts val="1200"/>
              </a:spcBef>
            </a:pPr>
            <a:r>
              <a:rPr lang="en-US" altLang="zh-CN"/>
              <a:t>(3)</a:t>
            </a:r>
            <a:r>
              <a:rPr lang="zh-CN" altLang="en-US"/>
              <a:t>实例</a:t>
            </a:r>
            <a:r>
              <a:rPr lang="en-US" altLang="zh-CN"/>
              <a:t>——</a:t>
            </a:r>
            <a:r>
              <a:rPr lang="zh-CN" altLang="en-US"/>
              <a:t>基于数据做个箱体图</a:t>
            </a:r>
            <a:endParaRPr lang="en-US" altLang="zh-CN"/>
          </a:p>
          <a:p>
            <a:pPr lvl="1">
              <a:spcBef>
                <a:spcPts val="1200"/>
              </a:spcBef>
            </a:pPr>
            <a:r>
              <a:rPr lang="zh-CN" altLang="en-US"/>
              <a:t>利用</a:t>
            </a:r>
            <a:r>
              <a:rPr lang="en-US" altLang="zh-CN" err="1"/>
              <a:t>numpy</a:t>
            </a:r>
            <a:r>
              <a:rPr lang="zh-CN" altLang="en-US"/>
              <a:t>库生成三组正态分布随机数：</a:t>
            </a:r>
          </a:p>
          <a:p>
            <a:pPr lvl="2">
              <a:spcBef>
                <a:spcPts val="1200"/>
              </a:spcBef>
            </a:pPr>
            <a:endParaRPr lang="en-US" altLang="zh-CN"/>
          </a:p>
          <a:p>
            <a:pPr lvl="2">
              <a:spcBef>
                <a:spcPts val="1200"/>
              </a:spcBef>
            </a:pPr>
            <a:endParaRPr lang="en-US" altLang="zh-CN"/>
          </a:p>
          <a:p>
            <a:pPr lvl="2">
              <a:spcBef>
                <a:spcPts val="1200"/>
              </a:spcBef>
            </a:pPr>
            <a:endParaRPr lang="en-US" altLang="zh-CN"/>
          </a:p>
          <a:p>
            <a:pPr lvl="2">
              <a:spcBef>
                <a:spcPts val="1200"/>
              </a:spcBef>
            </a:pPr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062DE41-D253-67D7-74EF-8FB795C057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0668" y="1733937"/>
            <a:ext cx="3181332" cy="260822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0E925190-F3AB-5EB9-6F65-C4EC895CFDE8}"/>
              </a:ext>
            </a:extLst>
          </p:cNvPr>
          <p:cNvSpPr txBox="1"/>
          <p:nvPr/>
        </p:nvSpPr>
        <p:spPr>
          <a:xfrm>
            <a:off x="5165766" y="52597"/>
            <a:ext cx="7026234" cy="1908215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import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matplotlib.pyplot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as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plt</a:t>
            </a:r>
            <a:b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import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numpy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as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np</a:t>
            </a:r>
            <a:b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all_data = [np.random.normal(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0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std,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100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for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std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in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range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1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4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)]</a:t>
            </a:r>
            <a:b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b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figure, axes = plt.subplots()  </a:t>
            </a:r>
            <a:r>
              <a:rPr kumimoji="0" lang="zh-CN" altLang="zh-CN" sz="1400" b="0" i="1" u="none" strike="noStrike" kern="1200" cap="none" spc="0" normalizeH="0" baseline="0" noProof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#</a:t>
            </a:r>
            <a:r>
              <a:rPr kumimoji="0" lang="zh-CN" altLang="zh-CN" sz="1400" b="0" i="1" u="none" strike="noStrike" kern="1200" cap="none" spc="0" normalizeH="0" baseline="0" noProof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得到画板、轴</a:t>
            </a:r>
            <a:br>
              <a:rPr kumimoji="0" lang="zh-CN" altLang="zh-CN" sz="1400" b="0" i="1" u="none" strike="noStrike" kern="1200" cap="none" spc="0" normalizeH="0" baseline="0" noProof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</a:b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axes.boxplot(all_data,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99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patch_artist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True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  </a:t>
            </a:r>
            <a:r>
              <a:rPr kumimoji="0" lang="zh-CN" altLang="zh-CN" sz="1400" b="0" i="1" u="none" strike="noStrike" kern="1200" cap="none" spc="0" normalizeH="0" baseline="0" noProof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#</a:t>
            </a:r>
            <a:r>
              <a:rPr kumimoji="0" lang="zh-CN" altLang="zh-CN" sz="1400" b="0" i="1" u="none" strike="noStrike" kern="1200" cap="none" spc="0" normalizeH="0" baseline="0" noProof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描点上色</a:t>
            </a:r>
            <a:br>
              <a:rPr kumimoji="0" lang="zh-CN" altLang="zh-CN" sz="1400" b="0" i="1" u="none" strike="noStrike" kern="1200" cap="none" spc="0" normalizeH="0" baseline="0" noProof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</a:b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plt.show()</a:t>
            </a:r>
            <a:b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endParaRPr kumimoji="0" lang="zh-CN" altLang="zh-CN" sz="2000" b="0" i="0" u="none" strike="noStrike" kern="1200" cap="none" spc="0" normalizeH="0" baseline="0" noProof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Arial" panose="020B0604020202020204" pitchFamily="34" charset="0"/>
              <a:ea typeface="思源黑体 CN Normal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44466D9-590B-876F-4582-B67E1D619B01}"/>
              </a:ext>
            </a:extLst>
          </p:cNvPr>
          <p:cNvSpPr txBox="1"/>
          <p:nvPr/>
        </p:nvSpPr>
        <p:spPr>
          <a:xfrm>
            <a:off x="0" y="3317455"/>
            <a:ext cx="6863937" cy="31085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import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numpy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as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np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import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matplotlib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pyplot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as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plt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以上引用外部包并给予别名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plt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rcParams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[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"font.family"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"SimHei"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plt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rc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'font'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family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'SimHei'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plt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rcParams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[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"font.sans-serif"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[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"SimHei"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data1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np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random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normal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12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4.7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100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创建作图的数据，创建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1000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个随机数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data2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np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random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normal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11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5.8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100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plt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boxplot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((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data1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data2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labels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"AAA"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"BBB"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绘制箱图时，第一项是数据，第二项是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labels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信息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plt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show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()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F0167B7-B323-39D9-C4B7-B7D591D7F0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355" y="4327752"/>
            <a:ext cx="3293904" cy="2530248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80E15FA1-5E56-B28A-DFB8-1C9F81B07BF0}"/>
              </a:ext>
            </a:extLst>
          </p:cNvPr>
          <p:cNvSpPr txBox="1"/>
          <p:nvPr/>
        </p:nvSpPr>
        <p:spPr>
          <a:xfrm>
            <a:off x="564434" y="2590284"/>
            <a:ext cx="6145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自行创建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1000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个符合正态分布的数据，绘制箱型图</a:t>
            </a:r>
          </a:p>
        </p:txBody>
      </p:sp>
    </p:spTree>
    <p:extLst>
      <p:ext uri="{BB962C8B-B14F-4D97-AF65-F5344CB8AC3E}">
        <p14:creationId xmlns:p14="http://schemas.microsoft.com/office/powerpoint/2010/main" val="37894487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err="1"/>
              <a:t>MatPlotLib</a:t>
            </a:r>
            <a:r>
              <a:rPr lang="zh-CN" altLang="en-US"/>
              <a:t>的应用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zh-CN" altLang="en-US"/>
              <a:t>二、</a:t>
            </a:r>
            <a:r>
              <a:rPr lang="en-US" altLang="zh-CN" err="1"/>
              <a:t>MatPlotLib</a:t>
            </a:r>
            <a:r>
              <a:rPr lang="zh-CN" altLang="en-US"/>
              <a:t>的应用实例</a:t>
            </a:r>
          </a:p>
          <a:p>
            <a:pPr lvl="1">
              <a:spcBef>
                <a:spcPts val="1200"/>
              </a:spcBef>
            </a:pPr>
            <a:r>
              <a:rPr lang="en-US" altLang="zh-CN"/>
              <a:t>(4)</a:t>
            </a:r>
            <a:r>
              <a:rPr lang="zh-CN" altLang="en-US"/>
              <a:t>实例</a:t>
            </a:r>
            <a:r>
              <a:rPr lang="en-US" altLang="zh-CN"/>
              <a:t>——</a:t>
            </a:r>
            <a:r>
              <a:rPr lang="zh-CN" altLang="en-US"/>
              <a:t>折线图的示例</a:t>
            </a:r>
            <a:endParaRPr lang="en-US" altLang="zh-CN"/>
          </a:p>
          <a:p>
            <a:pPr lvl="2">
              <a:spcBef>
                <a:spcPts val="1200"/>
              </a:spcBef>
            </a:pPr>
            <a:endParaRPr lang="en-US" altLang="zh-CN"/>
          </a:p>
          <a:p>
            <a:pPr lvl="2">
              <a:spcBef>
                <a:spcPts val="1200"/>
              </a:spcBef>
            </a:pPr>
            <a:endParaRPr lang="en-US" altLang="zh-CN"/>
          </a:p>
          <a:p>
            <a:pPr lvl="2">
              <a:spcBef>
                <a:spcPts val="1200"/>
              </a:spcBef>
            </a:pP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089651" y="2466115"/>
            <a:ext cx="3806000" cy="39151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图例：单图例可用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label=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 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多图例可用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legend(X)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线型：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color=““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  marker=“ 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  linewidth=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整数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 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可简写：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o,   s,   ^, 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支持中文：</a:t>
            </a:r>
            <a:r>
              <a:rPr kumimoji="0" lang="en-US" altLang="zh-CN" sz="1400" b="0" i="0" u="none" strike="noStrike" kern="1200" cap="none" spc="0" normalizeH="0" baseline="0" noProof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plt.rc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  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,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651" y="5961302"/>
            <a:ext cx="3158321" cy="36915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65B1DA2-8A1E-99D2-92B8-2C0FBB86113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44" t="11835" r="1544" b="1401"/>
          <a:stretch/>
        </p:blipFill>
        <p:spPr>
          <a:xfrm>
            <a:off x="6096001" y="4724293"/>
            <a:ext cx="5082242" cy="20061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57598212-3ABB-C10B-B50C-ABC86F1B6FB3}"/>
              </a:ext>
            </a:extLst>
          </p:cNvPr>
          <p:cNvSpPr txBox="1"/>
          <p:nvPr/>
        </p:nvSpPr>
        <p:spPr>
          <a:xfrm>
            <a:off x="673099" y="2410974"/>
            <a:ext cx="5082242" cy="4154984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import </a:t>
            </a: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matplotlib.pyplot </a:t>
            </a: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as </a:t>
            </a: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plt</a:t>
            </a:r>
            <a:b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import </a:t>
            </a: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numpy </a:t>
            </a: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as </a:t>
            </a: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np</a:t>
            </a:r>
            <a:b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import </a:t>
            </a: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math</a:t>
            </a:r>
            <a:b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b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#plt.rc(“font”, family = ‘FangSong’)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  #</a:t>
            </a:r>
            <a:r>
              <a:rPr kumimoji="0" lang="zh-CN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注释用中文时这两句中的一个就行</a:t>
            </a:r>
            <a:br>
              <a:rPr kumimoji="0" lang="zh-CN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plt.rcParams[</a:t>
            </a: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‘font.sans-serif’</a:t>
            </a: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] = [</a:t>
            </a: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‘Youyuan’</a:t>
            </a: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]</a:t>
            </a:r>
            <a:b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b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plt.xlabel(</a:t>
            </a: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‘X</a:t>
            </a: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轴数据</a:t>
            </a: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’</a:t>
            </a: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plt.ylabel(</a:t>
            </a: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‘y</a:t>
            </a: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轴数据</a:t>
            </a: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’</a:t>
            </a: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plt.title(</a:t>
            </a: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‘</a:t>
            </a: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我的测试</a:t>
            </a: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’</a:t>
            </a: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plt.xlim(</a:t>
            </a: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10</a:t>
            </a: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15</a:t>
            </a: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plt.grid()</a:t>
            </a:r>
            <a:b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xx = np.arange(</a:t>
            </a: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0</a:t>
            </a: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100</a:t>
            </a: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0.03</a:t>
            </a: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#yy = 2*xx +3*xx-200</a:t>
            </a:r>
            <a:br>
              <a:rPr kumimoji="0" lang="zh-CN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yy = [</a:t>
            </a: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</a:t>
            </a: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*math.sin(</a:t>
            </a: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3</a:t>
            </a: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*ii)+</a:t>
            </a: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5 </a:t>
            </a: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for </a:t>
            </a: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ii </a:t>
            </a: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in </a:t>
            </a: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xx]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#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-apple-system"/>
                <a:ea typeface="思源黑体 CN Normal"/>
                <a:cs typeface="+mn-cs"/>
              </a:rPr>
              <a:t>推导式生成列表</a:t>
            </a:r>
            <a:b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zz = [</a:t>
            </a: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</a:t>
            </a: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*math.cos(</a:t>
            </a: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</a:t>
            </a: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*ii)+</a:t>
            </a: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5 </a:t>
            </a: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for </a:t>
            </a: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ii </a:t>
            </a: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in </a:t>
            </a: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xx]</a:t>
            </a:r>
            <a:b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mm = [</a:t>
            </a: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‘</a:t>
            </a: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正弦线</a:t>
            </a: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’</a:t>
            </a: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‘</a:t>
            </a: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余弦线</a:t>
            </a: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’</a:t>
            </a: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]</a:t>
            </a:r>
            <a:b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b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plt.plot(xx, yy, </a:t>
            </a: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‘ro’</a:t>
            </a: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xx, zz, </a:t>
            </a: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‘gs’</a:t>
            </a: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 </a:t>
            </a:r>
            <a:r>
              <a:rPr kumimoji="0" lang="zh-CN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#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ro,gs</a:t>
            </a:r>
            <a:r>
              <a:rPr kumimoji="0" lang="zh-CN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指线型</a:t>
            </a:r>
            <a:b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plt.legend(mm)</a:t>
            </a:r>
            <a:b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plt.show()</a:t>
            </a:r>
            <a:endParaRPr kumimoji="0" lang="zh-CN" altLang="zh-CN" sz="1800" b="1" i="0" u="none" strike="noStrike" kern="1200" cap="none" spc="0" normalizeH="0" baseline="0" noProof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Arial" panose="020B0604020202020204" pitchFamily="34" charset="0"/>
              <a:ea typeface="思源黑体 CN Normal"/>
              <a:cs typeface="+mn-cs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A5E5DF8-3104-2FF8-457D-F0E1CB8B13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9651" y="5449623"/>
            <a:ext cx="3930422" cy="35536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4869359-8AC2-CA91-582D-C02EF7BCD1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9651" y="33028"/>
            <a:ext cx="3164671" cy="2489171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BB3CE845-D548-8231-61A1-4D0CB42FCAE3}"/>
              </a:ext>
            </a:extLst>
          </p:cNvPr>
          <p:cNvSpPr txBox="1"/>
          <p:nvPr/>
        </p:nvSpPr>
        <p:spPr>
          <a:xfrm>
            <a:off x="10284030" y="1158536"/>
            <a:ext cx="190797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自行创建自变量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xx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数组，绘制函数“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y=2sin(3x)+5”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和函数“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z=2*cos(2x)+1”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的折线图，把两条线绘制在同一个画板中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10788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MatPlotLib</a:t>
            </a:r>
            <a:r>
              <a:rPr lang="zh-CN" altLang="en-US"/>
              <a:t>的应用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zh-CN" altLang="en-US"/>
              <a:t>二、</a:t>
            </a:r>
            <a:r>
              <a:rPr lang="en-US" altLang="zh-CN" err="1"/>
              <a:t>MatPlotLib</a:t>
            </a:r>
            <a:r>
              <a:rPr lang="zh-CN" altLang="en-US"/>
              <a:t>的应用实例</a:t>
            </a:r>
          </a:p>
          <a:p>
            <a:pPr lvl="1">
              <a:spcBef>
                <a:spcPts val="1200"/>
              </a:spcBef>
            </a:pPr>
            <a:r>
              <a:rPr lang="en-US" altLang="zh-CN"/>
              <a:t>(5)</a:t>
            </a:r>
            <a:r>
              <a:rPr lang="zh-CN" altLang="en-US"/>
              <a:t>实例</a:t>
            </a:r>
            <a:r>
              <a:rPr lang="en-US" altLang="zh-CN"/>
              <a:t>——</a:t>
            </a:r>
            <a:r>
              <a:rPr lang="zh-CN" altLang="en-US"/>
              <a:t>直方图的示例</a:t>
            </a:r>
            <a:endParaRPr lang="en-US" altLang="zh-CN"/>
          </a:p>
          <a:p>
            <a:pPr lvl="2">
              <a:spcBef>
                <a:spcPts val="1200"/>
              </a:spcBef>
            </a:pPr>
            <a:endParaRPr lang="en-US" altLang="zh-CN"/>
          </a:p>
          <a:p>
            <a:pPr lvl="2">
              <a:spcBef>
                <a:spcPts val="1200"/>
              </a:spcBef>
            </a:pPr>
            <a:endParaRPr lang="en-US" altLang="zh-CN"/>
          </a:p>
          <a:p>
            <a:pPr lvl="2">
              <a:spcBef>
                <a:spcPts val="1200"/>
              </a:spcBef>
            </a:pPr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ABBFB1A-CDF9-DEEC-3DCF-89613BF22A76}"/>
              </a:ext>
            </a:extLst>
          </p:cNvPr>
          <p:cNvSpPr txBox="1"/>
          <p:nvPr/>
        </p:nvSpPr>
        <p:spPr>
          <a:xfrm>
            <a:off x="285008" y="2403713"/>
            <a:ext cx="7790212" cy="3323987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import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numpy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as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np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import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matplotlib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pyplot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as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plt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以上引用外部包并给予别名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plt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rcParams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[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"font.family"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"SimHei"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plt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rcParams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[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"font.sans-serif"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[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"SimHei"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data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np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random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normal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10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4.5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1000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  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创建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1000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符合正态分布的数，均值为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10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plt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title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我的直方图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plt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hist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data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bins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10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range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[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0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20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rwidth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0.8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color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[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'g'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#data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是数据集，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bins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是分段数，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 range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是横轴的范围，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rwidth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是间隔，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color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为颜色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plt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show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()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377679B-7550-975E-3778-D34E5832F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2731" y="2403713"/>
            <a:ext cx="3353666" cy="2652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1754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302328-5ADD-42D9-7C70-3C8D308E3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AE4F9B-1B4D-A005-743E-FFCE94713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80BEE49-34E5-C22D-4D64-39D7961CBA59}"/>
              </a:ext>
            </a:extLst>
          </p:cNvPr>
          <p:cNvSpPr txBox="1"/>
          <p:nvPr/>
        </p:nvSpPr>
        <p:spPr>
          <a:xfrm>
            <a:off x="0" y="2241352"/>
            <a:ext cx="8349674" cy="4616648"/>
          </a:xfrm>
          <a:prstGeom prst="rect">
            <a:avLst/>
          </a:prstGeom>
          <a:solidFill>
            <a:schemeClr val="accent5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import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matplotlib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pyplot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as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plt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import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numpy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as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np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plt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rc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'font'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family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'FangSong'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plt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xlabel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'X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轴数据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plt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ylabel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'y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轴数据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plt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title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我的测试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ww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[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2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2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3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3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3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4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4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5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2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2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2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3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3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4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6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6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6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3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3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3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4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4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2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2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2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2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3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3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4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4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5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7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8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8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9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9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mm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[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3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3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3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4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4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4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8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8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8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3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3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7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7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#plt.hist(ww)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 plt.hist(ww,bins = 30)  #bins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分成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30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个等区间的间隔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 plt.hist(ww, bins = 30, range=[3,7], rwidth = 0.8, color='g')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#plt.hist([ww,mm],bins=10,color=['g','b'])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 plt.hist([ww,mm],bins=10,range=[3,7],rwidth=0.8,color=['g','b'])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lb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[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'ww'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'mm'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plt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hist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([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ww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mm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bins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10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range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[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3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7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rwidth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0.8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color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[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'g'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'b'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plt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legend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lb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plt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show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()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5880DCE-819B-9D37-0B14-B019D42AF753}"/>
              </a:ext>
            </a:extLst>
          </p:cNvPr>
          <p:cNvSpPr txBox="1"/>
          <p:nvPr/>
        </p:nvSpPr>
        <p:spPr>
          <a:xfrm>
            <a:off x="0" y="0"/>
            <a:ext cx="10122293" cy="3108543"/>
          </a:xfrm>
          <a:prstGeom prst="rect">
            <a:avLst/>
          </a:prstGeom>
          <a:solidFill>
            <a:schemeClr val="bg2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import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matplotlib.pyplot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as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plt</a:t>
            </a:r>
            <a:b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import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numpy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as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np</a:t>
            </a:r>
            <a:b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b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plt.rc(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'font'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99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family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'FangSong'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plt.xlabel(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'X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轴数据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plt.ylabel(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'y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轴数据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plt.title(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我的测试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b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ww = [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3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3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3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4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4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5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3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3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4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6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6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6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3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3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3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4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4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1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3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3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4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4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5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7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8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8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9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9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]</a:t>
            </a:r>
            <a:b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b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400" b="0" i="1" u="none" strike="noStrike" kern="1200" cap="none" spc="0" normalizeH="0" baseline="0" noProof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#plt.hist(ww)</a:t>
            </a:r>
            <a:br>
              <a:rPr kumimoji="0" lang="zh-CN" altLang="zh-CN" sz="1400" b="0" i="1" u="none" strike="noStrike" kern="1200" cap="none" spc="0" normalizeH="0" baseline="0" noProof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400" b="0" i="1" u="none" strike="noStrike" kern="1200" cap="none" spc="0" normalizeH="0" baseline="0" noProof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#plt.hist(ww. bins = 30)</a:t>
            </a:r>
            <a:br>
              <a:rPr kumimoji="0" lang="zh-CN" altLang="zh-CN" sz="1400" b="0" i="1" u="none" strike="noStrike" kern="1200" cap="none" spc="0" normalizeH="0" baseline="0" noProof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plt.hist(ww,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99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bins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30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99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range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=[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3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7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],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99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rwidth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0.8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99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color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'g'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plt.show()</a:t>
            </a:r>
            <a:endParaRPr kumimoji="0" lang="zh-CN" altLang="zh-CN" sz="2000" b="0" i="0" u="none" strike="noStrike" kern="1200" cap="none" spc="0" normalizeH="0" baseline="0" noProof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Arial" panose="020B0604020202020204" pitchFamily="34" charset="0"/>
              <a:ea typeface="思源黑体 CN Normal"/>
              <a:cs typeface="+mn-cs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B5F8353-F0E0-B3A2-08C4-3F198CFA7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8732" y="-74336"/>
            <a:ext cx="3996648" cy="171217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9B27B004-B130-1AAD-1D6B-5CFB926D0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0657" y="3919015"/>
            <a:ext cx="3672797" cy="2923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9538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MatPlotLib</a:t>
            </a:r>
            <a:r>
              <a:rPr lang="zh-CN" altLang="en-US"/>
              <a:t>的应用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06700" y="945101"/>
            <a:ext cx="10858500" cy="5003800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zh-CN" altLang="en-US" b="1"/>
              <a:t>二、</a:t>
            </a:r>
            <a:r>
              <a:rPr lang="en-US" altLang="zh-CN" b="1" err="1"/>
              <a:t>MatPlotLib</a:t>
            </a:r>
            <a:r>
              <a:rPr lang="zh-CN" altLang="en-US" b="1"/>
              <a:t>的应用实例</a:t>
            </a:r>
          </a:p>
          <a:p>
            <a:pPr lvl="1">
              <a:spcBef>
                <a:spcPts val="1200"/>
              </a:spcBef>
            </a:pPr>
            <a:r>
              <a:rPr lang="en-US" altLang="zh-CN" b="1"/>
              <a:t>(6)</a:t>
            </a:r>
            <a:r>
              <a:rPr lang="zh-CN" altLang="en-US" b="1"/>
              <a:t>实例</a:t>
            </a:r>
            <a:r>
              <a:rPr lang="en-US" altLang="zh-CN" b="1"/>
              <a:t>——</a:t>
            </a:r>
            <a:r>
              <a:rPr lang="zh-CN" altLang="en-US" b="1"/>
              <a:t>基于数据做雷达图</a:t>
            </a:r>
          </a:p>
          <a:p>
            <a:pPr lvl="2">
              <a:spcBef>
                <a:spcPts val="1200"/>
              </a:spcBef>
            </a:pPr>
            <a:endParaRPr lang="en-US" altLang="zh-CN"/>
          </a:p>
          <a:p>
            <a:pPr lvl="2">
              <a:spcBef>
                <a:spcPts val="1200"/>
              </a:spcBef>
            </a:pPr>
            <a:endParaRPr lang="en-US" altLang="zh-CN"/>
          </a:p>
          <a:p>
            <a:pPr lvl="2">
              <a:spcBef>
                <a:spcPts val="1200"/>
              </a:spcBef>
            </a:pPr>
            <a:endParaRPr lang="en-US" altLang="zh-CN"/>
          </a:p>
          <a:p>
            <a:pPr lvl="2">
              <a:spcBef>
                <a:spcPts val="1200"/>
              </a:spcBef>
            </a:pPr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50A638A-BFEA-DD42-73C8-D211A6A6A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1243" y="3571484"/>
            <a:ext cx="4172699" cy="313600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619D3D9A-E68D-A315-DA3E-4CBC965DFAFF}"/>
              </a:ext>
            </a:extLst>
          </p:cNvPr>
          <p:cNvSpPr txBox="1"/>
          <p:nvPr/>
        </p:nvSpPr>
        <p:spPr>
          <a:xfrm>
            <a:off x="90596" y="1990375"/>
            <a:ext cx="8699023" cy="5078313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import 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numpy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as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np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import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matplotlib.pyplot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as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plt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import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matplotlib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from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matplotlib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import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*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rcParams[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'font.family'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] =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'sans-serif'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rcParams[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'font.sans-serif'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] = [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'SimHei'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]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labels = np.array([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综合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'KDA'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发育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推进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生存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输出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])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nAttr =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6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data = np.array([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7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5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6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9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8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7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])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angels = np.linspace(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0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*np.pi, nAttr,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0099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endpoint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False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data =np.concatenate((data, [data[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0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]]))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angels = np.concatenate((angels,[angels[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0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]]))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flg = plt.figure(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0099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facecolor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'white'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plt.subplot(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111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0099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polar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True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#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plt.plot(angels, data,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'bo-'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0099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color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'g'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0099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linewidth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 #’bo-’ means blue circle markers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en-US" altLang="zh-CN" sz="1200" b="0" i="0" u="none" strike="noStrike" kern="1200" cap="none" spc="0" normalizeH="0" baseline="0" noProof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plt.plot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(angels, </a:t>
            </a:r>
            <a:r>
              <a:rPr kumimoji="0" lang="en-US" altLang="zh-CN" sz="1200" b="0" i="0" u="none" strike="noStrike" kern="1200" cap="none" spc="0" normalizeH="0" baseline="0" noProof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data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,'bo-', linewidth = 2)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plt.fill(angels, data,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0099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facecolor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'g'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0099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alpha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0.25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plt.thetagrids(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range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0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360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int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360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/nAttr)), labels)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plt.figtext(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0.52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0.95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'Dota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能力雷达图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0099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ha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'center'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0099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size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20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plt.grid(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True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plt.savefig(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'D:\pythonfile\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图片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13.png'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plt.show()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Arial" panose="020B0604020202020204" pitchFamily="34" charset="0"/>
              <a:ea typeface="思源黑体 CN Normal"/>
              <a:cs typeface="+mn-cs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4980E01-7F4A-C85F-7BD1-0F471986DF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9814" y="856436"/>
            <a:ext cx="3299087" cy="249773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80025EC-1D97-AF4A-E08F-C2676C2CF7D0}"/>
              </a:ext>
            </a:extLst>
          </p:cNvPr>
          <p:cNvSpPr txBox="1"/>
          <p:nvPr/>
        </p:nvSpPr>
        <p:spPr>
          <a:xfrm>
            <a:off x="5105977" y="108522"/>
            <a:ext cx="66551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数组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data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中存储的是某学生在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6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个方面的发展水平数据，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label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存储了这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6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方面的情况说明，请绘制描述该学生特征的雷达图。</a:t>
            </a:r>
          </a:p>
        </p:txBody>
      </p:sp>
    </p:spTree>
    <p:extLst>
      <p:ext uri="{BB962C8B-B14F-4D97-AF65-F5344CB8AC3E}">
        <p14:creationId xmlns:p14="http://schemas.microsoft.com/office/powerpoint/2010/main" val="1971794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B6C541C-1831-78B5-F2A2-72E80CEBB6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/>
              <a:t>THANK YOU !</a:t>
            </a:r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3230127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https://www.islide.cc;"/>
</p:tagLst>
</file>

<file path=ppt/theme/theme1.xml><?xml version="1.0" encoding="utf-8"?>
<a:theme xmlns:a="http://schemas.openxmlformats.org/drawingml/2006/main" name="51PPT模板网">
  <a:themeElements>
    <a:clrScheme name="蓝色几何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3848A8"/>
      </a:accent1>
      <a:accent2>
        <a:srgbClr val="DDDEE0"/>
      </a:accent2>
      <a:accent3>
        <a:srgbClr val="7A85B8"/>
      </a:accent3>
      <a:accent4>
        <a:srgbClr val="9CA3BD"/>
      </a:accent4>
      <a:accent5>
        <a:srgbClr val="242431"/>
      </a:accent5>
      <a:accent6>
        <a:srgbClr val="F4B919"/>
      </a:accent6>
      <a:hlink>
        <a:srgbClr val="F84D4D"/>
      </a:hlink>
      <a:folHlink>
        <a:srgbClr val="979797"/>
      </a:folHlink>
    </a:clrScheme>
    <a:fontScheme name="自定义 1">
      <a:majorFont>
        <a:latin typeface="思源黑体 CN Bold"/>
        <a:ea typeface="思源黑体 CN Bold"/>
        <a:cs typeface=""/>
      </a:majorFont>
      <a:minorFont>
        <a:latin typeface="思源黑体 CN Normal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5754</Words>
  <Application>Microsoft Office PowerPoint</Application>
  <PresentationFormat>宽屏</PresentationFormat>
  <Paragraphs>446</Paragraphs>
  <Slides>30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0" baseType="lpstr">
      <vt:lpstr>-apple-system</vt:lpstr>
      <vt:lpstr>等线</vt:lpstr>
      <vt:lpstr>思源黑体 CN Bold</vt:lpstr>
      <vt:lpstr>思源黑体 CN Normal</vt:lpstr>
      <vt:lpstr>宋体</vt:lpstr>
      <vt:lpstr>微软雅黑</vt:lpstr>
      <vt:lpstr>Arial</vt:lpstr>
      <vt:lpstr>Consolas</vt:lpstr>
      <vt:lpstr>Courier New</vt:lpstr>
      <vt:lpstr>51PPT模板网</vt:lpstr>
      <vt:lpstr>第13讲 图形&amp;图像应用</vt:lpstr>
      <vt:lpstr>Turtle与Pillow图像处理</vt:lpstr>
      <vt:lpstr>Turtle与Pillow图像处理</vt:lpstr>
      <vt:lpstr>Turtle与Pillow图像处理</vt:lpstr>
      <vt:lpstr>Turtle与Pillow图像处理</vt:lpstr>
      <vt:lpstr>Turtle与Pillow图像处理</vt:lpstr>
      <vt:lpstr>Turtle与Pillow图像处理</vt:lpstr>
      <vt:lpstr>Turtle与Pillow图像处理</vt:lpstr>
      <vt:lpstr>Turtle与Pillow图像处理</vt:lpstr>
      <vt:lpstr>Turtle与Pillow图像处理</vt:lpstr>
      <vt:lpstr>Turtle与Pillow图像处理</vt:lpstr>
      <vt:lpstr>Turtle与Pillow图像处理</vt:lpstr>
      <vt:lpstr>MatPlotLib的应用</vt:lpstr>
      <vt:lpstr>PowerPoint 演示文稿</vt:lpstr>
      <vt:lpstr>MatPlotLib的应用</vt:lpstr>
      <vt:lpstr>MatPlotLib的应用</vt:lpstr>
      <vt:lpstr>MatPlotLib的应用</vt:lpstr>
      <vt:lpstr>MatPlotLib的应用</vt:lpstr>
      <vt:lpstr>MatPlotLib的应用</vt:lpstr>
      <vt:lpstr>MatPlotLib的应用</vt:lpstr>
      <vt:lpstr>MatPlotLib的应用</vt:lpstr>
      <vt:lpstr>PowerPoint 演示文稿</vt:lpstr>
      <vt:lpstr>MatPlotLib的应用</vt:lpstr>
      <vt:lpstr>PowerPoint 演示文稿</vt:lpstr>
      <vt:lpstr>MatPlotLib的应用</vt:lpstr>
      <vt:lpstr>MatPlotLib的应用</vt:lpstr>
      <vt:lpstr>MatPlotLib的应用</vt:lpstr>
      <vt:lpstr>PowerPoint 演示文稿</vt:lpstr>
      <vt:lpstr>MatPlotLib的应用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第13讲 图形&amp;图像应用</dc:title>
  <dc:creator>rx zh</dc:creator>
  <cp:lastModifiedBy>rx zh</cp:lastModifiedBy>
  <cp:revision>1</cp:revision>
  <dcterms:created xsi:type="dcterms:W3CDTF">2023-11-30T13:02:32Z</dcterms:created>
  <dcterms:modified xsi:type="dcterms:W3CDTF">2023-11-30T13:02:59Z</dcterms:modified>
</cp:coreProperties>
</file>