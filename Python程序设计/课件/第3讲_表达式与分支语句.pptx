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007578805" r:id="rId2"/>
    <p:sldId id="2007578801" r:id="rId3"/>
    <p:sldId id="2007578795" r:id="rId4"/>
    <p:sldId id="2007578796" r:id="rId5"/>
    <p:sldId id="2007578794" r:id="rId6"/>
    <p:sldId id="2007578802" r:id="rId7"/>
    <p:sldId id="2007578797" r:id="rId8"/>
    <p:sldId id="2007578798" r:id="rId9"/>
    <p:sldId id="2007578512" r:id="rId10"/>
    <p:sldId id="2007578513" r:id="rId11"/>
    <p:sldId id="2007578804" r:id="rId12"/>
    <p:sldId id="2007578514" r:id="rId13"/>
    <p:sldId id="2007578515" r:id="rId14"/>
    <p:sldId id="2007578803" r:id="rId15"/>
    <p:sldId id="2007578799" r:id="rId16"/>
    <p:sldId id="2007578516" r:id="rId17"/>
    <p:sldId id="285" r:id="rId18"/>
    <p:sldId id="286" r:id="rId19"/>
    <p:sldId id="287" r:id="rId20"/>
    <p:sldId id="2007578519" r:id="rId21"/>
    <p:sldId id="2007578518" r:id="rId22"/>
    <p:sldId id="2007578716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660"/>
  </p:normalViewPr>
  <p:slideViewPr>
    <p:cSldViewPr snapToGrid="0">
      <p:cViewPr varScale="1">
        <p:scale>
          <a:sx n="92" d="100"/>
          <a:sy n="92" d="100"/>
        </p:scale>
        <p:origin x="4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A4601-68B4-4E9E-9CAA-4EBB5CE6B81F}" type="datetimeFigureOut">
              <a:rPr lang="zh-CN" altLang="en-US" smtClean="0"/>
              <a:t>2023/9/21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299FC-80BB-4FDE-94F9-844C18DFB7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24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9563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3852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　　在字符串前加前缀 </a:t>
            </a:r>
            <a:r>
              <a:rPr lang="en-US" altLang="zh-CN" dirty="0"/>
              <a:t>f </a:t>
            </a:r>
            <a:r>
              <a:rPr lang="zh-CN" altLang="en-US" dirty="0"/>
              <a:t>或 </a:t>
            </a:r>
            <a:r>
              <a:rPr lang="en-US" altLang="zh-CN" dirty="0"/>
              <a:t>F</a:t>
            </a:r>
            <a:r>
              <a:rPr lang="zh-CN" altLang="en-US" dirty="0"/>
              <a:t>，通过 </a:t>
            </a:r>
            <a:r>
              <a:rPr lang="en-US" altLang="zh-CN" dirty="0"/>
              <a:t>{expression} </a:t>
            </a:r>
            <a:r>
              <a:rPr lang="zh-CN" altLang="en-US" dirty="0"/>
              <a:t>表达式，把 </a:t>
            </a:r>
            <a:r>
              <a:rPr lang="en-US" altLang="zh-CN" dirty="0"/>
              <a:t>Python </a:t>
            </a:r>
            <a:r>
              <a:rPr lang="zh-CN" altLang="en-US" dirty="0"/>
              <a:t>表达式的值添加到字符串内。格式说明符是可选的，写在表达式后面，可以更好地控制格式化值的方式。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6000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%</a:t>
            </a:r>
            <a:r>
              <a:rPr lang="zh-CN" altLang="en-US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号是格式符</a:t>
            </a:r>
            <a:endParaRPr lang="en-US" altLang="zh-CN" b="0" i="0" dirty="0">
              <a:solidFill>
                <a:srgbClr val="EE9900"/>
              </a:solidFill>
              <a:effectLst/>
              <a:latin typeface="Source Code Pro" panose="020B0509030403020204" pitchFamily="49" charset="0"/>
            </a:endParaRPr>
          </a:p>
          <a:p>
            <a:r>
              <a:rPr lang="en-US" altLang="zh-CN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Python</a:t>
            </a:r>
            <a:r>
              <a:rPr lang="zh-CN" altLang="en-US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输出格式符，百度上有很多</a:t>
            </a:r>
            <a:endParaRPr lang="en-US" altLang="zh-CN" b="0" i="0" dirty="0">
              <a:solidFill>
                <a:srgbClr val="EE9900"/>
              </a:solidFill>
              <a:effectLst/>
              <a:latin typeface="Source Code Pro" panose="020B0509030403020204" pitchFamily="49" charset="0"/>
            </a:endParaRPr>
          </a:p>
          <a:p>
            <a:endParaRPr lang="en-US" altLang="zh-CN" b="0" i="0" dirty="0">
              <a:solidFill>
                <a:srgbClr val="EE9900"/>
              </a:solidFill>
              <a:effectLst/>
              <a:latin typeface="Source Code Pro" panose="020B0509030403020204" pitchFamily="49" charset="0"/>
            </a:endParaRPr>
          </a:p>
          <a:p>
            <a:r>
              <a:rPr lang="zh-CN" altLang="en-US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为了更规范地输出</a:t>
            </a:r>
            <a:endParaRPr lang="en-US" altLang="zh-CN" b="0" i="0" dirty="0">
              <a:solidFill>
                <a:srgbClr val="EE9900"/>
              </a:solidFill>
              <a:effectLst/>
              <a:latin typeface="Source Code Pro" panose="020B0509030403020204" pitchFamily="49" charset="0"/>
            </a:endParaRPr>
          </a:p>
          <a:p>
            <a:r>
              <a:rPr lang="en-US" altLang="zh-CN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scale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=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F99157"/>
                </a:solidFill>
                <a:effectLst/>
                <a:latin typeface="Source Code Pro" panose="020B0509030403020204" pitchFamily="49" charset="0"/>
              </a:rPr>
              <a:t>0.1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</a:p>
          <a:p>
            <a:r>
              <a:rPr lang="en-US" altLang="zh-CN" b="0" i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print</a:t>
            </a:r>
            <a:r>
              <a:rPr lang="en-US" altLang="zh-CN" b="0" i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US" altLang="zh-CN" b="0" i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'</a:t>
            </a:r>
            <a:r>
              <a:rPr lang="zh-CN" altLang="en-US" b="0" i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数据</a:t>
            </a:r>
            <a:r>
              <a:rPr lang="zh-CN" altLang="en-US" b="0" i="0" dirty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的比例是</a:t>
            </a:r>
            <a:r>
              <a:rPr lang="en-US" altLang="zh-CN" b="0" i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%.2f'</a:t>
            </a:r>
            <a:r>
              <a:rPr lang="en-US" altLang="zh-CN" b="0" i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%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scale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)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#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%</a:t>
            </a:r>
            <a:r>
              <a:rPr lang="zh-CN" altLang="en-US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的实现</a:t>
            </a:r>
            <a:r>
              <a:rPr lang="zh-CN" altLang="en-US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endParaRPr lang="en-US" altLang="zh-CN" b="0" i="0" dirty="0">
              <a:solidFill>
                <a:srgbClr val="CCCCCC"/>
              </a:solidFill>
              <a:effectLst/>
              <a:latin typeface="Source Code Pro" panose="020B0509030403020204" pitchFamily="49" charset="0"/>
            </a:endParaRPr>
          </a:p>
          <a:p>
            <a:r>
              <a:rPr lang="en-US" altLang="zh-CN" b="0" i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print</a:t>
            </a:r>
            <a:r>
              <a:rPr lang="en-US" altLang="zh-CN" b="0" i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US" altLang="zh-CN" b="0" i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'</a:t>
            </a:r>
            <a:r>
              <a:rPr lang="zh-CN" altLang="en-US" b="0" i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数据</a:t>
            </a:r>
            <a:r>
              <a:rPr lang="zh-CN" altLang="en-US" b="0" i="0" dirty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的比例是</a:t>
            </a:r>
            <a:r>
              <a:rPr lang="en-US" altLang="zh-CN" b="0" i="0" dirty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%.</a:t>
            </a:r>
            <a:r>
              <a:rPr lang="en-US" altLang="zh-CN" b="0" i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1f%%'</a:t>
            </a:r>
            <a:r>
              <a:rPr lang="en-US" altLang="zh-CN" b="0" i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%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US" altLang="zh-CN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scale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*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F99157"/>
                </a:solidFill>
                <a:effectLst/>
                <a:latin typeface="Source Code Pro" panose="020B0509030403020204" pitchFamily="49" charset="0"/>
              </a:rPr>
              <a:t>100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))</a:t>
            </a:r>
            <a:r>
              <a:rPr lang="en-US" altLang="zh-CN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</a:p>
          <a:p>
            <a:r>
              <a:rPr lang="zh-CN" altLang="en-US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输出：</a:t>
            </a:r>
            <a:r>
              <a:rPr lang="zh-CN" altLang="en-US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zh-CN" altLang="en-US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数据的比例是</a:t>
            </a:r>
            <a:r>
              <a:rPr lang="en-US" altLang="zh-CN" b="0" i="0" dirty="0">
                <a:solidFill>
                  <a:srgbClr val="F99157"/>
                </a:solidFill>
                <a:effectLst/>
                <a:latin typeface="Source Code Pro" panose="020B0509030403020204" pitchFamily="49" charset="0"/>
              </a:rPr>
              <a:t>0.10</a:t>
            </a:r>
            <a:r>
              <a:rPr lang="zh-CN" altLang="en-US" b="0" i="0" dirty="0">
                <a:solidFill>
                  <a:srgbClr val="CCCCCC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zh-CN" altLang="en-US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数据的比例是</a:t>
            </a:r>
            <a:r>
              <a:rPr lang="en-US" altLang="zh-CN" b="0" i="0" dirty="0">
                <a:solidFill>
                  <a:srgbClr val="F99157"/>
                </a:solidFill>
                <a:effectLst/>
                <a:latin typeface="Source Code Pro" panose="020B0509030403020204" pitchFamily="49" charset="0"/>
              </a:rPr>
              <a:t>10.0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%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242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右移位相当于除以</a:t>
            </a:r>
            <a:r>
              <a:rPr lang="en-US" altLang="zh-CN" dirty="0"/>
              <a:t>2</a:t>
            </a:r>
            <a:r>
              <a:rPr lang="zh-CN" altLang="en-US" dirty="0"/>
              <a:t>，效率要高于除以</a:t>
            </a:r>
            <a:r>
              <a:rPr lang="en-US" altLang="zh-CN" dirty="0"/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01000011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左移：</a:t>
            </a:r>
            <a:r>
              <a:rPr lang="en-US" altLang="zh-CN" dirty="0"/>
              <a:t>010000110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右移：</a:t>
            </a:r>
            <a:r>
              <a:rPr lang="en-US" altLang="zh-CN" dirty="0"/>
              <a:t>00100001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6266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>
                <a:solidFill>
                  <a:schemeClr val="accent1"/>
                </a:solidFill>
              </a:rPr>
              <a:t>记忆方法是</a:t>
            </a:r>
            <a:r>
              <a:rPr lang="en-US" altLang="zh-CN" b="0" dirty="0">
                <a:solidFill>
                  <a:schemeClr val="accent1"/>
                </a:solidFill>
              </a:rPr>
              <a:t>~(A) = -(A+1)</a:t>
            </a:r>
          </a:p>
          <a:p>
            <a:r>
              <a:rPr lang="zh-CN" altLang="en-US" b="0" dirty="0">
                <a:solidFill>
                  <a:schemeClr val="accent1"/>
                </a:solidFill>
              </a:rPr>
              <a:t>负数原码补码转换规则：</a:t>
            </a:r>
          </a:p>
          <a:p>
            <a:r>
              <a:rPr lang="zh-CN" altLang="en-US" b="0" dirty="0">
                <a:solidFill>
                  <a:schemeClr val="accent1"/>
                </a:solidFill>
              </a:rPr>
              <a:t>　　符号位不动，从低位往高位数，遇到第一个</a:t>
            </a:r>
            <a:r>
              <a:rPr lang="en-US" altLang="zh-CN" b="0" dirty="0">
                <a:solidFill>
                  <a:schemeClr val="accent1"/>
                </a:solidFill>
              </a:rPr>
              <a:t>1</a:t>
            </a:r>
            <a:r>
              <a:rPr lang="zh-CN" altLang="en-US" b="0" dirty="0">
                <a:solidFill>
                  <a:schemeClr val="accent1"/>
                </a:solidFill>
              </a:rPr>
              <a:t>之前，包括第一个</a:t>
            </a:r>
            <a:r>
              <a:rPr lang="en-US" altLang="zh-CN" b="0" dirty="0">
                <a:solidFill>
                  <a:schemeClr val="accent1"/>
                </a:solidFill>
              </a:rPr>
              <a:t>1</a:t>
            </a:r>
            <a:r>
              <a:rPr lang="zh-CN" altLang="en-US" b="0" dirty="0">
                <a:solidFill>
                  <a:schemeClr val="accent1"/>
                </a:solidFill>
              </a:rPr>
              <a:t>不作任何取反，之后，每位都取反。这样就避免了原码转反码再转补码的繁琐。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5546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注：这周</a:t>
            </a:r>
            <a:r>
              <a:rPr lang="en-US" altLang="zh-CN" dirty="0"/>
              <a:t>Ppt</a:t>
            </a:r>
            <a:r>
              <a:rPr lang="zh-CN" altLang="en-US" dirty="0"/>
              <a:t>到这，下周一上来会讲经典的今年是否是闰年的经典算法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631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D8765-8EF3-408C-9341-152904E41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2798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 flip="none" rotWithShape="1">
          <a:gsLst>
            <a:gs pos="41000">
              <a:schemeClr val="accent1"/>
            </a:gs>
            <a:gs pos="100000">
              <a:schemeClr val="accent1">
                <a:alpha val="9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1990725"/>
            <a:ext cx="7965440" cy="1757362"/>
          </a:xfrm>
        </p:spPr>
        <p:txBody>
          <a:bodyPr vert="horz" lIns="91440" tIns="45720" rIns="91440" bIns="45720" rtlCol="0" anchor="b">
            <a:noAutofit/>
          </a:bodyPr>
          <a:lstStyle>
            <a:lvl1pPr algn="l">
              <a:defRPr lang="zh-CN" altLang="en-US" sz="6000" b="1" dirty="0">
                <a:solidFill>
                  <a:srgbClr val="FFFFFF"/>
                </a:solidFill>
              </a:defRPr>
            </a:lvl1pPr>
          </a:lstStyle>
          <a:p>
            <a:pPr lvl="0" defTabSz="914332"/>
            <a:r>
              <a:rPr lang="zh-CN" altLang="en-US" dirty="0"/>
              <a:t>商务几何扁平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8" name="Speaker Placeholder 3">
            <a:extLst>
              <a:ext uri="{FF2B5EF4-FFF2-40B4-BE49-F238E27FC236}">
                <a16:creationId xmlns:a16="http://schemas.microsoft.com/office/drawing/2014/main" id="{44C4A721-803B-47CB-B99E-1D01E8E016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3921193"/>
            <a:ext cx="5568951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XXX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CA939A61-406D-45DC-B757-059EFAA058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4326535"/>
            <a:ext cx="5568951" cy="3354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en-US" altLang="en-US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C150303-72BE-99D1-AED7-E4050488661E}"/>
              </a:ext>
            </a:extLst>
          </p:cNvPr>
          <p:cNvGrpSpPr/>
          <p:nvPr userDrawn="1"/>
        </p:nvGrpSpPr>
        <p:grpSpPr>
          <a:xfrm>
            <a:off x="4643122" y="42334"/>
            <a:ext cx="7182311" cy="6773332"/>
            <a:chOff x="4648426" y="84668"/>
            <a:chExt cx="7182311" cy="6773332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424C7F08-71A0-00F5-EBBA-322ACAF13151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273E1D4D-50D8-6D9E-A448-01F5EC6C8A48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11000">
                  <a:srgbClr val="B1B6D1">
                    <a:alpha val="0"/>
                  </a:srgbClr>
                </a:gs>
                <a:gs pos="44000">
                  <a:srgbClr val="8B93C4">
                    <a:alpha val="42000"/>
                  </a:srgb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E5140AED-15FA-1550-1408-ABCC3DA6258A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3D31BE62-CC50-6DDF-053D-8D4A349275AD}"/>
              </a:ext>
            </a:extLst>
          </p:cNvPr>
          <p:cNvSpPr/>
          <p:nvPr userDrawn="1"/>
        </p:nvSpPr>
        <p:spPr>
          <a:xfrm>
            <a:off x="1" y="2"/>
            <a:ext cx="2712356" cy="2713385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20698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AD982555-EA3F-4B74-7506-7B4EBD37E234}"/>
              </a:ext>
            </a:extLst>
          </p:cNvPr>
          <p:cNvSpPr/>
          <p:nvPr userDrawn="1"/>
        </p:nvSpPr>
        <p:spPr>
          <a:xfrm>
            <a:off x="1" y="0"/>
            <a:ext cx="42509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F03A82-401C-4A0E-BE21-BE588E8741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1784096"/>
            <a:ext cx="3045372" cy="594626"/>
          </a:xfrm>
        </p:spPr>
        <p:txBody>
          <a:bodyPr anchor="ctr" anchorCtr="0">
            <a:noAutofit/>
          </a:bodyPr>
          <a:lstStyle>
            <a:lvl1pPr marL="0" indent="0" algn="ctr">
              <a:buFont typeface="+mj-lt"/>
              <a:buNone/>
              <a:defRPr sz="4000" b="1">
                <a:solidFill>
                  <a:srgbClr val="FFFFFF"/>
                </a:solidFill>
                <a:latin typeface="+mj-ea"/>
                <a:ea typeface="+mj-ea"/>
              </a:defRPr>
            </a:lvl1pPr>
            <a:lvl2pPr marL="457189" indent="0">
              <a:buFont typeface="+mj-ea"/>
              <a:buNone/>
              <a:defRPr/>
            </a:lvl2pPr>
            <a:lvl3pPr marL="1257269" indent="-342891">
              <a:buFont typeface="+mj-lt"/>
              <a:buAutoNum type="alphaLcParenR"/>
              <a:defRPr/>
            </a:lvl3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FDB9EF8-9BCC-B7E0-416E-F38D808442D6}"/>
              </a:ext>
            </a:extLst>
          </p:cNvPr>
          <p:cNvGrpSpPr/>
          <p:nvPr userDrawn="1"/>
        </p:nvGrpSpPr>
        <p:grpSpPr>
          <a:xfrm>
            <a:off x="409577" y="2622550"/>
            <a:ext cx="3762375" cy="3436252"/>
            <a:chOff x="4648426" y="84668"/>
            <a:chExt cx="7182311" cy="6773332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4FC22150-351F-1D32-05AB-F7EA0286743B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E1618A74-B359-D3CA-7690-4D04767D5E33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0CD826CB-6E0B-1B05-4FDD-2984599D3762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9E5BD2CD-BEC8-A5D8-00BD-2A3A6C32C4A9}"/>
              </a:ext>
            </a:extLst>
          </p:cNvPr>
          <p:cNvSpPr/>
          <p:nvPr userDrawn="1"/>
        </p:nvSpPr>
        <p:spPr>
          <a:xfrm>
            <a:off x="2" y="3"/>
            <a:ext cx="1543049" cy="1580547"/>
          </a:xfrm>
          <a:custGeom>
            <a:avLst/>
            <a:gdLst>
              <a:gd name="connsiteX0" fmla="*/ 0 w 1543049"/>
              <a:gd name="connsiteY0" fmla="*/ 0 h 1580547"/>
              <a:gd name="connsiteX1" fmla="*/ 1389702 w 1543049"/>
              <a:gd name="connsiteY1" fmla="*/ 0 h 1580547"/>
              <a:gd name="connsiteX2" fmla="*/ 1464863 w 1543049"/>
              <a:gd name="connsiteY2" fmla="*/ 143926 h 1580547"/>
              <a:gd name="connsiteX3" fmla="*/ 1543049 w 1543049"/>
              <a:gd name="connsiteY3" fmla="*/ 546445 h 1580547"/>
              <a:gd name="connsiteX4" fmla="*/ 548121 w 1543049"/>
              <a:gd name="connsiteY4" fmla="*/ 1580547 h 1580547"/>
              <a:gd name="connsiteX5" fmla="*/ 73879 w 1543049"/>
              <a:gd name="connsiteY5" fmla="*/ 1455737 h 1580547"/>
              <a:gd name="connsiteX6" fmla="*/ 0 w 1543049"/>
              <a:gd name="connsiteY6" fmla="*/ 1409087 h 1580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43049" h="1580547">
                <a:moveTo>
                  <a:pt x="0" y="0"/>
                </a:moveTo>
                <a:lnTo>
                  <a:pt x="1389702" y="0"/>
                </a:lnTo>
                <a:lnTo>
                  <a:pt x="1464863" y="143926"/>
                </a:lnTo>
                <a:cubicBezTo>
                  <a:pt x="1515209" y="267644"/>
                  <a:pt x="1543049" y="403665"/>
                  <a:pt x="1543049" y="546445"/>
                </a:cubicBezTo>
                <a:cubicBezTo>
                  <a:pt x="1543049" y="1117564"/>
                  <a:pt x="1097605" y="1580547"/>
                  <a:pt x="548121" y="1580547"/>
                </a:cubicBezTo>
                <a:cubicBezTo>
                  <a:pt x="376407" y="1580547"/>
                  <a:pt x="214854" y="1535334"/>
                  <a:pt x="73879" y="1455737"/>
                </a:cubicBezTo>
                <a:lnTo>
                  <a:pt x="0" y="1409087"/>
                </a:lnTo>
                <a:close/>
              </a:path>
            </a:pathLst>
          </a:custGeom>
          <a:gradFill flip="none" rotWithShape="1">
            <a:gsLst>
              <a:gs pos="20000">
                <a:schemeClr val="accent2">
                  <a:alpha val="36000"/>
                </a:schemeClr>
              </a:gs>
              <a:gs pos="100000">
                <a:schemeClr val="accent1">
                  <a:alpha val="5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FDFBE58A-F4DC-EF1E-5D13-F8DFE171653F}"/>
              </a:ext>
            </a:extLst>
          </p:cNvPr>
          <p:cNvSpPr/>
          <p:nvPr userDrawn="1"/>
        </p:nvSpPr>
        <p:spPr>
          <a:xfrm>
            <a:off x="869210" y="2394698"/>
            <a:ext cx="2836561" cy="859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581954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7662-4F6D-4B06-BB36-235FC06BF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3112284"/>
            <a:ext cx="7401560" cy="95105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>
                <a:solidFill>
                  <a:schemeClr val="tx1"/>
                </a:solidFill>
              </a:defRPr>
            </a:lvl1pPr>
          </a:lstStyle>
          <a:p>
            <a:pPr lvl="0" defTabSz="914332"/>
            <a:r>
              <a:rPr lang="zh-CN" altLang="en-US" dirty="0"/>
              <a:t>单击此处添加主标题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9930E-40DF-417D-8161-BD38EB172D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0400" y="4111117"/>
            <a:ext cx="7401560" cy="440729"/>
          </a:xfrm>
        </p:spPr>
        <p:txBody>
          <a:bodyPr>
            <a:normAutofit/>
          </a:bodyPr>
          <a:lstStyle>
            <a:lvl1pPr marL="0" indent="0">
              <a:buNone/>
              <a:defRPr lang="en-US" altLang="zh-CN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点击简单描述该章节的大概内容，阐述核心思想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49A950A1-B947-717D-E187-AD0063089D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2113598"/>
            <a:ext cx="7401187" cy="950912"/>
          </a:xfrm>
        </p:spPr>
        <p:txBody>
          <a:bodyPr anchor="b">
            <a:noAutofit/>
          </a:bodyPr>
          <a:lstStyle>
            <a:lvl1pPr marL="0" indent="0">
              <a:buNone/>
              <a:defRPr sz="6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5D2D51EC-47FD-72C3-B4F8-45F79C45684E}"/>
              </a:ext>
            </a:extLst>
          </p:cNvPr>
          <p:cNvSpPr/>
          <p:nvPr userDrawn="1"/>
        </p:nvSpPr>
        <p:spPr>
          <a:xfrm>
            <a:off x="4907279" y="3"/>
            <a:ext cx="7284723" cy="6857999"/>
          </a:xfrm>
          <a:custGeom>
            <a:avLst/>
            <a:gdLst>
              <a:gd name="connsiteX0" fmla="*/ 1966125 w 7284723"/>
              <a:gd name="connsiteY0" fmla="*/ 0 h 6857999"/>
              <a:gd name="connsiteX1" fmla="*/ 7284723 w 7284723"/>
              <a:gd name="connsiteY1" fmla="*/ 0 h 6857999"/>
              <a:gd name="connsiteX2" fmla="*/ 7284723 w 7284723"/>
              <a:gd name="connsiteY2" fmla="*/ 6857999 h 6857999"/>
              <a:gd name="connsiteX3" fmla="*/ 1340755 w 7284723"/>
              <a:gd name="connsiteY3" fmla="*/ 6857999 h 6857999"/>
              <a:gd name="connsiteX4" fmla="*/ 1292639 w 7284723"/>
              <a:gd name="connsiteY4" fmla="*/ 6810960 h 6857999"/>
              <a:gd name="connsiteX5" fmla="*/ 0 w 7284723"/>
              <a:gd name="connsiteY5" fmla="*/ 3692584 h 6857999"/>
              <a:gd name="connsiteX6" fmla="*/ 1810751 w 7284723"/>
              <a:gd name="connsiteY6" fmla="*/ 11380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84723" h="6857999">
                <a:moveTo>
                  <a:pt x="1966125" y="0"/>
                </a:moveTo>
                <a:lnTo>
                  <a:pt x="7284723" y="0"/>
                </a:lnTo>
                <a:lnTo>
                  <a:pt x="7284723" y="6857999"/>
                </a:lnTo>
                <a:lnTo>
                  <a:pt x="1340755" y="6857999"/>
                </a:lnTo>
                <a:lnTo>
                  <a:pt x="1292639" y="6810960"/>
                </a:lnTo>
                <a:cubicBezTo>
                  <a:pt x="489500" y="5987340"/>
                  <a:pt x="0" y="4893243"/>
                  <a:pt x="0" y="3692584"/>
                </a:cubicBezTo>
                <a:cubicBezTo>
                  <a:pt x="0" y="2251793"/>
                  <a:pt x="704880" y="964452"/>
                  <a:pt x="1810751" y="113805"/>
                </a:cubicBezTo>
                <a:close/>
              </a:path>
            </a:pathLst>
          </a:custGeom>
          <a:gradFill flip="none" rotWithShape="1">
            <a:gsLst>
              <a:gs pos="0">
                <a:srgbClr val="6B78C4"/>
              </a:gs>
              <a:gs pos="32000">
                <a:schemeClr val="accent1">
                  <a:lumMod val="45000"/>
                  <a:lumOff val="55000"/>
                  <a:alpha val="46000"/>
                </a:schemeClr>
              </a:gs>
              <a:gs pos="84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C8B77142-FA8F-519E-7BBD-ABAE915BDE36}"/>
              </a:ext>
            </a:extLst>
          </p:cNvPr>
          <p:cNvSpPr/>
          <p:nvPr userDrawn="1"/>
        </p:nvSpPr>
        <p:spPr>
          <a:xfrm>
            <a:off x="7528557" y="1698"/>
            <a:ext cx="6891224" cy="9100292"/>
          </a:xfrm>
          <a:custGeom>
            <a:avLst/>
            <a:gdLst>
              <a:gd name="connsiteX0" fmla="*/ 3621363 w 6891224"/>
              <a:gd name="connsiteY0" fmla="*/ 0 h 9100292"/>
              <a:gd name="connsiteX1" fmla="*/ 4663443 w 6891224"/>
              <a:gd name="connsiteY1" fmla="*/ 0 h 9100292"/>
              <a:gd name="connsiteX2" fmla="*/ 4663443 w 6891224"/>
              <a:gd name="connsiteY2" fmla="*/ 8743717 h 9100292"/>
              <a:gd name="connsiteX3" fmla="*/ 6891224 w 6891224"/>
              <a:gd name="connsiteY3" fmla="*/ 8743717 h 9100292"/>
              <a:gd name="connsiteX4" fmla="*/ 6686729 w 6891224"/>
              <a:gd name="connsiteY4" fmla="*/ 8818869 h 9100292"/>
              <a:gd name="connsiteX5" fmla="*/ 4975861 w 6891224"/>
              <a:gd name="connsiteY5" fmla="*/ 9100292 h 9100292"/>
              <a:gd name="connsiteX6" fmla="*/ 0 w 6891224"/>
              <a:gd name="connsiteY6" fmla="*/ 4462457 h 9100292"/>
              <a:gd name="connsiteX7" fmla="*/ 3496192 w 6891224"/>
              <a:gd name="connsiteY7" fmla="*/ 33130 h 9100292"/>
              <a:gd name="connsiteX8" fmla="*/ 3621363 w 6891224"/>
              <a:gd name="connsiteY8" fmla="*/ 0 h 910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91224" h="9100292">
                <a:moveTo>
                  <a:pt x="3621363" y="0"/>
                </a:moveTo>
                <a:lnTo>
                  <a:pt x="4663443" y="0"/>
                </a:lnTo>
                <a:lnTo>
                  <a:pt x="4663443" y="8743717"/>
                </a:lnTo>
                <a:lnTo>
                  <a:pt x="6891224" y="8743717"/>
                </a:lnTo>
                <a:lnTo>
                  <a:pt x="6686729" y="8818869"/>
                </a:lnTo>
                <a:cubicBezTo>
                  <a:pt x="6153253" y="9000932"/>
                  <a:pt x="5577006" y="9100292"/>
                  <a:pt x="4975861" y="9100292"/>
                </a:cubicBezTo>
                <a:cubicBezTo>
                  <a:pt x="2227769" y="9100292"/>
                  <a:pt x="0" y="7023863"/>
                  <a:pt x="0" y="4462457"/>
                </a:cubicBezTo>
                <a:cubicBezTo>
                  <a:pt x="0" y="2381315"/>
                  <a:pt x="1470676" y="620333"/>
                  <a:pt x="3496192" y="33130"/>
                </a:cubicBezTo>
                <a:lnTo>
                  <a:pt x="3621363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45000"/>
                  <a:lumOff val="55000"/>
                  <a:alpha val="45000"/>
                </a:schemeClr>
              </a:gs>
              <a:gs pos="50000">
                <a:schemeClr val="accent1">
                  <a:alpha val="0"/>
                </a:schemeClr>
              </a:gs>
              <a:gs pos="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49B6B922-9FE0-ACC0-2856-83979932223A}"/>
              </a:ext>
            </a:extLst>
          </p:cNvPr>
          <p:cNvSpPr/>
          <p:nvPr userDrawn="1"/>
        </p:nvSpPr>
        <p:spPr>
          <a:xfrm>
            <a:off x="6242193" y="3655434"/>
            <a:ext cx="5949809" cy="3202566"/>
          </a:xfrm>
          <a:custGeom>
            <a:avLst/>
            <a:gdLst>
              <a:gd name="connsiteX0" fmla="*/ 4151489 w 5949809"/>
              <a:gd name="connsiteY0" fmla="*/ 0 h 3202566"/>
              <a:gd name="connsiteX1" fmla="*/ 5824340 w 5949809"/>
              <a:gd name="connsiteY1" fmla="*/ 337733 h 3202566"/>
              <a:gd name="connsiteX2" fmla="*/ 5949809 w 5949809"/>
              <a:gd name="connsiteY2" fmla="*/ 394457 h 3202566"/>
              <a:gd name="connsiteX3" fmla="*/ 5949809 w 5949809"/>
              <a:gd name="connsiteY3" fmla="*/ 3202566 h 3202566"/>
              <a:gd name="connsiteX4" fmla="*/ 0 w 5949809"/>
              <a:gd name="connsiteY4" fmla="*/ 3202566 h 3202566"/>
              <a:gd name="connsiteX5" fmla="*/ 47025 w 5949809"/>
              <a:gd name="connsiteY5" fmla="*/ 3019682 h 3202566"/>
              <a:gd name="connsiteX6" fmla="*/ 4151489 w 5949809"/>
              <a:gd name="connsiteY6" fmla="*/ 0 h 320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49809" h="3202566">
                <a:moveTo>
                  <a:pt x="4151489" y="0"/>
                </a:moveTo>
                <a:cubicBezTo>
                  <a:pt x="4744875" y="0"/>
                  <a:pt x="5310173" y="120259"/>
                  <a:pt x="5824340" y="337733"/>
                </a:cubicBezTo>
                <a:lnTo>
                  <a:pt x="5949809" y="394457"/>
                </a:lnTo>
                <a:lnTo>
                  <a:pt x="5949809" y="3202566"/>
                </a:lnTo>
                <a:lnTo>
                  <a:pt x="0" y="3202566"/>
                </a:lnTo>
                <a:lnTo>
                  <a:pt x="47025" y="3019682"/>
                </a:lnTo>
                <a:cubicBezTo>
                  <a:pt x="591160" y="1270231"/>
                  <a:pt x="2222986" y="0"/>
                  <a:pt x="415148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147681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BD5DC2-93F8-A6A6-D337-0AFDC4E3B7D9}"/>
              </a:ext>
            </a:extLst>
          </p:cNvPr>
          <p:cNvSpPr/>
          <p:nvPr userDrawn="1"/>
        </p:nvSpPr>
        <p:spPr>
          <a:xfrm>
            <a:off x="0" y="2"/>
            <a:ext cx="12192000" cy="883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1" y="90327"/>
            <a:ext cx="10858500" cy="792781"/>
          </a:xfrm>
        </p:spPr>
        <p:txBody>
          <a:bodyPr anchor="ctr" anchorCtr="0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单击此处添加主标题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30E0B63-DF19-3794-3DF0-9401BE50367F}"/>
              </a:ext>
            </a:extLst>
          </p:cNvPr>
          <p:cNvGrpSpPr/>
          <p:nvPr userDrawn="1"/>
        </p:nvGrpSpPr>
        <p:grpSpPr>
          <a:xfrm>
            <a:off x="11074400" y="-89836"/>
            <a:ext cx="1117600" cy="972451"/>
            <a:chOff x="4792887" y="84668"/>
            <a:chExt cx="7037850" cy="677333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F370A4D-BC39-B3D9-65E0-793CBEA4D82A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BF1186D-E493-415B-0DB8-79DE79037869}"/>
                </a:ext>
              </a:extLst>
            </p:cNvPr>
            <p:cNvSpPr/>
            <p:nvPr userDrawn="1"/>
          </p:nvSpPr>
          <p:spPr>
            <a:xfrm>
              <a:off x="7949863" y="3285061"/>
              <a:ext cx="2838856" cy="2950641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705CAEB6-4A51-02B2-D69B-9EF3C0945242}"/>
              </a:ext>
            </a:extLst>
          </p:cNvPr>
          <p:cNvSpPr/>
          <p:nvPr userDrawn="1"/>
        </p:nvSpPr>
        <p:spPr>
          <a:xfrm>
            <a:off x="0" y="2"/>
            <a:ext cx="792480" cy="792781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330348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BD5DC2-93F8-A6A6-D337-0AFDC4E3B7D9}"/>
              </a:ext>
            </a:extLst>
          </p:cNvPr>
          <p:cNvSpPr/>
          <p:nvPr userDrawn="1"/>
        </p:nvSpPr>
        <p:spPr>
          <a:xfrm>
            <a:off x="0" y="2"/>
            <a:ext cx="12192000" cy="883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1" y="90327"/>
            <a:ext cx="10858500" cy="792781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单击此处添加主标题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30E0B63-DF19-3794-3DF0-9401BE50367F}"/>
              </a:ext>
            </a:extLst>
          </p:cNvPr>
          <p:cNvGrpSpPr/>
          <p:nvPr userDrawn="1"/>
        </p:nvGrpSpPr>
        <p:grpSpPr>
          <a:xfrm>
            <a:off x="11074400" y="-89836"/>
            <a:ext cx="1117600" cy="972451"/>
            <a:chOff x="4792887" y="84668"/>
            <a:chExt cx="7037850" cy="677333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F370A4D-BC39-B3D9-65E0-793CBEA4D82A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BF1186D-E493-415B-0DB8-79DE79037869}"/>
                </a:ext>
              </a:extLst>
            </p:cNvPr>
            <p:cNvSpPr/>
            <p:nvPr userDrawn="1"/>
          </p:nvSpPr>
          <p:spPr>
            <a:xfrm>
              <a:off x="7949863" y="3285061"/>
              <a:ext cx="2838856" cy="2950641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705CAEB6-4A51-02B2-D69B-9EF3C0945242}"/>
              </a:ext>
            </a:extLst>
          </p:cNvPr>
          <p:cNvSpPr/>
          <p:nvPr userDrawn="1"/>
        </p:nvSpPr>
        <p:spPr>
          <a:xfrm>
            <a:off x="0" y="2"/>
            <a:ext cx="792480" cy="792781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A9F09-7DDC-32D6-81D8-6D33FC493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1" y="1130300"/>
            <a:ext cx="10858500" cy="50038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600"/>
              </a:spcBef>
              <a:defRPr sz="24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000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180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160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1600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4231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C6DA8-D137-41D2-A934-63CB8FFB8B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Click to edit title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B63B05-F6A0-3D6F-F801-8D11984D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81C77-C049-4AAA-A3C8-544909BBB11E}" type="datetime1">
              <a:rPr lang="zh-CN" altLang="en-US" smtClean="0"/>
              <a:t>2023/9/21</a:t>
            </a:fld>
            <a:endParaRPr lang="en-US" altLang="zh-CN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7CA976-277E-412D-DEC7-ABBF4B1C5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82883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34B5E9-7F1A-757A-6933-C2854022C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81C77-C049-4AAA-A3C8-544909BBB11E}" type="datetime1">
              <a:rPr lang="zh-CN" altLang="en-US" smtClean="0"/>
              <a:t>2023/9/21</a:t>
            </a:fld>
            <a:endParaRPr lang="en-US" altLang="zh-CN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D42E90-FD3D-CF04-A89E-B408C6596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商务</a:t>
            </a:r>
            <a:r>
              <a:rPr lang="en-US" altLang="zh-CN"/>
              <a:t>PPT</a:t>
            </a:r>
            <a:r>
              <a:rPr lang="zh-CN" altLang="en-US"/>
              <a:t>模板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451E9D-D337-3CDB-5813-83070E69D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22697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gradFill>
          <a:gsLst>
            <a:gs pos="41000">
              <a:schemeClr val="accent1"/>
            </a:gs>
            <a:gs pos="100000">
              <a:schemeClr val="accent1">
                <a:alpha val="90000"/>
              </a:scheme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AA98E5A-3A9B-76BC-8AC3-016C59AA4760}"/>
              </a:ext>
            </a:extLst>
          </p:cNvPr>
          <p:cNvGrpSpPr/>
          <p:nvPr userDrawn="1"/>
        </p:nvGrpSpPr>
        <p:grpSpPr>
          <a:xfrm>
            <a:off x="4643122" y="42334"/>
            <a:ext cx="7182311" cy="6773332"/>
            <a:chOff x="4648426" y="84668"/>
            <a:chExt cx="7182311" cy="6773332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443180D6-55C2-456A-876B-6DFD6FED559E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CCE37F71-F955-2E51-24EA-BAE38D51B2AA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11000">
                  <a:srgbClr val="B1B6D1">
                    <a:alpha val="0"/>
                  </a:srgbClr>
                </a:gs>
                <a:gs pos="44000">
                  <a:srgbClr val="8B93C4">
                    <a:alpha val="42000"/>
                  </a:srgb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2863C955-22E4-E129-BD9B-0A61289448AA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BF1409B-5AAA-AD35-F9DB-81783BA40697}"/>
              </a:ext>
            </a:extLst>
          </p:cNvPr>
          <p:cNvSpPr/>
          <p:nvPr userDrawn="1"/>
        </p:nvSpPr>
        <p:spPr>
          <a:xfrm>
            <a:off x="1" y="2"/>
            <a:ext cx="2712356" cy="2713385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10" name="Speaker Placeholder 3">
            <a:extLst>
              <a:ext uri="{FF2B5EF4-FFF2-40B4-BE49-F238E27FC236}">
                <a16:creationId xmlns:a16="http://schemas.microsoft.com/office/drawing/2014/main" id="{393CF57B-4E6D-EC77-AFD7-10BC4CE1EE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3769098"/>
            <a:ext cx="5568951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XXX</a:t>
            </a:r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0491E251-5B90-7136-462F-BC5F844245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1" y="4174440"/>
            <a:ext cx="5568951" cy="3354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en-US" alt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2320649-ACD7-42E9-A261-E6ED46ACB4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2753098"/>
            <a:ext cx="10858500" cy="885891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buNone/>
              <a:defRPr lang="en-US" altLang="zh-CN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189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594" lvl="0" indent="-228594" defTabSz="914332">
              <a:spcBef>
                <a:spcPct val="0"/>
              </a:spcBef>
            </a:pPr>
            <a:r>
              <a:rPr lang="en-US" altLang="zh-CN" dirty="0"/>
              <a:t>THANK YOU</a:t>
            </a:r>
            <a:r>
              <a:rPr lang="zh-CN" altLang="en-US" dirty="0"/>
              <a:t>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42989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252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307103-D92B-4D3C-B386-9FD58793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1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332"/>
            <a:r>
              <a:rPr lang="en-US" altLang="zh-CN" dirty="0"/>
              <a:t>Click to edit title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920D0-E0E5-40BB-AEDA-3D7A09092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1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16C00-AE39-4635-9F10-B7233D2AC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商务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2D871-753D-4991-B44B-EFAE9F868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4657" y="6438900"/>
            <a:ext cx="1802924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2581C77-C049-4AAA-A3C8-544909BBB11E}" type="datetime1">
              <a:rPr lang="zh-CN" altLang="en-US" smtClean="0"/>
              <a:t>2023/9/21</a:t>
            </a:fld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E9ED-4E00-42D1-BFBF-5EBD27D29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4378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zh-cn/3/library/stdtypes.html#str.ljust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docs.python.org/zh-cn/3/library/stdtypes.html#str.rjust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hyperlink" Target="https://docs.python.org/zh-cn/3/library/stdtypes.html#str.zfill" TargetMode="External"/><Relationship Id="rId4" Type="http://schemas.openxmlformats.org/officeDocument/2006/relationships/hyperlink" Target="https://docs.python.org/zh-cn/3/library/stdtypes.html#str.center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0D515-8FCC-744C-E553-0CA5DA02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8920CB-8C94-B1C6-10ED-67D4F6A42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查看关键词</a:t>
            </a:r>
            <a:endParaRPr lang="en-US" altLang="zh-CN" dirty="0"/>
          </a:p>
          <a:p>
            <a:pPr lvl="1"/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导入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keyword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模块，代码：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import keyword</a:t>
            </a:r>
          </a:p>
          <a:p>
            <a:pPr lvl="1"/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输入代码：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keyword.kwlist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，获取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中所有的关键字</a:t>
            </a:r>
            <a:endParaRPr lang="en-US" altLang="zh-CN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lvl="1"/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输入代码：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print(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keyword.kwlist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)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209817-7222-2CED-9A7D-C2830365C732}"/>
              </a:ext>
            </a:extLst>
          </p:cNvPr>
          <p:cNvSpPr txBox="1"/>
          <p:nvPr/>
        </p:nvSpPr>
        <p:spPr>
          <a:xfrm>
            <a:off x="3115491" y="4251961"/>
            <a:ext cx="8416108" cy="1015663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等线" panose="02010600030101010101" pitchFamily="2" charset="-122"/>
                <a:ea typeface="思源黑体 CN Normal"/>
                <a:cs typeface="Times New Roman" panose="02020603050405020304" pitchFamily="18" charset="0"/>
              </a:rPr>
              <a:t>False, None, True, and, as, assert, async, await, break, class, continue, def, del,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等线" panose="02010600030101010101" pitchFamily="2" charset="-122"/>
                <a:ea typeface="思源黑体 CN Normal"/>
                <a:cs typeface="Times New Roman" panose="02020603050405020304" pitchFamily="18" charset="0"/>
              </a:rPr>
              <a:t>elif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等线" panose="02010600030101010101" pitchFamily="2" charset="-122"/>
                <a:ea typeface="思源黑体 CN Normal"/>
                <a:cs typeface="Times New Roman" panose="02020603050405020304" pitchFamily="18" charset="0"/>
              </a:rPr>
              <a:t>, else, except, finally, for, from, global, if, import, in, is, lambda, nonlocal, not, or, pass, raise, return, try, while, with, yield</a:t>
            </a:r>
            <a:endParaRPr kumimoji="0" lang="zh-CN" altLang="zh-CN" sz="4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457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复习：</a:t>
            </a:r>
            <a:r>
              <a:rPr lang="en-US" altLang="zh-CN" dirty="0"/>
              <a:t>Python</a:t>
            </a:r>
            <a:r>
              <a:rPr lang="zh-CN" altLang="en-US" dirty="0"/>
              <a:t>的输入输出语句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/>
              <a:t>1. Python</a:t>
            </a:r>
            <a:r>
              <a:rPr lang="zh-CN" altLang="en-US" dirty="0"/>
              <a:t>中输出语句</a:t>
            </a:r>
            <a:endParaRPr lang="en-US" altLang="zh-CN" dirty="0"/>
          </a:p>
          <a:p>
            <a:pPr lvl="1">
              <a:lnSpc>
                <a:spcPct val="125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print(value, ..., </a:t>
            </a:r>
            <a:r>
              <a:rPr lang="en-US" altLang="zh-CN" sz="2400" b="1" dirty="0" err="1">
                <a:solidFill>
                  <a:srgbClr val="FF0000"/>
                </a:solidFill>
              </a:rPr>
              <a:t>sep</a:t>
            </a:r>
            <a:r>
              <a:rPr lang="en-US" altLang="zh-CN" sz="2400" b="1" dirty="0">
                <a:solidFill>
                  <a:srgbClr val="FF0000"/>
                </a:solidFill>
              </a:rPr>
              <a:t>=' ', end='\n', file=</a:t>
            </a:r>
            <a:r>
              <a:rPr lang="en-US" altLang="zh-CN" sz="2400" b="1" dirty="0" err="1">
                <a:solidFill>
                  <a:srgbClr val="FF0000"/>
                </a:solidFill>
              </a:rPr>
              <a:t>sys.stdout</a:t>
            </a:r>
            <a:r>
              <a:rPr lang="en-US" altLang="zh-CN" sz="2400" b="1" dirty="0">
                <a:solidFill>
                  <a:srgbClr val="FF0000"/>
                </a:solidFill>
              </a:rPr>
              <a:t>, flush=False)</a:t>
            </a:r>
          </a:p>
          <a:p>
            <a:pPr marL="914377" lvl="2" indent="0">
              <a:lnSpc>
                <a:spcPct val="125000"/>
              </a:lnSpc>
              <a:buNone/>
            </a:pPr>
            <a:r>
              <a:rPr lang="en-US" altLang="zh-CN" sz="2000" dirty="0"/>
              <a:t>1.</a:t>
            </a:r>
            <a:r>
              <a:rPr lang="zh-CN" altLang="en-US" sz="2000" dirty="0"/>
              <a:t>将对象以字符串表示的方式格式化输出到流文件对象</a:t>
            </a:r>
            <a:r>
              <a:rPr lang="en-US" altLang="zh-CN" sz="2000" dirty="0"/>
              <a:t>file</a:t>
            </a:r>
            <a:r>
              <a:rPr lang="zh-CN" altLang="en-US" sz="2000" dirty="0"/>
              <a:t>里。其中所有非关键字参数都按 </a:t>
            </a:r>
            <a:r>
              <a:rPr lang="en-US" altLang="zh-CN" sz="2000" dirty="0">
                <a:highlight>
                  <a:srgbClr val="00FFFF"/>
                </a:highlight>
              </a:rPr>
              <a:t>str() </a:t>
            </a:r>
            <a:r>
              <a:rPr lang="zh-CN" altLang="en-US" sz="2000" dirty="0"/>
              <a:t>方式进行转换为字符串输出</a:t>
            </a:r>
            <a:r>
              <a:rPr lang="en-US" altLang="zh-CN" sz="2000" dirty="0"/>
              <a:t>;</a:t>
            </a:r>
          </a:p>
          <a:p>
            <a:pPr marL="914377" lvl="2" indent="0">
              <a:lnSpc>
                <a:spcPct val="125000"/>
              </a:lnSpc>
              <a:buNone/>
            </a:pPr>
            <a:r>
              <a:rPr lang="en-US" altLang="zh-CN" sz="2000" dirty="0"/>
              <a:t>2. </a:t>
            </a:r>
            <a:r>
              <a:rPr lang="zh-CN" altLang="en-US" sz="2000" dirty="0"/>
              <a:t>关键字参数 </a:t>
            </a:r>
            <a:r>
              <a:rPr lang="en-US" altLang="zh-CN" sz="2000" dirty="0" err="1">
                <a:highlight>
                  <a:srgbClr val="00FFFF"/>
                </a:highlight>
              </a:rPr>
              <a:t>sep</a:t>
            </a:r>
            <a:r>
              <a:rPr lang="en-US" altLang="zh-CN" sz="2000" dirty="0">
                <a:highlight>
                  <a:srgbClr val="00FFFF"/>
                </a:highlight>
              </a:rPr>
              <a:t> </a:t>
            </a:r>
            <a:r>
              <a:rPr lang="zh-CN" altLang="en-US" sz="2000" dirty="0"/>
              <a:t>是实现分隔符，比如多个参数输出时想要输出中间的分隔字符</a:t>
            </a:r>
            <a:r>
              <a:rPr lang="en-US" altLang="zh-CN" sz="2000" dirty="0"/>
              <a:t>;</a:t>
            </a:r>
          </a:p>
          <a:p>
            <a:pPr marL="914377" lvl="2" indent="0">
              <a:lnSpc>
                <a:spcPct val="125000"/>
              </a:lnSpc>
              <a:buNone/>
            </a:pPr>
            <a:r>
              <a:rPr lang="en-US" altLang="zh-CN" sz="2000" dirty="0"/>
              <a:t>3.</a:t>
            </a:r>
            <a:r>
              <a:rPr lang="zh-CN" altLang="en-US" sz="2000" dirty="0"/>
              <a:t>关键字参数 </a:t>
            </a:r>
            <a:r>
              <a:rPr lang="en-US" altLang="zh-CN" sz="2000" dirty="0">
                <a:highlight>
                  <a:srgbClr val="00FFFF"/>
                </a:highlight>
              </a:rPr>
              <a:t>end</a:t>
            </a:r>
            <a:r>
              <a:rPr lang="en-US" altLang="zh-CN" sz="2000" dirty="0"/>
              <a:t> </a:t>
            </a:r>
            <a:r>
              <a:rPr lang="zh-CN" altLang="en-US" sz="2000" dirty="0"/>
              <a:t>是输出结束时的字符，默认是换行符</a:t>
            </a:r>
            <a:r>
              <a:rPr lang="en-US" altLang="zh-CN" sz="2000" dirty="0">
                <a:highlight>
                  <a:srgbClr val="00FFFF"/>
                </a:highlight>
              </a:rPr>
              <a:t>\</a:t>
            </a:r>
            <a:r>
              <a:rPr lang="zh-CN" altLang="en-US" sz="2000" dirty="0">
                <a:highlight>
                  <a:srgbClr val="00FFFF"/>
                </a:highlight>
              </a:rPr>
              <a:t> </a:t>
            </a:r>
            <a:r>
              <a:rPr lang="en-US" altLang="zh-CN" sz="2000" dirty="0">
                <a:highlight>
                  <a:srgbClr val="00FFFF"/>
                </a:highlight>
              </a:rPr>
              <a:t>n</a:t>
            </a:r>
            <a:r>
              <a:rPr lang="en-US" altLang="zh-CN" sz="2000" dirty="0"/>
              <a:t> ;</a:t>
            </a:r>
          </a:p>
          <a:p>
            <a:pPr marL="914377" lvl="2" indent="0">
              <a:lnSpc>
                <a:spcPct val="125000"/>
              </a:lnSpc>
              <a:buNone/>
            </a:pPr>
            <a:r>
              <a:rPr lang="en-US" altLang="zh-CN" sz="2000" dirty="0"/>
              <a:t>4.</a:t>
            </a:r>
            <a:r>
              <a:rPr lang="zh-CN" altLang="en-US" sz="2000" dirty="0"/>
              <a:t>关键字参数</a:t>
            </a:r>
            <a:r>
              <a:rPr lang="zh-CN" altLang="en-US" sz="2000" dirty="0">
                <a:highlight>
                  <a:srgbClr val="00FFFF"/>
                </a:highlight>
              </a:rPr>
              <a:t> </a:t>
            </a:r>
            <a:r>
              <a:rPr lang="en-US" altLang="zh-CN" sz="2000" dirty="0">
                <a:highlight>
                  <a:srgbClr val="00FFFF"/>
                </a:highlight>
              </a:rPr>
              <a:t>file </a:t>
            </a:r>
            <a:r>
              <a:rPr lang="zh-CN" altLang="en-US" sz="2000" dirty="0"/>
              <a:t>是定义流输出的文件，可以是标准的系统输出 </a:t>
            </a:r>
            <a:r>
              <a:rPr lang="en-US" altLang="zh-CN" sz="2000" dirty="0" err="1">
                <a:highlight>
                  <a:srgbClr val="00FFFF"/>
                </a:highlight>
              </a:rPr>
              <a:t>sys.stdout</a:t>
            </a:r>
            <a:r>
              <a:rPr lang="en-US" altLang="zh-CN" sz="2000" dirty="0">
                <a:highlight>
                  <a:srgbClr val="00FFFF"/>
                </a:highlight>
              </a:rPr>
              <a:t> </a:t>
            </a:r>
            <a:r>
              <a:rPr lang="zh-CN" altLang="en-US" sz="2000" dirty="0"/>
              <a:t>，也可以重定义为别的文件</a:t>
            </a:r>
            <a:r>
              <a:rPr lang="en-US" altLang="zh-CN" sz="2000" dirty="0"/>
              <a:t>;</a:t>
            </a:r>
          </a:p>
          <a:p>
            <a:pPr marL="914377" lvl="2" indent="0">
              <a:lnSpc>
                <a:spcPct val="125000"/>
              </a:lnSpc>
              <a:buNone/>
            </a:pPr>
            <a:r>
              <a:rPr lang="en-US" altLang="zh-CN" sz="2000" dirty="0"/>
              <a:t>5.</a:t>
            </a:r>
            <a:r>
              <a:rPr lang="zh-CN" altLang="en-US" sz="2000" dirty="0"/>
              <a:t>关键字参数 </a:t>
            </a:r>
            <a:r>
              <a:rPr lang="en-US" altLang="zh-CN" sz="2000" dirty="0">
                <a:highlight>
                  <a:srgbClr val="00FFFF"/>
                </a:highlight>
              </a:rPr>
              <a:t>flush</a:t>
            </a:r>
            <a:r>
              <a:rPr lang="en-US" altLang="zh-CN" sz="2000" dirty="0"/>
              <a:t> </a:t>
            </a:r>
            <a:r>
              <a:rPr lang="zh-CN" altLang="en-US" sz="2000" dirty="0"/>
              <a:t>是立即把内容输出到流文件，不作缓存。</a:t>
            </a:r>
            <a:endParaRPr lang="en-US" altLang="zh-CN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EB876B-980E-3261-5E73-C0FE0C22ED27}"/>
              </a:ext>
            </a:extLst>
          </p:cNvPr>
          <p:cNvSpPr txBox="1"/>
          <p:nvPr/>
        </p:nvSpPr>
        <p:spPr>
          <a:xfrm>
            <a:off x="7133302" y="-107215"/>
            <a:ext cx="4845133" cy="166222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print(“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我是一名教师“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)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假设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xx=98+2-3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457200" marR="0" lvl="0" indent="2667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rint(xx)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457200" marR="0" lvl="0" indent="2667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rint(“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请输出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xx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的值“，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xx)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45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4"/>
      <p:bldP spid="4" grpId="0" build="p" bldLvl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的输入输出语句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1" y="1130300"/>
            <a:ext cx="6257508" cy="5003800"/>
          </a:xfrm>
        </p:spPr>
        <p:txBody>
          <a:bodyPr>
            <a:norm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格式化字符串字面值 （简称为 </a:t>
            </a:r>
            <a:r>
              <a:rPr lang="en-US" altLang="zh-CN" dirty="0"/>
              <a:t>f-</a:t>
            </a:r>
            <a:r>
              <a:rPr lang="zh-CN" altLang="en-US" dirty="0"/>
              <a:t>字符串）</a:t>
            </a:r>
            <a:endParaRPr lang="en-US" altLang="zh-CN" dirty="0"/>
          </a:p>
          <a:p>
            <a:pPr lvl="1"/>
            <a:r>
              <a:rPr lang="en-US" altLang="zh-CN" sz="2400" b="1" dirty="0">
                <a:solidFill>
                  <a:srgbClr val="C00000"/>
                </a:solidFill>
              </a:rPr>
              <a:t>Print(f</a:t>
            </a:r>
            <a:r>
              <a:rPr lang="zh-CN" altLang="en-US" sz="2400" b="1" dirty="0">
                <a:solidFill>
                  <a:srgbClr val="C00000"/>
                </a:solidFill>
              </a:rPr>
              <a:t>“</a:t>
            </a:r>
            <a:r>
              <a:rPr lang="en-US" altLang="zh-CN" sz="2400" b="1" dirty="0">
                <a:solidFill>
                  <a:srgbClr val="C00000"/>
                </a:solidFill>
              </a:rPr>
              <a:t>{</a:t>
            </a:r>
            <a:r>
              <a:rPr lang="zh-CN" altLang="en-US" sz="2400" b="1" dirty="0">
                <a:solidFill>
                  <a:srgbClr val="0070C0"/>
                </a:solidFill>
              </a:rPr>
              <a:t>变量名</a:t>
            </a:r>
            <a:r>
              <a:rPr lang="zh-CN" altLang="en-US" sz="2400" b="1" dirty="0">
                <a:solidFill>
                  <a:srgbClr val="C00000"/>
                </a:solidFill>
              </a:rPr>
              <a:t>：</a:t>
            </a:r>
            <a:r>
              <a:rPr lang="zh-CN" altLang="en-US" sz="2400" b="1" dirty="0">
                <a:solidFill>
                  <a:srgbClr val="0070C0"/>
                </a:solidFill>
              </a:rPr>
              <a:t>格式</a:t>
            </a:r>
            <a:r>
              <a:rPr lang="en-US" altLang="zh-CN" sz="2400" b="1" dirty="0">
                <a:solidFill>
                  <a:srgbClr val="C00000"/>
                </a:solidFill>
              </a:rPr>
              <a:t>}</a:t>
            </a:r>
            <a:r>
              <a:rPr lang="zh-CN" altLang="en-US" sz="2400" b="1" dirty="0">
                <a:solidFill>
                  <a:srgbClr val="C00000"/>
                </a:solidFill>
              </a:rPr>
              <a:t>其他字符串”</a:t>
            </a:r>
            <a:r>
              <a:rPr lang="en-US" altLang="zh-CN" sz="2400" b="1" dirty="0">
                <a:solidFill>
                  <a:srgbClr val="C00000"/>
                </a:solidFill>
              </a:rPr>
              <a:t>)</a:t>
            </a:r>
          </a:p>
          <a:p>
            <a:pPr lvl="2"/>
            <a:r>
              <a:rPr lang="zh-CN" altLang="en-US" sz="2200" dirty="0"/>
              <a:t>以ｆ为引导符，引导一个带有参数的字符串常量。在字符串中包含了｛｝参数项，其中冒号前为变量名，冒号后为格式符。</a:t>
            </a:r>
            <a:endParaRPr lang="en-US" altLang="zh-CN" sz="2200" dirty="0"/>
          </a:p>
          <a:p>
            <a:pPr lvl="3"/>
            <a:r>
              <a:rPr lang="zh-CN" altLang="en-US" sz="2000" b="0" dirty="0"/>
              <a:t>整型数： 宽度</a:t>
            </a:r>
            <a:r>
              <a:rPr lang="en-US" altLang="zh-CN" sz="2000" b="0" dirty="0"/>
              <a:t>d,      </a:t>
            </a:r>
            <a:r>
              <a:rPr lang="zh-CN" altLang="en-US" sz="2000" b="0" dirty="0"/>
              <a:t>例如：</a:t>
            </a:r>
            <a:r>
              <a:rPr lang="en-US" altLang="zh-CN" sz="2000" b="0" dirty="0"/>
              <a:t>6d</a:t>
            </a:r>
          </a:p>
          <a:p>
            <a:pPr lvl="3"/>
            <a:r>
              <a:rPr lang="zh-CN" altLang="en-US" sz="2000" dirty="0"/>
              <a:t>浮点数：宽度</a:t>
            </a:r>
            <a:r>
              <a:rPr lang="en-US" altLang="zh-CN" sz="2000" dirty="0"/>
              <a:t>.</a:t>
            </a:r>
            <a:r>
              <a:rPr lang="zh-CN" altLang="en-US" sz="2000" dirty="0"/>
              <a:t>小数位</a:t>
            </a:r>
            <a:r>
              <a:rPr lang="en-US" altLang="zh-CN" sz="2000" dirty="0"/>
              <a:t>f</a:t>
            </a:r>
            <a:r>
              <a:rPr lang="zh-CN" altLang="en-US" sz="2000" dirty="0"/>
              <a:t>，  例如：</a:t>
            </a:r>
            <a:r>
              <a:rPr lang="en-US" altLang="zh-CN" sz="2000" dirty="0"/>
              <a:t>8.2f</a:t>
            </a:r>
          </a:p>
          <a:p>
            <a:pPr lvl="3"/>
            <a:r>
              <a:rPr lang="zh-CN" altLang="en-US" sz="2000" b="0" dirty="0"/>
              <a:t>字符串：</a:t>
            </a:r>
            <a:r>
              <a:rPr lang="en-US" altLang="zh-CN" sz="2000" b="0" dirty="0"/>
              <a:t>s</a:t>
            </a:r>
          </a:p>
          <a:p>
            <a:pPr lvl="2"/>
            <a:r>
              <a:rPr lang="zh-CN" altLang="en-US" sz="2200" b="1" dirty="0">
                <a:solidFill>
                  <a:srgbClr val="C00000"/>
                </a:solidFill>
              </a:rPr>
              <a:t>操作实例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 lvl="3"/>
            <a:r>
              <a:rPr lang="en-US" altLang="zh-CN" sz="2000" dirty="0">
                <a:solidFill>
                  <a:srgbClr val="C00000"/>
                </a:solidFill>
              </a:rPr>
              <a:t>Print(</a:t>
            </a:r>
            <a:r>
              <a:rPr lang="en-US" altLang="zh-CN" sz="2000" dirty="0" err="1">
                <a:solidFill>
                  <a:srgbClr val="C00000"/>
                </a:solidFill>
              </a:rPr>
              <a:t>f“x</a:t>
            </a:r>
            <a:r>
              <a:rPr lang="en-US" altLang="zh-CN" sz="2000" dirty="0">
                <a:solidFill>
                  <a:srgbClr val="C00000"/>
                </a:solidFill>
              </a:rPr>
              <a:t>={x:4d}, y={y: 8.2f}, z={</a:t>
            </a:r>
            <a:r>
              <a:rPr lang="en-US" altLang="zh-CN" sz="2000" dirty="0" err="1">
                <a:solidFill>
                  <a:srgbClr val="C00000"/>
                </a:solidFill>
              </a:rPr>
              <a:t>z:s</a:t>
            </a:r>
            <a:r>
              <a:rPr lang="en-US" altLang="zh-CN" sz="2000" dirty="0">
                <a:solidFill>
                  <a:srgbClr val="C00000"/>
                </a:solidFill>
              </a:rPr>
              <a:t>}”)</a:t>
            </a:r>
            <a:endParaRPr lang="en-US" altLang="zh-CN" sz="2000" b="0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1F5795-502E-4603-8E74-2E1111C854BC}"/>
              </a:ext>
            </a:extLst>
          </p:cNvPr>
          <p:cNvSpPr txBox="1"/>
          <p:nvPr/>
        </p:nvSpPr>
        <p:spPr>
          <a:xfrm>
            <a:off x="7018808" y="1067350"/>
            <a:ext cx="5274091" cy="50167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# 格式说明符是可选的，写在表达式后面，可以更好地控制格式化值的方式。下例将 pi 舍入到小数点后三位：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import math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print(f'The value of pi is approximately {math.pi:.3f}.')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#在 ':' 后传递整数，为该字段设置最小字符宽度，常用于列对齐：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table = {'Sjoerd': 4127, 'Jack': 4098, 'Dcab': 7678}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for name, phone in table.items():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   print(f'{name: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10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} ==&gt; {phone:10d}')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#还有一些修饰符可以在格式化前转换值。 '!a' 应用 ascii() ，'!s' 应用 str()，'!r' 应用 repr()：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animals = 'eels'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print(f'My hovercraft is full of {animals}.')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print(f'My hovercraft is full of {animals!r}.')</a:t>
            </a:r>
          </a:p>
        </p:txBody>
      </p:sp>
    </p:spTree>
    <p:extLst>
      <p:ext uri="{BB962C8B-B14F-4D97-AF65-F5344CB8AC3E}">
        <p14:creationId xmlns:p14="http://schemas.microsoft.com/office/powerpoint/2010/main" val="260852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的输入输出语句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字符串 </a:t>
            </a:r>
            <a:r>
              <a:rPr lang="en-US" altLang="zh-CN" dirty="0"/>
              <a:t>format() </a:t>
            </a:r>
            <a:r>
              <a:rPr lang="zh-CN" altLang="en-US" dirty="0"/>
              <a:t>方法 </a:t>
            </a:r>
            <a:r>
              <a:rPr lang="zh-CN" altLang="zh-CN" b="1" dirty="0">
                <a:solidFill>
                  <a:srgbClr val="0072AA"/>
                </a:solidFill>
                <a:latin typeface="Arial Unicode MS"/>
                <a:ea typeface="ui-monospace"/>
              </a:rPr>
              <a:t>str.format()</a:t>
            </a:r>
            <a:r>
              <a:rPr lang="zh-CN" altLang="zh-CN" sz="2800" b="1" dirty="0">
                <a:solidFill>
                  <a:srgbClr val="000000"/>
                </a:solidFill>
                <a:ea typeface="Lucida Grande"/>
              </a:rPr>
              <a:t> </a:t>
            </a:r>
            <a:r>
              <a:rPr lang="zh-CN" altLang="zh-CN" sz="800" b="1" dirty="0"/>
              <a:t> </a:t>
            </a:r>
            <a:endParaRPr lang="en-US" altLang="zh-CN" b="1" dirty="0"/>
          </a:p>
          <a:p>
            <a:pPr lvl="1"/>
            <a:r>
              <a:rPr lang="en-US" altLang="zh-CN" sz="2200" dirty="0"/>
              <a:t>Print(</a:t>
            </a:r>
            <a:r>
              <a:rPr lang="zh-CN" altLang="en-US" sz="2200" dirty="0">
                <a:solidFill>
                  <a:srgbClr val="0070C0"/>
                </a:solidFill>
              </a:rPr>
              <a:t>带有</a:t>
            </a:r>
            <a:r>
              <a:rPr lang="en-US" altLang="zh-CN" sz="2200" dirty="0">
                <a:solidFill>
                  <a:srgbClr val="0070C0"/>
                </a:solidFill>
              </a:rPr>
              <a:t>{</a:t>
            </a:r>
            <a:r>
              <a:rPr lang="zh-CN" altLang="en-US" sz="2200" dirty="0">
                <a:solidFill>
                  <a:srgbClr val="0070C0"/>
                </a:solidFill>
              </a:rPr>
              <a:t>序号</a:t>
            </a:r>
            <a:r>
              <a:rPr lang="en-US" altLang="zh-CN" sz="2200" dirty="0">
                <a:solidFill>
                  <a:srgbClr val="0070C0"/>
                </a:solidFill>
              </a:rPr>
              <a:t>:</a:t>
            </a:r>
            <a:r>
              <a:rPr lang="zh-CN" altLang="en-US" sz="2200" dirty="0">
                <a:solidFill>
                  <a:srgbClr val="0070C0"/>
                </a:solidFill>
              </a:rPr>
              <a:t>格式</a:t>
            </a:r>
            <a:r>
              <a:rPr lang="en-US" altLang="zh-CN" sz="2200" dirty="0">
                <a:solidFill>
                  <a:srgbClr val="0070C0"/>
                </a:solidFill>
              </a:rPr>
              <a:t>}</a:t>
            </a:r>
            <a:r>
              <a:rPr lang="zh-CN" altLang="en-US" sz="2200" dirty="0">
                <a:solidFill>
                  <a:srgbClr val="0070C0"/>
                </a:solidFill>
              </a:rPr>
              <a:t>参数的字符串</a:t>
            </a:r>
            <a:r>
              <a:rPr lang="en-US" altLang="zh-CN" sz="2200" dirty="0">
                <a:solidFill>
                  <a:srgbClr val="C00000"/>
                </a:solidFill>
              </a:rPr>
              <a:t>.format</a:t>
            </a:r>
            <a:r>
              <a:rPr lang="en-US" altLang="zh-CN" sz="2200" dirty="0">
                <a:solidFill>
                  <a:srgbClr val="0070C0"/>
                </a:solidFill>
              </a:rPr>
              <a:t>(</a:t>
            </a:r>
            <a:r>
              <a:rPr lang="zh-CN" altLang="en-US" sz="2200" dirty="0">
                <a:solidFill>
                  <a:srgbClr val="0070C0"/>
                </a:solidFill>
              </a:rPr>
              <a:t>变量序列</a:t>
            </a:r>
            <a:r>
              <a:rPr lang="en-US" altLang="zh-CN" sz="2200" dirty="0">
                <a:solidFill>
                  <a:srgbClr val="0070C0"/>
                </a:solidFill>
              </a:rPr>
              <a:t>)</a:t>
            </a:r>
            <a:r>
              <a:rPr lang="zh-CN" altLang="en-US" sz="2200" dirty="0"/>
              <a:t>）</a:t>
            </a:r>
            <a:r>
              <a:rPr lang="zh-CN" altLang="en-US" sz="2200" dirty="0">
                <a:solidFill>
                  <a:srgbClr val="C00000"/>
                </a:solidFill>
              </a:rPr>
              <a:t>序号省略时表示从前到后依次对应</a:t>
            </a:r>
            <a:endParaRPr lang="en-US" altLang="zh-CN" sz="2200" b="0" dirty="0">
              <a:solidFill>
                <a:srgbClr val="C00000"/>
              </a:solidFill>
            </a:endParaRPr>
          </a:p>
          <a:p>
            <a:pPr lvl="1"/>
            <a:r>
              <a:rPr lang="zh-CN" altLang="en-US" sz="2200" dirty="0"/>
              <a:t>常见的格式符：</a:t>
            </a:r>
            <a:endParaRPr lang="en-US" altLang="zh-CN" sz="2200" dirty="0"/>
          </a:p>
          <a:p>
            <a:pPr lvl="2"/>
            <a:r>
              <a:rPr lang="zh-CN" altLang="en-US" sz="2000" dirty="0"/>
              <a:t>整型数： </a:t>
            </a:r>
            <a:r>
              <a:rPr lang="en-US" altLang="zh-CN" sz="2000" dirty="0"/>
              <a:t>{:</a:t>
            </a:r>
            <a:r>
              <a:rPr lang="zh-CN" altLang="en-US" sz="2000" dirty="0"/>
              <a:t>宽度</a:t>
            </a:r>
            <a:r>
              <a:rPr lang="en-US" altLang="zh-CN" sz="2000" dirty="0"/>
              <a:t>d},      </a:t>
            </a:r>
            <a:r>
              <a:rPr lang="zh-CN" altLang="en-US" sz="2000" dirty="0"/>
              <a:t>例如：</a:t>
            </a:r>
            <a:r>
              <a:rPr lang="en-US" altLang="zh-CN" sz="2000" dirty="0"/>
              <a:t>{:6d}</a:t>
            </a:r>
          </a:p>
          <a:p>
            <a:pPr lvl="2"/>
            <a:r>
              <a:rPr lang="zh-CN" altLang="en-US" sz="2000" dirty="0"/>
              <a:t>浮点数：</a:t>
            </a:r>
            <a:r>
              <a:rPr lang="en-US" altLang="zh-CN" sz="2000" dirty="0"/>
              <a:t>{:</a:t>
            </a:r>
            <a:r>
              <a:rPr lang="zh-CN" altLang="en-US" sz="2000" dirty="0"/>
              <a:t>宽度</a:t>
            </a:r>
            <a:r>
              <a:rPr lang="en-US" altLang="zh-CN" sz="2000" dirty="0"/>
              <a:t>.</a:t>
            </a:r>
            <a:r>
              <a:rPr lang="zh-CN" altLang="en-US" sz="2000" dirty="0"/>
              <a:t>小数位</a:t>
            </a:r>
            <a:r>
              <a:rPr lang="en-US" altLang="zh-CN" sz="2000" dirty="0"/>
              <a:t>f}</a:t>
            </a:r>
            <a:r>
              <a:rPr lang="zh-CN" altLang="en-US" sz="2000" dirty="0"/>
              <a:t>，  例如：</a:t>
            </a:r>
            <a:r>
              <a:rPr lang="en-US" altLang="zh-CN" sz="2000" dirty="0"/>
              <a:t>{:8.2f}</a:t>
            </a:r>
          </a:p>
          <a:p>
            <a:pPr lvl="2"/>
            <a:r>
              <a:rPr lang="zh-CN" altLang="en-US" sz="2000" dirty="0"/>
              <a:t>字符串：</a:t>
            </a:r>
            <a:r>
              <a:rPr lang="en-US" altLang="zh-CN" sz="2000" dirty="0"/>
              <a:t>{:s}</a:t>
            </a:r>
          </a:p>
          <a:p>
            <a:pPr lvl="2"/>
            <a:r>
              <a:rPr lang="zh-CN" altLang="en-US" sz="2000" dirty="0"/>
              <a:t>二进制形式：</a:t>
            </a:r>
            <a:r>
              <a:rPr lang="en-US" altLang="zh-CN" sz="2000" dirty="0"/>
              <a:t>{:d}——</a:t>
            </a:r>
            <a:r>
              <a:rPr lang="zh-CN" altLang="en-US" sz="2000" dirty="0"/>
              <a:t>仅限整型数据</a:t>
            </a:r>
            <a:endParaRPr lang="en-US" altLang="zh-CN" sz="2000" dirty="0"/>
          </a:p>
          <a:p>
            <a:pPr lvl="1"/>
            <a:r>
              <a:rPr lang="zh-CN" altLang="en-US" sz="2200" b="1" dirty="0">
                <a:solidFill>
                  <a:srgbClr val="C00000"/>
                </a:solidFill>
              </a:rPr>
              <a:t>操作实例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 lvl="2"/>
            <a:r>
              <a:rPr lang="en-US" altLang="zh-CN" sz="2000" b="0" dirty="0">
                <a:solidFill>
                  <a:srgbClr val="C00000"/>
                </a:solidFill>
              </a:rPr>
              <a:t>Print(“The Result is{:6d}!”.format(x))</a:t>
            </a:r>
            <a:endParaRPr lang="en-US" altLang="zh-CN" b="0" dirty="0">
              <a:solidFill>
                <a:srgbClr val="C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B77036C-3C19-95FF-5D18-B8D0392C9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6423" y="2767263"/>
            <a:ext cx="4336039" cy="301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1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的输入输出语句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格式化操作符％   </a:t>
            </a:r>
            <a:r>
              <a:rPr lang="en-US" altLang="zh-CN" b="1" dirty="0">
                <a:solidFill>
                  <a:srgbClr val="0070C0"/>
                </a:solidFill>
              </a:rPr>
              <a:t>'string' % values</a:t>
            </a:r>
          </a:p>
          <a:p>
            <a:pPr lvl="1"/>
            <a:r>
              <a:rPr lang="en-US" altLang="zh-CN" sz="2400" b="1" dirty="0">
                <a:solidFill>
                  <a:srgbClr val="C00000"/>
                </a:solidFill>
              </a:rPr>
              <a:t>Print(</a:t>
            </a:r>
            <a:r>
              <a:rPr lang="zh-CN" altLang="en-US" sz="2400" b="1" dirty="0">
                <a:solidFill>
                  <a:srgbClr val="0070C0"/>
                </a:solidFill>
              </a:rPr>
              <a:t>带有内置格式符的字符串</a:t>
            </a:r>
            <a:r>
              <a:rPr lang="en-US" altLang="zh-CN" sz="2400" b="1" dirty="0">
                <a:solidFill>
                  <a:srgbClr val="C00000"/>
                </a:solidFill>
              </a:rPr>
              <a:t>%</a:t>
            </a:r>
            <a:r>
              <a:rPr lang="en-US" altLang="zh-CN" sz="2400" b="1" dirty="0">
                <a:solidFill>
                  <a:srgbClr val="0070C0"/>
                </a:solidFill>
              </a:rPr>
              <a:t>(</a:t>
            </a:r>
            <a:r>
              <a:rPr lang="zh-CN" altLang="en-US" sz="2400" b="1" dirty="0">
                <a:solidFill>
                  <a:srgbClr val="0070C0"/>
                </a:solidFill>
              </a:rPr>
              <a:t>变量列表</a:t>
            </a:r>
            <a:r>
              <a:rPr lang="en-US" altLang="zh-CN" sz="2400" b="1" dirty="0">
                <a:solidFill>
                  <a:srgbClr val="0070C0"/>
                </a:solidFill>
              </a:rPr>
              <a:t>)</a:t>
            </a:r>
            <a:r>
              <a:rPr lang="en-US" altLang="zh-CN" sz="2400" b="1" dirty="0">
                <a:solidFill>
                  <a:srgbClr val="C00000"/>
                </a:solidFill>
              </a:rPr>
              <a:t>)</a:t>
            </a:r>
          </a:p>
          <a:p>
            <a:pPr lvl="1"/>
            <a:r>
              <a:rPr lang="zh-CN" altLang="en-US" sz="2400" dirty="0"/>
              <a:t>常见的格式符：</a:t>
            </a:r>
            <a:endParaRPr lang="en-US" altLang="zh-CN" sz="2400" dirty="0"/>
          </a:p>
          <a:p>
            <a:pPr lvl="2"/>
            <a:r>
              <a:rPr lang="zh-CN" altLang="en-US" sz="2200" b="0" dirty="0"/>
              <a:t>整型数： </a:t>
            </a:r>
            <a:r>
              <a:rPr lang="en-US" altLang="zh-CN" sz="2200" b="0" dirty="0"/>
              <a:t>%</a:t>
            </a:r>
            <a:r>
              <a:rPr lang="zh-CN" altLang="en-US" sz="2200" b="0" dirty="0"/>
              <a:t>宽度</a:t>
            </a:r>
            <a:r>
              <a:rPr lang="en-US" altLang="zh-CN" sz="2200" b="0" dirty="0"/>
              <a:t>d,      </a:t>
            </a:r>
            <a:r>
              <a:rPr lang="zh-CN" altLang="en-US" sz="2200" b="0" dirty="0"/>
              <a:t>例如：</a:t>
            </a:r>
            <a:r>
              <a:rPr lang="en-US" altLang="zh-CN" sz="2200" b="0" dirty="0"/>
              <a:t>%6d, %06d</a:t>
            </a:r>
            <a:r>
              <a:rPr lang="zh-CN" altLang="en-US" sz="2200" b="0" dirty="0"/>
              <a:t>表示输出</a:t>
            </a:r>
            <a:r>
              <a:rPr lang="en-US" altLang="zh-CN" sz="2200" b="0" dirty="0"/>
              <a:t>6</a:t>
            </a:r>
            <a:r>
              <a:rPr lang="zh-CN" altLang="en-US" sz="2200" b="0" dirty="0"/>
              <a:t>位不足用</a:t>
            </a:r>
            <a:r>
              <a:rPr lang="en-US" altLang="zh-CN" sz="2200" b="0" dirty="0"/>
              <a:t>0</a:t>
            </a:r>
            <a:r>
              <a:rPr lang="zh-CN" altLang="en-US" sz="2200" dirty="0"/>
              <a:t>补全</a:t>
            </a:r>
            <a:endParaRPr lang="en-US" altLang="zh-CN" sz="2200" b="0" dirty="0"/>
          </a:p>
          <a:p>
            <a:pPr lvl="2"/>
            <a:r>
              <a:rPr lang="zh-CN" altLang="en-US" sz="2200" dirty="0"/>
              <a:t>浮点数：</a:t>
            </a:r>
            <a:r>
              <a:rPr lang="en-US" altLang="zh-CN" sz="2200" dirty="0"/>
              <a:t>%</a:t>
            </a:r>
            <a:r>
              <a:rPr lang="zh-CN" altLang="en-US" sz="2200" dirty="0"/>
              <a:t>宽度</a:t>
            </a:r>
            <a:r>
              <a:rPr lang="en-US" altLang="zh-CN" sz="2200" dirty="0"/>
              <a:t>.</a:t>
            </a:r>
            <a:r>
              <a:rPr lang="zh-CN" altLang="en-US" sz="2200" dirty="0"/>
              <a:t>小数位</a:t>
            </a:r>
            <a:r>
              <a:rPr lang="en-US" altLang="zh-CN" sz="2200" dirty="0"/>
              <a:t>f</a:t>
            </a:r>
            <a:r>
              <a:rPr lang="zh-CN" altLang="en-US" sz="2200" dirty="0"/>
              <a:t>，  例如：</a:t>
            </a:r>
            <a:r>
              <a:rPr lang="en-US" altLang="zh-CN" sz="2200" dirty="0"/>
              <a:t>%08.2f</a:t>
            </a:r>
          </a:p>
          <a:p>
            <a:pPr lvl="2"/>
            <a:r>
              <a:rPr lang="zh-CN" altLang="en-US" sz="2200" b="0" dirty="0"/>
              <a:t>字符串：</a:t>
            </a:r>
            <a:r>
              <a:rPr lang="en-US" altLang="zh-CN" sz="2200" b="0" dirty="0"/>
              <a:t>%s</a:t>
            </a:r>
          </a:p>
          <a:p>
            <a:pPr lvl="2"/>
            <a:r>
              <a:rPr lang="zh-CN" altLang="en-US" sz="2200" dirty="0"/>
              <a:t>百分号：％％</a:t>
            </a:r>
            <a:endParaRPr lang="en-US" altLang="zh-CN" sz="2200" b="0" dirty="0"/>
          </a:p>
          <a:p>
            <a:pPr lvl="1"/>
            <a:r>
              <a:rPr lang="zh-CN" altLang="en-US" sz="2400" b="1" dirty="0">
                <a:solidFill>
                  <a:srgbClr val="C00000"/>
                </a:solidFill>
              </a:rPr>
              <a:t>操作实例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lvl="2"/>
            <a:r>
              <a:rPr lang="en-US" altLang="zh-CN" sz="2200" b="0" dirty="0">
                <a:solidFill>
                  <a:srgbClr val="C00000"/>
                </a:solidFill>
              </a:rPr>
              <a:t>Print(“x=%4d,  y=%8.2f,  z=%s!”%(</a:t>
            </a:r>
            <a:r>
              <a:rPr lang="en-US" altLang="zh-CN" sz="2200" b="0" dirty="0" err="1">
                <a:solidFill>
                  <a:srgbClr val="C00000"/>
                </a:solidFill>
              </a:rPr>
              <a:t>x,y,z</a:t>
            </a:r>
            <a:r>
              <a:rPr lang="en-US" altLang="zh-CN" sz="2200" b="0" dirty="0">
                <a:solidFill>
                  <a:srgbClr val="C00000"/>
                </a:solidFill>
              </a:rPr>
              <a:t>))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734AEC-B9F8-F8AF-05CA-BAB797BD10B2}"/>
              </a:ext>
            </a:extLst>
          </p:cNvPr>
          <p:cNvSpPr txBox="1"/>
          <p:nvPr/>
        </p:nvSpPr>
        <p:spPr>
          <a:xfrm>
            <a:off x="3889353" y="6488668"/>
            <a:ext cx="7825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https://docs.python.org/zh-cn/3/tutorial/inputoutput.html</a:t>
            </a:r>
          </a:p>
        </p:txBody>
      </p:sp>
    </p:spTree>
    <p:extLst>
      <p:ext uri="{BB962C8B-B14F-4D97-AF65-F5344CB8AC3E}">
        <p14:creationId xmlns:p14="http://schemas.microsoft.com/office/powerpoint/2010/main" val="3104180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00A4320B-BF11-A607-4D23-0514122E9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B0ADC2-AC97-EFA5-0BB7-E9AAF2CEB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1" y="1130300"/>
            <a:ext cx="10858500" cy="5003800"/>
          </a:xfrm>
        </p:spPr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手动格式化字符串</a:t>
            </a:r>
          </a:p>
          <a:p>
            <a:pPr lvl="1"/>
            <a:r>
              <a:rPr lang="zh-CN" altLang="zh-CN" dirty="0"/>
              <a:t>字符串对象的 </a:t>
            </a:r>
            <a:r>
              <a:rPr lang="zh-CN" altLang="zh-CN" dirty="0">
                <a:hlinkClick r:id="rId2" tooltip="str.rjust"/>
              </a:rPr>
              <a:t>str.rjust()</a:t>
            </a:r>
            <a:r>
              <a:rPr lang="zh-CN" altLang="zh-CN" dirty="0"/>
              <a:t> 方法通过在左侧填充空格，对给定宽度字段中的字符串进行右对齐。同类方法还有 </a:t>
            </a:r>
            <a:r>
              <a:rPr lang="zh-CN" altLang="zh-CN" dirty="0">
                <a:hlinkClick r:id="rId3" tooltip="str.ljust"/>
              </a:rPr>
              <a:t>str.ljust()</a:t>
            </a:r>
            <a:r>
              <a:rPr lang="zh-CN" altLang="zh-CN" dirty="0"/>
              <a:t> 和 </a:t>
            </a:r>
            <a:r>
              <a:rPr lang="zh-CN" altLang="zh-CN" dirty="0">
                <a:hlinkClick r:id="rId4" tooltip="str.center"/>
              </a:rPr>
              <a:t>str.center()</a:t>
            </a:r>
            <a:r>
              <a:rPr lang="zh-CN" altLang="zh-CN" dirty="0"/>
              <a:t> 。这些方法不写入任何内容，只返回一个新字符串，如果输入的字符串太长，它们不会截断字符串，而是原样返回；虽然这种方式会弄乱列布局，但也比另一种方法好，后者在显示值时可能不准确（如果真的想截断字符串，可以使用 x.ljust(n)[:n] 这样的切片操作 。）</a:t>
            </a:r>
          </a:p>
          <a:p>
            <a:pPr lvl="1"/>
            <a:r>
              <a:rPr lang="zh-CN" altLang="zh-CN" dirty="0"/>
              <a:t>另一种方法是 </a:t>
            </a:r>
            <a:r>
              <a:rPr lang="zh-CN" altLang="zh-CN" dirty="0">
                <a:hlinkClick r:id="rId5" tooltip="str.zfill"/>
              </a:rPr>
              <a:t>str.zfill()</a:t>
            </a:r>
            <a:r>
              <a:rPr lang="zh-CN" altLang="zh-CN" dirty="0"/>
              <a:t> ，该方法在数字字符串左边填充零，且能识别正负号：</a:t>
            </a:r>
          </a:p>
          <a:p>
            <a:pPr lvl="1"/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B3B72FB-7D87-7E2C-AE9C-BE95AB08FE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751739"/>
            <a:ext cx="5733394" cy="310626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22D1404-FA77-6F98-A1A8-B949BFCC69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6099" y="5171097"/>
            <a:ext cx="4207095" cy="168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044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A3EC1-3F2B-7283-8A9A-2A980FD5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的输入输出语句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8CBB21-C6D8-0C5E-5997-184ACC934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18" y="985257"/>
            <a:ext cx="7746670" cy="5727700"/>
          </a:xfrm>
        </p:spPr>
        <p:txBody>
          <a:bodyPr>
            <a:normAutofit lnSpcReduction="10000"/>
          </a:bodyPr>
          <a:lstStyle/>
          <a:p>
            <a:r>
              <a:rPr lang="zh-CN" altLang="en-US" b="1" dirty="0"/>
              <a:t>输出结果的换行</a:t>
            </a:r>
            <a:endParaRPr lang="en-US" altLang="zh-CN" b="1" dirty="0"/>
          </a:p>
          <a:p>
            <a:pPr lvl="1"/>
            <a:r>
              <a:rPr lang="en-US" altLang="zh-CN" dirty="0"/>
              <a:t>Print</a:t>
            </a:r>
            <a:r>
              <a:rPr lang="zh-CN" altLang="en-US" dirty="0"/>
              <a:t>语句默认在输出信息之后自动换行</a:t>
            </a:r>
            <a:endParaRPr lang="en-US" altLang="zh-CN" dirty="0"/>
          </a:p>
          <a:p>
            <a:pPr lvl="1"/>
            <a:r>
              <a:rPr lang="zh-CN" altLang="en-US" dirty="0"/>
              <a:t>如希望暂不换行，可以在</a:t>
            </a:r>
            <a:r>
              <a:rPr lang="en-US" altLang="zh-CN" dirty="0"/>
              <a:t>print</a:t>
            </a:r>
            <a:r>
              <a:rPr lang="zh-CN" altLang="en-US" dirty="0"/>
              <a:t>语句的末尾增加一个标记“</a:t>
            </a:r>
            <a:r>
              <a:rPr lang="en-US" altLang="zh-CN" dirty="0"/>
              <a:t>end=“”</a:t>
            </a:r>
            <a:r>
              <a:rPr lang="zh-CN" altLang="en-US" dirty="0"/>
              <a:t>”，表示在此信息输出之后，暂不输出换行语句，而是输出一个空字符</a:t>
            </a:r>
            <a:endParaRPr lang="en-US" altLang="zh-CN" dirty="0"/>
          </a:p>
          <a:p>
            <a:pPr lvl="1"/>
            <a:r>
              <a:rPr lang="en-US" altLang="zh-CN" dirty="0"/>
              <a:t>Print(“</a:t>
            </a:r>
            <a:r>
              <a:rPr lang="zh-CN" altLang="en-US" dirty="0"/>
              <a:t>热爱祖国的教育事业</a:t>
            </a:r>
            <a:r>
              <a:rPr lang="en-US" altLang="zh-CN" dirty="0"/>
              <a:t>!”, end = “”)</a:t>
            </a:r>
          </a:p>
          <a:p>
            <a:pPr lvl="1"/>
            <a:r>
              <a:rPr lang="zh-CN" altLang="en-US" dirty="0"/>
              <a:t>直接写一个没有参数的</a:t>
            </a:r>
            <a:r>
              <a:rPr lang="en-US" altLang="zh-CN" dirty="0"/>
              <a:t>print</a:t>
            </a:r>
            <a:r>
              <a:rPr lang="zh-CN" altLang="en-US" dirty="0"/>
              <a:t>语句，就可实现输出内容立即换行</a:t>
            </a:r>
            <a:endParaRPr lang="en-US" altLang="zh-CN" dirty="0"/>
          </a:p>
          <a:p>
            <a:pPr lvl="1"/>
            <a:r>
              <a:rPr lang="en-US" altLang="zh-CN" dirty="0"/>
              <a:t>Print()</a:t>
            </a:r>
          </a:p>
          <a:p>
            <a:pPr lvl="1"/>
            <a:r>
              <a:rPr lang="en-US" altLang="zh-CN" dirty="0"/>
              <a:t>Print(</a:t>
            </a:r>
            <a:r>
              <a:rPr lang="zh-CN" altLang="en-US" dirty="0"/>
              <a:t>字符串常量或变量</a:t>
            </a:r>
            <a:r>
              <a:rPr lang="en-US" altLang="zh-CN" dirty="0"/>
              <a:t>, end=“\n”)   #</a:t>
            </a:r>
            <a:r>
              <a:rPr lang="zh-CN" altLang="en-US" dirty="0"/>
              <a:t>输出信息后换行，这里的</a:t>
            </a:r>
            <a:r>
              <a:rPr lang="en-US" altLang="zh-CN" dirty="0"/>
              <a:t>”\n”</a:t>
            </a:r>
            <a:r>
              <a:rPr lang="zh-CN" altLang="en-US" dirty="0"/>
              <a:t>是转义字符，代表换行符</a:t>
            </a:r>
            <a:endParaRPr lang="en-US" altLang="zh-CN" dirty="0"/>
          </a:p>
          <a:p>
            <a:pPr lvl="1"/>
            <a:r>
              <a:rPr lang="en-US" altLang="zh-CN" dirty="0"/>
              <a:t>”\”</a:t>
            </a:r>
            <a:r>
              <a:rPr lang="zh-CN" altLang="en-US" dirty="0"/>
              <a:t>是转义引导符，代表后边的信息是转义字符</a:t>
            </a:r>
            <a:endParaRPr lang="en-US" altLang="zh-CN" dirty="0"/>
          </a:p>
          <a:p>
            <a:pPr lvl="2"/>
            <a:r>
              <a:rPr lang="en-US" altLang="zh-CN" b="0" i="0" dirty="0">
                <a:solidFill>
                  <a:srgbClr val="C00000"/>
                </a:solidFill>
                <a:effectLst/>
                <a:latin typeface="Source Code Pro" panose="020B0509030403020204" pitchFamily="49" charset="0"/>
              </a:rPr>
              <a:t>\n: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Source Code Pro" panose="020B0509030403020204" pitchFamily="49" charset="0"/>
              </a:rPr>
              <a:t>换行 </a:t>
            </a:r>
            <a:endParaRPr lang="en-US" altLang="zh-CN" b="0" i="0" dirty="0">
              <a:solidFill>
                <a:srgbClr val="C00000"/>
              </a:solidFill>
              <a:effectLst/>
              <a:latin typeface="Source Code Pro" panose="020B0509030403020204" pitchFamily="49" charset="0"/>
            </a:endParaRPr>
          </a:p>
          <a:p>
            <a:pPr lvl="2"/>
            <a:r>
              <a:rPr lang="en-US" altLang="zh-CN" b="0" i="0" dirty="0">
                <a:solidFill>
                  <a:srgbClr val="C00000"/>
                </a:solidFill>
                <a:effectLst/>
                <a:latin typeface="Source Code Pro" panose="020B0509030403020204" pitchFamily="49" charset="0"/>
              </a:rPr>
              <a:t>\t: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Source Code Pro" panose="020B0509030403020204" pitchFamily="49" charset="0"/>
              </a:rPr>
              <a:t>制表符，一个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Source Code Pro" panose="020B0509030403020204" pitchFamily="49" charset="0"/>
              </a:rPr>
              <a:t>tab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Source Code Pro" panose="020B0509030403020204" pitchFamily="49" charset="0"/>
              </a:rPr>
              <a:t>键（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Source Code Pro" panose="020B0509030403020204" pitchFamily="49" charset="0"/>
              </a:rPr>
              <a:t>4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Source Code Pro" panose="020B0509030403020204" pitchFamily="49" charset="0"/>
              </a:rPr>
              <a:t>个空格）的距离</a:t>
            </a:r>
            <a:endParaRPr lang="en-US" altLang="zh-CN" b="0" i="0" dirty="0">
              <a:solidFill>
                <a:srgbClr val="C00000"/>
              </a:solidFill>
              <a:effectLst/>
              <a:latin typeface="Source Code Pro" panose="020B0509030403020204" pitchFamily="49" charset="0"/>
            </a:endParaRPr>
          </a:p>
          <a:p>
            <a:pPr lvl="2"/>
            <a:r>
              <a:rPr lang="en-US" altLang="zh-CN" dirty="0">
                <a:solidFill>
                  <a:srgbClr val="C00000"/>
                </a:solidFill>
                <a:latin typeface="Source Code Pro" panose="020B0509030403020204" pitchFamily="49" charset="0"/>
              </a:rPr>
              <a:t>\\</a:t>
            </a:r>
          </a:p>
          <a:p>
            <a:pPr lvl="1"/>
            <a:r>
              <a:rPr lang="zh-CN" altLang="en-US" dirty="0"/>
              <a:t>结束符 </a:t>
            </a:r>
            <a:r>
              <a:rPr lang="en-US" altLang="zh-CN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print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US" altLang="zh-CN" b="0" i="0" dirty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'</a:t>
            </a:r>
            <a:r>
              <a:rPr lang="en-US" altLang="zh-CN" b="0" i="0" dirty="0" err="1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hello'</a:t>
            </a:r>
            <a:r>
              <a:rPr lang="en-US" altLang="zh-CN" b="0" i="0" dirty="0" err="1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,</a:t>
            </a:r>
            <a:r>
              <a:rPr lang="en-US" altLang="zh-CN" b="0" i="0" dirty="0" err="1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end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=</a:t>
            </a:r>
            <a:r>
              <a:rPr lang="en-US" altLang="zh-CN" b="0" i="0" dirty="0">
                <a:solidFill>
                  <a:srgbClr val="99CC99"/>
                </a:solidFill>
                <a:effectLst/>
                <a:latin typeface="Source Code Pro" panose="020B0509030403020204" pitchFamily="49" charset="0"/>
              </a:rPr>
              <a:t>"\n"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)</a:t>
            </a:r>
            <a:r>
              <a:rPr lang="zh-CN" altLang="en-US" b="0" i="0" dirty="0">
                <a:solidFill>
                  <a:srgbClr val="EE9900"/>
                </a:solidFill>
                <a:effectLst/>
                <a:latin typeface="Source Code Pro" panose="020B0509030403020204" pitchFamily="49" charset="0"/>
              </a:rPr>
              <a:t>，也可以自己更改。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C411C7-20B6-0F83-6477-10677992BC5B}"/>
              </a:ext>
            </a:extLst>
          </p:cNvPr>
          <p:cNvSpPr txBox="1"/>
          <p:nvPr/>
        </p:nvSpPr>
        <p:spPr>
          <a:xfrm>
            <a:off x="8277102" y="4368933"/>
            <a:ext cx="18169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思源黑体 CN Normal"/>
                <a:cs typeface="Arial" panose="020B0604020202020204" pitchFamily="34" charset="0"/>
              </a:rPr>
              <a:t>hello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思源黑体 CN Normal"/>
                <a:cs typeface="Arial" panose="020B0604020202020204" pitchFamily="34" charset="0"/>
              </a:rPr>
              <a:t>world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思源黑体 CN Normal"/>
                <a:cs typeface="Arial" panose="020B0604020202020204" pitchFamily="34" charset="0"/>
              </a:rPr>
              <a:t>hello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思源黑体 CN Normal"/>
                <a:cs typeface="Arial" panose="020B0604020202020204" pitchFamily="34" charset="0"/>
              </a:rPr>
              <a:t>world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思源黑体 CN Normal"/>
                <a:cs typeface="Arial" panose="020B0604020202020204" pitchFamily="34" charset="0"/>
              </a:rPr>
              <a:t>hello	world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思源黑体 CN Normal"/>
                <a:cs typeface="Arial" panose="020B0604020202020204" pitchFamily="34" charset="0"/>
              </a:rPr>
              <a:t>hello...world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562D4D-E7A6-B44F-65E7-9AD265D05932}"/>
              </a:ext>
            </a:extLst>
          </p:cNvPr>
          <p:cNvSpPr txBox="1"/>
          <p:nvPr/>
        </p:nvSpPr>
        <p:spPr>
          <a:xfrm>
            <a:off x="8158348" y="883108"/>
            <a:ext cx="3871356" cy="338554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验证了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函数自带默认的结束符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\n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'hello'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'world'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'hello'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end=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"\n"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'world'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可以根据自己需求更改结束符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'hello'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end=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'\t'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'world'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'hello'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, end=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"..."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'world'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8065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  <p:bldP spid="7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的数据、常量与变量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1" dirty="0"/>
              <a:t>Python</a:t>
            </a:r>
            <a:r>
              <a:rPr lang="zh-CN" altLang="en-US" b="1" dirty="0"/>
              <a:t>中输入语句</a:t>
            </a:r>
            <a:endParaRPr lang="en-US" altLang="zh-CN" b="1" dirty="0"/>
          </a:p>
          <a:p>
            <a:pPr lvl="1"/>
            <a:r>
              <a:rPr lang="zh-CN" altLang="en-US" dirty="0"/>
              <a:t>输入语句的格式</a:t>
            </a:r>
            <a:endParaRPr lang="en-US" altLang="zh-CN" b="0" dirty="0"/>
          </a:p>
          <a:p>
            <a:pPr lvl="2"/>
            <a:r>
              <a:rPr lang="zh-CN" altLang="en-US" sz="2000" b="0" dirty="0">
                <a:solidFill>
                  <a:srgbClr val="C00000"/>
                </a:solidFill>
              </a:rPr>
              <a:t>变量名</a:t>
            </a:r>
            <a:r>
              <a:rPr lang="en-US" altLang="zh-CN" sz="2000" b="0" dirty="0">
                <a:solidFill>
                  <a:srgbClr val="C00000"/>
                </a:solidFill>
              </a:rPr>
              <a:t>=input(</a:t>
            </a:r>
            <a:r>
              <a:rPr lang="zh-CN" altLang="en-US" sz="2000" b="0" dirty="0">
                <a:solidFill>
                  <a:srgbClr val="C00000"/>
                </a:solidFill>
              </a:rPr>
              <a:t>提示语句</a:t>
            </a:r>
            <a:r>
              <a:rPr lang="en-US" altLang="zh-CN" sz="2000" b="0" dirty="0">
                <a:solidFill>
                  <a:srgbClr val="C00000"/>
                </a:solidFill>
              </a:rPr>
              <a:t>)</a:t>
            </a:r>
          </a:p>
          <a:p>
            <a:pPr lvl="1"/>
            <a:r>
              <a:rPr lang="zh-CN" altLang="en-US" dirty="0"/>
              <a:t>说明</a:t>
            </a:r>
            <a:endParaRPr lang="en-US" altLang="zh-CN" b="0" dirty="0"/>
          </a:p>
          <a:p>
            <a:pPr lvl="2"/>
            <a:r>
              <a:rPr lang="zh-CN" altLang="en-US" sz="2000" dirty="0"/>
              <a:t>输入语句非常简单，仅此一个</a:t>
            </a:r>
            <a:endParaRPr lang="en-US" altLang="zh-CN" sz="2000" dirty="0"/>
          </a:p>
          <a:p>
            <a:pPr lvl="2"/>
            <a:r>
              <a:rPr lang="zh-CN" altLang="en-US" sz="2000" dirty="0">
                <a:solidFill>
                  <a:srgbClr val="C00000"/>
                </a:solidFill>
              </a:rPr>
              <a:t>获得的结果一定为字符串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常见处理方式</a:t>
            </a:r>
            <a:endParaRPr lang="en-US" altLang="zh-CN" dirty="0"/>
          </a:p>
          <a:p>
            <a:pPr lvl="2"/>
            <a:r>
              <a:rPr lang="zh-CN" altLang="en-US" sz="2000" b="1" dirty="0"/>
              <a:t>字符串的截取</a:t>
            </a:r>
            <a:endParaRPr lang="en-US" altLang="zh-CN" sz="2000" b="1" dirty="0"/>
          </a:p>
          <a:p>
            <a:pPr lvl="3"/>
            <a:r>
              <a:rPr lang="zh-CN" altLang="en-US" sz="1800" dirty="0"/>
              <a:t>新变量名</a:t>
            </a:r>
            <a:r>
              <a:rPr lang="en-US" altLang="zh-CN" sz="1800" dirty="0"/>
              <a:t>=</a:t>
            </a:r>
            <a:r>
              <a:rPr lang="zh-CN" altLang="en-US" sz="1800" dirty="0"/>
              <a:t>字符串变量</a:t>
            </a:r>
            <a:r>
              <a:rPr lang="en-US" altLang="zh-CN" sz="1800" dirty="0"/>
              <a:t>[</a:t>
            </a:r>
            <a:r>
              <a:rPr lang="zh-CN" altLang="en-US" sz="1800" dirty="0"/>
              <a:t>起点</a:t>
            </a:r>
            <a:r>
              <a:rPr lang="en-US" altLang="zh-CN" sz="1800" dirty="0"/>
              <a:t>:</a:t>
            </a:r>
            <a:r>
              <a:rPr lang="zh-CN" altLang="en-US" sz="1800" dirty="0"/>
              <a:t>终点</a:t>
            </a:r>
            <a:r>
              <a:rPr lang="en-US" altLang="zh-CN" sz="1800" dirty="0"/>
              <a:t>] </a:t>
            </a:r>
            <a:r>
              <a:rPr lang="zh-CN" altLang="en-US" sz="1800" dirty="0"/>
              <a:t>字符串下标从</a:t>
            </a:r>
            <a:r>
              <a:rPr lang="en-US" altLang="zh-CN" sz="1800" dirty="0"/>
              <a:t>0</a:t>
            </a:r>
            <a:r>
              <a:rPr lang="zh-CN" altLang="en-US" sz="1800" dirty="0"/>
              <a:t>开始排</a:t>
            </a:r>
            <a:endParaRPr lang="en-US" altLang="zh-CN" sz="1800" dirty="0"/>
          </a:p>
          <a:p>
            <a:pPr lvl="3"/>
            <a:r>
              <a:rPr lang="zh-CN" altLang="en-US" sz="1800" dirty="0"/>
              <a:t>例如：</a:t>
            </a:r>
            <a:r>
              <a:rPr lang="en-US" altLang="zh-CN" sz="1800" dirty="0" err="1"/>
              <a:t>yy</a:t>
            </a:r>
            <a:r>
              <a:rPr lang="en-US" altLang="zh-CN" sz="1800" dirty="0"/>
              <a:t>=xx[2:8],    </a:t>
            </a:r>
            <a:r>
              <a:rPr lang="zh-CN" altLang="en-US" sz="1800" dirty="0"/>
              <a:t>或  </a:t>
            </a:r>
            <a:r>
              <a:rPr lang="en-US" altLang="zh-CN" sz="1800" dirty="0" err="1"/>
              <a:t>zz</a:t>
            </a:r>
            <a:r>
              <a:rPr lang="en-US" altLang="zh-CN" sz="1800" dirty="0"/>
              <a:t>=xx[:4] </a:t>
            </a:r>
            <a:r>
              <a:rPr lang="zh-CN" altLang="en-US" sz="1800" dirty="0">
                <a:solidFill>
                  <a:srgbClr val="FF0000"/>
                </a:solidFill>
              </a:rPr>
              <a:t>获得</a:t>
            </a:r>
            <a:r>
              <a:rPr lang="en-US" altLang="zh-CN" sz="1800" dirty="0">
                <a:solidFill>
                  <a:srgbClr val="FF0000"/>
                </a:solidFill>
              </a:rPr>
              <a:t>0,1,2,3 </a:t>
            </a:r>
            <a:r>
              <a:rPr lang="zh-CN" altLang="en-US" sz="1800" dirty="0">
                <a:solidFill>
                  <a:srgbClr val="FF0000"/>
                </a:solidFill>
              </a:rPr>
              <a:t>四个字符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lvl="3"/>
            <a:r>
              <a:rPr lang="en-US" altLang="zh-CN" sz="1800" dirty="0" err="1"/>
              <a:t>zz</a:t>
            </a:r>
            <a:r>
              <a:rPr lang="en-US" altLang="zh-CN" sz="1800" dirty="0"/>
              <a:t>=xx[5:-1] -1</a:t>
            </a:r>
            <a:r>
              <a:rPr lang="zh-CN" altLang="en-US" sz="1800" dirty="0"/>
              <a:t>表示从最右边开始往左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lvl="2"/>
            <a:r>
              <a:rPr lang="zh-CN" altLang="en-US" sz="2000" b="1" dirty="0"/>
              <a:t>类型转换</a:t>
            </a:r>
            <a:endParaRPr lang="en-US" altLang="zh-CN" sz="2000" b="1" dirty="0"/>
          </a:p>
          <a:p>
            <a:pPr lvl="3"/>
            <a:r>
              <a:rPr lang="en-US" altLang="zh-CN" sz="1800" dirty="0"/>
              <a:t>int(</a:t>
            </a:r>
            <a:r>
              <a:rPr lang="zh-CN" altLang="en-US" sz="1800" dirty="0"/>
              <a:t>字符串</a:t>
            </a:r>
            <a:r>
              <a:rPr lang="en-US" altLang="zh-CN" sz="1800" dirty="0"/>
              <a:t>)          float(</a:t>
            </a:r>
            <a:r>
              <a:rPr lang="zh-CN" altLang="en-US" sz="1800" dirty="0"/>
              <a:t>字符串</a:t>
            </a:r>
            <a:r>
              <a:rPr lang="en-US" altLang="zh-CN" sz="1800" dirty="0"/>
              <a:t>)       eval(</a:t>
            </a:r>
            <a:r>
              <a:rPr lang="zh-CN" altLang="en-US" sz="1800" dirty="0"/>
              <a:t>字符串</a:t>
            </a:r>
            <a:r>
              <a:rPr lang="en-US" altLang="zh-CN" sz="1800" dirty="0"/>
              <a:t>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C5712B-65AF-1D19-BD43-7E584C4EE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478" y="3838585"/>
            <a:ext cx="2924423" cy="229551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1CCF79A-CD10-3548-8A9E-06F0999A85A6}"/>
              </a:ext>
            </a:extLst>
          </p:cNvPr>
          <p:cNvSpPr txBox="1"/>
          <p:nvPr/>
        </p:nvSpPr>
        <p:spPr>
          <a:xfrm>
            <a:off x="6710877" y="1216729"/>
            <a:ext cx="5366987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input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"Please input a Data:"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您输入了一个整数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: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{:6d}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format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yy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410281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/>
              <a:t>第</a:t>
            </a:r>
            <a:r>
              <a:rPr lang="en-US" altLang="zh-CN" sz="4800" dirty="0"/>
              <a:t>3</a:t>
            </a:r>
            <a:r>
              <a:rPr lang="zh-CN" altLang="en-US" sz="4800" dirty="0"/>
              <a:t>讲 表达式与分支语句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240D371-E4B0-F974-75DB-A378C1A72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858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1" y="1130299"/>
            <a:ext cx="10858500" cy="573809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dirty="0"/>
              <a:t>1. Python</a:t>
            </a:r>
            <a:r>
              <a:rPr lang="zh-CN" altLang="en-US" dirty="0"/>
              <a:t>的运算符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赋值运算符</a:t>
            </a:r>
            <a:endParaRPr lang="en-US" altLang="zh-CN" b="1" dirty="0"/>
          </a:p>
          <a:p>
            <a:pPr lvl="2">
              <a:lnSpc>
                <a:spcPct val="120000"/>
              </a:lnSpc>
            </a:pPr>
            <a:r>
              <a:rPr lang="en-US" altLang="zh-CN" b="1" dirty="0"/>
              <a:t>= </a:t>
            </a:r>
            <a:r>
              <a:rPr lang="zh-CN" altLang="en-US" b="1" dirty="0"/>
              <a:t>把</a:t>
            </a:r>
            <a:r>
              <a:rPr lang="en-US" altLang="zh-CN" b="1" dirty="0"/>
              <a:t>”=”</a:t>
            </a:r>
            <a:r>
              <a:rPr lang="zh-CN" altLang="en-US" b="1" dirty="0"/>
              <a:t>右侧的值（常量、变量或表达式）赋予左侧的变量</a:t>
            </a:r>
            <a:endParaRPr lang="en-US" altLang="zh-CN" b="1" dirty="0"/>
          </a:p>
          <a:p>
            <a:pPr lvl="2">
              <a:lnSpc>
                <a:spcPct val="120000"/>
              </a:lnSpc>
            </a:pPr>
            <a:r>
              <a:rPr lang="zh-CN" altLang="en-US" b="1" dirty="0"/>
              <a:t>简单赋值运算</a:t>
            </a:r>
            <a:endParaRPr lang="en-US" altLang="zh-CN" b="1" dirty="0"/>
          </a:p>
          <a:p>
            <a:pPr lvl="2">
              <a:lnSpc>
                <a:spcPct val="120000"/>
              </a:lnSpc>
            </a:pPr>
            <a:r>
              <a:rPr lang="zh-CN" altLang="en-US" b="1" dirty="0"/>
              <a:t>复杂赋值运算 </a:t>
            </a:r>
            <a:r>
              <a:rPr lang="en-US" altLang="zh-CN" b="1" dirty="0"/>
              <a:t> </a:t>
            </a:r>
            <a:r>
              <a:rPr lang="zh-CN" altLang="en-US" b="1" dirty="0"/>
              <a:t>连续赋值（从右往左依次执行） </a:t>
            </a:r>
            <a:r>
              <a:rPr lang="en-US" altLang="zh-CN" b="1" dirty="0"/>
              <a:t>x=y=z=m=27  </a:t>
            </a:r>
            <a:r>
              <a:rPr lang="zh-CN" altLang="en-US" b="1" dirty="0"/>
              <a:t>依次赋值 </a:t>
            </a:r>
            <a:r>
              <a:rPr lang="en-US" altLang="zh-CN" b="1" dirty="0" err="1"/>
              <a:t>x,y,z</a:t>
            </a:r>
            <a:r>
              <a:rPr lang="en-US" altLang="zh-CN" b="1" dirty="0"/>
              <a:t> =2,3,4      </a:t>
            </a:r>
          </a:p>
          <a:p>
            <a:pPr lvl="1">
              <a:lnSpc>
                <a:spcPct val="120000"/>
              </a:lnSpc>
            </a:pPr>
            <a:r>
              <a:rPr lang="zh-CN" altLang="en-US" b="1" dirty="0"/>
              <a:t>算术运算符</a:t>
            </a:r>
          </a:p>
          <a:p>
            <a:pPr lvl="2">
              <a:lnSpc>
                <a:spcPct val="120000"/>
              </a:lnSpc>
            </a:pPr>
            <a:r>
              <a:rPr lang="en-US" altLang="zh-CN" b="1" dirty="0"/>
              <a:t>(1) </a:t>
            </a:r>
            <a:r>
              <a:rPr lang="zh-CN" altLang="en-US" b="1" dirty="0"/>
              <a:t>基本运算符：</a:t>
            </a:r>
          </a:p>
          <a:p>
            <a:pPr lvl="3">
              <a:lnSpc>
                <a:spcPct val="120000"/>
              </a:lnSpc>
            </a:pPr>
            <a:r>
              <a:rPr lang="zh-CN" altLang="en-US" sz="1800" dirty="0"/>
              <a:t>加：</a:t>
            </a:r>
            <a:r>
              <a:rPr lang="en-US" altLang="zh-CN" sz="1800" dirty="0"/>
              <a:t>+</a:t>
            </a:r>
            <a:r>
              <a:rPr lang="zh-CN" altLang="en-US" sz="1800" dirty="0"/>
              <a:t>、 减 </a:t>
            </a:r>
            <a:r>
              <a:rPr lang="en-US" altLang="zh-CN" sz="1800" dirty="0"/>
              <a:t>- </a:t>
            </a:r>
            <a:r>
              <a:rPr lang="zh-CN" altLang="en-US" sz="1800" dirty="0"/>
              <a:t>、乘 *、除 </a:t>
            </a:r>
            <a:r>
              <a:rPr lang="en-US" altLang="zh-CN" sz="1800" dirty="0"/>
              <a:t>/</a:t>
            </a:r>
            <a:r>
              <a:rPr lang="zh-CN" altLang="en-US" sz="1800" dirty="0"/>
              <a:t>、乘方 </a:t>
            </a:r>
            <a:r>
              <a:rPr lang="en-US" altLang="zh-CN" sz="1800" dirty="0"/>
              <a:t>**</a:t>
            </a:r>
          </a:p>
          <a:p>
            <a:pPr lvl="2">
              <a:lnSpc>
                <a:spcPct val="120000"/>
              </a:lnSpc>
            </a:pPr>
            <a:r>
              <a:rPr lang="en-US" altLang="zh-CN" sz="2000" b="1" dirty="0"/>
              <a:t>(2) </a:t>
            </a:r>
            <a:r>
              <a:rPr lang="zh-CN" altLang="en-US" sz="2000" b="1" dirty="0"/>
              <a:t>特殊的算术运算符</a:t>
            </a:r>
            <a:endParaRPr lang="en-US" altLang="zh-CN" sz="2000" b="1" dirty="0"/>
          </a:p>
          <a:p>
            <a:pPr lvl="3">
              <a:lnSpc>
                <a:spcPct val="120000"/>
              </a:lnSpc>
            </a:pPr>
            <a:r>
              <a:rPr lang="zh-CN" altLang="en-US" sz="1800" dirty="0"/>
              <a:t>求取余数：  </a:t>
            </a:r>
            <a:r>
              <a:rPr lang="en-US" altLang="zh-CN" sz="1800" dirty="0"/>
              <a:t>%</a:t>
            </a:r>
          </a:p>
          <a:p>
            <a:pPr lvl="3">
              <a:lnSpc>
                <a:spcPct val="120000"/>
              </a:lnSpc>
            </a:pPr>
            <a:r>
              <a:rPr lang="zh-CN" altLang="en-US" sz="1800" dirty="0"/>
              <a:t>整除（除后取整）：</a:t>
            </a:r>
            <a:r>
              <a:rPr lang="en-US" altLang="zh-CN" sz="1800" dirty="0"/>
              <a:t>//</a:t>
            </a:r>
          </a:p>
          <a:p>
            <a:pPr lvl="2">
              <a:lnSpc>
                <a:spcPct val="120000"/>
              </a:lnSpc>
            </a:pPr>
            <a:r>
              <a:rPr lang="en-US" altLang="zh-CN" b="1" dirty="0"/>
              <a:t>(3) </a:t>
            </a:r>
            <a:r>
              <a:rPr lang="zh-CN" altLang="en-US" b="1" dirty="0"/>
              <a:t>扩展运算符：</a:t>
            </a:r>
          </a:p>
          <a:p>
            <a:pPr lvl="3">
              <a:lnSpc>
                <a:spcPct val="120000"/>
              </a:lnSpc>
            </a:pPr>
            <a:r>
              <a:rPr lang="zh-CN" altLang="en-US" sz="1800" dirty="0"/>
              <a:t>自加：</a:t>
            </a:r>
            <a:r>
              <a:rPr lang="en-US" altLang="zh-CN" sz="1800" dirty="0"/>
              <a:t>+=</a:t>
            </a:r>
            <a:r>
              <a:rPr lang="zh-CN" altLang="en-US" sz="1800" dirty="0"/>
              <a:t>、 自减 </a:t>
            </a:r>
            <a:r>
              <a:rPr lang="en-US" altLang="zh-CN" sz="1800" dirty="0"/>
              <a:t>-= </a:t>
            </a:r>
            <a:r>
              <a:rPr lang="zh-CN" altLang="en-US" sz="1800" dirty="0"/>
              <a:t>、自乘 *</a:t>
            </a:r>
            <a:r>
              <a:rPr lang="en-US" altLang="zh-CN" sz="1800" dirty="0"/>
              <a:t>=</a:t>
            </a:r>
            <a:r>
              <a:rPr lang="zh-CN" altLang="en-US" sz="1800" dirty="0"/>
              <a:t>、自除 </a:t>
            </a:r>
            <a:r>
              <a:rPr lang="en-US" altLang="zh-CN" sz="1800" dirty="0"/>
              <a:t>/=</a:t>
            </a:r>
          </a:p>
          <a:p>
            <a:pPr lvl="1">
              <a:lnSpc>
                <a:spcPct val="120000"/>
              </a:lnSpc>
            </a:pPr>
            <a:r>
              <a:rPr lang="zh-CN" altLang="en-US" b="1" dirty="0"/>
              <a:t>位运算符：</a:t>
            </a:r>
            <a:r>
              <a:rPr lang="zh-CN" altLang="en-US" dirty="0"/>
              <a:t>按照二进制位进行操作的运算符</a:t>
            </a:r>
            <a:endParaRPr lang="en-US" altLang="zh-CN" b="1" dirty="0"/>
          </a:p>
          <a:p>
            <a:pPr lvl="2">
              <a:lnSpc>
                <a:spcPct val="120000"/>
              </a:lnSpc>
            </a:pPr>
            <a:r>
              <a:rPr lang="en-US" altLang="zh-CN" b="1" dirty="0"/>
              <a:t>(1) </a:t>
            </a:r>
            <a:r>
              <a:rPr lang="zh-CN" altLang="en-US" b="1" dirty="0"/>
              <a:t>基本位运算</a:t>
            </a:r>
            <a:endParaRPr lang="en-US" altLang="zh-CN" b="1" dirty="0"/>
          </a:p>
          <a:p>
            <a:pPr lvl="3">
              <a:lnSpc>
                <a:spcPct val="120000"/>
              </a:lnSpc>
            </a:pPr>
            <a:r>
              <a:rPr lang="zh-CN" altLang="en-US" sz="1800" dirty="0"/>
              <a:t>与运算</a:t>
            </a:r>
            <a:r>
              <a:rPr lang="en-US" altLang="zh-CN" sz="1800" dirty="0"/>
              <a:t>(</a:t>
            </a:r>
            <a:r>
              <a:rPr lang="zh-CN" altLang="en-US" sz="1800" dirty="0"/>
              <a:t>位</a:t>
            </a:r>
            <a:r>
              <a:rPr lang="en-US" altLang="zh-CN" sz="1800" dirty="0"/>
              <a:t>) &amp;     </a:t>
            </a:r>
            <a:r>
              <a:rPr lang="zh-CN" altLang="en-US" sz="1800" dirty="0"/>
              <a:t>或运算 </a:t>
            </a:r>
            <a:r>
              <a:rPr lang="en-US" altLang="zh-CN" sz="1800" dirty="0"/>
              <a:t>|       </a:t>
            </a:r>
            <a:r>
              <a:rPr lang="zh-CN" altLang="en-US" sz="1800" dirty="0"/>
              <a:t>非运算</a:t>
            </a:r>
            <a:r>
              <a:rPr lang="en-US" altLang="zh-CN" sz="1800" dirty="0"/>
              <a:t>~</a:t>
            </a:r>
          </a:p>
          <a:p>
            <a:pPr lvl="2">
              <a:lnSpc>
                <a:spcPct val="120000"/>
              </a:lnSpc>
            </a:pPr>
            <a:r>
              <a:rPr lang="en-US" altLang="zh-CN" b="1" dirty="0"/>
              <a:t>(2) </a:t>
            </a:r>
            <a:r>
              <a:rPr lang="zh-CN" altLang="en-US" b="1" dirty="0"/>
              <a:t>扩展位运算</a:t>
            </a:r>
            <a:endParaRPr lang="en-US" altLang="zh-CN" b="1" dirty="0"/>
          </a:p>
          <a:p>
            <a:pPr lvl="3">
              <a:lnSpc>
                <a:spcPct val="120000"/>
              </a:lnSpc>
            </a:pPr>
            <a:r>
              <a:rPr lang="zh-CN" altLang="en-US" sz="1800" dirty="0"/>
              <a:t>异或运算 </a:t>
            </a:r>
            <a:r>
              <a:rPr lang="en-US" altLang="zh-CN" sz="1800" dirty="0"/>
              <a:t>^</a:t>
            </a:r>
            <a:r>
              <a:rPr lang="zh-CN" altLang="en-US" sz="1800" dirty="0"/>
              <a:t>（两个二进制位相同为</a:t>
            </a:r>
            <a:r>
              <a:rPr lang="en-US" altLang="zh-CN" sz="1800" dirty="0"/>
              <a:t>0</a:t>
            </a:r>
            <a:r>
              <a:rPr lang="zh-CN" altLang="en-US" sz="1800" dirty="0"/>
              <a:t>，不同为</a:t>
            </a:r>
            <a:r>
              <a:rPr lang="en-US" altLang="zh-CN" sz="1800" dirty="0"/>
              <a:t>1</a:t>
            </a:r>
            <a:r>
              <a:rPr lang="zh-CN" altLang="en-US" sz="1800" dirty="0"/>
              <a:t>）</a:t>
            </a:r>
            <a:r>
              <a:rPr lang="en-US" altLang="zh-CN" sz="1800" dirty="0"/>
              <a:t>        </a:t>
            </a:r>
            <a:r>
              <a:rPr lang="zh-CN" altLang="en-US" sz="1800" dirty="0"/>
              <a:t>左移位 </a:t>
            </a:r>
            <a:r>
              <a:rPr lang="en-US" altLang="zh-CN" sz="1800" dirty="0"/>
              <a:t>&lt;&lt;         </a:t>
            </a:r>
            <a:r>
              <a:rPr lang="zh-CN" altLang="en-US" sz="1800" dirty="0"/>
              <a:t>右移位</a:t>
            </a:r>
            <a:r>
              <a:rPr lang="en-US" altLang="zh-CN" sz="1800" dirty="0"/>
              <a:t>&gt;&gt;</a:t>
            </a:r>
          </a:p>
          <a:p>
            <a:pPr lvl="1">
              <a:lnSpc>
                <a:spcPct val="120000"/>
              </a:lnSpc>
            </a:pPr>
            <a:endParaRPr lang="en-US" altLang="zh-CN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AC729D-D1A3-8AD0-91CC-F87F129A5EA2}"/>
              </a:ext>
            </a:extLst>
          </p:cNvPr>
          <p:cNvSpPr txBox="1"/>
          <p:nvPr/>
        </p:nvSpPr>
        <p:spPr>
          <a:xfrm>
            <a:off x="5860721" y="5206402"/>
            <a:ext cx="3776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01000011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10110001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20E0E0-7CB5-F7DB-6034-1C874FEC0621}"/>
              </a:ext>
            </a:extLst>
          </p:cNvPr>
          <p:cNvSpPr txBox="1"/>
          <p:nvPr/>
        </p:nvSpPr>
        <p:spPr>
          <a:xfrm>
            <a:off x="9880270" y="4975570"/>
            <a:ext cx="16513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 01000011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sng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^10110001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 11110010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sng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^10110001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   01000011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E5835F-10E3-DF82-EEBC-3491ED419EEC}"/>
              </a:ext>
            </a:extLst>
          </p:cNvPr>
          <p:cNvSpPr txBox="1"/>
          <p:nvPr/>
        </p:nvSpPr>
        <p:spPr>
          <a:xfrm>
            <a:off x="9619013" y="6499063"/>
            <a:ext cx="2790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一个数据用一个数据做两遍异或就回到开始数据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——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异或加密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2BD5E81-81F9-BED4-AF9E-84C7F0DC417E}"/>
              </a:ext>
            </a:extLst>
          </p:cNvPr>
          <p:cNvSpPr txBox="1"/>
          <p:nvPr/>
        </p:nvSpPr>
        <p:spPr>
          <a:xfrm>
            <a:off x="8283060" y="919225"/>
            <a:ext cx="36812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https://blog.csdn.net/m0_46778548/article/details/121454048</a:t>
            </a:r>
          </a:p>
        </p:txBody>
      </p:sp>
    </p:spTree>
    <p:extLst>
      <p:ext uri="{BB962C8B-B14F-4D97-AF65-F5344CB8AC3E}">
        <p14:creationId xmlns:p14="http://schemas.microsoft.com/office/powerpoint/2010/main" val="219454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/>
      <p:bldP spid="4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81954-3811-7E86-F7FC-AA38233F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E43B7D-83FD-AF39-6332-0AFD303A9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585" y="1904716"/>
            <a:ext cx="10858500" cy="4176043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在二进制码中，采用最高位是符号位的方法来区分正负数，正数的符号位为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0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、负数的符号位为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。二进制的负数表示，只要将原码正数的每位取反码，再在所得数的末位加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，则正好得到负数的补码，最后求得的补码即负数的二进制表示结果，这简称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-apple-system"/>
              </a:rPr>
              <a:t>“取反加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-apple-system"/>
              </a:rPr>
              <a:t>1”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。</a:t>
            </a:r>
            <a:endParaRPr lang="en-US" altLang="zh-CN" b="0" i="0" dirty="0">
              <a:solidFill>
                <a:srgbClr val="4D4D4D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比如整数 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-1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，以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8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位二进制表示有符号数，正数：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0000 0001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，取反：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1111 1110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，补码：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1111 1111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，即 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-1 = 1111 1111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，有没有发现什么？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正数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补码 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= 0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，即 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1 + (-1) = 0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，验证没问题。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50FB71-3698-9B02-F48B-1A436E02FA22}"/>
              </a:ext>
            </a:extLst>
          </p:cNvPr>
          <p:cNvSpPr txBox="1"/>
          <p:nvPr/>
        </p:nvSpPr>
        <p:spPr>
          <a:xfrm>
            <a:off x="6157504" y="6488668"/>
            <a:ext cx="6097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https://blog.csdn.net/hbblzjy/article/details/121893988</a:t>
            </a:r>
          </a:p>
        </p:txBody>
      </p:sp>
    </p:spTree>
    <p:extLst>
      <p:ext uri="{BB962C8B-B14F-4D97-AF65-F5344CB8AC3E}">
        <p14:creationId xmlns:p14="http://schemas.microsoft.com/office/powerpoint/2010/main" val="2931651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Python</a:t>
            </a:r>
            <a:r>
              <a:rPr lang="zh-CN" altLang="en-US" dirty="0"/>
              <a:t>的运算符</a:t>
            </a:r>
            <a:endParaRPr lang="en-US" altLang="zh-CN" dirty="0"/>
          </a:p>
          <a:p>
            <a:pPr lvl="1"/>
            <a:r>
              <a:rPr lang="zh-CN" altLang="en-US" b="1" dirty="0"/>
              <a:t>比较运算符</a:t>
            </a:r>
            <a:r>
              <a:rPr lang="zh-CN" altLang="en-US" dirty="0">
                <a:solidFill>
                  <a:srgbClr val="FF0000"/>
                </a:solidFill>
              </a:rPr>
              <a:t>（同类型做比较，结果为布尔型数据）</a:t>
            </a:r>
          </a:p>
          <a:p>
            <a:pPr lvl="2"/>
            <a:r>
              <a:rPr lang="zh-CN" altLang="en-US" dirty="0"/>
              <a:t>大于 </a:t>
            </a:r>
            <a:r>
              <a:rPr lang="en-US" altLang="zh-CN" dirty="0"/>
              <a:t>&gt;  </a:t>
            </a:r>
            <a:r>
              <a:rPr lang="zh-CN" altLang="en-US" dirty="0"/>
              <a:t>     小于 </a:t>
            </a:r>
            <a:r>
              <a:rPr lang="en-US" altLang="zh-CN" dirty="0"/>
              <a:t>&lt; </a:t>
            </a:r>
            <a:endParaRPr lang="zh-CN" altLang="en-US" dirty="0"/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等于</a:t>
            </a:r>
            <a:r>
              <a:rPr lang="en-US" altLang="zh-CN" b="1" dirty="0">
                <a:solidFill>
                  <a:srgbClr val="FF0000"/>
                </a:solidFill>
              </a:rPr>
              <a:t>==    </a:t>
            </a:r>
            <a:r>
              <a:rPr lang="zh-CN" altLang="en-US" dirty="0"/>
              <a:t> 不等于 </a:t>
            </a:r>
            <a:r>
              <a:rPr lang="en-US" altLang="zh-CN" dirty="0"/>
              <a:t>!=</a:t>
            </a:r>
          </a:p>
          <a:p>
            <a:pPr lvl="2"/>
            <a:r>
              <a:rPr lang="zh-CN" altLang="en-US" dirty="0"/>
              <a:t>大于或等于 </a:t>
            </a:r>
            <a:r>
              <a:rPr lang="en-US" altLang="zh-CN" dirty="0"/>
              <a:t> &gt;=     </a:t>
            </a:r>
            <a:r>
              <a:rPr lang="zh-CN" altLang="en-US" dirty="0"/>
              <a:t> 小于或等于  </a:t>
            </a:r>
            <a:r>
              <a:rPr lang="en-US" altLang="zh-CN" dirty="0"/>
              <a:t>&lt;=</a:t>
            </a:r>
          </a:p>
          <a:p>
            <a:pPr lvl="1"/>
            <a:r>
              <a:rPr lang="zh-CN" altLang="en-US" b="1" dirty="0"/>
              <a:t>逻辑运算符</a:t>
            </a:r>
            <a:r>
              <a:rPr lang="zh-CN" altLang="en-US" dirty="0"/>
              <a:t>（两边是比较运算式或逻辑式，一般会作为条件判断式不会单独出现）</a:t>
            </a:r>
          </a:p>
          <a:p>
            <a:pPr lvl="2"/>
            <a:r>
              <a:rPr lang="zh-CN" altLang="en-US" dirty="0"/>
              <a:t>同时满足：</a:t>
            </a:r>
            <a:r>
              <a:rPr lang="en-US" altLang="zh-CN" dirty="0"/>
              <a:t>and          x&gt;y and m&lt;t</a:t>
            </a:r>
          </a:p>
          <a:p>
            <a:pPr lvl="2"/>
            <a:r>
              <a:rPr lang="zh-CN" altLang="en-US" dirty="0"/>
              <a:t>或者满足：</a:t>
            </a:r>
            <a:r>
              <a:rPr lang="en-US" altLang="zh-CN" dirty="0"/>
              <a:t>or</a:t>
            </a:r>
          </a:p>
          <a:p>
            <a:pPr lvl="2"/>
            <a:r>
              <a:rPr lang="zh-CN" altLang="en-US" dirty="0"/>
              <a:t>非： </a:t>
            </a:r>
            <a:r>
              <a:rPr lang="en-US" altLang="zh-CN" dirty="0"/>
              <a:t>not</a:t>
            </a:r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103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 Python</a:t>
            </a:r>
            <a:r>
              <a:rPr lang="zh-CN" altLang="en-US" dirty="0"/>
              <a:t>的表达式</a:t>
            </a:r>
            <a:endParaRPr lang="en-US" altLang="zh-CN" dirty="0"/>
          </a:p>
          <a:p>
            <a:pPr lvl="1"/>
            <a:r>
              <a:rPr lang="zh-CN" altLang="en-US" b="1" dirty="0"/>
              <a:t>运算符的优先级</a:t>
            </a:r>
            <a:endParaRPr lang="en-US" altLang="zh-CN" b="1" dirty="0"/>
          </a:p>
          <a:p>
            <a:pPr lvl="2"/>
            <a:r>
              <a:rPr lang="zh-CN" altLang="en-US" dirty="0"/>
              <a:t>算术运算符优先 </a:t>
            </a:r>
            <a:endParaRPr lang="en-US" altLang="zh-CN" dirty="0"/>
          </a:p>
          <a:p>
            <a:pPr lvl="2"/>
            <a:r>
              <a:rPr lang="zh-CN" altLang="en-US" dirty="0"/>
              <a:t>比较运算符次之</a:t>
            </a:r>
            <a:endParaRPr lang="en-US" altLang="zh-CN" dirty="0"/>
          </a:p>
          <a:p>
            <a:pPr lvl="2"/>
            <a:r>
              <a:rPr lang="zh-CN" altLang="en-US" dirty="0"/>
              <a:t>逻辑运算符最后 </a:t>
            </a:r>
            <a:r>
              <a:rPr lang="en-US" altLang="zh-CN" dirty="0">
                <a:solidFill>
                  <a:srgbClr val="FF0000"/>
                </a:solidFill>
              </a:rPr>
              <a:t>not and or</a:t>
            </a:r>
          </a:p>
          <a:p>
            <a:pPr lvl="1"/>
            <a:r>
              <a:rPr lang="zh-CN" altLang="en-US" b="1" dirty="0"/>
              <a:t>算术运算符优先级</a:t>
            </a:r>
            <a:endParaRPr lang="en-US" altLang="zh-CN" b="1" dirty="0"/>
          </a:p>
          <a:p>
            <a:pPr lvl="2"/>
            <a:r>
              <a:rPr lang="zh-CN" altLang="en-US" dirty="0"/>
              <a:t>乘方</a:t>
            </a:r>
            <a:r>
              <a:rPr lang="en-US" altLang="zh-CN" dirty="0"/>
              <a:t>》</a:t>
            </a:r>
            <a:r>
              <a:rPr lang="zh-CN" altLang="en-US" dirty="0"/>
              <a:t>乘除</a:t>
            </a:r>
            <a:r>
              <a:rPr lang="en-US" altLang="zh-CN" dirty="0"/>
              <a:t>》</a:t>
            </a:r>
            <a:r>
              <a:rPr lang="zh-CN" altLang="en-US" dirty="0"/>
              <a:t>加减</a:t>
            </a:r>
            <a:endParaRPr lang="en-US" altLang="zh-CN" dirty="0"/>
          </a:p>
          <a:p>
            <a:pPr lvl="2"/>
            <a:r>
              <a:rPr lang="zh-CN" altLang="en-US" dirty="0"/>
              <a:t>可用括号改变运算符的优先级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表达式实例</a:t>
            </a:r>
            <a:endParaRPr lang="en-US" altLang="zh-CN" dirty="0"/>
          </a:p>
          <a:p>
            <a:pPr lvl="1"/>
            <a:r>
              <a:rPr lang="zh-CN" altLang="en-US" dirty="0"/>
              <a:t>表达式不能构成单独的</a:t>
            </a:r>
            <a:r>
              <a:rPr lang="en-US" altLang="zh-CN" dirty="0"/>
              <a:t>Python</a:t>
            </a:r>
            <a:r>
              <a:rPr lang="zh-CN" altLang="en-US" dirty="0"/>
              <a:t>语句，可以赋值到变量中</a:t>
            </a:r>
            <a:endParaRPr lang="en-US" altLang="zh-CN" dirty="0"/>
          </a:p>
          <a:p>
            <a:pPr lvl="1"/>
            <a:r>
              <a:rPr lang="zh-CN" altLang="en-US" dirty="0"/>
              <a:t>现场演示（图</a:t>
            </a:r>
            <a:r>
              <a:rPr lang="en-US" altLang="zh-CN" dirty="0"/>
              <a:t>2-1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DF854C-FA0F-82F0-7755-285C5E99A513}"/>
              </a:ext>
            </a:extLst>
          </p:cNvPr>
          <p:cNvSpPr txBox="1"/>
          <p:nvPr/>
        </p:nvSpPr>
        <p:spPr>
          <a:xfrm>
            <a:off x="7798132" y="1369850"/>
            <a:ext cx="3851694" cy="452470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#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图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2-1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表达式的使用及取值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75715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xx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eval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"35*25+61"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"xx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：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xx)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xx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你好，我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35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岁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yy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eval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(xx[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6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])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"yy: "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yy)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y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t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27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m, n, w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4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(x, y, z, t, m, n, w)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'x1: 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x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+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21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-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z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/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20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**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+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"x2: "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x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&lt;=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12 </a:t>
            </a:r>
            <a:r>
              <a:rPr kumimoji="0" lang="zh-CN" altLang="zh-CN" sz="110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and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&gt;=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12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"x3: "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x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&lt;=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12 </a:t>
            </a:r>
            <a:r>
              <a:rPr kumimoji="0" lang="zh-CN" altLang="zh-CN" sz="110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or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&gt;=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12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"x4: "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10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not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&lt;=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12 </a:t>
            </a:r>
            <a:r>
              <a:rPr kumimoji="0" lang="zh-CN" altLang="zh-CN" sz="110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or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&gt;=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12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"x5: "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10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not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(x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&lt;=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12 </a:t>
            </a:r>
            <a:r>
              <a:rPr kumimoji="0" lang="zh-CN" altLang="zh-CN" sz="110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or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&gt;=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12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'Y1: 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m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|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y)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'Y2: 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m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&amp;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y)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'Y3: 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~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|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y)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'Y3: 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bin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~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m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|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y))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'Y4: 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m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^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y)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'Y5: 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z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&gt;&gt;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'Y6: '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, m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&lt;&lt; 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</a:t>
            </a:r>
            <a:r>
              <a:rPr kumimoji="0" lang="zh-CN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8627FB-881A-F46E-5513-E3A961F83E6C}"/>
              </a:ext>
            </a:extLst>
          </p:cNvPr>
          <p:cNvSpPr txBox="1"/>
          <p:nvPr/>
        </p:nvSpPr>
        <p:spPr>
          <a:xfrm>
            <a:off x="4524499" y="1409269"/>
            <a:ext cx="26125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W&gt;t or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x+y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&gt;2 and z&lt;5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82+3*45-89/21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79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/>
      <p:bldP spid="6" grpId="0" animBg="1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81954-3811-7E86-F7FC-AA38233F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E43B7D-83FD-AF39-6332-0AFD303A9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236" y="-9244"/>
            <a:ext cx="10858500" cy="50038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C00000"/>
                </a:solidFill>
                <a:effectLst/>
                <a:latin typeface="-apple-system"/>
              </a:rPr>
              <a:t>负数的二进制表示  正数“取反加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-apple-system"/>
              </a:rPr>
              <a:t>1”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。</a:t>
            </a:r>
            <a:endParaRPr lang="en-US" altLang="zh-CN" b="0" i="0" dirty="0">
              <a:solidFill>
                <a:srgbClr val="4D4D4D"/>
              </a:solidFill>
              <a:effectLst/>
              <a:latin typeface="-apple-system"/>
            </a:endParaRPr>
          </a:p>
          <a:p>
            <a:pPr algn="l"/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原码、反码、补码，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这三个码的产生，都和表示减法（负数）有关，</a:t>
            </a: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他们的正数表示完全一样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原码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：将最高位作为符号位（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0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表示正，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表示负）。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反码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：如果是正数，则和原码一样；如果是负数，符号位为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，其余各位取反。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补码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：如果是正数，则和原码一样；如果是负数，将反码加上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。</a:t>
            </a:r>
            <a:endParaRPr lang="zh-CN" altLang="en-US" b="0" i="0" dirty="0">
              <a:solidFill>
                <a:srgbClr val="C00000"/>
              </a:solidFill>
              <a:effectLst/>
              <a:latin typeface="-apple-system"/>
            </a:endParaRPr>
          </a:p>
          <a:p>
            <a:br>
              <a:rPr lang="zh-CN" altLang="en-US" dirty="0"/>
            </a:br>
            <a:endParaRPr lang="zh-CN" alt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6922083-D57B-C22E-4464-A26AA0334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939" y="2932907"/>
            <a:ext cx="8287283" cy="3231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EF1B21C-1EC8-3D3A-1AB9-9B8DC78DFCEC}"/>
              </a:ext>
            </a:extLst>
          </p:cNvPr>
          <p:cNvSpPr txBox="1"/>
          <p:nvPr/>
        </p:nvSpPr>
        <p:spPr>
          <a:xfrm>
            <a:off x="711025" y="6335952"/>
            <a:ext cx="6101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https://zhuanlan.zhihu.com/p/106535460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2EBBBA-04A0-EADC-C1A0-96CFE69ED837}"/>
              </a:ext>
            </a:extLst>
          </p:cNvPr>
          <p:cNvSpPr txBox="1"/>
          <p:nvPr/>
        </p:nvSpPr>
        <p:spPr>
          <a:xfrm>
            <a:off x="1291386" y="2830453"/>
            <a:ext cx="9596529" cy="350549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反码：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此时我们计算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+1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-1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相加，即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0001+1110=1111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，正好是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-0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，相反数相加等于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，没有问题。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但此时一个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有了两种表示法，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0000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1111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，一个数两种表示，有点奇怪。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除此之外，虽然相反数相加没有问题，但是其他数的减法依旧不对劲，譬如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0010+1110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，等于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10000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，最高位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溢出，就是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0000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，所以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2-1=0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？？？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所以，反码还是不行。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97B43F-C15A-D08B-FD61-4A254AE74AD5}"/>
              </a:ext>
            </a:extLst>
          </p:cNvPr>
          <p:cNvSpPr txBox="1"/>
          <p:nvPr/>
        </p:nvSpPr>
        <p:spPr>
          <a:xfrm>
            <a:off x="1394698" y="3159930"/>
            <a:ext cx="9402604" cy="23541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原码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简单直观，但在减法运算中有问题。计算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减去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，就是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0001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1001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加起来，会得到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1010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-1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，等于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-2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？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rPr>
              <a:t>因此原码无法进行减法运算。</a:t>
            </a:r>
          </a:p>
        </p:txBody>
      </p:sp>
    </p:spTree>
    <p:extLst>
      <p:ext uri="{BB962C8B-B14F-4D97-AF65-F5344CB8AC3E}">
        <p14:creationId xmlns:p14="http://schemas.microsoft.com/office/powerpoint/2010/main" val="303516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78F2741-2902-705B-0560-28C9EB9A09A4}"/>
              </a:ext>
            </a:extLst>
          </p:cNvPr>
          <p:cNvSpPr txBox="1"/>
          <p:nvPr/>
        </p:nvSpPr>
        <p:spPr>
          <a:xfrm>
            <a:off x="235131" y="297735"/>
            <a:ext cx="11834949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marR="0" lvl="0" indent="-228594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负数的原码转补码或者补码转原码的规则：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符号位不变，将剩余位取反，得到反码，在反码的基础上最后一位加一得到负数的补码。</a:t>
            </a:r>
          </a:p>
          <a:p>
            <a:pPr marL="228594" marR="0" lvl="0" indent="-228594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11111101输出10进制的过程：</a:t>
            </a:r>
          </a:p>
          <a:p>
            <a:pPr marL="685794" marR="0" lvl="1" indent="-228594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符号位不变，剩余位取反</a:t>
            </a:r>
          </a:p>
          <a:p>
            <a:pPr marL="685794" marR="0" lvl="1" indent="-228594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　　1000,0010</a:t>
            </a:r>
          </a:p>
          <a:p>
            <a:pPr marL="685794" marR="0" lvl="1" indent="-228594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最后一位加1</a:t>
            </a:r>
          </a:p>
          <a:p>
            <a:pPr marL="685794" marR="0" lvl="1" indent="-228594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　 1000,0011</a:t>
            </a:r>
          </a:p>
          <a:p>
            <a:pPr marL="685794" marR="0" lvl="1" indent="-228594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得的结果1000,0011就是-3的原码形式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7FAB2B33-FDFC-25B1-BF8F-1C039A2E9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8" y="3313945"/>
            <a:ext cx="12135392" cy="5003800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~(1) = -2   1</a:t>
            </a:r>
            <a:r>
              <a:rPr lang="zh-CN" altLang="en-US" sz="2000" dirty="0"/>
              <a:t>的原码是</a:t>
            </a:r>
            <a:r>
              <a:rPr lang="en-US" altLang="zh-CN" sz="2000" dirty="0"/>
              <a:t>0000 0001 </a:t>
            </a:r>
            <a:r>
              <a:rPr lang="zh-CN" altLang="en-US" sz="2000" dirty="0"/>
              <a:t>，所以</a:t>
            </a:r>
            <a:r>
              <a:rPr lang="en-US" altLang="zh-CN" sz="2000" dirty="0"/>
              <a:t>~(1)=1111 1110   </a:t>
            </a:r>
            <a:r>
              <a:rPr lang="zh-CN" altLang="en-US" sz="2000" dirty="0"/>
              <a:t>而</a:t>
            </a:r>
            <a:r>
              <a:rPr lang="en-US" altLang="zh-CN" sz="2000" dirty="0"/>
              <a:t>-2</a:t>
            </a:r>
            <a:r>
              <a:rPr lang="zh-CN" altLang="en-US" sz="2000" dirty="0"/>
              <a:t>的原码是</a:t>
            </a:r>
            <a:r>
              <a:rPr lang="en-US" altLang="zh-CN" sz="2000" dirty="0"/>
              <a:t>1000 0010</a:t>
            </a:r>
            <a:r>
              <a:rPr lang="zh-CN" altLang="en-US" sz="2000" dirty="0"/>
              <a:t>，补码是</a:t>
            </a:r>
            <a:r>
              <a:rPr lang="en-US" altLang="zh-CN" sz="2000" dirty="0"/>
              <a:t>1111 1110</a:t>
            </a:r>
            <a:r>
              <a:rPr lang="zh-CN" altLang="en-US" sz="2000" dirty="0"/>
              <a:t>，恰好和</a:t>
            </a:r>
            <a:r>
              <a:rPr lang="en-US" altLang="zh-CN" sz="2000" dirty="0"/>
              <a:t>~(1)</a:t>
            </a:r>
            <a:r>
              <a:rPr lang="zh-CN" altLang="en-US" sz="2000" dirty="0"/>
              <a:t>相等，毕竟</a:t>
            </a:r>
            <a:r>
              <a:rPr lang="en-US" altLang="zh-CN" sz="2000" dirty="0"/>
              <a:t>-2</a:t>
            </a:r>
            <a:r>
              <a:rPr lang="zh-CN" altLang="en-US" sz="2000" dirty="0"/>
              <a:t>在内存里面是以补码的形式存在的，，所以直接和补码比较是否相等即可</a:t>
            </a:r>
          </a:p>
          <a:p>
            <a:r>
              <a:rPr lang="en-US" altLang="zh-CN" sz="2000" dirty="0"/>
              <a:t>~(2) = -3  2</a:t>
            </a:r>
            <a:r>
              <a:rPr lang="zh-CN" altLang="en-US" sz="2000" dirty="0"/>
              <a:t>的原码是</a:t>
            </a:r>
            <a:r>
              <a:rPr lang="en-US" altLang="zh-CN" sz="2000" dirty="0"/>
              <a:t>0000 0010 </a:t>
            </a:r>
            <a:r>
              <a:rPr lang="zh-CN" altLang="en-US" sz="2000" dirty="0"/>
              <a:t>所以</a:t>
            </a:r>
            <a:r>
              <a:rPr lang="en-US" altLang="zh-CN" sz="2000" dirty="0"/>
              <a:t>~(2)=1111 1101</a:t>
            </a:r>
            <a:r>
              <a:rPr lang="zh-CN" altLang="en-US" sz="2000" dirty="0"/>
              <a:t>，而</a:t>
            </a:r>
            <a:r>
              <a:rPr lang="en-US" altLang="zh-CN" sz="2000" dirty="0"/>
              <a:t>-3</a:t>
            </a:r>
            <a:r>
              <a:rPr lang="zh-CN" altLang="en-US" sz="2000" dirty="0"/>
              <a:t>的原码是</a:t>
            </a:r>
            <a:r>
              <a:rPr lang="en-US" altLang="zh-CN" sz="2000" dirty="0"/>
              <a:t>1000 0011</a:t>
            </a:r>
            <a:r>
              <a:rPr lang="zh-CN" altLang="en-US" sz="2000" dirty="0"/>
              <a:t>，补码是</a:t>
            </a:r>
            <a:r>
              <a:rPr lang="en-US" altLang="zh-CN" sz="2000" dirty="0"/>
              <a:t>1111 1101</a:t>
            </a:r>
            <a:r>
              <a:rPr lang="zh-CN" altLang="en-US" sz="2000" dirty="0"/>
              <a:t>，恰好和</a:t>
            </a:r>
            <a:r>
              <a:rPr lang="en-US" altLang="zh-CN" sz="2000" dirty="0"/>
              <a:t>~(2)</a:t>
            </a:r>
            <a:r>
              <a:rPr lang="zh-CN" altLang="en-US" sz="2000" dirty="0"/>
              <a:t>相等，毕竟</a:t>
            </a:r>
            <a:r>
              <a:rPr lang="en-US" altLang="zh-CN" sz="2000" dirty="0"/>
              <a:t>-3</a:t>
            </a:r>
            <a:r>
              <a:rPr lang="zh-CN" altLang="en-US" sz="2000" dirty="0"/>
              <a:t>在内存里面是以补码的形式存在的，，所以直接和补码比较是否相等即可</a:t>
            </a:r>
          </a:p>
          <a:p>
            <a:r>
              <a:rPr lang="en-US" altLang="zh-CN" sz="2000" dirty="0"/>
              <a:t>~(3) = -4</a:t>
            </a:r>
          </a:p>
          <a:p>
            <a:r>
              <a:rPr lang="en-US" altLang="zh-CN" sz="2000" dirty="0"/>
              <a:t>~(2018) = -2019</a:t>
            </a:r>
          </a:p>
          <a:p>
            <a:r>
              <a:rPr lang="en-US" altLang="zh-CN" sz="2000" dirty="0"/>
              <a:t>-----------------------------------</a:t>
            </a:r>
          </a:p>
          <a:p>
            <a:r>
              <a:rPr lang="zh-CN" altLang="en-US" sz="2000" dirty="0"/>
              <a:t>按位非运算符 详解</a:t>
            </a:r>
          </a:p>
          <a:p>
            <a:r>
              <a:rPr lang="en-US" altLang="zh-CN" sz="2000" dirty="0"/>
              <a:t>https://blog.51cto.com/JavaAlliance/3110571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89057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的分支语句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分支（选择）语句的含义</a:t>
            </a:r>
            <a:endParaRPr lang="en-US" altLang="zh-CN" b="1" dirty="0"/>
          </a:p>
          <a:p>
            <a:pPr lvl="1"/>
            <a:r>
              <a:rPr lang="zh-CN" altLang="en-US" dirty="0"/>
              <a:t>定义</a:t>
            </a:r>
            <a:endParaRPr lang="en-US" altLang="zh-CN" dirty="0"/>
          </a:p>
          <a:p>
            <a:pPr lvl="2"/>
            <a:r>
              <a:rPr lang="zh-CN" altLang="en-US" sz="2000" dirty="0"/>
              <a:t>选择结构就是判断条件式的真假，依据条件式的值决定程序的走向。</a:t>
            </a:r>
            <a:endParaRPr lang="en-US" altLang="zh-CN" sz="2000" dirty="0"/>
          </a:p>
          <a:p>
            <a:pPr lvl="2"/>
            <a:r>
              <a:rPr lang="zh-CN" altLang="en-US" sz="2000" dirty="0"/>
              <a:t>若真，会执行特定的语句块；</a:t>
            </a:r>
            <a:endParaRPr lang="en-US" altLang="zh-CN" sz="2000" dirty="0"/>
          </a:p>
          <a:p>
            <a:pPr lvl="2"/>
            <a:r>
              <a:rPr lang="zh-CN" altLang="en-US" sz="2000" dirty="0"/>
              <a:t>否则，执行另外一些语句块。</a:t>
            </a:r>
            <a:endParaRPr lang="en-US" altLang="zh-CN" sz="2000" dirty="0"/>
          </a:p>
          <a:p>
            <a:pPr lvl="1"/>
            <a:r>
              <a:rPr lang="zh-CN" altLang="en-US" dirty="0"/>
              <a:t>类别</a:t>
            </a:r>
            <a:endParaRPr lang="en-US" altLang="zh-CN" dirty="0"/>
          </a:p>
          <a:p>
            <a:pPr lvl="2"/>
            <a:r>
              <a:rPr lang="zh-CN" altLang="en-US" sz="2000" b="0" dirty="0"/>
              <a:t>单分支结构</a:t>
            </a:r>
          </a:p>
          <a:p>
            <a:pPr lvl="2"/>
            <a:r>
              <a:rPr lang="zh-CN" altLang="en-US" sz="2000" b="0" dirty="0"/>
              <a:t>二路分支结构</a:t>
            </a:r>
            <a:endParaRPr lang="en-US" altLang="zh-CN" sz="2000" b="0" dirty="0"/>
          </a:p>
          <a:p>
            <a:pPr lvl="2"/>
            <a:r>
              <a:rPr lang="zh-CN" altLang="en-US" sz="2000" b="0" dirty="0"/>
              <a:t>多路分支结构</a:t>
            </a:r>
            <a:endParaRPr lang="en-US" altLang="zh-CN" sz="2000" b="0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8581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的分支语句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1" y="1130299"/>
            <a:ext cx="10858500" cy="5414191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2. </a:t>
            </a:r>
            <a:r>
              <a:rPr lang="zh-CN" altLang="en-US" sz="2800" b="1" dirty="0"/>
              <a:t>分支（选择）语句</a:t>
            </a:r>
            <a:endParaRPr lang="en-US" altLang="zh-CN" sz="2800" b="1" dirty="0"/>
          </a:p>
          <a:p>
            <a:pPr lvl="1"/>
            <a:r>
              <a:rPr lang="zh-CN" altLang="en-US" sz="2400" dirty="0"/>
              <a:t>单路分支</a:t>
            </a:r>
            <a:endParaRPr lang="en-US" altLang="zh-CN" sz="2400" dirty="0"/>
          </a:p>
          <a:p>
            <a:pPr marL="914377" lvl="2" indent="0">
              <a:buNone/>
            </a:pPr>
            <a:r>
              <a:rPr lang="en-US" altLang="zh-CN" sz="2400" b="1" dirty="0">
                <a:solidFill>
                  <a:schemeClr val="accent1"/>
                </a:solidFill>
              </a:rPr>
              <a:t>If </a:t>
            </a:r>
            <a:r>
              <a:rPr lang="zh-CN" altLang="en-US" sz="2400" b="1" dirty="0">
                <a:solidFill>
                  <a:schemeClr val="accent1"/>
                </a:solidFill>
              </a:rPr>
              <a:t>条件式：</a:t>
            </a:r>
            <a:endParaRPr lang="en-US" altLang="zh-CN" sz="2400" b="1" dirty="0">
              <a:solidFill>
                <a:schemeClr val="accent1"/>
              </a:solidFill>
            </a:endParaRPr>
          </a:p>
          <a:p>
            <a:pPr marL="1371566" lvl="3" indent="0">
              <a:buNone/>
            </a:pPr>
            <a:r>
              <a:rPr lang="zh-CN" altLang="en-US" sz="2000" b="1" dirty="0">
                <a:solidFill>
                  <a:schemeClr val="accent1"/>
                </a:solidFill>
              </a:rPr>
              <a:t>语句块（满足条件时执行的语句块）</a:t>
            </a:r>
            <a:endParaRPr lang="en-US" altLang="zh-CN" sz="2000" b="1" dirty="0">
              <a:solidFill>
                <a:schemeClr val="accent1"/>
              </a:solidFill>
            </a:endParaRPr>
          </a:p>
          <a:p>
            <a:pPr lvl="2"/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注意：条件式后边的冒号，语句块必须内缩进</a:t>
            </a:r>
            <a:endParaRPr lang="en-US" altLang="zh-CN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zh-CN" altLang="en-US" sz="2400" dirty="0"/>
              <a:t>二路分支</a:t>
            </a:r>
            <a:endParaRPr lang="en-US" altLang="zh-CN" sz="2400" dirty="0"/>
          </a:p>
          <a:p>
            <a:pPr marL="914377" lvl="2" indent="0"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If </a:t>
            </a:r>
            <a:r>
              <a:rPr lang="zh-CN" altLang="en-US" sz="2000" b="1" dirty="0">
                <a:solidFill>
                  <a:schemeClr val="accent1"/>
                </a:solidFill>
              </a:rPr>
              <a:t>条件式：</a:t>
            </a:r>
            <a:endParaRPr lang="en-US" altLang="zh-CN" sz="2000" b="1" dirty="0">
              <a:solidFill>
                <a:schemeClr val="accent1"/>
              </a:solidFill>
            </a:endParaRPr>
          </a:p>
          <a:p>
            <a:pPr marL="1371566" lvl="3" indent="0">
              <a:buNone/>
            </a:pPr>
            <a:r>
              <a:rPr lang="zh-CN" altLang="en-US" sz="2000" b="1" dirty="0">
                <a:solidFill>
                  <a:schemeClr val="accent1"/>
                </a:solidFill>
              </a:rPr>
              <a:t>语句块</a:t>
            </a:r>
            <a:r>
              <a:rPr lang="en-US" altLang="zh-CN" sz="2000" b="1" dirty="0">
                <a:solidFill>
                  <a:schemeClr val="accent1"/>
                </a:solidFill>
              </a:rPr>
              <a:t>1</a:t>
            </a:r>
            <a:r>
              <a:rPr lang="zh-CN" altLang="en-US" sz="2000" b="1" dirty="0">
                <a:solidFill>
                  <a:schemeClr val="accent1"/>
                </a:solidFill>
              </a:rPr>
              <a:t>（满足条件时执行的语句块）</a:t>
            </a:r>
            <a:endParaRPr lang="en-US" altLang="zh-CN" sz="2000" b="1" dirty="0">
              <a:solidFill>
                <a:schemeClr val="accent1"/>
              </a:solidFill>
            </a:endParaRPr>
          </a:p>
          <a:p>
            <a:pPr marL="914377" lvl="2" indent="0"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else:</a:t>
            </a:r>
          </a:p>
          <a:p>
            <a:pPr marL="1371566" lvl="3" indent="0">
              <a:buNone/>
            </a:pPr>
            <a:r>
              <a:rPr lang="zh-CN" altLang="en-US" sz="2000" b="1" dirty="0">
                <a:solidFill>
                  <a:schemeClr val="accent1"/>
                </a:solidFill>
              </a:rPr>
              <a:t>语句块</a:t>
            </a:r>
            <a:r>
              <a:rPr lang="en-US" altLang="zh-CN" sz="2000" b="1" dirty="0">
                <a:solidFill>
                  <a:schemeClr val="accent1"/>
                </a:solidFill>
              </a:rPr>
              <a:t>2</a:t>
            </a:r>
            <a:r>
              <a:rPr lang="zh-CN" altLang="en-US" sz="2000" b="1" dirty="0">
                <a:solidFill>
                  <a:schemeClr val="accent1"/>
                </a:solidFill>
              </a:rPr>
              <a:t>（不满足条件时执行的语句块）</a:t>
            </a:r>
            <a:endParaRPr lang="en-US" altLang="zh-CN" sz="2000" b="1" dirty="0">
              <a:solidFill>
                <a:schemeClr val="accent1"/>
              </a:solidFill>
            </a:endParaRPr>
          </a:p>
          <a:p>
            <a:pPr lvl="2"/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注意：条件式和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后边的冒号，语句块必须内缩进</a:t>
            </a:r>
            <a:endParaRPr lang="en-US" altLang="zh-CN" sz="2000" dirty="0"/>
          </a:p>
          <a:p>
            <a:endParaRPr lang="en-US" altLang="zh-CN" sz="2800" dirty="0"/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2667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的分支语句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800" dirty="0"/>
              <a:t>2. </a:t>
            </a:r>
            <a:r>
              <a:rPr lang="zh-CN" altLang="en-US" sz="2800" dirty="0"/>
              <a:t>分支（选择）语句</a:t>
            </a:r>
            <a:endParaRPr lang="en-US" altLang="zh-CN" sz="2800" dirty="0"/>
          </a:p>
          <a:p>
            <a:pPr lvl="1"/>
            <a:r>
              <a:rPr lang="zh-CN" altLang="en-US" sz="2400" dirty="0"/>
              <a:t>多路分支</a:t>
            </a:r>
            <a:endParaRPr lang="en-US" altLang="zh-CN" sz="2400" dirty="0"/>
          </a:p>
          <a:p>
            <a:pPr marL="914377" lvl="2" indent="0"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If </a:t>
            </a:r>
            <a:r>
              <a:rPr lang="zh-CN" altLang="en-US" sz="2000" b="1" dirty="0">
                <a:solidFill>
                  <a:schemeClr val="accent1"/>
                </a:solidFill>
              </a:rPr>
              <a:t>条件式：</a:t>
            </a:r>
            <a:endParaRPr lang="en-US" altLang="zh-CN" sz="2000" b="1" dirty="0">
              <a:solidFill>
                <a:schemeClr val="accent1"/>
              </a:solidFill>
            </a:endParaRPr>
          </a:p>
          <a:p>
            <a:pPr marL="1371566" lvl="3" indent="0">
              <a:buNone/>
            </a:pPr>
            <a:r>
              <a:rPr lang="zh-CN" altLang="en-US" sz="2000" b="1" dirty="0">
                <a:solidFill>
                  <a:schemeClr val="accent1"/>
                </a:solidFill>
              </a:rPr>
              <a:t>语句块</a:t>
            </a:r>
            <a:r>
              <a:rPr lang="en-US" altLang="zh-CN" sz="2000" b="1" dirty="0">
                <a:solidFill>
                  <a:schemeClr val="accent1"/>
                </a:solidFill>
              </a:rPr>
              <a:t>1</a:t>
            </a:r>
          </a:p>
          <a:p>
            <a:pPr marL="914377" lvl="2" indent="0">
              <a:buNone/>
            </a:pPr>
            <a:r>
              <a:rPr lang="en-US" altLang="zh-CN" sz="2000" b="1" dirty="0" err="1">
                <a:solidFill>
                  <a:schemeClr val="accent1"/>
                </a:solidFill>
              </a:rPr>
              <a:t>elif</a:t>
            </a:r>
            <a:r>
              <a:rPr lang="en-US" altLang="zh-CN" sz="2000" b="1" dirty="0">
                <a:solidFill>
                  <a:schemeClr val="accent1"/>
                </a:solidFill>
              </a:rPr>
              <a:t>  </a:t>
            </a:r>
            <a:r>
              <a:rPr lang="zh-CN" altLang="en-US" sz="2000" b="1" dirty="0">
                <a:solidFill>
                  <a:schemeClr val="accent1"/>
                </a:solidFill>
              </a:rPr>
              <a:t>条件式：</a:t>
            </a:r>
            <a:endParaRPr lang="en-US" altLang="zh-CN" sz="2000" b="1" dirty="0">
              <a:solidFill>
                <a:schemeClr val="accent1"/>
              </a:solidFill>
            </a:endParaRPr>
          </a:p>
          <a:p>
            <a:pPr marL="1371566" lvl="3" indent="0">
              <a:buNone/>
            </a:pPr>
            <a:r>
              <a:rPr lang="zh-CN" altLang="en-US" sz="2000" b="1" dirty="0">
                <a:solidFill>
                  <a:schemeClr val="accent1"/>
                </a:solidFill>
              </a:rPr>
              <a:t>语句块</a:t>
            </a:r>
            <a:r>
              <a:rPr lang="en-US" altLang="zh-CN" sz="2000" b="1" dirty="0">
                <a:solidFill>
                  <a:schemeClr val="accent1"/>
                </a:solidFill>
              </a:rPr>
              <a:t>2</a:t>
            </a:r>
          </a:p>
          <a:p>
            <a:pPr marL="914377" lvl="2" indent="0"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……………..</a:t>
            </a:r>
          </a:p>
          <a:p>
            <a:pPr marL="1371566" lvl="3" indent="0"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…………. </a:t>
            </a:r>
          </a:p>
          <a:p>
            <a:pPr marL="914377" lvl="2" indent="0"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else:</a:t>
            </a:r>
          </a:p>
          <a:p>
            <a:pPr marL="1371566" lvl="3" indent="0">
              <a:buNone/>
            </a:pPr>
            <a:r>
              <a:rPr lang="zh-CN" altLang="en-US" sz="2000" b="1" dirty="0">
                <a:solidFill>
                  <a:schemeClr val="accent1"/>
                </a:solidFill>
              </a:rPr>
              <a:t>语句块</a:t>
            </a:r>
            <a:r>
              <a:rPr lang="en-US" altLang="zh-CN" sz="2000" b="1" dirty="0">
                <a:solidFill>
                  <a:schemeClr val="accent1"/>
                </a:solidFill>
              </a:rPr>
              <a:t>n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注意：条件式和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后边的冒号，语句块必须内缩进</a:t>
            </a:r>
            <a:endParaRPr lang="en-US" altLang="zh-CN" dirty="0"/>
          </a:p>
          <a:p>
            <a:endParaRPr lang="en-US" altLang="zh-CN" sz="2800" dirty="0"/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35312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的分支语句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1104" y="895169"/>
            <a:ext cx="7255690" cy="5962831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分支（选择）语句应用实例</a:t>
            </a:r>
            <a:endParaRPr lang="en-US" altLang="zh-CN" dirty="0"/>
          </a:p>
          <a:p>
            <a:pPr lvl="1"/>
            <a:r>
              <a:rPr lang="zh-CN" altLang="en-US" sz="2200" dirty="0"/>
              <a:t>实例</a:t>
            </a:r>
            <a:r>
              <a:rPr lang="en-US" altLang="zh-CN" sz="2200" dirty="0"/>
              <a:t>1</a:t>
            </a:r>
            <a:r>
              <a:rPr lang="zh-CN" altLang="en-US" sz="2200" dirty="0"/>
              <a:t>：</a:t>
            </a:r>
            <a:endParaRPr lang="en-US" altLang="zh-CN" sz="2200" dirty="0"/>
          </a:p>
          <a:p>
            <a:pPr lvl="2"/>
            <a:r>
              <a:rPr lang="zh-CN" altLang="en-US" sz="1900" dirty="0"/>
              <a:t>依据性别决定“称呼”</a:t>
            </a:r>
            <a:r>
              <a:rPr lang="en-US" altLang="zh-CN" sz="1900" dirty="0"/>
              <a:t>,</a:t>
            </a:r>
            <a:r>
              <a:rPr lang="zh-CN" altLang="en-US" sz="1900" dirty="0"/>
              <a:t>给予不同问候语（</a:t>
            </a:r>
            <a:r>
              <a:rPr lang="en-US" altLang="zh-CN" sz="1900" dirty="0"/>
              <a:t>p51</a:t>
            </a:r>
            <a:r>
              <a:rPr lang="zh-CN" altLang="en-US" sz="1900" dirty="0"/>
              <a:t>）“热烈欢迎您，</a:t>
            </a:r>
            <a:r>
              <a:rPr lang="en-US" altLang="zh-CN" sz="1900" dirty="0"/>
              <a:t>XXX</a:t>
            </a:r>
            <a:r>
              <a:rPr lang="zh-CN" altLang="en-US" sz="1900" dirty="0"/>
              <a:t>先生</a:t>
            </a:r>
            <a:r>
              <a:rPr lang="en-US" altLang="zh-CN" sz="1900" dirty="0"/>
              <a:t>/</a:t>
            </a:r>
            <a:r>
              <a:rPr lang="zh-CN" altLang="en-US" sz="1900" dirty="0"/>
              <a:t>女士”</a:t>
            </a:r>
            <a:endParaRPr lang="en-US" altLang="zh-CN" sz="1900" dirty="0"/>
          </a:p>
          <a:p>
            <a:pPr lvl="1"/>
            <a:r>
              <a:rPr lang="zh-CN" altLang="en-US" sz="2200" dirty="0"/>
              <a:t>实例</a:t>
            </a:r>
            <a:r>
              <a:rPr lang="en-US" altLang="zh-CN" sz="2200" dirty="0"/>
              <a:t>2</a:t>
            </a:r>
            <a:r>
              <a:rPr lang="zh-CN" altLang="en-US" sz="2200" dirty="0"/>
              <a:t>：</a:t>
            </a:r>
            <a:endParaRPr lang="en-US" altLang="zh-CN" sz="2200" dirty="0"/>
          </a:p>
          <a:p>
            <a:pPr lvl="2"/>
            <a:r>
              <a:rPr lang="zh-CN" altLang="en-US" sz="1900" dirty="0"/>
              <a:t>依据年龄决定是否享受公交免费</a:t>
            </a:r>
            <a:endParaRPr lang="en-US" altLang="zh-CN" sz="1900" dirty="0"/>
          </a:p>
          <a:p>
            <a:pPr lvl="1"/>
            <a:r>
              <a:rPr lang="zh-CN" altLang="en-US" sz="2200" dirty="0"/>
              <a:t>实例</a:t>
            </a:r>
            <a:r>
              <a:rPr lang="en-US" altLang="zh-CN" sz="2200" dirty="0"/>
              <a:t>3</a:t>
            </a:r>
            <a:r>
              <a:rPr lang="zh-CN" altLang="en-US" sz="2200" dirty="0"/>
              <a:t>：（多路分支）</a:t>
            </a:r>
            <a:endParaRPr lang="en-US" altLang="zh-CN" sz="2200" dirty="0"/>
          </a:p>
          <a:p>
            <a:pPr lvl="2"/>
            <a:r>
              <a:rPr lang="zh-CN" altLang="en-US" sz="1900" dirty="0"/>
              <a:t>将数码格式的星期几转化为合适的中文方式显示。输入“</a:t>
            </a:r>
            <a:r>
              <a:rPr lang="en-US" altLang="zh-CN" sz="1900" dirty="0"/>
              <a:t>1</a:t>
            </a:r>
            <a:r>
              <a:rPr lang="zh-CN" altLang="en-US" sz="1900" dirty="0"/>
              <a:t>”时，输出“星期一”；输入“</a:t>
            </a:r>
            <a:r>
              <a:rPr lang="en-US" altLang="zh-CN" sz="1900" dirty="0"/>
              <a:t>2</a:t>
            </a:r>
            <a:r>
              <a:rPr lang="zh-CN" altLang="en-US" sz="1900" dirty="0"/>
              <a:t>”时，输出“星期二”；以此类推。</a:t>
            </a:r>
            <a:r>
              <a:rPr lang="en-US" altLang="zh-CN" sz="1900" dirty="0"/>
              <a:t>(p53)</a:t>
            </a:r>
          </a:p>
          <a:p>
            <a:pPr lvl="1"/>
            <a:r>
              <a:rPr lang="zh-CN" altLang="en-US" sz="2200" dirty="0"/>
              <a:t>实例</a:t>
            </a:r>
            <a:r>
              <a:rPr lang="en-US" altLang="zh-CN" sz="2200" dirty="0"/>
              <a:t>4</a:t>
            </a:r>
            <a:r>
              <a:rPr lang="zh-CN" altLang="en-US" sz="2200" dirty="0"/>
              <a:t>：</a:t>
            </a:r>
            <a:endParaRPr lang="en-US" altLang="zh-CN" sz="2200" dirty="0"/>
          </a:p>
          <a:p>
            <a:pPr lvl="2"/>
            <a:r>
              <a:rPr lang="zh-CN" altLang="en-US" sz="1900" dirty="0"/>
              <a:t>依据成绩决定奖励等级</a:t>
            </a:r>
            <a:r>
              <a:rPr lang="en-US" altLang="zh-CN" sz="1900" dirty="0"/>
              <a:t>(p52)</a:t>
            </a:r>
          </a:p>
          <a:p>
            <a:pPr lvl="3"/>
            <a:r>
              <a:rPr lang="en-US" altLang="zh-CN" sz="1700" dirty="0"/>
              <a:t>90</a:t>
            </a:r>
            <a:r>
              <a:rPr lang="zh-CN" altLang="en-US" sz="1700" dirty="0"/>
              <a:t>以上奖</a:t>
            </a:r>
            <a:r>
              <a:rPr lang="en-US" altLang="zh-CN" sz="1700" dirty="0"/>
              <a:t>1000, 80~90</a:t>
            </a:r>
            <a:r>
              <a:rPr lang="zh-CN" altLang="en-US" sz="1700" dirty="0"/>
              <a:t>奖</a:t>
            </a:r>
            <a:r>
              <a:rPr lang="en-US" altLang="zh-CN" sz="1700" dirty="0"/>
              <a:t>700</a:t>
            </a:r>
            <a:r>
              <a:rPr lang="zh-CN" altLang="en-US" sz="1700" dirty="0"/>
              <a:t>，</a:t>
            </a:r>
            <a:r>
              <a:rPr lang="en-US" altLang="zh-CN" sz="1700" dirty="0"/>
              <a:t>60~80</a:t>
            </a:r>
            <a:r>
              <a:rPr lang="zh-CN" altLang="en-US" sz="1700" dirty="0"/>
              <a:t>奖</a:t>
            </a:r>
            <a:r>
              <a:rPr lang="en-US" altLang="zh-CN" sz="1700" dirty="0"/>
              <a:t>300</a:t>
            </a:r>
          </a:p>
          <a:p>
            <a:pPr lvl="3"/>
            <a:r>
              <a:rPr lang="en-US" altLang="zh-CN" sz="1700" dirty="0"/>
              <a:t>60</a:t>
            </a:r>
            <a:r>
              <a:rPr lang="zh-CN" altLang="en-US" sz="1700" dirty="0"/>
              <a:t>以下罚款</a:t>
            </a:r>
            <a:r>
              <a:rPr lang="en-US" altLang="zh-CN" sz="1700" dirty="0"/>
              <a:t>200</a:t>
            </a:r>
            <a:r>
              <a:rPr lang="zh-CN" altLang="en-US" sz="1700" dirty="0"/>
              <a:t>元</a:t>
            </a:r>
            <a:endParaRPr lang="en-US" altLang="zh-CN" sz="1700" dirty="0"/>
          </a:p>
          <a:p>
            <a:pPr lvl="1"/>
            <a:r>
              <a:rPr lang="zh-CN" altLang="en-US" sz="2200" dirty="0"/>
              <a:t>实例</a:t>
            </a:r>
            <a:r>
              <a:rPr lang="en-US" altLang="zh-CN" sz="2200" dirty="0"/>
              <a:t>5</a:t>
            </a:r>
            <a:r>
              <a:rPr lang="zh-CN" altLang="en-US" sz="2200" dirty="0"/>
              <a:t>：</a:t>
            </a:r>
            <a:endParaRPr lang="en-US" altLang="zh-CN" sz="2200" dirty="0"/>
          </a:p>
          <a:p>
            <a:pPr lvl="2"/>
            <a:r>
              <a:rPr lang="zh-CN" altLang="en-US" sz="1900" dirty="0"/>
              <a:t>多路分支及其嵌套</a:t>
            </a:r>
            <a:endParaRPr lang="en-US" altLang="zh-CN" sz="1900" dirty="0"/>
          </a:p>
          <a:p>
            <a:pPr lvl="2"/>
            <a:r>
              <a:rPr lang="zh-CN" altLang="en-US" sz="1900" dirty="0"/>
              <a:t>男女生在体能测试上有不同的标准</a:t>
            </a:r>
            <a:endParaRPr lang="en-US" altLang="zh-CN" sz="1900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126B4D-94BC-93BE-1938-D97F19209413}"/>
              </a:ext>
            </a:extLst>
          </p:cNvPr>
          <p:cNvSpPr txBox="1"/>
          <p:nvPr/>
        </p:nvSpPr>
        <p:spPr>
          <a:xfrm>
            <a:off x="8108008" y="2353946"/>
            <a:ext cx="3830726" cy="19389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xm 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input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请输入您的姓名：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"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xb 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input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请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输入您的性别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女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/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男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if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xb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==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女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chw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女士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b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else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chw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先生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b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热烈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欢迎您，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{}{}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！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.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format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(xm,chw))</a:t>
            </a:r>
            <a:b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热烈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欢迎您，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{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xm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}{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chw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}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7AA41D-F37C-32AD-F9CB-1F20A023A9FD}"/>
              </a:ext>
            </a:extLst>
          </p:cNvPr>
          <p:cNvSpPr txBox="1"/>
          <p:nvPr/>
        </p:nvSpPr>
        <p:spPr>
          <a:xfrm>
            <a:off x="7477497" y="0"/>
            <a:ext cx="4714503" cy="181588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#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一路分支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salary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=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0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=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input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请输入您的性别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if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xx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==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"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   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salary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 =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1000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思源黑体 CN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</a:b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print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您的补贴值为：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{:9d}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'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.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format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salary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思源黑体 CN Normal"/>
                <a:cs typeface="+mn-cs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23014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/>
      <p:bldP spid="6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的分支语句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分支（选择）语句应用实例</a:t>
            </a:r>
            <a:endParaRPr lang="en-US" altLang="zh-CN" dirty="0"/>
          </a:p>
          <a:p>
            <a:pPr lvl="1"/>
            <a:r>
              <a:rPr lang="zh-CN" altLang="en-US" dirty="0"/>
              <a:t>实例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endParaRPr lang="en-US" altLang="zh-CN" dirty="0"/>
          </a:p>
          <a:p>
            <a:pPr lvl="2"/>
            <a:r>
              <a:rPr lang="zh-CN" altLang="en-US" sz="2000" dirty="0"/>
              <a:t>依据成绩决定奖励等级</a:t>
            </a:r>
            <a:r>
              <a:rPr lang="en-US" altLang="zh-CN" sz="2000" dirty="0"/>
              <a:t>(p52)</a:t>
            </a:r>
          </a:p>
          <a:p>
            <a:pPr lvl="3"/>
            <a:r>
              <a:rPr lang="en-US" altLang="zh-CN" sz="1800" dirty="0"/>
              <a:t>90</a:t>
            </a:r>
            <a:r>
              <a:rPr lang="zh-CN" altLang="en-US" sz="1800" dirty="0"/>
              <a:t>以上奖</a:t>
            </a:r>
            <a:r>
              <a:rPr lang="en-US" altLang="zh-CN" sz="1800" dirty="0"/>
              <a:t>1000, 80~90</a:t>
            </a:r>
            <a:r>
              <a:rPr lang="zh-CN" altLang="en-US" sz="1800" dirty="0"/>
              <a:t>奖</a:t>
            </a:r>
            <a:r>
              <a:rPr lang="en-US" altLang="zh-CN" sz="1800" dirty="0"/>
              <a:t>700</a:t>
            </a:r>
            <a:r>
              <a:rPr lang="zh-CN" altLang="en-US" sz="1800" dirty="0"/>
              <a:t>，</a:t>
            </a:r>
            <a:r>
              <a:rPr lang="en-US" altLang="zh-CN" sz="1800" dirty="0"/>
              <a:t>60~80</a:t>
            </a:r>
            <a:r>
              <a:rPr lang="zh-CN" altLang="en-US" sz="1800" dirty="0"/>
              <a:t>奖</a:t>
            </a:r>
            <a:r>
              <a:rPr lang="en-US" altLang="zh-CN" sz="1800" dirty="0"/>
              <a:t>300</a:t>
            </a:r>
          </a:p>
          <a:p>
            <a:pPr lvl="3"/>
            <a:r>
              <a:rPr lang="en-US" altLang="zh-CN" sz="1800" dirty="0"/>
              <a:t>60</a:t>
            </a:r>
            <a:r>
              <a:rPr lang="zh-CN" altLang="en-US" sz="1800" dirty="0"/>
              <a:t>以下罚款</a:t>
            </a:r>
            <a:r>
              <a:rPr lang="en-US" altLang="zh-CN" sz="1800" dirty="0"/>
              <a:t>200</a:t>
            </a:r>
            <a:r>
              <a:rPr lang="zh-CN" altLang="en-US" sz="1800" dirty="0"/>
              <a:t>元</a:t>
            </a:r>
            <a:endParaRPr lang="en-US" altLang="zh-CN" sz="1800" dirty="0"/>
          </a:p>
          <a:p>
            <a:pPr lvl="2"/>
            <a:r>
              <a:rPr lang="zh-CN" altLang="en-US" sz="2000" dirty="0"/>
              <a:t>层层深入，嵌套处理</a:t>
            </a:r>
            <a:endParaRPr lang="en-US" altLang="zh-CN" sz="2000" dirty="0"/>
          </a:p>
          <a:p>
            <a:pPr lvl="2"/>
            <a:r>
              <a:rPr lang="zh-CN" altLang="en-US" sz="2000" dirty="0"/>
              <a:t>一分为二，嵌套式处理（</a:t>
            </a:r>
            <a:r>
              <a:rPr lang="en-US" altLang="zh-CN" sz="2000" dirty="0"/>
              <a:t>80</a:t>
            </a:r>
            <a:r>
              <a:rPr lang="zh-CN" altLang="en-US" sz="2000" dirty="0"/>
              <a:t>为分割点）</a:t>
            </a:r>
            <a:endParaRPr lang="en-US" altLang="zh-CN" sz="2000" dirty="0"/>
          </a:p>
          <a:p>
            <a:pPr lvl="2"/>
            <a:r>
              <a:rPr lang="zh-CN" altLang="en-US" sz="2000" dirty="0"/>
              <a:t>利用多路分支实现分级处理，无嵌套</a:t>
            </a:r>
            <a:endParaRPr lang="en-US" altLang="zh-CN" sz="2000" dirty="0"/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F499E8-4838-176C-31BE-49A8875F8937}"/>
              </a:ext>
            </a:extLst>
          </p:cNvPr>
          <p:cNvSpPr txBox="1"/>
          <p:nvPr/>
        </p:nvSpPr>
        <p:spPr>
          <a:xfrm>
            <a:off x="8521461" y="0"/>
            <a:ext cx="3670539" cy="25160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cj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input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请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输入您的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成绩：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cj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int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(cj)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if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cj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&gt;=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90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chw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1000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else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05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if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cj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&gt;=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80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chw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700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05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else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if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cj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&gt;=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60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       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chw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300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else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       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chw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-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200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根据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您的成绩，应该发放：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%5d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元！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%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chw))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10C6B07-C39A-2543-94AA-1B05DBA59C25}"/>
              </a:ext>
            </a:extLst>
          </p:cNvPr>
          <p:cNvSpPr txBox="1"/>
          <p:nvPr/>
        </p:nvSpPr>
        <p:spPr>
          <a:xfrm>
            <a:off x="7996688" y="2606400"/>
            <a:ext cx="4117675" cy="25160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cj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input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请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输入您的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成绩：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cj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int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(cj)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if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cj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&gt;=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80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05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if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cj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&gt;=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90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chw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1000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05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else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chw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700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else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05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if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cj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&gt;=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60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chw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300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05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else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   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chw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-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200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根据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您的成绩，应该发放：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{:5d}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元！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.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format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(chw))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4CB25C0-D3AD-F50E-C808-875557A8B88C}"/>
              </a:ext>
            </a:extLst>
          </p:cNvPr>
          <p:cNvSpPr txBox="1"/>
          <p:nvPr/>
        </p:nvSpPr>
        <p:spPr>
          <a:xfrm>
            <a:off x="4490048" y="4631246"/>
            <a:ext cx="3411747" cy="219290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cj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input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请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输入您的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成绩：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cj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int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(cj)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if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cj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&gt;=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90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chw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1000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elif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cj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&gt;=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80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chw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700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elif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cj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&gt;=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60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chw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300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1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else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: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   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chw 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9267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= -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200</a:t>
            </a: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b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</a:b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66D9E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print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(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f'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根据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您的成绩，应该发放：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{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chw</a:t>
            </a: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AE81FF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}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元！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E6DB74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'</a:t>
            </a:r>
            <a:r>
              <a:rPr kumimoji="0" lang="zh-CN" altLang="zh-CN" sz="1050" b="0" i="0" u="none" strike="noStrike" kern="1200" cap="none" spc="0" normalizeH="0" baseline="0" noProof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Courier New" panose="02070309020205020404" pitchFamily="49" charset="0"/>
                <a:ea typeface="思源黑体 CN Normal"/>
                <a:cs typeface="Courier New" panose="02070309020205020404" pitchFamily="49" charset="0"/>
              </a:rPr>
              <a:t>)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Arial" panose="020B0604020202020204" pitchFamily="34" charset="0"/>
              <a:ea typeface="思源黑体 CN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049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/>
      <p:bldP spid="6" grpId="0" animBg="1"/>
      <p:bldP spid="9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Python</a:t>
            </a:r>
            <a:r>
              <a:rPr lang="zh-CN" altLang="en-US"/>
              <a:t>的分支语句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分支（选择）语句应用实例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实例</a:t>
            </a:r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多路分支及其嵌套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男女生在体能测试上有不同的标准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练习：</a:t>
            </a:r>
            <a:endParaRPr lang="en-US" altLang="zh-CN" dirty="0"/>
          </a:p>
          <a:p>
            <a:pPr lvl="2"/>
            <a:r>
              <a:rPr lang="zh-CN" altLang="en-US" dirty="0"/>
              <a:t>将数码格式的星期几转化为合适的中文方式显示。输入“</a:t>
            </a:r>
            <a:r>
              <a:rPr lang="en-US" altLang="zh-CN" dirty="0"/>
              <a:t>1</a:t>
            </a:r>
            <a:r>
              <a:rPr lang="zh-CN" altLang="en-US" dirty="0"/>
              <a:t>”时，输出“星期一”；输入“</a:t>
            </a:r>
            <a:r>
              <a:rPr lang="en-US" altLang="zh-CN" dirty="0"/>
              <a:t>2</a:t>
            </a:r>
            <a:r>
              <a:rPr lang="zh-CN" altLang="en-US" dirty="0"/>
              <a:t>”时，输出“星期二”；以此类推。</a:t>
            </a:r>
            <a:r>
              <a:rPr lang="en-US" altLang="zh-CN" dirty="0"/>
              <a:t>(p53)</a:t>
            </a:r>
          </a:p>
          <a:p>
            <a:pPr lvl="1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7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B6C541C-1831-78B5-F2A2-72E80CEBB6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THANK YOU !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65742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heme/theme1.xml><?xml version="1.0" encoding="utf-8"?>
<a:theme xmlns:a="http://schemas.openxmlformats.org/drawingml/2006/main" name="51PPT模板网">
  <a:themeElements>
    <a:clrScheme name="蓝色几何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3848A8"/>
      </a:accent1>
      <a:accent2>
        <a:srgbClr val="DDDEE0"/>
      </a:accent2>
      <a:accent3>
        <a:srgbClr val="7A85B8"/>
      </a:accent3>
      <a:accent4>
        <a:srgbClr val="9CA3BD"/>
      </a:accent4>
      <a:accent5>
        <a:srgbClr val="242431"/>
      </a:accent5>
      <a:accent6>
        <a:srgbClr val="F4B919"/>
      </a:accent6>
      <a:hlink>
        <a:srgbClr val="F84D4D"/>
      </a:hlink>
      <a:folHlink>
        <a:srgbClr val="979797"/>
      </a:folHlink>
    </a:clrScheme>
    <a:fontScheme name="自定义 1">
      <a:majorFont>
        <a:latin typeface="思源黑体 CN Bold"/>
        <a:ea typeface="思源黑体 CN Bold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3714</Words>
  <Application>Microsoft Office PowerPoint</Application>
  <PresentationFormat>宽屏</PresentationFormat>
  <Paragraphs>319</Paragraphs>
  <Slides>22</Slides>
  <Notes>8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-apple-system</vt:lpstr>
      <vt:lpstr>Arial Unicode MS</vt:lpstr>
      <vt:lpstr>等线</vt:lpstr>
      <vt:lpstr>思源黑体 CN Bold</vt:lpstr>
      <vt:lpstr>思源黑体 CN Normal</vt:lpstr>
      <vt:lpstr>宋体</vt:lpstr>
      <vt:lpstr>Arial</vt:lpstr>
      <vt:lpstr>Arial</vt:lpstr>
      <vt:lpstr>Consolas</vt:lpstr>
      <vt:lpstr>Courier New</vt:lpstr>
      <vt:lpstr>Source Code Pro</vt:lpstr>
      <vt:lpstr>51PPT模板网</vt:lpstr>
      <vt:lpstr>PowerPoint 演示文稿</vt:lpstr>
      <vt:lpstr>复习：Python的输入输出语句</vt:lpstr>
      <vt:lpstr>Python的输入输出语句</vt:lpstr>
      <vt:lpstr>Python的输入输出语句</vt:lpstr>
      <vt:lpstr>Python的输入输出语句</vt:lpstr>
      <vt:lpstr>PowerPoint 演示文稿</vt:lpstr>
      <vt:lpstr>Python的输入输出语句</vt:lpstr>
      <vt:lpstr>Python的数据、常量与变量</vt:lpstr>
      <vt:lpstr>第3讲 表达式与分支语句</vt:lpstr>
      <vt:lpstr>Python的表达式</vt:lpstr>
      <vt:lpstr>PowerPoint 演示文稿</vt:lpstr>
      <vt:lpstr>Python的表达式</vt:lpstr>
      <vt:lpstr>Python的表达式</vt:lpstr>
      <vt:lpstr>PowerPoint 演示文稿</vt:lpstr>
      <vt:lpstr>PowerPoint 演示文稿</vt:lpstr>
      <vt:lpstr>Python的分支语句</vt:lpstr>
      <vt:lpstr>Python的分支语句</vt:lpstr>
      <vt:lpstr>Python的分支语句</vt:lpstr>
      <vt:lpstr>Python的分支语句</vt:lpstr>
      <vt:lpstr>Python的分支语句</vt:lpstr>
      <vt:lpstr>Python的分支语句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rx zh</dc:creator>
  <cp:lastModifiedBy>rx zh</cp:lastModifiedBy>
  <cp:revision>2</cp:revision>
  <dcterms:created xsi:type="dcterms:W3CDTF">2023-09-21T07:17:10Z</dcterms:created>
  <dcterms:modified xsi:type="dcterms:W3CDTF">2023-09-21T09:12:27Z</dcterms:modified>
</cp:coreProperties>
</file>