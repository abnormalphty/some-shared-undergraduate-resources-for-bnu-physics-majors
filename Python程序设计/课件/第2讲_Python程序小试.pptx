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007578507" r:id="rId2"/>
    <p:sldId id="2007578505" r:id="rId3"/>
    <p:sldId id="2007578791" r:id="rId4"/>
    <p:sldId id="282" r:id="rId5"/>
    <p:sldId id="283" r:id="rId6"/>
    <p:sldId id="284" r:id="rId7"/>
    <p:sldId id="2007578506" r:id="rId8"/>
    <p:sldId id="2007578792" r:id="rId9"/>
    <p:sldId id="273" r:id="rId10"/>
    <p:sldId id="274" r:id="rId11"/>
    <p:sldId id="275" r:id="rId12"/>
    <p:sldId id="579" r:id="rId13"/>
    <p:sldId id="277" r:id="rId14"/>
    <p:sldId id="278" r:id="rId15"/>
    <p:sldId id="2007578789" r:id="rId16"/>
    <p:sldId id="279" r:id="rId17"/>
    <p:sldId id="2007578790" r:id="rId18"/>
    <p:sldId id="280" r:id="rId19"/>
    <p:sldId id="281" r:id="rId20"/>
    <p:sldId id="2007578740" r:id="rId21"/>
    <p:sldId id="2007578744" r:id="rId22"/>
    <p:sldId id="567" r:id="rId23"/>
    <p:sldId id="2007578747" r:id="rId24"/>
    <p:sldId id="569" r:id="rId25"/>
    <p:sldId id="2007578745" r:id="rId26"/>
    <p:sldId id="2007578715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5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35405-0B17-45F7-A5CF-D5178E6B5018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21265-A9E1-45CD-9409-0C3CB9926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08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98*7+5-21/32</a:t>
            </a:r>
          </a:p>
          <a:p>
            <a:r>
              <a:rPr lang="zh-CN" altLang="en-US" dirty="0"/>
              <a:t>交互式程序，人机对话方式，一句句来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67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关键词也称为保留字</a:t>
            </a:r>
            <a:endParaRPr lang="en-US" altLang="zh-CN" dirty="0"/>
          </a:p>
          <a:p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保留字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也叫关键字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是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语言中一些已经被赋予特定含义的单词</a:t>
            </a:r>
            <a:endParaRPr lang="en-US" altLang="zh-CN" b="0" i="0" dirty="0">
              <a:solidFill>
                <a:srgbClr val="F7313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b="0" i="0" dirty="0">
              <a:solidFill>
                <a:srgbClr val="F73131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外部已经编好的包，提供了很多做好的功能块，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077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4ab,ab%5,while, for</a:t>
            </a:r>
          </a:p>
          <a:p>
            <a:r>
              <a:rPr lang="en-US" altLang="zh-CN" dirty="0"/>
              <a:t>i7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1730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关键字：</a:t>
            </a:r>
            <a:r>
              <a:rPr lang="en-US" altLang="zh-CN" dirty="0"/>
              <a:t>input int from import for in done</a:t>
            </a:r>
          </a:p>
          <a:p>
            <a:r>
              <a:rPr lang="zh-CN" altLang="en-US" dirty="0"/>
              <a:t>别人定义的标识符：</a:t>
            </a:r>
            <a:r>
              <a:rPr lang="en-US" altLang="zh-CN" dirty="0"/>
              <a:t>turtle, </a:t>
            </a:r>
            <a:r>
              <a:rPr lang="en-US" altLang="zh-CN" dirty="0" err="1"/>
              <a:t>pencolor,pendown</a:t>
            </a:r>
            <a:r>
              <a:rPr lang="en-US" altLang="zh-CN" dirty="0"/>
              <a:t>, </a:t>
            </a:r>
            <a:r>
              <a:rPr lang="en-US" altLang="zh-CN" dirty="0" err="1"/>
              <a:t>fd</a:t>
            </a:r>
            <a:r>
              <a:rPr lang="en-US" altLang="zh-CN" dirty="0"/>
              <a:t>,  </a:t>
            </a:r>
            <a:r>
              <a:rPr lang="en-US" altLang="zh-CN" dirty="0" err="1"/>
              <a:t>penup</a:t>
            </a:r>
            <a:r>
              <a:rPr lang="en-US" altLang="zh-CN" dirty="0"/>
              <a:t>, print</a:t>
            </a:r>
          </a:p>
          <a:p>
            <a:r>
              <a:rPr lang="en-US" altLang="zh-CN" dirty="0" err="1"/>
              <a:t>Nn</a:t>
            </a:r>
            <a:r>
              <a:rPr lang="en-US" altLang="zh-CN" dirty="0"/>
              <a:t>, ang, I, </a:t>
            </a:r>
            <a:r>
              <a:rPr lang="en-US" altLang="zh-CN" dirty="0" err="1"/>
              <a:t>tpl</a:t>
            </a:r>
            <a:r>
              <a:rPr lang="zh-CN" altLang="en-US" dirty="0"/>
              <a:t>属于自己预定义的标识符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注意：键盘输入的一定是字符串，用其他函数强制把字符串改成其他的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070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Ｙｙ＝ｚｚ＝ｔｔ＝８</a:t>
            </a:r>
            <a:endParaRPr lang="en-US" altLang="zh-CN" dirty="0"/>
          </a:p>
          <a:p>
            <a:r>
              <a:rPr lang="zh-CN" altLang="en-US" dirty="0"/>
              <a:t>Ｉ，ｊ，ｋ＝３，４，５</a:t>
            </a:r>
            <a:endParaRPr lang="en-US" altLang="zh-CN" dirty="0"/>
          </a:p>
          <a:p>
            <a:r>
              <a:rPr lang="zh-CN" altLang="en-US" dirty="0"/>
              <a:t>赋值＝</a:t>
            </a:r>
            <a:endParaRPr lang="en-US" altLang="zh-CN" dirty="0"/>
          </a:p>
          <a:p>
            <a:r>
              <a:rPr lang="zh-CN" altLang="en-US" dirty="0"/>
              <a:t>比较＝＝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7925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107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141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scale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=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F99157"/>
                </a:solidFill>
                <a:effectLst/>
                <a:latin typeface="Source Code Pro" panose="020B0509030403020204" pitchFamily="49" charset="0"/>
              </a:rPr>
              <a:t>0.1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print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altLang="zh-CN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'</a:t>
            </a:r>
            <a:r>
              <a:rPr lang="zh-CN" altLang="en-US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数据的比例是</a:t>
            </a:r>
            <a:r>
              <a:rPr lang="en-US" altLang="zh-CN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%.2f'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%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scale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)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#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%</a:t>
            </a:r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的实现</a:t>
            </a:r>
            <a:r>
              <a:rPr lang="zh-CN" altLang="en-US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endParaRPr lang="en-US" altLang="zh-CN" b="0" i="0" dirty="0">
              <a:solidFill>
                <a:srgbClr val="CCCCCC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print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altLang="zh-CN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'</a:t>
            </a:r>
            <a:r>
              <a:rPr lang="zh-CN" altLang="en-US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数据的比例是</a:t>
            </a:r>
            <a:r>
              <a:rPr lang="en-US" altLang="zh-CN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%.1f%%'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%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scale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*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F99157"/>
                </a:solidFill>
                <a:effectLst/>
                <a:latin typeface="Source Code Pro" panose="020B0509030403020204" pitchFamily="49" charset="0"/>
              </a:rPr>
              <a:t>100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))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</a:p>
          <a:p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输出：</a:t>
            </a:r>
            <a:r>
              <a:rPr lang="zh-CN" altLang="en-US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数据的比例是</a:t>
            </a:r>
            <a:r>
              <a:rPr lang="en-US" altLang="zh-CN" b="0" i="0" dirty="0">
                <a:solidFill>
                  <a:srgbClr val="F99157"/>
                </a:solidFill>
                <a:effectLst/>
                <a:latin typeface="Source Code Pro" panose="020B0509030403020204" pitchFamily="49" charset="0"/>
              </a:rPr>
              <a:t>0.10</a:t>
            </a:r>
            <a:r>
              <a:rPr lang="zh-CN" altLang="en-US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数据的比例是</a:t>
            </a:r>
            <a:r>
              <a:rPr lang="en-US" altLang="zh-CN" b="0" i="0" dirty="0">
                <a:solidFill>
                  <a:srgbClr val="F99157"/>
                </a:solidFill>
                <a:effectLst/>
                <a:latin typeface="Source Code Pro" panose="020B0509030403020204" pitchFamily="49" charset="0"/>
              </a:rPr>
              <a:t>10.0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%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067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　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5968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幻灯片图像占位符 1">
            <a:extLst>
              <a:ext uri="{FF2B5EF4-FFF2-40B4-BE49-F238E27FC236}">
                <a16:creationId xmlns:a16="http://schemas.microsoft.com/office/drawing/2014/main" xmlns="" id="{ABF1A5D6-EC48-24C8-6CB8-3DA445BCA0B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87" name="备注占位符 2">
            <a:extLst>
              <a:ext uri="{FF2B5EF4-FFF2-40B4-BE49-F238E27FC236}">
                <a16:creationId xmlns:a16="http://schemas.microsoft.com/office/drawing/2014/main" xmlns="" id="{4072A2B6-E386-2C7E-AE31-ADE251C47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pPr>
              <a:spcBef>
                <a:spcPct val="0"/>
              </a:spcBef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可以看到第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行语句用逗号连接两个字符串，在输出的时候字母“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”和“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”中间有空格。</a:t>
            </a:r>
            <a:endParaRPr lang="en-US" altLang="zh-CN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endParaRPr lang="en-US" altLang="zh-CN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dirty="0"/>
              <a:t>https://www.modb.pro/db/130994</a:t>
            </a:r>
            <a:endParaRPr lang="zh-CN" altLang="zh-CN" dirty="0"/>
          </a:p>
        </p:txBody>
      </p:sp>
      <p:sp>
        <p:nvSpPr>
          <p:cNvPr id="4188" name="灯片编号占位符 3">
            <a:extLst>
              <a:ext uri="{FF2B5EF4-FFF2-40B4-BE49-F238E27FC236}">
                <a16:creationId xmlns:a16="http://schemas.microsoft.com/office/drawing/2014/main" xmlns="" id="{8E63D732-12A1-D70E-F7AE-C2089A41E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1" tIns="45716" rIns="91431" bIns="45716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A5A52C-AFAB-4D97-B0B9-65CA75090476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004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幻灯片图像占位符 1">
            <a:extLst>
              <a:ext uri="{FF2B5EF4-FFF2-40B4-BE49-F238E27FC236}">
                <a16:creationId xmlns:a16="http://schemas.microsoft.com/office/drawing/2014/main" xmlns="" id="{ABF1A5D6-EC48-24C8-6CB8-3DA445BCA0B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87" name="备注占位符 2">
            <a:extLst>
              <a:ext uri="{FF2B5EF4-FFF2-40B4-BE49-F238E27FC236}">
                <a16:creationId xmlns:a16="http://schemas.microsoft.com/office/drawing/2014/main" xmlns="" id="{4072A2B6-E386-2C7E-AE31-ADE251C47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pPr>
              <a:spcBef>
                <a:spcPct val="0"/>
              </a:spcBef>
            </a:pPr>
            <a:endParaRPr lang="en-US" altLang="zh-CN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fontAlgn="ctr"/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将“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hello world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赋值给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character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，然后直接输出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character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查看该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character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的原始值。也可以直接在交互式环境中运行“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hello world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，实现输出，如代码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1-3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所示。</a:t>
            </a:r>
            <a:endParaRPr lang="en-US" altLang="zh-CN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fontAlgn="ctr"/>
            <a:endParaRPr lang="en-US" altLang="zh-CN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fontAlgn="ctr"/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https://www.modb.pro/db/130994</a:t>
            </a:r>
            <a:endParaRPr lang="zh-CN" altLang="en-US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zh-CN" altLang="en-US" dirty="0"/>
              <a:t/>
            </a:r>
            <a:br>
              <a:rPr lang="zh-CN" altLang="en-US" dirty="0"/>
            </a:br>
            <a:endParaRPr lang="zh-CN" altLang="zh-CN" dirty="0"/>
          </a:p>
        </p:txBody>
      </p:sp>
      <p:sp>
        <p:nvSpPr>
          <p:cNvPr id="4188" name="灯片编号占位符 3">
            <a:extLst>
              <a:ext uri="{FF2B5EF4-FFF2-40B4-BE49-F238E27FC236}">
                <a16:creationId xmlns:a16="http://schemas.microsoft.com/office/drawing/2014/main" xmlns="" id="{8E63D732-12A1-D70E-F7AE-C2089A41E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1" tIns="45716" rIns="91431" bIns="45716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A5A52C-AFAB-4D97-B0B9-65CA75090476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140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1" name="幻灯片图像占位符 1">
            <a:extLst>
              <a:ext uri="{FF2B5EF4-FFF2-40B4-BE49-F238E27FC236}">
                <a16:creationId xmlns:a16="http://schemas.microsoft.com/office/drawing/2014/main" xmlns="" id="{B4431886-D787-B25A-3D78-C915089E2FD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2" name="备注占位符 2">
            <a:extLst>
              <a:ext uri="{FF2B5EF4-FFF2-40B4-BE49-F238E27FC236}">
                <a16:creationId xmlns:a16="http://schemas.microsoft.com/office/drawing/2014/main" xmlns="" id="{F501D455-5F4A-F182-4A72-C2F1C380D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pPr>
              <a:spcBef>
                <a:spcPct val="0"/>
              </a:spcBef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在执行第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行后，会依次打印出“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first: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second: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，则需要依次输入“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hello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world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，即可出现如图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1-2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所示的结果，可以完整的输出“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hello world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endParaRPr lang="en-US" altLang="zh-CN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dirty="0"/>
              <a:t>https://www.modb.pro/db/130994</a:t>
            </a:r>
            <a:endParaRPr lang="zh-CN" altLang="zh-CN" dirty="0"/>
          </a:p>
        </p:txBody>
      </p:sp>
      <p:sp>
        <p:nvSpPr>
          <p:cNvPr id="4193" name="灯片编号占位符 3">
            <a:extLst>
              <a:ext uri="{FF2B5EF4-FFF2-40B4-BE49-F238E27FC236}">
                <a16:creationId xmlns:a16="http://schemas.microsoft.com/office/drawing/2014/main" xmlns="" id="{8050DC67-E399-6ECB-617E-D94927D8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1" tIns="45716" rIns="91431" bIns="45716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buSzPct val="100000"/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D685F9-7AA1-4947-8FF3-305E1588E50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180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 flip="none" rotWithShape="1"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1990725"/>
            <a:ext cx="7965440" cy="1757362"/>
          </a:xfrm>
        </p:spPr>
        <p:txBody>
          <a:bodyPr vert="horz" lIns="91440" tIns="45720" rIns="91440" bIns="45720" rtlCol="0" anchor="b">
            <a:noAutofit/>
          </a:bodyPr>
          <a:lstStyle>
            <a:lvl1pPr algn="l">
              <a:defRPr lang="zh-CN" altLang="en-US" sz="6000" b="1" dirty="0">
                <a:solidFill>
                  <a:srgbClr val="FFFFFF"/>
                </a:solidFill>
              </a:defRPr>
            </a:lvl1pPr>
          </a:lstStyle>
          <a:p>
            <a:pPr lvl="0" defTabSz="914332"/>
            <a:r>
              <a:rPr lang="zh-CN" altLang="en-US" dirty="0"/>
              <a:t>商务几何扁平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8" name="Speaker Placeholder 3">
            <a:extLst>
              <a:ext uri="{FF2B5EF4-FFF2-40B4-BE49-F238E27FC236}">
                <a16:creationId xmlns:a16="http://schemas.microsoft.com/office/drawing/2014/main" xmlns="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3921193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xmlns="" id="{CA939A61-406D-45DC-B757-059EFAA058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4326535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xmlns="" id="{EC150303-72BE-99D1-AED7-E4050488661E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xmlns="" id="{424C7F08-71A0-00F5-EBBA-322ACAF13151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xmlns="" id="{273E1D4D-50D8-6D9E-A448-01F5EC6C8A48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xmlns="" id="{E5140AED-15FA-1550-1408-ABCC3DA6258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xmlns="" id="{3D31BE62-CC50-6DDF-053D-8D4A349275AD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2979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AD982555-EA3F-4B74-7506-7B4EBD37E234}"/>
              </a:ext>
            </a:extLst>
          </p:cNvPr>
          <p:cNvSpPr/>
          <p:nvPr userDrawn="1"/>
        </p:nvSpPr>
        <p:spPr>
          <a:xfrm>
            <a:off x="1" y="0"/>
            <a:ext cx="42509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FDF03A82-401C-4A0E-BE21-BE588E874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1784096"/>
            <a:ext cx="3045372" cy="594626"/>
          </a:xfrm>
        </p:spPr>
        <p:txBody>
          <a:bodyPr anchor="ctr" anchorCtr="0">
            <a:noAutofit/>
          </a:bodyPr>
          <a:lstStyle>
            <a:lvl1pPr marL="0" indent="0" algn="ctr">
              <a:buFont typeface="+mj-lt"/>
              <a:buNone/>
              <a:defRPr sz="4000" b="1">
                <a:solidFill>
                  <a:srgbClr val="FFFFFF"/>
                </a:solidFill>
                <a:latin typeface="+mj-ea"/>
                <a:ea typeface="+mj-ea"/>
              </a:defRPr>
            </a:lvl1pPr>
            <a:lvl2pPr marL="457189" indent="0">
              <a:buFont typeface="+mj-ea"/>
              <a:buNone/>
              <a:defRPr/>
            </a:lvl2pPr>
            <a:lvl3pPr marL="1257269" indent="-342891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xmlns="" id="{EFDB9EF8-9BCC-B7E0-416E-F38D808442D6}"/>
              </a:ext>
            </a:extLst>
          </p:cNvPr>
          <p:cNvGrpSpPr/>
          <p:nvPr userDrawn="1"/>
        </p:nvGrpSpPr>
        <p:grpSpPr>
          <a:xfrm>
            <a:off x="409577" y="2622550"/>
            <a:ext cx="3762375" cy="3436252"/>
            <a:chOff x="4648426" y="84668"/>
            <a:chExt cx="7182311" cy="6773332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xmlns="" id="{4FC22150-351F-1D32-05AB-F7EA0286743B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xmlns="" id="{E1618A74-B359-D3CA-7690-4D04767D5E33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xmlns="" id="{0CD826CB-6E0B-1B05-4FDD-2984599D3762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xmlns="" id="{9E5BD2CD-BEC8-A5D8-00BD-2A3A6C32C4A9}"/>
              </a:ext>
            </a:extLst>
          </p:cNvPr>
          <p:cNvSpPr/>
          <p:nvPr userDrawn="1"/>
        </p:nvSpPr>
        <p:spPr>
          <a:xfrm>
            <a:off x="2" y="3"/>
            <a:ext cx="1543049" cy="1580547"/>
          </a:xfrm>
          <a:custGeom>
            <a:avLst/>
            <a:gdLst>
              <a:gd name="connsiteX0" fmla="*/ 0 w 1543049"/>
              <a:gd name="connsiteY0" fmla="*/ 0 h 1580547"/>
              <a:gd name="connsiteX1" fmla="*/ 1389702 w 1543049"/>
              <a:gd name="connsiteY1" fmla="*/ 0 h 1580547"/>
              <a:gd name="connsiteX2" fmla="*/ 1464863 w 1543049"/>
              <a:gd name="connsiteY2" fmla="*/ 143926 h 1580547"/>
              <a:gd name="connsiteX3" fmla="*/ 1543049 w 1543049"/>
              <a:gd name="connsiteY3" fmla="*/ 546445 h 1580547"/>
              <a:gd name="connsiteX4" fmla="*/ 548121 w 1543049"/>
              <a:gd name="connsiteY4" fmla="*/ 1580547 h 1580547"/>
              <a:gd name="connsiteX5" fmla="*/ 73879 w 1543049"/>
              <a:gd name="connsiteY5" fmla="*/ 1455737 h 1580547"/>
              <a:gd name="connsiteX6" fmla="*/ 0 w 1543049"/>
              <a:gd name="connsiteY6" fmla="*/ 1409087 h 158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43049" h="1580547">
                <a:moveTo>
                  <a:pt x="0" y="0"/>
                </a:moveTo>
                <a:lnTo>
                  <a:pt x="1389702" y="0"/>
                </a:lnTo>
                <a:lnTo>
                  <a:pt x="1464863" y="143926"/>
                </a:lnTo>
                <a:cubicBezTo>
                  <a:pt x="1515209" y="267644"/>
                  <a:pt x="1543049" y="403665"/>
                  <a:pt x="1543049" y="546445"/>
                </a:cubicBezTo>
                <a:cubicBezTo>
                  <a:pt x="1543049" y="1117564"/>
                  <a:pt x="1097605" y="1580547"/>
                  <a:pt x="548121" y="1580547"/>
                </a:cubicBezTo>
                <a:cubicBezTo>
                  <a:pt x="376407" y="1580547"/>
                  <a:pt x="214854" y="1535334"/>
                  <a:pt x="73879" y="1455737"/>
                </a:cubicBezTo>
                <a:lnTo>
                  <a:pt x="0" y="1409087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36000"/>
                </a:schemeClr>
              </a:gs>
              <a:gs pos="100000">
                <a:schemeClr val="accent1">
                  <a:alpha val="5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xmlns="" id="{FDFBE58A-F4DC-EF1E-5D13-F8DFE171653F}"/>
              </a:ext>
            </a:extLst>
          </p:cNvPr>
          <p:cNvSpPr/>
          <p:nvPr userDrawn="1"/>
        </p:nvSpPr>
        <p:spPr>
          <a:xfrm>
            <a:off x="869210" y="2394698"/>
            <a:ext cx="2836561" cy="859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84487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3112284"/>
            <a:ext cx="7401560" cy="95105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>
                <a:solidFill>
                  <a:schemeClr val="tx1"/>
                </a:solidFill>
              </a:defRPr>
            </a:lvl1pPr>
          </a:lstStyle>
          <a:p>
            <a:pPr lvl="0" defTabSz="914332"/>
            <a:r>
              <a:rPr lang="zh-CN" altLang="en-US" dirty="0"/>
              <a:t>单击此处添加主标题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400" y="4111117"/>
            <a:ext cx="7401560" cy="440729"/>
          </a:xfrm>
        </p:spPr>
        <p:txBody>
          <a:bodyPr>
            <a:normAutofit/>
          </a:bodyPr>
          <a:lstStyle>
            <a:lvl1pPr marL="0" indent="0">
              <a:buNone/>
              <a:def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点击简单描述该章节的大概内容，阐述核心思想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xmlns="" id="{49A950A1-B947-717D-E187-AD0063089D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113598"/>
            <a:ext cx="7401187" cy="950912"/>
          </a:xfrm>
        </p:spPr>
        <p:txBody>
          <a:bodyPr anchor="b">
            <a:noAutofit/>
          </a:bodyPr>
          <a:lstStyle>
            <a:lvl1pPr marL="0" indent="0">
              <a:buNone/>
              <a:defRPr sz="6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xmlns="" id="{5D2D51EC-47FD-72C3-B4F8-45F79C45684E}"/>
              </a:ext>
            </a:extLst>
          </p:cNvPr>
          <p:cNvSpPr/>
          <p:nvPr userDrawn="1"/>
        </p:nvSpPr>
        <p:spPr>
          <a:xfrm>
            <a:off x="4907279" y="3"/>
            <a:ext cx="7284723" cy="6857999"/>
          </a:xfrm>
          <a:custGeom>
            <a:avLst/>
            <a:gdLst>
              <a:gd name="connsiteX0" fmla="*/ 1966125 w 7284723"/>
              <a:gd name="connsiteY0" fmla="*/ 0 h 6857999"/>
              <a:gd name="connsiteX1" fmla="*/ 7284723 w 7284723"/>
              <a:gd name="connsiteY1" fmla="*/ 0 h 6857999"/>
              <a:gd name="connsiteX2" fmla="*/ 7284723 w 7284723"/>
              <a:gd name="connsiteY2" fmla="*/ 6857999 h 6857999"/>
              <a:gd name="connsiteX3" fmla="*/ 1340755 w 7284723"/>
              <a:gd name="connsiteY3" fmla="*/ 6857999 h 6857999"/>
              <a:gd name="connsiteX4" fmla="*/ 1292639 w 7284723"/>
              <a:gd name="connsiteY4" fmla="*/ 6810960 h 6857999"/>
              <a:gd name="connsiteX5" fmla="*/ 0 w 7284723"/>
              <a:gd name="connsiteY5" fmla="*/ 3692584 h 6857999"/>
              <a:gd name="connsiteX6" fmla="*/ 1810751 w 7284723"/>
              <a:gd name="connsiteY6" fmla="*/ 11380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84723" h="6857999">
                <a:moveTo>
                  <a:pt x="1966125" y="0"/>
                </a:moveTo>
                <a:lnTo>
                  <a:pt x="7284723" y="0"/>
                </a:lnTo>
                <a:lnTo>
                  <a:pt x="7284723" y="6857999"/>
                </a:lnTo>
                <a:lnTo>
                  <a:pt x="1340755" y="6857999"/>
                </a:lnTo>
                <a:lnTo>
                  <a:pt x="1292639" y="6810960"/>
                </a:lnTo>
                <a:cubicBezTo>
                  <a:pt x="489500" y="5987340"/>
                  <a:pt x="0" y="4893243"/>
                  <a:pt x="0" y="3692584"/>
                </a:cubicBezTo>
                <a:cubicBezTo>
                  <a:pt x="0" y="2251793"/>
                  <a:pt x="704880" y="964452"/>
                  <a:pt x="1810751" y="113805"/>
                </a:cubicBezTo>
                <a:close/>
              </a:path>
            </a:pathLst>
          </a:custGeom>
          <a:gradFill flip="none" rotWithShape="1">
            <a:gsLst>
              <a:gs pos="0">
                <a:srgbClr val="6B78C4"/>
              </a:gs>
              <a:gs pos="32000">
                <a:schemeClr val="accent1">
                  <a:lumMod val="45000"/>
                  <a:lumOff val="55000"/>
                  <a:alpha val="46000"/>
                </a:schemeClr>
              </a:gs>
              <a:gs pos="84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xmlns="" id="{C8B77142-FA8F-519E-7BBD-ABAE915BDE36}"/>
              </a:ext>
            </a:extLst>
          </p:cNvPr>
          <p:cNvSpPr/>
          <p:nvPr userDrawn="1"/>
        </p:nvSpPr>
        <p:spPr>
          <a:xfrm>
            <a:off x="7528557" y="1698"/>
            <a:ext cx="6891224" cy="9100292"/>
          </a:xfrm>
          <a:custGeom>
            <a:avLst/>
            <a:gdLst>
              <a:gd name="connsiteX0" fmla="*/ 3621363 w 6891224"/>
              <a:gd name="connsiteY0" fmla="*/ 0 h 9100292"/>
              <a:gd name="connsiteX1" fmla="*/ 4663443 w 6891224"/>
              <a:gd name="connsiteY1" fmla="*/ 0 h 9100292"/>
              <a:gd name="connsiteX2" fmla="*/ 4663443 w 6891224"/>
              <a:gd name="connsiteY2" fmla="*/ 8743717 h 9100292"/>
              <a:gd name="connsiteX3" fmla="*/ 6891224 w 6891224"/>
              <a:gd name="connsiteY3" fmla="*/ 8743717 h 9100292"/>
              <a:gd name="connsiteX4" fmla="*/ 6686729 w 6891224"/>
              <a:gd name="connsiteY4" fmla="*/ 8818869 h 9100292"/>
              <a:gd name="connsiteX5" fmla="*/ 4975861 w 6891224"/>
              <a:gd name="connsiteY5" fmla="*/ 9100292 h 9100292"/>
              <a:gd name="connsiteX6" fmla="*/ 0 w 6891224"/>
              <a:gd name="connsiteY6" fmla="*/ 4462457 h 9100292"/>
              <a:gd name="connsiteX7" fmla="*/ 3496192 w 6891224"/>
              <a:gd name="connsiteY7" fmla="*/ 33130 h 9100292"/>
              <a:gd name="connsiteX8" fmla="*/ 3621363 w 6891224"/>
              <a:gd name="connsiteY8" fmla="*/ 0 h 910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91224" h="9100292">
                <a:moveTo>
                  <a:pt x="3621363" y="0"/>
                </a:moveTo>
                <a:lnTo>
                  <a:pt x="4663443" y="0"/>
                </a:lnTo>
                <a:lnTo>
                  <a:pt x="4663443" y="8743717"/>
                </a:lnTo>
                <a:lnTo>
                  <a:pt x="6891224" y="8743717"/>
                </a:lnTo>
                <a:lnTo>
                  <a:pt x="6686729" y="8818869"/>
                </a:lnTo>
                <a:cubicBezTo>
                  <a:pt x="6153253" y="9000932"/>
                  <a:pt x="5577006" y="9100292"/>
                  <a:pt x="4975861" y="9100292"/>
                </a:cubicBezTo>
                <a:cubicBezTo>
                  <a:pt x="2227769" y="9100292"/>
                  <a:pt x="0" y="7023863"/>
                  <a:pt x="0" y="4462457"/>
                </a:cubicBezTo>
                <a:cubicBezTo>
                  <a:pt x="0" y="2381315"/>
                  <a:pt x="1470676" y="620333"/>
                  <a:pt x="3496192" y="33130"/>
                </a:cubicBezTo>
                <a:lnTo>
                  <a:pt x="3621363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45000"/>
                  <a:lumOff val="55000"/>
                  <a:alpha val="45000"/>
                </a:schemeClr>
              </a:gs>
              <a:gs pos="50000">
                <a:schemeClr val="accent1">
                  <a:alpha val="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xmlns="" id="{49B6B922-9FE0-ACC0-2856-83979932223A}"/>
              </a:ext>
            </a:extLst>
          </p:cNvPr>
          <p:cNvSpPr/>
          <p:nvPr userDrawn="1"/>
        </p:nvSpPr>
        <p:spPr>
          <a:xfrm>
            <a:off x="6242193" y="3655434"/>
            <a:ext cx="5949809" cy="3202566"/>
          </a:xfrm>
          <a:custGeom>
            <a:avLst/>
            <a:gdLst>
              <a:gd name="connsiteX0" fmla="*/ 4151489 w 5949809"/>
              <a:gd name="connsiteY0" fmla="*/ 0 h 3202566"/>
              <a:gd name="connsiteX1" fmla="*/ 5824340 w 5949809"/>
              <a:gd name="connsiteY1" fmla="*/ 337733 h 3202566"/>
              <a:gd name="connsiteX2" fmla="*/ 5949809 w 5949809"/>
              <a:gd name="connsiteY2" fmla="*/ 394457 h 3202566"/>
              <a:gd name="connsiteX3" fmla="*/ 5949809 w 5949809"/>
              <a:gd name="connsiteY3" fmla="*/ 3202566 h 3202566"/>
              <a:gd name="connsiteX4" fmla="*/ 0 w 5949809"/>
              <a:gd name="connsiteY4" fmla="*/ 3202566 h 3202566"/>
              <a:gd name="connsiteX5" fmla="*/ 47025 w 5949809"/>
              <a:gd name="connsiteY5" fmla="*/ 3019682 h 3202566"/>
              <a:gd name="connsiteX6" fmla="*/ 4151489 w 5949809"/>
              <a:gd name="connsiteY6" fmla="*/ 0 h 320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9809" h="3202566">
                <a:moveTo>
                  <a:pt x="4151489" y="0"/>
                </a:moveTo>
                <a:cubicBezTo>
                  <a:pt x="4744875" y="0"/>
                  <a:pt x="5310173" y="120259"/>
                  <a:pt x="5824340" y="337733"/>
                </a:cubicBezTo>
                <a:lnTo>
                  <a:pt x="5949809" y="394457"/>
                </a:lnTo>
                <a:lnTo>
                  <a:pt x="5949809" y="3202566"/>
                </a:lnTo>
                <a:lnTo>
                  <a:pt x="0" y="3202566"/>
                </a:lnTo>
                <a:lnTo>
                  <a:pt x="47025" y="3019682"/>
                </a:lnTo>
                <a:cubicBezTo>
                  <a:pt x="591160" y="1270231"/>
                  <a:pt x="2222986" y="0"/>
                  <a:pt x="415148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17446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xmlns="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xmlns="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xmlns="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xmlns="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44988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xmlns="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xmlns="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xmlns="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xmlns="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2A9F09-7DDC-32D6-81D8-6D33FC493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10858500" cy="50038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600"/>
              </a:spcBef>
              <a:defRPr sz="24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00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180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6949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DC6DA8-D137-41D2-A934-63CB8FFB8B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8AB63B05-F6A0-3D6F-F801-8D11984D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2023/9/14</a:t>
            </a:fld>
            <a:endParaRPr lang="en-US" altLang="zh-CN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127CA976-277E-412D-DEC7-ABBF4B1C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0576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7F34B5E9-7F1A-757A-6933-C2854022C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2023/9/14</a:t>
            </a:fld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DED42E90-FD3D-CF04-A89E-B408C659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商务</a:t>
            </a:r>
            <a:r>
              <a:rPr lang="en-US" altLang="zh-CN"/>
              <a:t>PPT</a:t>
            </a:r>
            <a:r>
              <a:rPr lang="zh-CN" altLang="en-US"/>
              <a:t>模板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BC451E9D-D337-3CDB-5813-83070E69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1176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AAA98E5A-3A9B-76BC-8AC3-016C59AA4760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xmlns="" id="{443180D6-55C2-456A-876B-6DFD6FED559E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xmlns="" id="{CCE37F71-F955-2E51-24EA-BAE38D51B2AA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xmlns="" id="{2863C955-22E4-E129-BD9B-0A61289448A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xmlns="" id="{9BF1409B-5AAA-AD35-F9DB-81783BA40697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0" name="Speaker Placeholder 3">
            <a:extLst>
              <a:ext uri="{FF2B5EF4-FFF2-40B4-BE49-F238E27FC236}">
                <a16:creationId xmlns:a16="http://schemas.microsoft.com/office/drawing/2014/main" xmlns="" id="{393CF57B-4E6D-EC77-AFD7-10BC4CE1EE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3769098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xmlns="" id="{0491E251-5B90-7136-462F-BC5F844245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1" y="4174440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2753098"/>
            <a:ext cx="10858500" cy="885891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buNone/>
              <a:defRPr lang="en-US" altLang="zh-CN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189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594" lvl="0" indent="-228594" defTabSz="914332">
              <a:spcBef>
                <a:spcPct val="0"/>
              </a:spcBef>
            </a:pPr>
            <a:r>
              <a:rPr lang="en-US" altLang="zh-CN" dirty="0"/>
              <a:t>THANK YOU</a:t>
            </a:r>
            <a:r>
              <a:rPr lang="zh-CN" altLang="en-US" dirty="0"/>
              <a:t>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84801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93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332"/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1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0B16C00-AE39-4635-9F10-B7233D2A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商务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12D871-753D-4991-B44B-EFAE9F868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4657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581C77-C049-4AAA-A3C8-544909BBB11E}" type="datetime1">
              <a:rPr lang="zh-CN" altLang="en-US" smtClean="0"/>
              <a:t>2023/9/14</a:t>
            </a:fld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28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7184425-2FB2-5733-F52E-09792E3D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讲 </a:t>
            </a:r>
            <a:r>
              <a:rPr lang="en-US" altLang="zh-CN" dirty="0"/>
              <a:t>Python</a:t>
            </a:r>
            <a:r>
              <a:rPr lang="zh-CN" altLang="en-US" dirty="0"/>
              <a:t>程序小试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AE1452CE-3071-43E9-DFC8-689475B8C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744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程序的基本结构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程序设计应该从最简单语句开始</a:t>
            </a:r>
            <a:endParaRPr lang="en-US" altLang="zh-CN" dirty="0"/>
          </a:p>
          <a:p>
            <a:pPr lvl="1"/>
            <a:r>
              <a:rPr lang="zh-CN" altLang="en-US" dirty="0"/>
              <a:t>交互式程序</a:t>
            </a:r>
            <a:endParaRPr lang="en-US" altLang="zh-CN" dirty="0"/>
          </a:p>
          <a:p>
            <a:pPr lvl="2"/>
            <a:r>
              <a:rPr lang="zh-CN" altLang="en-US" b="0" dirty="0"/>
              <a:t>常见表达式的计算</a:t>
            </a:r>
            <a:endParaRPr lang="en-US" altLang="zh-CN" b="0" dirty="0"/>
          </a:p>
          <a:p>
            <a:pPr lvl="2"/>
            <a:r>
              <a:rPr lang="zh-CN" altLang="en-US" b="0" dirty="0"/>
              <a:t>以</a:t>
            </a:r>
            <a:r>
              <a:rPr lang="en-US" altLang="zh-CN" b="0" dirty="0"/>
              <a:t>Python</a:t>
            </a:r>
            <a:r>
              <a:rPr lang="zh-CN" altLang="en-US" b="0" dirty="0"/>
              <a:t>当计算器用</a:t>
            </a:r>
            <a:endParaRPr lang="en-US" altLang="zh-CN" b="0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编写一个最简单的程序文档</a:t>
            </a:r>
            <a:endParaRPr lang="en-US" altLang="zh-CN" dirty="0">
              <a:solidFill>
                <a:srgbClr val="C00000"/>
              </a:solidFill>
            </a:endParaRPr>
          </a:p>
          <a:p>
            <a:pPr lvl="2"/>
            <a:r>
              <a:rPr lang="en-US" altLang="zh-CN" dirty="0" err="1">
                <a:solidFill>
                  <a:srgbClr val="C00000"/>
                </a:solidFill>
              </a:rPr>
              <a:t>Hellow</a:t>
            </a:r>
            <a:r>
              <a:rPr lang="en-US" altLang="zh-CN" dirty="0">
                <a:solidFill>
                  <a:srgbClr val="C00000"/>
                </a:solidFill>
              </a:rPr>
              <a:t> World</a:t>
            </a:r>
            <a:r>
              <a:rPr lang="zh-CN" altLang="en-US" dirty="0">
                <a:solidFill>
                  <a:srgbClr val="C00000"/>
                </a:solidFill>
              </a:rPr>
              <a:t>！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b="0" dirty="0"/>
              <a:t>运行程序</a:t>
            </a:r>
            <a:endParaRPr lang="en-US" altLang="zh-CN" b="0" dirty="0"/>
          </a:p>
          <a:p>
            <a:pPr lvl="2"/>
            <a:r>
              <a:rPr lang="zh-CN" altLang="en-US" b="0" dirty="0"/>
              <a:t>检查程序是否可执行</a:t>
            </a:r>
            <a:endParaRPr lang="en-US" altLang="zh-CN" b="0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886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99A58E8-9D06-67DC-3BF5-FF0546639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程序的基本结构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7CF767C5-F5E3-90E7-19DE-802FE1AD4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基础语句</a:t>
            </a:r>
            <a:endParaRPr lang="en-US" altLang="zh-CN" b="1" dirty="0"/>
          </a:p>
          <a:p>
            <a:pPr lvl="1"/>
            <a:r>
              <a:rPr lang="zh-CN" altLang="en-US" dirty="0"/>
              <a:t>每条语句占一行，末尾不需要分号标记</a:t>
            </a:r>
            <a:endParaRPr lang="en-US" altLang="zh-CN" dirty="0"/>
          </a:p>
          <a:p>
            <a:pPr lvl="1"/>
            <a:r>
              <a:rPr lang="zh-CN" altLang="en-US" b="1" dirty="0"/>
              <a:t>赋值语句</a:t>
            </a:r>
            <a:r>
              <a:rPr lang="zh-CN" altLang="en-US" dirty="0"/>
              <a:t>：把一个常量或表达式赋值给某个变量的语句</a:t>
            </a:r>
            <a:endParaRPr lang="en-US" altLang="zh-CN" dirty="0"/>
          </a:p>
          <a:p>
            <a:pPr lvl="1"/>
            <a:r>
              <a:rPr lang="zh-CN" altLang="en-US" b="1" dirty="0"/>
              <a:t>输入</a:t>
            </a:r>
            <a:r>
              <a:rPr lang="en-US" altLang="zh-CN" b="1" dirty="0"/>
              <a:t>\</a:t>
            </a:r>
            <a:r>
              <a:rPr lang="zh-CN" altLang="en-US" b="1" dirty="0"/>
              <a:t>输出语句</a:t>
            </a:r>
            <a:r>
              <a:rPr lang="zh-CN" altLang="en-US" dirty="0"/>
              <a:t>：</a:t>
            </a:r>
            <a:r>
              <a:rPr lang="en-US" altLang="zh-CN" dirty="0"/>
              <a:t>input()    print()</a:t>
            </a:r>
          </a:p>
          <a:p>
            <a:pPr lvl="1"/>
            <a:r>
              <a:rPr lang="zh-CN" altLang="en-US" b="1" dirty="0"/>
              <a:t>注释语句</a:t>
            </a:r>
            <a:r>
              <a:rPr lang="zh-CN" altLang="en-US" dirty="0"/>
              <a:t>：附加在程序代码中用以辅助解释程序代码功能的说明性信息。以</a:t>
            </a:r>
            <a:r>
              <a:rPr lang="en-US" altLang="zh-CN" dirty="0"/>
              <a:t>#</a:t>
            </a:r>
            <a:r>
              <a:rPr lang="zh-CN" altLang="en-US" dirty="0"/>
              <a:t>开头</a:t>
            </a:r>
            <a:endParaRPr lang="en-US" altLang="zh-CN" dirty="0"/>
          </a:p>
          <a:p>
            <a:pPr lvl="1"/>
            <a:r>
              <a:rPr lang="zh-CN" altLang="en-US" b="1" dirty="0"/>
              <a:t>控制语句</a:t>
            </a:r>
            <a:r>
              <a:rPr lang="zh-CN" altLang="en-US" dirty="0"/>
              <a:t>：控制程序的流向， </a:t>
            </a:r>
            <a:r>
              <a:rPr lang="en-US" altLang="zh-CN" dirty="0"/>
              <a:t>if</a:t>
            </a:r>
            <a:r>
              <a:rPr lang="zh-CN" altLang="en-US" dirty="0"/>
              <a:t>语句、</a:t>
            </a:r>
            <a:r>
              <a:rPr lang="en-US" altLang="zh-CN" dirty="0"/>
              <a:t>for</a:t>
            </a:r>
            <a:r>
              <a:rPr lang="zh-CN" altLang="en-US" dirty="0"/>
              <a:t>语句、</a:t>
            </a:r>
            <a:r>
              <a:rPr lang="en-US" altLang="zh-CN" dirty="0"/>
              <a:t>while</a:t>
            </a:r>
            <a:r>
              <a:rPr lang="zh-CN" altLang="en-US" dirty="0"/>
              <a:t>语句</a:t>
            </a:r>
            <a:endParaRPr lang="en-US" altLang="zh-CN" dirty="0"/>
          </a:p>
          <a:p>
            <a:pPr lvl="1"/>
            <a:r>
              <a:rPr lang="en-US" altLang="zh-CN" b="1" dirty="0"/>
              <a:t>Break</a:t>
            </a:r>
            <a:r>
              <a:rPr lang="zh-CN" altLang="en-US" b="1" dirty="0"/>
              <a:t>与</a:t>
            </a:r>
            <a:r>
              <a:rPr lang="en-US" altLang="zh-CN" b="1" dirty="0"/>
              <a:t>continue</a:t>
            </a:r>
            <a:r>
              <a:rPr lang="zh-CN" altLang="en-US" b="1" dirty="0"/>
              <a:t>语句</a:t>
            </a:r>
            <a:r>
              <a:rPr lang="zh-CN" altLang="en-US" dirty="0"/>
              <a:t>：</a:t>
            </a:r>
            <a:r>
              <a:rPr lang="en-US" altLang="zh-CN" dirty="0"/>
              <a:t>break</a:t>
            </a:r>
            <a:r>
              <a:rPr lang="zh-CN" altLang="en-US" dirty="0"/>
              <a:t>强行跳出循环体结束此循环；</a:t>
            </a:r>
            <a:r>
              <a:rPr lang="en-US" altLang="zh-CN" dirty="0"/>
              <a:t>continue</a:t>
            </a:r>
            <a:r>
              <a:rPr lang="zh-CN" altLang="en-US" dirty="0"/>
              <a:t>不再执行</a:t>
            </a:r>
            <a:r>
              <a:rPr lang="en-US" altLang="zh-CN" dirty="0"/>
              <a:t>continue</a:t>
            </a:r>
            <a:r>
              <a:rPr lang="zh-CN" altLang="en-US" dirty="0"/>
              <a:t>之后的语句，直接跳到循环开始之处</a:t>
            </a:r>
            <a:endParaRPr lang="en-US" altLang="zh-CN" dirty="0"/>
          </a:p>
          <a:p>
            <a:pPr lvl="1"/>
            <a:r>
              <a:rPr lang="zh-CN" altLang="en-US" b="1" dirty="0"/>
              <a:t>语句块</a:t>
            </a:r>
            <a:r>
              <a:rPr lang="zh-CN" altLang="en-US" dirty="0"/>
              <a:t>：多条语句作为一个整体接受循环或分支语句的控制，就形成一个语句块，按照规范统一地右缩进。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72AB3F73-34A2-FB77-8FF3-033CB51CA03E}"/>
              </a:ext>
            </a:extLst>
          </p:cNvPr>
          <p:cNvSpPr txBox="1"/>
          <p:nvPr/>
        </p:nvSpPr>
        <p:spPr>
          <a:xfrm>
            <a:off x="2705364" y="5290345"/>
            <a:ext cx="9057814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x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range(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y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range(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z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range(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(x*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+y*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+z/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x+y+z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 print(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公鸡有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{0}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只，母鸡有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{1}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只，小鸡有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{2}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只！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.format(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x,y,z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0E93377C-A583-199D-6947-C92381FF945A}"/>
              </a:ext>
            </a:extLst>
          </p:cNvPr>
          <p:cNvSpPr txBox="1"/>
          <p:nvPr/>
        </p:nvSpPr>
        <p:spPr>
          <a:xfrm>
            <a:off x="3563533" y="1293832"/>
            <a:ext cx="8628467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pieces = []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year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range(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1880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2011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path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"datasets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babynames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yob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{year}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.txt"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frame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pd.read_csv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(path, names=[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"name"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"sex"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"births"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Add a column for the year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frame[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"year"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= year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pieces.append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(frame)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Concatenate everything into a single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DataFrame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names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pd.concat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(pieces,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ignore_index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True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419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  <p:bldP spid="5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程序的基本结构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程序的基本结构</a:t>
            </a:r>
            <a:endParaRPr lang="en-US" altLang="zh-CN" dirty="0"/>
          </a:p>
          <a:p>
            <a:pPr lvl="1"/>
            <a:r>
              <a:rPr lang="zh-CN" altLang="en-US" dirty="0"/>
              <a:t>程序由语句构成</a:t>
            </a:r>
            <a:endParaRPr lang="en-US" altLang="zh-CN" dirty="0"/>
          </a:p>
          <a:p>
            <a:pPr lvl="2"/>
            <a:r>
              <a:rPr lang="zh-CN" altLang="en-US" b="0" dirty="0"/>
              <a:t>语句</a:t>
            </a:r>
            <a:r>
              <a:rPr lang="en-US" altLang="zh-CN" b="0" dirty="0"/>
              <a:t>=</a:t>
            </a:r>
            <a:r>
              <a:rPr lang="zh-CN" altLang="en-US" b="0" dirty="0"/>
              <a:t>关键词</a:t>
            </a:r>
            <a:r>
              <a:rPr lang="en-US" altLang="zh-CN" b="0" dirty="0"/>
              <a:t>+</a:t>
            </a:r>
            <a:r>
              <a:rPr lang="zh-CN" altLang="en-US" b="0" dirty="0"/>
              <a:t>被控制的各种数据</a:t>
            </a:r>
            <a:endParaRPr lang="en-US" altLang="zh-CN" b="0" dirty="0"/>
          </a:p>
          <a:p>
            <a:pPr lvl="2"/>
            <a:r>
              <a:rPr lang="zh-CN" altLang="en-US" b="0" dirty="0"/>
              <a:t>各数据以标识符作为标记</a:t>
            </a:r>
            <a:endParaRPr lang="en-US" altLang="zh-CN" b="0" dirty="0"/>
          </a:p>
          <a:p>
            <a:pPr lvl="3"/>
            <a:r>
              <a:rPr lang="zh-CN" altLang="en-US" sz="1800" b="0" dirty="0"/>
              <a:t>简单的整数、小数</a:t>
            </a:r>
            <a:endParaRPr lang="en-US" altLang="zh-CN" sz="1800" b="0" dirty="0"/>
          </a:p>
          <a:p>
            <a:pPr lvl="3"/>
            <a:r>
              <a:rPr lang="zh-CN" altLang="en-US" sz="1800" b="0" dirty="0"/>
              <a:t>较复杂的字符串</a:t>
            </a:r>
            <a:endParaRPr lang="en-US" altLang="zh-CN" sz="1800" b="0" dirty="0"/>
          </a:p>
          <a:p>
            <a:pPr lvl="3"/>
            <a:r>
              <a:rPr lang="zh-CN" altLang="en-US" sz="1800" b="0" dirty="0"/>
              <a:t>函数</a:t>
            </a:r>
            <a:r>
              <a:rPr lang="en-US" altLang="zh-CN" sz="1800" b="0" dirty="0"/>
              <a:t>——</a:t>
            </a:r>
            <a:r>
              <a:rPr lang="zh-CN" altLang="en-US" sz="1800" b="0" dirty="0"/>
              <a:t>程序块</a:t>
            </a:r>
            <a:endParaRPr lang="en-US" altLang="zh-CN" sz="1800" b="0" dirty="0"/>
          </a:p>
          <a:p>
            <a:pPr lvl="3"/>
            <a:r>
              <a:rPr lang="zh-CN" altLang="en-US" sz="1800" b="0" dirty="0"/>
              <a:t>对象</a:t>
            </a:r>
            <a:r>
              <a:rPr lang="en-US" altLang="zh-CN" sz="1800" b="0" dirty="0"/>
              <a:t>——class</a:t>
            </a:r>
            <a:r>
              <a:rPr lang="zh-CN" altLang="en-US" sz="1800" b="0" dirty="0"/>
              <a:t>的实例</a:t>
            </a:r>
            <a:endParaRPr lang="en-US" altLang="zh-CN" sz="1800" b="0" dirty="0"/>
          </a:p>
          <a:p>
            <a:pPr lvl="1"/>
            <a:r>
              <a:rPr lang="zh-CN" altLang="en-US" dirty="0"/>
              <a:t>大型程序的结构</a:t>
            </a:r>
            <a:endParaRPr lang="en-US" altLang="zh-CN" dirty="0"/>
          </a:p>
          <a:p>
            <a:pPr lvl="2"/>
            <a:r>
              <a:rPr lang="zh-CN" altLang="en-US" dirty="0"/>
              <a:t>函数：程序块（功能块）</a:t>
            </a:r>
            <a:endParaRPr lang="en-US" altLang="zh-CN" dirty="0"/>
          </a:p>
          <a:p>
            <a:pPr lvl="2"/>
            <a:r>
              <a:rPr lang="zh-CN" altLang="en-US" dirty="0"/>
              <a:t>对象：</a:t>
            </a:r>
            <a:r>
              <a:rPr lang="zh-CN" altLang="en-US" b="0" dirty="0"/>
              <a:t>客观物体的描述（静态属性</a:t>
            </a:r>
            <a:r>
              <a:rPr lang="en-US" altLang="zh-CN" b="0" dirty="0"/>
              <a:t>+</a:t>
            </a:r>
            <a:r>
              <a:rPr lang="zh-CN" altLang="en-US" b="0" dirty="0"/>
              <a:t>动态方法）</a:t>
            </a:r>
            <a:endParaRPr lang="en-US" altLang="zh-CN" b="0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92F5DFE0-CB8D-24D4-94DE-7C1B711B5B32}"/>
              </a:ext>
            </a:extLst>
          </p:cNvPr>
          <p:cNvSpPr txBox="1"/>
          <p:nvPr/>
        </p:nvSpPr>
        <p:spPr>
          <a:xfrm>
            <a:off x="7366659" y="1021278"/>
            <a:ext cx="4639294" cy="390454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声明变量或类的作用域：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global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“类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”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声明和函数定义：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class, def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控制程序的运行走向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   分支：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if else,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elif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   循环：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while, for ,break, continue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   异常处理：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try except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   结束函数：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return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类与外部库的管理：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import, from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常见的运算符：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and, not, in, or, is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……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101B9E6D-DBC3-CDD4-E07A-9B1DF75AFE36}"/>
              </a:ext>
            </a:extLst>
          </p:cNvPr>
          <p:cNvSpPr txBox="1"/>
          <p:nvPr/>
        </p:nvSpPr>
        <p:spPr>
          <a:xfrm>
            <a:off x="56189" y="5550624"/>
            <a:ext cx="7310470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def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get_quantile_count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(group, q=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0.5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group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group.sort_values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"prop"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ascending=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False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return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group.prop.cumsum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().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searchsorted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(q) +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diversity = top1000.groupby([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"year"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"sex"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]).apply(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get_quantile_count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diversity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diversity.unstack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00E988C5-5F46-AD31-768F-CB2AB9C576B3}"/>
              </a:ext>
            </a:extLst>
          </p:cNvPr>
          <p:cNvSpPr txBox="1"/>
          <p:nvPr/>
        </p:nvSpPr>
        <p:spPr>
          <a:xfrm>
            <a:off x="6743437" y="-125820"/>
            <a:ext cx="5675587" cy="71096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class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Car: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"""A simple attempt to represent a car."""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def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__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init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__(self, make, model, year):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"""Initialize attributes to describe a car."""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self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.make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make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self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.model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self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.year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year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self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.odometer_reading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def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get_descriptive_name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(self):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"""Return a neatly formatted descriptive name."""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long_name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{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self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.year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}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{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self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.make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}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{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self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.model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}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return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long_name.title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def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read_odometer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(self):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"""Print a statement showing the car's mileage."""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print(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"This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car has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{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self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.odometer_reading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}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miles on it."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def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update_odometer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(self, mileage):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"""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Set the odometer reading to the given value.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Reject the change if it attempts to roll the odometer back.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"""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mileage &gt;=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self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.odometer_reading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   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self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.odometer_reading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mileage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else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    print(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"You can't roll back an odometer!"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def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increment_odometer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(self, miles):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"""Add the given amount to the odometer reading."""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self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.odometer_reading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+= miles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my_used_car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Car(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subaru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'outback'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2019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my_used_car.get_descriptive_name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426695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  <p:bldP spid="6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程序的基本结构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1" y="1130299"/>
            <a:ext cx="10858500" cy="52111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5000"/>
              </a:lnSpc>
            </a:pPr>
            <a:r>
              <a:rPr lang="en-US" altLang="zh-CN" dirty="0"/>
              <a:t>3. </a:t>
            </a:r>
            <a:r>
              <a:rPr lang="zh-CN" altLang="en-US" dirty="0"/>
              <a:t>标识符与关键字（</a:t>
            </a:r>
            <a:r>
              <a:rPr lang="en-US" altLang="zh-CN" dirty="0"/>
              <a:t>p40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5000"/>
              </a:lnSpc>
            </a:pPr>
            <a:r>
              <a:rPr lang="zh-CN" altLang="en-US" dirty="0"/>
              <a:t>关键字</a:t>
            </a:r>
            <a:endParaRPr lang="en-US" altLang="zh-CN" dirty="0"/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C00000"/>
                </a:solidFill>
              </a:rPr>
              <a:t>为了表示程序结构、定义和修饰变量和程序，</a:t>
            </a:r>
            <a:r>
              <a:rPr lang="en-US" altLang="zh-CN" sz="2000" dirty="0">
                <a:solidFill>
                  <a:srgbClr val="C00000"/>
                </a:solidFill>
              </a:rPr>
              <a:t>PY</a:t>
            </a:r>
            <a:r>
              <a:rPr lang="zh-CN" altLang="en-US" sz="2000" dirty="0">
                <a:solidFill>
                  <a:srgbClr val="C00000"/>
                </a:solidFill>
              </a:rPr>
              <a:t>系统预留了一批特殊的英文单词，这些英文单词已经被赋予了特殊的含义。</a:t>
            </a:r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rgbClr val="C00000"/>
                </a:solidFill>
              </a:rPr>
              <a:t>PY</a:t>
            </a:r>
            <a:r>
              <a:rPr lang="zh-CN" altLang="en-US" sz="2000" dirty="0">
                <a:solidFill>
                  <a:srgbClr val="C00000"/>
                </a:solidFill>
              </a:rPr>
              <a:t>中的关键字均由小写字母组成，</a:t>
            </a:r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en-US" altLang="zh-CN" sz="2000" dirty="0"/>
              <a:t>PY</a:t>
            </a:r>
            <a:r>
              <a:rPr lang="zh-CN" altLang="en-US" sz="2000" dirty="0"/>
              <a:t>关键字不可以用作变量、函数、方法、类或标号的标识符。</a:t>
            </a:r>
          </a:p>
          <a:p>
            <a:pPr lvl="1">
              <a:lnSpc>
                <a:spcPct val="125000"/>
              </a:lnSpc>
            </a:pPr>
            <a:r>
              <a:rPr lang="zh-CN" altLang="en-US" dirty="0"/>
              <a:t>标识符的定义</a:t>
            </a:r>
            <a:endParaRPr lang="en-US" altLang="zh-CN" dirty="0"/>
          </a:p>
          <a:p>
            <a:pPr lvl="2">
              <a:lnSpc>
                <a:spcPct val="125000"/>
              </a:lnSpc>
            </a:pPr>
            <a:r>
              <a:rPr lang="zh-CN" altLang="en-US" sz="1900" dirty="0"/>
              <a:t>程序员可以</a:t>
            </a:r>
            <a:r>
              <a:rPr lang="zh-CN" altLang="en-US" sz="1900" dirty="0">
                <a:solidFill>
                  <a:srgbClr val="C00000"/>
                </a:solidFill>
              </a:rPr>
              <a:t>根据需要自行命名一些变量、函数、类和对象</a:t>
            </a:r>
            <a:r>
              <a:rPr lang="zh-CN" altLang="en-US" sz="1900" dirty="0"/>
              <a:t>，这些命名就是标识符。</a:t>
            </a:r>
            <a:endParaRPr lang="en-US" altLang="zh-CN" sz="1900" dirty="0"/>
          </a:p>
          <a:p>
            <a:pPr lvl="3">
              <a:lnSpc>
                <a:spcPct val="125000"/>
              </a:lnSpc>
            </a:pPr>
            <a:r>
              <a:rPr lang="en-US" altLang="zh-CN" sz="1900" dirty="0"/>
              <a:t>(1) </a:t>
            </a:r>
            <a:r>
              <a:rPr lang="zh-CN" altLang="en-US" sz="1900" dirty="0"/>
              <a:t>标识符可由英文字母、数码、下划线、美元字符或文字字符构成。人们通常不使用中文汉字、日文和韩文作为标识符。</a:t>
            </a:r>
          </a:p>
          <a:p>
            <a:pPr lvl="3">
              <a:lnSpc>
                <a:spcPct val="125000"/>
              </a:lnSpc>
            </a:pPr>
            <a:r>
              <a:rPr lang="en-US" altLang="zh-CN" sz="1900" dirty="0"/>
              <a:t>(2) </a:t>
            </a:r>
            <a:r>
              <a:rPr lang="zh-CN" altLang="en-US" sz="1900" dirty="0">
                <a:solidFill>
                  <a:srgbClr val="C00000"/>
                </a:solidFill>
              </a:rPr>
              <a:t>标识符中的第一个符号不能是数码。</a:t>
            </a:r>
          </a:p>
          <a:p>
            <a:pPr lvl="3">
              <a:lnSpc>
                <a:spcPct val="125000"/>
              </a:lnSpc>
            </a:pPr>
            <a:r>
              <a:rPr lang="en-US" altLang="zh-CN" sz="1900" dirty="0"/>
              <a:t>(3) </a:t>
            </a:r>
            <a:r>
              <a:rPr lang="zh-CN" altLang="en-US" sz="1900" dirty="0"/>
              <a:t>空格、运算符均不可作为标识符的组成部分。</a:t>
            </a:r>
          </a:p>
          <a:p>
            <a:pPr lvl="3">
              <a:lnSpc>
                <a:spcPct val="125000"/>
              </a:lnSpc>
            </a:pPr>
            <a:r>
              <a:rPr lang="en-US" altLang="zh-CN" sz="1900" dirty="0"/>
              <a:t>(4) </a:t>
            </a:r>
            <a:r>
              <a:rPr lang="zh-CN" altLang="en-US" sz="1900" dirty="0"/>
              <a:t>预定的关键字（保留字）不可作为标识符。</a:t>
            </a:r>
          </a:p>
          <a:p>
            <a:pPr lvl="1">
              <a:lnSpc>
                <a:spcPct val="125000"/>
              </a:lnSpc>
            </a:pPr>
            <a:endParaRPr lang="en-US" altLang="zh-CN" dirty="0"/>
          </a:p>
          <a:p>
            <a:pPr>
              <a:lnSpc>
                <a:spcPct val="125000"/>
              </a:lnSpc>
            </a:pPr>
            <a:endParaRPr lang="en-US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CB4543CF-C6C7-631A-51B5-AA6BC3783047}"/>
              </a:ext>
            </a:extLst>
          </p:cNvPr>
          <p:cNvSpPr txBox="1"/>
          <p:nvPr/>
        </p:nvSpPr>
        <p:spPr>
          <a:xfrm>
            <a:off x="5628902" y="6488668"/>
            <a:ext cx="6246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31Boy, M28 +, Ma!, ! Good3we, mm/56, print, def, class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0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程序的基本结构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实例（关键字、标识符）</a:t>
            </a:r>
            <a:endParaRPr lang="en-US" altLang="zh-CN" dirty="0"/>
          </a:p>
          <a:p>
            <a:pPr marL="457189" lvl="1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19DCC746-4250-DA16-4CB8-AD9B5F190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439" y="2171700"/>
            <a:ext cx="3842023" cy="39624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D0312A08-B3DF-70D6-7A3D-1FC5FFFBF5F4}"/>
              </a:ext>
            </a:extLst>
          </p:cNvPr>
          <p:cNvSpPr txBox="1"/>
          <p:nvPr/>
        </p:nvSpPr>
        <p:spPr>
          <a:xfrm>
            <a:off x="1292860" y="1952297"/>
            <a:ext cx="4295140" cy="440120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turtle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/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nn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input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"Please input a number: "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nn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int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(nn)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/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from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turtle </a:t>
            </a:r>
            <a:r>
              <a:rPr kumimoji="0" lang="zh-CN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pencolor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0.87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0.23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0.71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pendown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ang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360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//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nn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 </a:t>
            </a:r>
            <a:r>
              <a:rPr kumimoji="0" lang="zh-CN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range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(nn)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fd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left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(ang)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/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penup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done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/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23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y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65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tpl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"The data is %12.5f, %8d"</a:t>
            </a:r>
            <a:b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(tpl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%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(x,y))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83498909-EA03-4816-CCDC-6B78D654536F}"/>
              </a:ext>
            </a:extLst>
          </p:cNvPr>
          <p:cNvSpPr txBox="1"/>
          <p:nvPr/>
        </p:nvSpPr>
        <p:spPr>
          <a:xfrm>
            <a:off x="6555740" y="1170942"/>
            <a:ext cx="29641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Please input a number: &gt;? 35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The data is     23.00000,       65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800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的数据、常量与变量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1. Python</a:t>
            </a:r>
            <a:r>
              <a:rPr lang="zh-CN" altLang="en-US" dirty="0"/>
              <a:t>中的数据类型</a:t>
            </a:r>
            <a:endParaRPr lang="en-US" altLang="zh-CN" dirty="0"/>
          </a:p>
          <a:p>
            <a:pPr lvl="1"/>
            <a:r>
              <a:rPr lang="zh-CN" altLang="en-US" dirty="0"/>
              <a:t>基本数据类型：系统预先规定的一些常用类型，内部结构简单；仅需申请存储其值的内存空间，不包含针对这类数据实施操作的方法体（程序代码）。</a:t>
            </a:r>
            <a:endParaRPr lang="en-US" altLang="zh-CN" dirty="0"/>
          </a:p>
          <a:p>
            <a:pPr lvl="2"/>
            <a:r>
              <a:rPr lang="zh-CN" altLang="en-US" b="0" dirty="0"/>
              <a:t>整数：</a:t>
            </a:r>
            <a:r>
              <a:rPr lang="en-US" altLang="zh-CN" b="0" dirty="0"/>
              <a:t>int</a:t>
            </a:r>
          </a:p>
          <a:p>
            <a:pPr lvl="3"/>
            <a:r>
              <a:rPr lang="en-US" altLang="zh-CN" b="0" dirty="0"/>
              <a:t>87,    65,     91</a:t>
            </a:r>
          </a:p>
          <a:p>
            <a:pPr lvl="2"/>
            <a:r>
              <a:rPr lang="zh-CN" altLang="en-US" b="0" dirty="0"/>
              <a:t>小数（浮点数）：</a:t>
            </a:r>
            <a:r>
              <a:rPr lang="en-US" altLang="zh-CN" b="0" dirty="0"/>
              <a:t>float</a:t>
            </a:r>
          </a:p>
          <a:p>
            <a:pPr lvl="3"/>
            <a:r>
              <a:rPr lang="en-US" altLang="zh-CN" b="0" dirty="0"/>
              <a:t>98.71,    62.34</a:t>
            </a:r>
            <a:r>
              <a:rPr lang="zh-CN" altLang="en-US" b="0" dirty="0"/>
              <a:t>， </a:t>
            </a:r>
            <a:r>
              <a:rPr lang="en-US" altLang="zh-CN" b="0" dirty="0"/>
              <a:t>12.3E18</a:t>
            </a:r>
          </a:p>
          <a:p>
            <a:pPr lvl="2"/>
            <a:r>
              <a:rPr lang="zh-CN" altLang="en-US" b="0" dirty="0"/>
              <a:t>逻辑型</a:t>
            </a:r>
            <a:endParaRPr lang="en-US" altLang="zh-CN" b="0" dirty="0"/>
          </a:p>
          <a:p>
            <a:pPr lvl="3"/>
            <a:r>
              <a:rPr lang="en-US" altLang="zh-CN" b="0" dirty="0"/>
              <a:t>True, False</a:t>
            </a:r>
          </a:p>
          <a:p>
            <a:pPr lvl="1"/>
            <a:r>
              <a:rPr lang="zh-CN" altLang="en-US" dirty="0"/>
              <a:t>复杂类型</a:t>
            </a:r>
            <a:r>
              <a:rPr lang="en-US" altLang="zh-CN" dirty="0"/>
              <a:t>(</a:t>
            </a:r>
            <a:r>
              <a:rPr lang="zh-CN" altLang="en-US" dirty="0"/>
              <a:t>组合类型）：由多个基本数据项组合而成。</a:t>
            </a:r>
            <a:endParaRPr lang="en-US" altLang="zh-CN" dirty="0"/>
          </a:p>
          <a:p>
            <a:pPr lvl="2"/>
            <a:r>
              <a:rPr lang="zh-CN" altLang="en-US" dirty="0"/>
              <a:t>字符串</a:t>
            </a:r>
            <a:endParaRPr lang="en-US" altLang="zh-CN" dirty="0"/>
          </a:p>
          <a:p>
            <a:pPr lvl="3"/>
            <a:r>
              <a:rPr lang="en-US" altLang="zh-CN" dirty="0"/>
              <a:t>“</a:t>
            </a:r>
            <a:r>
              <a:rPr lang="en-US" altLang="zh-CN" dirty="0" err="1"/>
              <a:t>Hellow</a:t>
            </a:r>
            <a:r>
              <a:rPr lang="en-US" altLang="zh-CN" dirty="0"/>
              <a:t> World</a:t>
            </a:r>
            <a:r>
              <a:rPr lang="zh-CN" altLang="en-US" dirty="0"/>
              <a:t>！</a:t>
            </a:r>
            <a:r>
              <a:rPr lang="en-US" altLang="zh-CN" dirty="0"/>
              <a:t>”</a:t>
            </a:r>
            <a:r>
              <a:rPr lang="zh-CN" altLang="en-US" dirty="0"/>
              <a:t>， </a:t>
            </a:r>
            <a:r>
              <a:rPr lang="en-US" altLang="zh-CN" dirty="0"/>
              <a:t>‘</a:t>
            </a:r>
            <a:r>
              <a:rPr lang="en-US" altLang="zh-CN" dirty="0" err="1"/>
              <a:t>Hellow</a:t>
            </a:r>
            <a:r>
              <a:rPr lang="en-US" altLang="zh-CN" dirty="0"/>
              <a:t> World</a:t>
            </a:r>
            <a:r>
              <a:rPr lang="zh-CN" altLang="en-US" dirty="0"/>
              <a:t>！</a:t>
            </a:r>
            <a:r>
              <a:rPr lang="en-US" altLang="zh-CN" dirty="0"/>
              <a:t>’</a:t>
            </a:r>
          </a:p>
          <a:p>
            <a:pPr lvl="2"/>
            <a:r>
              <a:rPr lang="zh-CN" altLang="en-US" dirty="0"/>
              <a:t>列表（</a:t>
            </a:r>
            <a:r>
              <a:rPr lang="en-US" altLang="zh-CN" dirty="0"/>
              <a:t>list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en-US" altLang="zh-CN" dirty="0"/>
              <a:t>[1, 2, 3, “AA”, 4]</a:t>
            </a:r>
          </a:p>
          <a:p>
            <a:pPr lvl="2"/>
            <a:r>
              <a:rPr lang="zh-CN" altLang="en-US" dirty="0"/>
              <a:t>数组</a:t>
            </a:r>
            <a:r>
              <a:rPr lang="en-US" altLang="zh-CN" dirty="0"/>
              <a:t>(array)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365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5AF6A1E-222A-EEA0-3321-61377B2A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74A8C8A-A5FC-72D2-0447-5F91AB11A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数据类型转换</a:t>
            </a:r>
            <a:endParaRPr lang="en-US" altLang="zh-CN" dirty="0"/>
          </a:p>
          <a:p>
            <a:pPr lvl="1"/>
            <a:r>
              <a:rPr lang="zh-CN" altLang="en-US" dirty="0"/>
              <a:t>字符串类型转化为数值类型</a:t>
            </a:r>
            <a:endParaRPr lang="en-US" altLang="zh-CN" dirty="0"/>
          </a:p>
          <a:p>
            <a:pPr lvl="2"/>
            <a:r>
              <a:rPr lang="en-US" altLang="zh-CN" dirty="0"/>
              <a:t>Int(</a:t>
            </a:r>
            <a:r>
              <a:rPr lang="zh-CN" altLang="en-US" dirty="0"/>
              <a:t>字符串）</a:t>
            </a:r>
            <a:endParaRPr lang="en-US" altLang="zh-CN" dirty="0"/>
          </a:p>
          <a:p>
            <a:pPr lvl="2"/>
            <a:r>
              <a:rPr lang="en-US" altLang="zh-CN" dirty="0"/>
              <a:t>Float(</a:t>
            </a:r>
            <a:r>
              <a:rPr lang="zh-CN" altLang="en-US" dirty="0"/>
              <a:t>字符串）</a:t>
            </a:r>
            <a:endParaRPr lang="en-US" altLang="zh-CN" dirty="0"/>
          </a:p>
          <a:p>
            <a:pPr lvl="1"/>
            <a:r>
              <a:rPr lang="zh-CN" altLang="en-US" dirty="0"/>
              <a:t>数值类型转化为字符串类型</a:t>
            </a:r>
            <a:endParaRPr lang="en-US" altLang="zh-CN" dirty="0"/>
          </a:p>
          <a:p>
            <a:pPr lvl="2"/>
            <a:r>
              <a:rPr lang="en-US" altLang="zh-CN" dirty="0"/>
              <a:t>Str</a:t>
            </a:r>
            <a:r>
              <a:rPr lang="zh-CN" altLang="en-US" dirty="0"/>
              <a:t>（数值型量）</a:t>
            </a:r>
            <a:endParaRPr lang="en-US" altLang="zh-CN" dirty="0"/>
          </a:p>
          <a:p>
            <a:pPr lvl="2"/>
            <a:r>
              <a:rPr lang="zh-CN" altLang="en-US" dirty="0"/>
              <a:t>字符串名</a:t>
            </a:r>
            <a:r>
              <a:rPr lang="en-US" altLang="zh-CN" dirty="0"/>
              <a:t>.format(</a:t>
            </a:r>
            <a:r>
              <a:rPr lang="zh-CN" altLang="en-US" dirty="0"/>
              <a:t>参数表）</a:t>
            </a:r>
            <a:endParaRPr lang="en-US" altLang="zh-CN" dirty="0"/>
          </a:p>
          <a:p>
            <a:pPr lvl="1"/>
            <a:r>
              <a:rPr lang="en-US" altLang="zh-CN" dirty="0"/>
              <a:t>Eval()</a:t>
            </a:r>
            <a:r>
              <a:rPr lang="zh-CN" altLang="en-US" dirty="0"/>
              <a:t>函数、</a:t>
            </a:r>
            <a:endParaRPr lang="en-US" altLang="zh-CN" dirty="0"/>
          </a:p>
          <a:p>
            <a:pPr lvl="2"/>
            <a:r>
              <a:rPr lang="en-US" altLang="zh-CN" dirty="0" err="1"/>
              <a:t>Xx</a:t>
            </a:r>
            <a:r>
              <a:rPr lang="en-US" altLang="zh-CN" dirty="0"/>
              <a:t>=eval(“35*25+61”)</a:t>
            </a:r>
          </a:p>
          <a:p>
            <a:pPr lvl="2"/>
            <a:r>
              <a:rPr lang="en-US" altLang="zh-CN" dirty="0" err="1"/>
              <a:t>Xx</a:t>
            </a:r>
            <a:r>
              <a:rPr lang="en-US" altLang="zh-CN" dirty="0"/>
              <a:t>=“</a:t>
            </a:r>
            <a:r>
              <a:rPr lang="zh-CN" altLang="en-US" dirty="0"/>
              <a:t>你好，我</a:t>
            </a:r>
            <a:r>
              <a:rPr lang="en-US" altLang="zh-CN" dirty="0"/>
              <a:t>35</a:t>
            </a:r>
            <a:r>
              <a:rPr lang="zh-CN" altLang="en-US" dirty="0"/>
              <a:t>岁！”</a:t>
            </a:r>
            <a:endParaRPr lang="en-US" altLang="zh-CN" dirty="0"/>
          </a:p>
          <a:p>
            <a:pPr lvl="2"/>
            <a:r>
              <a:rPr lang="en-US" altLang="zh-CN" dirty="0" err="1"/>
              <a:t>Yy</a:t>
            </a:r>
            <a:r>
              <a:rPr lang="en-US" altLang="zh-CN" dirty="0"/>
              <a:t>=eval(xx[4:6])      #</a:t>
            </a:r>
            <a:r>
              <a:rPr lang="zh-CN" altLang="en-US" dirty="0"/>
              <a:t>求字符串中数值码的值，结果为</a:t>
            </a:r>
            <a:r>
              <a:rPr lang="en-US" altLang="zh-CN" dirty="0"/>
              <a:t>35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462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的数据、常量与变量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Python</a:t>
            </a:r>
            <a:r>
              <a:rPr lang="zh-CN" altLang="en-US" dirty="0"/>
              <a:t>中的常量与变量</a:t>
            </a:r>
            <a:endParaRPr lang="en-US" altLang="zh-CN" dirty="0"/>
          </a:p>
          <a:p>
            <a:pPr lvl="1"/>
            <a:r>
              <a:rPr lang="zh-CN" altLang="en-US" dirty="0"/>
              <a:t>常量</a:t>
            </a:r>
            <a:endParaRPr lang="en-US" altLang="zh-CN" dirty="0"/>
          </a:p>
          <a:p>
            <a:pPr lvl="2"/>
            <a:r>
              <a:rPr lang="zh-CN" altLang="en-US" sz="2000" b="0" dirty="0"/>
              <a:t>值是固定的，使用过程中不能发生变量的量。</a:t>
            </a:r>
            <a:endParaRPr lang="en-US" altLang="zh-CN" sz="2000" b="0" dirty="0"/>
          </a:p>
          <a:p>
            <a:pPr lvl="2"/>
            <a:r>
              <a:rPr lang="zh-CN" altLang="en-US" sz="2000" dirty="0"/>
              <a:t>常量的名称和数据内容合二为一，没有区分。如“</a:t>
            </a:r>
            <a:r>
              <a:rPr lang="en-US" altLang="zh-CN" sz="2000" dirty="0"/>
              <a:t>9</a:t>
            </a:r>
            <a:r>
              <a:rPr lang="zh-CN" altLang="en-US" sz="2000" dirty="0"/>
              <a:t>”的名称和内容都是“</a:t>
            </a:r>
            <a:r>
              <a:rPr lang="en-US" altLang="zh-CN" sz="2000" dirty="0"/>
              <a:t>9</a:t>
            </a:r>
            <a:r>
              <a:rPr lang="zh-CN" altLang="en-US" sz="2000" dirty="0"/>
              <a:t>”</a:t>
            </a:r>
            <a:endParaRPr lang="en-US" altLang="zh-CN" sz="2000" b="0" dirty="0"/>
          </a:p>
          <a:p>
            <a:pPr lvl="2"/>
            <a:r>
              <a:rPr lang="zh-CN" altLang="en-US" sz="2000" b="0" dirty="0"/>
              <a:t>常量是一个确定的数据，通常直接用其值来表达。</a:t>
            </a:r>
            <a:endParaRPr lang="en-US" altLang="zh-CN" sz="2000" b="0" dirty="0"/>
          </a:p>
          <a:p>
            <a:pPr lvl="2"/>
            <a:r>
              <a:rPr lang="zh-CN" altLang="en-US" sz="2000" b="0" dirty="0"/>
              <a:t>例如：</a:t>
            </a:r>
            <a:endParaRPr lang="en-US" altLang="zh-CN" sz="2000" b="0" dirty="0"/>
          </a:p>
          <a:p>
            <a:pPr lvl="3"/>
            <a:r>
              <a:rPr lang="zh-CN" altLang="en-US" sz="1800" b="0" dirty="0"/>
              <a:t>整型：</a:t>
            </a:r>
            <a:r>
              <a:rPr lang="en-US" altLang="zh-CN" sz="1800" b="0" dirty="0"/>
              <a:t>87,    65,     91</a:t>
            </a:r>
          </a:p>
          <a:p>
            <a:pPr lvl="3"/>
            <a:r>
              <a:rPr lang="zh-CN" altLang="en-US" sz="1800" b="0" dirty="0"/>
              <a:t>小数（浮点数）：</a:t>
            </a:r>
            <a:r>
              <a:rPr lang="en-US" altLang="zh-CN" sz="1800" b="0" dirty="0"/>
              <a:t>float</a:t>
            </a:r>
            <a:r>
              <a:rPr lang="zh-CN" altLang="en-US" sz="1800" b="0" dirty="0"/>
              <a:t>：</a:t>
            </a:r>
            <a:r>
              <a:rPr lang="en-US" altLang="zh-CN" sz="1800" b="0" dirty="0"/>
              <a:t>98.71,    62.34</a:t>
            </a:r>
          </a:p>
          <a:p>
            <a:pPr lvl="3"/>
            <a:r>
              <a:rPr lang="zh-CN" altLang="en-US" sz="1800" b="0" dirty="0"/>
              <a:t>字符串：</a:t>
            </a:r>
            <a:r>
              <a:rPr lang="en-US" altLang="zh-CN" sz="1800" b="0" dirty="0"/>
              <a:t>”</a:t>
            </a:r>
            <a:r>
              <a:rPr lang="en-US" altLang="zh-CN" sz="1800" b="0" dirty="0" err="1"/>
              <a:t>MaXiulin</a:t>
            </a:r>
            <a:r>
              <a:rPr lang="en-US" altLang="zh-CN" sz="1800" b="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637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的数据、常量与变量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1" y="1130299"/>
            <a:ext cx="10858500" cy="5637373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dirty="0"/>
              <a:t>2. Python</a:t>
            </a:r>
            <a:r>
              <a:rPr lang="zh-CN" altLang="en-US" dirty="0"/>
              <a:t>中的常量与变量</a:t>
            </a:r>
            <a:endParaRPr lang="en-US" altLang="zh-CN" dirty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变量</a:t>
            </a:r>
            <a:endParaRPr lang="en-US" altLang="zh-CN" dirty="0"/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zh-CN" altLang="en-US" sz="1900" b="0" dirty="0"/>
              <a:t>定义</a:t>
            </a:r>
            <a:endParaRPr lang="en-US" altLang="zh-CN" sz="1900" b="0" dirty="0"/>
          </a:p>
          <a:p>
            <a:pPr lvl="3">
              <a:lnSpc>
                <a:spcPct val="130000"/>
              </a:lnSpc>
              <a:spcBef>
                <a:spcPts val="0"/>
              </a:spcBef>
            </a:pPr>
            <a:r>
              <a:rPr lang="zh-CN" altLang="en-US" sz="1900" dirty="0"/>
              <a:t>变量是其值可以发生变化的量。</a:t>
            </a:r>
            <a:endParaRPr lang="en-US" altLang="zh-CN" sz="1900" b="0" dirty="0"/>
          </a:p>
          <a:p>
            <a:pPr lvl="3">
              <a:lnSpc>
                <a:spcPct val="130000"/>
              </a:lnSpc>
              <a:spcBef>
                <a:spcPts val="0"/>
              </a:spcBef>
            </a:pPr>
            <a:r>
              <a:rPr lang="zh-CN" altLang="en-US" sz="1900" b="0" dirty="0"/>
              <a:t>通常是使用一个特定标记符代表的量。</a:t>
            </a:r>
            <a:endParaRPr lang="en-US" altLang="zh-CN" sz="1900" b="0" dirty="0"/>
          </a:p>
          <a:p>
            <a:pPr lvl="3">
              <a:lnSpc>
                <a:spcPct val="130000"/>
              </a:lnSpc>
              <a:spcBef>
                <a:spcPts val="0"/>
              </a:spcBef>
            </a:pPr>
            <a:r>
              <a:rPr lang="zh-CN" altLang="en-US" sz="1900" b="0" dirty="0"/>
              <a:t>变量由两部分构成，变量名和变量值。</a:t>
            </a:r>
            <a:endParaRPr lang="en-US" altLang="zh-CN" sz="1900" b="0" dirty="0"/>
          </a:p>
          <a:p>
            <a:pPr lvl="3">
              <a:lnSpc>
                <a:spcPct val="130000"/>
              </a:lnSpc>
              <a:spcBef>
                <a:spcPts val="0"/>
              </a:spcBef>
            </a:pPr>
            <a:r>
              <a:rPr lang="zh-CN" altLang="en-US" sz="1900" b="0" dirty="0"/>
              <a:t>变量可随时被赋予其他的值。在开始赋值时直接写出变量名并赋值，并可以根据被赋予的数据类型转变为相应的类型。</a:t>
            </a:r>
            <a:endParaRPr lang="en-US" altLang="zh-CN" sz="1900" b="0" dirty="0"/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zh-CN" altLang="en-US" sz="1900" b="0" dirty="0"/>
              <a:t>例如：</a:t>
            </a:r>
            <a:endParaRPr lang="en-US" altLang="zh-CN" sz="1900" b="0" dirty="0"/>
          </a:p>
          <a:p>
            <a:pPr lvl="3">
              <a:lnSpc>
                <a:spcPct val="130000"/>
              </a:lnSpc>
              <a:spcBef>
                <a:spcPts val="0"/>
              </a:spcBef>
            </a:pPr>
            <a:r>
              <a:rPr lang="zh-CN" altLang="en-US" sz="1900" b="0" dirty="0"/>
              <a:t>整型：</a:t>
            </a:r>
            <a:endParaRPr lang="en-US" altLang="zh-CN" sz="1900" b="0" dirty="0"/>
          </a:p>
          <a:p>
            <a:pPr lvl="4">
              <a:lnSpc>
                <a:spcPct val="130000"/>
              </a:lnSpc>
              <a:spcBef>
                <a:spcPts val="0"/>
              </a:spcBef>
            </a:pPr>
            <a:r>
              <a:rPr lang="en-US" altLang="zh-CN" sz="1900" b="0" dirty="0"/>
              <a:t>x=87</a:t>
            </a:r>
          </a:p>
          <a:p>
            <a:pPr lvl="4">
              <a:lnSpc>
                <a:spcPct val="130000"/>
              </a:lnSpc>
              <a:spcBef>
                <a:spcPts val="0"/>
              </a:spcBef>
            </a:pPr>
            <a:r>
              <a:rPr lang="en-US" altLang="zh-CN" sz="1900" b="0" dirty="0"/>
              <a:t>Y</a:t>
            </a:r>
            <a:r>
              <a:rPr lang="zh-CN" altLang="en-US" sz="1900" b="0" dirty="0"/>
              <a:t>，</a:t>
            </a:r>
            <a:r>
              <a:rPr lang="en-US" altLang="zh-CN" sz="1900" b="0" dirty="0"/>
              <a:t>z =  65,     91</a:t>
            </a:r>
          </a:p>
          <a:p>
            <a:pPr lvl="3">
              <a:lnSpc>
                <a:spcPct val="130000"/>
              </a:lnSpc>
              <a:spcBef>
                <a:spcPts val="0"/>
              </a:spcBef>
            </a:pPr>
            <a:r>
              <a:rPr lang="zh-CN" altLang="en-US" sz="1900" b="0" dirty="0"/>
              <a:t>小数（浮点数）</a:t>
            </a:r>
            <a:endParaRPr lang="en-US" altLang="zh-CN" sz="1900" b="0" dirty="0"/>
          </a:p>
          <a:p>
            <a:pPr lvl="4">
              <a:lnSpc>
                <a:spcPct val="130000"/>
              </a:lnSpc>
              <a:spcBef>
                <a:spcPts val="0"/>
              </a:spcBef>
            </a:pPr>
            <a:r>
              <a:rPr lang="en-US" altLang="zh-CN" sz="1900" dirty="0"/>
              <a:t>Aa=9</a:t>
            </a:r>
            <a:r>
              <a:rPr lang="en-US" altLang="zh-CN" sz="1900" b="0" dirty="0"/>
              <a:t>8.71</a:t>
            </a:r>
          </a:p>
          <a:p>
            <a:pPr lvl="3">
              <a:lnSpc>
                <a:spcPct val="130000"/>
              </a:lnSpc>
              <a:spcBef>
                <a:spcPts val="0"/>
              </a:spcBef>
            </a:pPr>
            <a:r>
              <a:rPr lang="zh-CN" altLang="en-US" sz="1900" b="0" dirty="0"/>
              <a:t>字符串：</a:t>
            </a:r>
            <a:r>
              <a:rPr lang="en-US" altLang="zh-CN" sz="1900" b="0" dirty="0"/>
              <a:t>mm=”</a:t>
            </a:r>
            <a:r>
              <a:rPr lang="en-US" altLang="zh-CN" sz="1900" b="0" dirty="0" err="1"/>
              <a:t>MaXiulin</a:t>
            </a:r>
            <a:r>
              <a:rPr lang="en-US" altLang="zh-CN" sz="1900" b="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87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的数据、常量与变量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1" y="1130300"/>
            <a:ext cx="10858500" cy="5727700"/>
          </a:xfrm>
        </p:spPr>
        <p:txBody>
          <a:bodyPr>
            <a:normAutofit/>
          </a:bodyPr>
          <a:lstStyle/>
          <a:p>
            <a:r>
              <a:rPr lang="en-US" altLang="zh-CN" dirty="0"/>
              <a:t>2. Python</a:t>
            </a:r>
            <a:r>
              <a:rPr lang="zh-CN" altLang="en-US" dirty="0"/>
              <a:t>中的常量与变量</a:t>
            </a:r>
            <a:endParaRPr lang="en-US" altLang="zh-CN" dirty="0"/>
          </a:p>
          <a:p>
            <a:pPr lvl="1"/>
            <a:r>
              <a:rPr lang="zh-CN" altLang="en-US" dirty="0"/>
              <a:t>变量</a:t>
            </a:r>
            <a:endParaRPr lang="en-US" altLang="zh-CN" dirty="0"/>
          </a:p>
          <a:p>
            <a:pPr lvl="2"/>
            <a:r>
              <a:rPr lang="zh-CN" altLang="en-US" b="0" dirty="0"/>
              <a:t>变量的命名要求</a:t>
            </a:r>
            <a:endParaRPr lang="en-US" altLang="zh-CN" b="0" dirty="0"/>
          </a:p>
          <a:p>
            <a:pPr lvl="3"/>
            <a:r>
              <a:rPr lang="zh-CN" altLang="en-US" sz="1800" b="0" dirty="0"/>
              <a:t>若干个英文字母或数码，或下划线、</a:t>
            </a:r>
            <a:r>
              <a:rPr lang="en-US" altLang="zh-CN" sz="1800" b="0" dirty="0"/>
              <a:t>$</a:t>
            </a:r>
            <a:r>
              <a:rPr lang="zh-CN" altLang="en-US" sz="1800" b="0" dirty="0"/>
              <a:t>等，通常汉字不被用作变量名。</a:t>
            </a:r>
            <a:endParaRPr lang="en-US" altLang="zh-CN" sz="1800" b="0" dirty="0"/>
          </a:p>
          <a:p>
            <a:pPr lvl="3"/>
            <a:r>
              <a:rPr lang="zh-CN" altLang="en-US" sz="1800" b="0" dirty="0"/>
              <a:t>变量名中不包含空格、标点符号和不可打印字符。</a:t>
            </a:r>
            <a:endParaRPr lang="en-US" altLang="zh-CN" sz="1800" b="0" dirty="0"/>
          </a:p>
          <a:p>
            <a:pPr lvl="3"/>
            <a:r>
              <a:rPr lang="zh-CN" altLang="en-US" sz="1800" b="0" dirty="0"/>
              <a:t>数码不可以放在变量名的起始位置。</a:t>
            </a:r>
            <a:endParaRPr lang="en-US" altLang="zh-CN" sz="1800" b="0" dirty="0"/>
          </a:p>
          <a:p>
            <a:pPr lvl="3"/>
            <a:r>
              <a:rPr lang="zh-CN" altLang="en-US" sz="1800" b="0" dirty="0"/>
              <a:t>变量名不可以是</a:t>
            </a:r>
            <a:r>
              <a:rPr lang="en-US" altLang="zh-CN" sz="1800" b="0" dirty="0"/>
              <a:t>Python</a:t>
            </a:r>
            <a:r>
              <a:rPr lang="zh-CN" altLang="en-US" sz="1800" b="0" dirty="0"/>
              <a:t>的保留字或（关键词）。</a:t>
            </a:r>
            <a:endParaRPr lang="en-US" altLang="zh-CN" sz="1800" b="0" dirty="0"/>
          </a:p>
          <a:p>
            <a:pPr lvl="4"/>
            <a:r>
              <a:rPr lang="en-US" altLang="zh-CN" sz="1800" dirty="0"/>
              <a:t>if        while     in      for     break    continue     def  </a:t>
            </a:r>
          </a:p>
          <a:p>
            <a:pPr lvl="4"/>
            <a:r>
              <a:rPr lang="en-US" altLang="zh-CN" sz="1800" dirty="0"/>
              <a:t>and     or    not      return  int   float  string  list  </a:t>
            </a:r>
            <a:r>
              <a:rPr lang="zh-CN" altLang="en-US" sz="1800" dirty="0"/>
              <a:t>等等。</a:t>
            </a:r>
            <a:r>
              <a:rPr lang="en-US" altLang="zh-CN" sz="1800" dirty="0"/>
              <a:t>  </a:t>
            </a:r>
            <a:endParaRPr lang="en-US" altLang="zh-CN" sz="1800" b="0" dirty="0"/>
          </a:p>
          <a:p>
            <a:pPr lvl="2"/>
            <a:r>
              <a:rPr lang="zh-CN" altLang="en-US" b="0" dirty="0"/>
              <a:t>例如：</a:t>
            </a:r>
            <a:endParaRPr lang="en-US" altLang="zh-CN" b="0" dirty="0"/>
          </a:p>
          <a:p>
            <a:pPr lvl="3"/>
            <a:r>
              <a:rPr lang="zh-CN" altLang="en-US" sz="1800" b="0" dirty="0"/>
              <a:t>合法的变量名：</a:t>
            </a:r>
            <a:r>
              <a:rPr lang="en-US" altLang="zh-CN" sz="1800" b="0" dirty="0"/>
              <a:t>ma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x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y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z</a:t>
            </a:r>
            <a:r>
              <a:rPr lang="zh-CN" altLang="en-US" sz="1800" b="0" dirty="0"/>
              <a:t>、</a:t>
            </a:r>
            <a:r>
              <a:rPr lang="en-US" altLang="zh-CN" sz="1800" b="0" dirty="0" err="1"/>
              <a:t>zhang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ma1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xx87</a:t>
            </a:r>
            <a:r>
              <a:rPr lang="zh-CN" altLang="en-US" sz="1800" b="0" dirty="0"/>
              <a:t>等等；</a:t>
            </a:r>
          </a:p>
          <a:p>
            <a:pPr lvl="3"/>
            <a:r>
              <a:rPr lang="zh-CN" altLang="en-US" sz="1800" b="0" dirty="0"/>
              <a:t>不合法的变量名：</a:t>
            </a:r>
            <a:r>
              <a:rPr lang="en-US" altLang="zh-CN" sz="1800" b="0" dirty="0"/>
              <a:t>45Ma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if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I am</a:t>
            </a:r>
            <a:r>
              <a:rPr lang="zh-CN" altLang="en-US" sz="1800" b="0" dirty="0"/>
              <a:t>等。</a:t>
            </a:r>
            <a:endParaRPr lang="en-US" altLang="zh-CN" sz="1800" b="0" dirty="0"/>
          </a:p>
          <a:p>
            <a:pPr lvl="1"/>
            <a:r>
              <a:rPr lang="zh-CN" altLang="en-US" dirty="0"/>
              <a:t>表达式</a:t>
            </a:r>
            <a:endParaRPr lang="en-US" altLang="zh-CN" dirty="0"/>
          </a:p>
          <a:p>
            <a:pPr lvl="2"/>
            <a:r>
              <a:rPr lang="zh-CN" altLang="en-US" b="0" dirty="0"/>
              <a:t>通过运算符把若干常量、变量有机地组织起来，就构成了表达式。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315317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标题 1">
            <a:extLst>
              <a:ext uri="{FF2B5EF4-FFF2-40B4-BE49-F238E27FC236}">
                <a16:creationId xmlns:a16="http://schemas.microsoft.com/office/drawing/2014/main" xmlns="" id="{3B152C8B-E5F9-EB3A-86DC-2E3F747DB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cs typeface="Times New Roman" panose="02020603050405020304" pitchFamily="18" charset="0"/>
              </a:rPr>
              <a:t>命名法（</a:t>
            </a:r>
            <a:r>
              <a:rPr lang="zh-CN" altLang="en-US" sz="2400" b="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无绝对与强制，为的是增加识别和可读性</a:t>
            </a:r>
            <a:r>
              <a:rPr lang="zh-CN" altLang="en-US" sz="2400" b="1" dirty="0">
                <a:latin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487" name="内容占位符 8">
            <a:extLst>
              <a:ext uri="{FF2B5EF4-FFF2-40B4-BE49-F238E27FC236}">
                <a16:creationId xmlns:a16="http://schemas.microsoft.com/office/drawing/2014/main" xmlns="" id="{D809CD86-D9A0-6FF7-F380-22987B5742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0401" y="1130300"/>
            <a:ext cx="8056879" cy="5003800"/>
          </a:xfrm>
          <a:ln/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buClr>
                <a:srgbClr val="032089"/>
              </a:buClr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大驼峰（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upper camel case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所有单词的首字母都是大写，例如“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MyName,YouFamily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”……</a:t>
            </a:r>
          </a:p>
          <a:p>
            <a:pPr lvl="1"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大驼峰一般用于类的命名。</a:t>
            </a:r>
          </a:p>
          <a:p>
            <a:pPr>
              <a:lnSpc>
                <a:spcPct val="150000"/>
              </a:lnSpc>
              <a:spcBef>
                <a:spcPts val="1000"/>
              </a:spcBef>
              <a:buClr>
                <a:srgbClr val="032089"/>
              </a:buClr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小驼峰（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lower camel case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第一个单词的首字母为小写字母，其余单词的首字母都采用大写字母，例如“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myName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youFamily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”……</a:t>
            </a:r>
          </a:p>
          <a:p>
            <a:pPr lvl="1"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小驼峰用在函数名和变量名中的情况比较多。</a:t>
            </a:r>
          </a:p>
          <a:p>
            <a:pPr>
              <a:lnSpc>
                <a:spcPct val="150000"/>
              </a:lnSpc>
              <a:spcBef>
                <a:spcPts val="1000"/>
              </a:spcBef>
              <a:buClr>
                <a:srgbClr val="032089"/>
              </a:buClr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下划线（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）分隔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1700" dirty="0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所有单词都采用小写字母，中间用下划线（</a:t>
            </a:r>
            <a:r>
              <a:rPr lang="en-US" altLang="zh-CN" sz="1700" dirty="0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700" dirty="0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）分隔开，例如“</a:t>
            </a:r>
            <a:r>
              <a:rPr lang="en-US" altLang="zh-CN" sz="1700" dirty="0" err="1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my_name</a:t>
            </a:r>
            <a:r>
              <a:rPr lang="en-US" altLang="zh-CN" sz="1700" dirty="0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700" dirty="0" err="1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you_family</a:t>
            </a:r>
            <a:r>
              <a:rPr lang="en-US" altLang="zh-CN" sz="1700" dirty="0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”……</a:t>
            </a:r>
          </a:p>
          <a:p>
            <a:pPr lvl="1"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1700" dirty="0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关于要使用哪种方法去对变量命名，并没有一个统一的说法，重要的是一旦选择好了一种命名方式，在后续的程序编写过程保持一致的风格即可。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buClr>
                <a:srgbClr val="032089"/>
              </a:buClr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常量名使用大写字母，单词之间用下划线分隔。例如：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MY_CONSTANT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41150CEA-70EA-9A49-ECCD-D553AFA7BED7}"/>
              </a:ext>
            </a:extLst>
          </p:cNvPr>
          <p:cNvSpPr txBox="1"/>
          <p:nvPr/>
        </p:nvSpPr>
        <p:spPr>
          <a:xfrm>
            <a:off x="3075940" y="3174601"/>
            <a:ext cx="615188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2089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B01835B1-3F03-7ED5-E1F4-4D15F33BF315}"/>
              </a:ext>
            </a:extLst>
          </p:cNvPr>
          <p:cNvSpPr txBox="1"/>
          <p:nvPr/>
        </p:nvSpPr>
        <p:spPr>
          <a:xfrm>
            <a:off x="8962391" y="2302028"/>
            <a:ext cx="3077209" cy="26603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zhu"/>
                <a:ea typeface="思源黑体 CN Normal"/>
                <a:cs typeface="+mn-cs"/>
              </a:rPr>
              <a:t>```class 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MyClass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():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def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myMethod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(self):</a:t>
            </a:r>
          </a:p>
          <a:p>
            <a:pPr marL="0" marR="0" lvl="0" indent="355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my_variable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= “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Hello,World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!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”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355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print(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my_variable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)</a:t>
            </a:r>
          </a:p>
          <a:p>
            <a:pPr marL="0" marR="0" lvl="0" indent="355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MY_CONSTANT = 100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my_object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MyClass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my_object.myMethod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print(MY_CONSTANT)```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498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base">
                                        <p:cTn id="7" dur="500"/>
                                        <p:tgtEl>
                                          <p:spTgt spid="2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base">
                                        <p:cTn id="13" dur="500"/>
                                        <p:tgtEl>
                                          <p:spTgt spid="24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base">
                                        <p:cTn id="19" dur="500"/>
                                        <p:tgtEl>
                                          <p:spTgt spid="24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base">
                                        <p:cTn id="25" dur="500"/>
                                        <p:tgtEl>
                                          <p:spTgt spid="24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base">
                                        <p:cTn id="31" dur="500"/>
                                        <p:tgtEl>
                                          <p:spTgt spid="24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base">
                                        <p:cTn id="37" dur="500"/>
                                        <p:tgtEl>
                                          <p:spTgt spid="24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0" fill="hold" nodeType="afterGroup">
                            <p:stCondLst>
                              <p:cond delay="indefinite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base">
                                        <p:cTn id="43" dur="500"/>
                                        <p:tgtEl>
                                          <p:spTgt spid="24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base">
                                        <p:cTn id="48" dur="500"/>
                                        <p:tgtEl>
                                          <p:spTgt spid="24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base">
                                        <p:cTn id="53" dur="500"/>
                                        <p:tgtEl>
                                          <p:spTgt spid="24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的输入输出语句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1. Python</a:t>
            </a:r>
            <a:r>
              <a:rPr lang="zh-CN" altLang="en-US" dirty="0"/>
              <a:t>中输出语句</a:t>
            </a:r>
            <a:endParaRPr lang="en-US" altLang="zh-CN" dirty="0"/>
          </a:p>
          <a:p>
            <a:pPr lvl="1"/>
            <a:r>
              <a:rPr lang="zh-CN" altLang="en-US" b="0" dirty="0"/>
              <a:t>最简单的输出语句</a:t>
            </a:r>
            <a:endParaRPr lang="en-US" altLang="zh-CN" b="0" dirty="0"/>
          </a:p>
          <a:p>
            <a:pPr lvl="2"/>
            <a:r>
              <a:rPr lang="en-US" altLang="zh-CN" b="0" dirty="0"/>
              <a:t>Print(</a:t>
            </a:r>
            <a:r>
              <a:rPr lang="zh-CN" altLang="en-US" b="0" dirty="0"/>
              <a:t>常量名</a:t>
            </a:r>
            <a:r>
              <a:rPr lang="en-US" altLang="zh-CN" b="0" dirty="0"/>
              <a:t>)</a:t>
            </a:r>
          </a:p>
          <a:p>
            <a:pPr lvl="2"/>
            <a:r>
              <a:rPr lang="en-US" altLang="zh-CN" b="0" dirty="0"/>
              <a:t>Print(</a:t>
            </a:r>
            <a:r>
              <a:rPr lang="zh-CN" altLang="en-US" b="0" dirty="0"/>
              <a:t>变量名）</a:t>
            </a:r>
            <a:endParaRPr lang="en-US" altLang="zh-CN" b="0" dirty="0"/>
          </a:p>
          <a:p>
            <a:pPr lvl="2"/>
            <a:r>
              <a:rPr lang="en-US" altLang="zh-CN" b="0" dirty="0"/>
              <a:t>Print(</a:t>
            </a:r>
            <a:r>
              <a:rPr lang="zh-CN" altLang="en-US" b="0" dirty="0"/>
              <a:t>常量名，变量名，变量名</a:t>
            </a:r>
            <a:r>
              <a:rPr lang="en-US" altLang="zh-CN" b="0" dirty="0"/>
              <a:t>…..)</a:t>
            </a:r>
            <a:r>
              <a:rPr lang="en-US" altLang="zh-CN" dirty="0"/>
              <a:t>  </a:t>
            </a:r>
            <a:endParaRPr lang="en-US" altLang="zh-CN" b="0" dirty="0"/>
          </a:p>
          <a:p>
            <a:pPr lvl="2"/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操作实例：</a:t>
            </a:r>
            <a:endParaRPr lang="en-US" altLang="zh-CN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3"/>
            <a:r>
              <a:rPr lang="en-US" altLang="zh-CN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</a:t>
            </a:r>
            <a:r>
              <a:rPr lang="zh-CN" altLang="en-US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x,y,z</a:t>
            </a:r>
            <a:r>
              <a:rPr lang="zh-CN" altLang="en-US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1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en-US" b="0" dirty="0"/>
              <a:t>带有提示语句的输出语句</a:t>
            </a:r>
            <a:endParaRPr lang="en-US" altLang="zh-CN" b="0" dirty="0"/>
          </a:p>
          <a:p>
            <a:pPr lvl="2"/>
            <a:r>
              <a:rPr lang="en-US" altLang="zh-CN" b="0" dirty="0"/>
              <a:t>Print(</a:t>
            </a:r>
            <a:r>
              <a:rPr lang="zh-CN" altLang="en-US" b="0" dirty="0"/>
              <a:t>字符串常量，变量名</a:t>
            </a:r>
            <a:r>
              <a:rPr lang="en-US" altLang="zh-CN" b="0" dirty="0"/>
              <a:t>)</a:t>
            </a:r>
          </a:p>
          <a:p>
            <a:pPr lvl="2"/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操作实例：</a:t>
            </a:r>
            <a:endParaRPr lang="en-US" altLang="zh-CN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3"/>
            <a:r>
              <a:rPr lang="es-ES" altLang="zh-CN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x=87</a:t>
            </a:r>
          </a:p>
          <a:p>
            <a:pPr lvl="3"/>
            <a:r>
              <a:rPr lang="es-ES" altLang="zh-CN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zh-CN" altLang="es-ES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s-ES" altLang="zh-CN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 =  65, 91</a:t>
            </a:r>
          </a:p>
          <a:p>
            <a:pPr lvl="3"/>
            <a:r>
              <a:rPr lang="en-US" altLang="zh-CN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</a:t>
            </a:r>
            <a:r>
              <a:rPr lang="zh-CN" altLang="en-US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（“你好，输入结果是：”</a:t>
            </a:r>
            <a:r>
              <a:rPr lang="en-US" altLang="zh-CN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x,y,z</a:t>
            </a:r>
            <a:r>
              <a:rPr lang="zh-CN" altLang="en-US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　　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＃按默认格式输出</a:t>
            </a: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A7EB876B-980E-3261-5E73-C0FE0C22ED27}"/>
              </a:ext>
            </a:extLst>
          </p:cNvPr>
          <p:cNvSpPr txBox="1"/>
          <p:nvPr/>
        </p:nvSpPr>
        <p:spPr>
          <a:xfrm>
            <a:off x="6994566" y="1698171"/>
            <a:ext cx="4845133" cy="166222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print(“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我是一名教师“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假设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xx=98+2-3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457200" marR="0" lvl="0" indent="2667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rint(xx)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457200" marR="0" lvl="0" indent="2667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rint(“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请输出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的值“，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xx)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90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  <p:bldP spid="4" grpId="0" build="p" bldLvl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的输入输出语句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Python</a:t>
            </a:r>
            <a:r>
              <a:rPr lang="zh-CN" altLang="en-US" dirty="0"/>
              <a:t>中输出语句</a:t>
            </a:r>
            <a:endParaRPr lang="en-US" altLang="zh-CN" dirty="0"/>
          </a:p>
          <a:p>
            <a:pPr lvl="1"/>
            <a:r>
              <a:rPr lang="zh-CN" altLang="en-US" b="0" dirty="0"/>
              <a:t>高级输出语句</a:t>
            </a:r>
            <a:endParaRPr lang="en-US" altLang="zh-CN" b="0" dirty="0"/>
          </a:p>
          <a:p>
            <a:pPr lvl="2"/>
            <a:r>
              <a:rPr lang="zh-CN" altLang="en-US" dirty="0"/>
              <a:t>标准格式（之一）</a:t>
            </a:r>
            <a:r>
              <a:rPr lang="en-US" altLang="zh-CN" dirty="0"/>
              <a:t>——</a:t>
            </a:r>
            <a:r>
              <a:rPr lang="zh-CN" altLang="en-US" dirty="0"/>
              <a:t>基于参数％的方式</a:t>
            </a:r>
            <a:endParaRPr lang="en-US" altLang="zh-CN" dirty="0"/>
          </a:p>
          <a:p>
            <a:pPr lvl="3"/>
            <a:r>
              <a:rPr lang="en-US" altLang="zh-CN" sz="2000" b="1" dirty="0">
                <a:solidFill>
                  <a:srgbClr val="C00000"/>
                </a:solidFill>
              </a:rPr>
              <a:t>Print(</a:t>
            </a:r>
            <a:r>
              <a:rPr lang="zh-CN" altLang="en-US" sz="2000" b="1" dirty="0">
                <a:solidFill>
                  <a:srgbClr val="C00000"/>
                </a:solidFill>
              </a:rPr>
              <a:t>带有内置格式符的字符串</a:t>
            </a:r>
            <a:r>
              <a:rPr lang="en-US" altLang="zh-CN" sz="2000" b="1" dirty="0">
                <a:solidFill>
                  <a:srgbClr val="C00000"/>
                </a:solidFill>
              </a:rPr>
              <a:t>%(</a:t>
            </a:r>
            <a:r>
              <a:rPr lang="zh-CN" altLang="en-US" sz="2000" b="1" dirty="0">
                <a:solidFill>
                  <a:srgbClr val="C00000"/>
                </a:solidFill>
              </a:rPr>
              <a:t>变量列表</a:t>
            </a:r>
            <a:r>
              <a:rPr lang="en-US" altLang="zh-CN" sz="2000" b="1" dirty="0">
                <a:solidFill>
                  <a:srgbClr val="C00000"/>
                </a:solidFill>
              </a:rPr>
              <a:t>))</a:t>
            </a:r>
          </a:p>
          <a:p>
            <a:pPr lvl="3"/>
            <a:r>
              <a:rPr lang="zh-CN" altLang="en-US" sz="2000" dirty="0"/>
              <a:t>常见的格式符：</a:t>
            </a:r>
            <a:endParaRPr lang="en-US" altLang="zh-CN" sz="2000" dirty="0"/>
          </a:p>
          <a:p>
            <a:pPr lvl="4"/>
            <a:r>
              <a:rPr lang="zh-CN" altLang="en-US" sz="2000" b="0" dirty="0"/>
              <a:t>整型数： </a:t>
            </a:r>
            <a:r>
              <a:rPr lang="en-US" altLang="zh-CN" sz="2000" b="0" dirty="0"/>
              <a:t>%</a:t>
            </a:r>
            <a:r>
              <a:rPr lang="zh-CN" altLang="en-US" sz="2000" b="0" dirty="0"/>
              <a:t>宽度</a:t>
            </a:r>
            <a:r>
              <a:rPr lang="en-US" altLang="zh-CN" sz="2000" b="0" dirty="0"/>
              <a:t>d,      </a:t>
            </a:r>
            <a:r>
              <a:rPr lang="zh-CN" altLang="en-US" sz="2000" b="0" dirty="0"/>
              <a:t>例如：</a:t>
            </a:r>
            <a:r>
              <a:rPr lang="en-US" altLang="zh-CN" sz="2000" b="0" dirty="0"/>
              <a:t>%6d</a:t>
            </a:r>
          </a:p>
          <a:p>
            <a:pPr lvl="4"/>
            <a:r>
              <a:rPr lang="zh-CN" altLang="en-US" sz="2000" dirty="0"/>
              <a:t>浮点数：</a:t>
            </a:r>
            <a:r>
              <a:rPr lang="en-US" altLang="zh-CN" sz="2000" dirty="0"/>
              <a:t>%</a:t>
            </a:r>
            <a:r>
              <a:rPr lang="zh-CN" altLang="en-US" sz="2000" dirty="0"/>
              <a:t>宽度</a:t>
            </a:r>
            <a:r>
              <a:rPr lang="en-US" altLang="zh-CN" sz="2000" dirty="0"/>
              <a:t>.</a:t>
            </a:r>
            <a:r>
              <a:rPr lang="zh-CN" altLang="en-US" sz="2000" dirty="0"/>
              <a:t>小数位</a:t>
            </a:r>
            <a:r>
              <a:rPr lang="en-US" altLang="zh-CN" sz="2000" dirty="0"/>
              <a:t>f</a:t>
            </a:r>
            <a:r>
              <a:rPr lang="zh-CN" altLang="en-US" sz="2000" dirty="0"/>
              <a:t>，  例如：</a:t>
            </a:r>
            <a:r>
              <a:rPr lang="en-US" altLang="zh-CN" sz="2000" dirty="0"/>
              <a:t>%8.2f</a:t>
            </a:r>
          </a:p>
          <a:p>
            <a:pPr lvl="4"/>
            <a:r>
              <a:rPr lang="zh-CN" altLang="en-US" sz="2000" b="0" dirty="0"/>
              <a:t>字符串：</a:t>
            </a:r>
            <a:r>
              <a:rPr lang="en-US" altLang="zh-CN" sz="2000" b="0" dirty="0"/>
              <a:t>%s</a:t>
            </a:r>
          </a:p>
          <a:p>
            <a:pPr lvl="4"/>
            <a:r>
              <a:rPr lang="zh-CN" altLang="en-US" sz="2000" dirty="0"/>
              <a:t>百分号：％％</a:t>
            </a:r>
            <a:endParaRPr lang="en-US" altLang="zh-CN" sz="2000" b="0" dirty="0"/>
          </a:p>
          <a:p>
            <a:pPr lvl="3"/>
            <a:r>
              <a:rPr lang="zh-CN" altLang="en-US" sz="2000" b="1" dirty="0">
                <a:solidFill>
                  <a:srgbClr val="C00000"/>
                </a:solidFill>
              </a:rPr>
              <a:t>操作实例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4"/>
            <a:r>
              <a:rPr lang="en-US" altLang="zh-CN" sz="2000" b="0" dirty="0">
                <a:solidFill>
                  <a:srgbClr val="C00000"/>
                </a:solidFill>
              </a:rPr>
              <a:t>Print(“x=%4d,  y=%8.2f,  z=%s!”%(</a:t>
            </a:r>
            <a:r>
              <a:rPr lang="en-US" altLang="zh-CN" sz="2000" b="0" dirty="0" err="1">
                <a:solidFill>
                  <a:srgbClr val="C00000"/>
                </a:solidFill>
              </a:rPr>
              <a:t>x,y,z</a:t>
            </a:r>
            <a:r>
              <a:rPr lang="en-US" altLang="zh-CN" sz="2000" b="0" dirty="0">
                <a:solidFill>
                  <a:srgbClr val="C00000"/>
                </a:solidFill>
              </a:rPr>
              <a:t>))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xmlns="" id="{BC9434AC-47FD-C860-6141-9F93D34F1FA3}"/>
              </a:ext>
            </a:extLst>
          </p:cNvPr>
          <p:cNvSpPr/>
          <p:nvPr/>
        </p:nvSpPr>
        <p:spPr>
          <a:xfrm>
            <a:off x="7453746" y="1130300"/>
            <a:ext cx="4738254" cy="318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假设：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xx=98,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=92.7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#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以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5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位整型方式输出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，以宽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8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位、小数位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位小数方式输出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Print(“xx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的值是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%5d,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的值是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%8.2f!”%(xx,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))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#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以宽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9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位、小数位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位小数方式输出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再以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6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位整数方式输出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Print(“%9.3f, %6d”%(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yy,xx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))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31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  <p:bldP spid="4" grpId="0" build="p" bldLvl="5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的输入输出语句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Python</a:t>
            </a:r>
            <a:r>
              <a:rPr lang="zh-CN" altLang="en-US" dirty="0"/>
              <a:t>中输出语句</a:t>
            </a:r>
            <a:endParaRPr lang="en-US" altLang="zh-CN" dirty="0"/>
          </a:p>
          <a:p>
            <a:pPr lvl="1"/>
            <a:r>
              <a:rPr lang="zh-CN" altLang="en-US" b="0" dirty="0"/>
              <a:t>高级输出语句</a:t>
            </a:r>
            <a:endParaRPr lang="en-US" altLang="zh-CN" b="0" dirty="0"/>
          </a:p>
          <a:p>
            <a:pPr lvl="2"/>
            <a:r>
              <a:rPr lang="zh-CN" altLang="en-US" dirty="0"/>
              <a:t>标准格式（之二）</a:t>
            </a:r>
            <a:r>
              <a:rPr lang="en-US" altLang="zh-CN" dirty="0"/>
              <a:t>——</a:t>
            </a:r>
            <a:r>
              <a:rPr lang="zh-CN" altLang="en-US" dirty="0"/>
              <a:t>基于参数｛｝的方式</a:t>
            </a:r>
            <a:endParaRPr lang="en-US" altLang="zh-CN" dirty="0"/>
          </a:p>
          <a:p>
            <a:pPr lvl="3"/>
            <a:r>
              <a:rPr lang="en-US" altLang="zh-CN" sz="2000" b="1" dirty="0">
                <a:solidFill>
                  <a:srgbClr val="C00000"/>
                </a:solidFill>
              </a:rPr>
              <a:t>Print(f</a:t>
            </a:r>
            <a:r>
              <a:rPr lang="zh-CN" altLang="en-US" sz="2000" b="1" dirty="0">
                <a:solidFill>
                  <a:srgbClr val="C00000"/>
                </a:solidFill>
              </a:rPr>
              <a:t>“</a:t>
            </a:r>
            <a:r>
              <a:rPr lang="en-US" altLang="zh-CN" sz="2000" b="1" dirty="0">
                <a:solidFill>
                  <a:srgbClr val="C00000"/>
                </a:solidFill>
              </a:rPr>
              <a:t>{</a:t>
            </a:r>
            <a:r>
              <a:rPr lang="zh-CN" altLang="en-US" sz="2000" b="1" dirty="0">
                <a:solidFill>
                  <a:srgbClr val="C00000"/>
                </a:solidFill>
              </a:rPr>
              <a:t>变量名：格式</a:t>
            </a:r>
            <a:r>
              <a:rPr lang="en-US" altLang="zh-CN" sz="2000" b="1" dirty="0">
                <a:solidFill>
                  <a:srgbClr val="C00000"/>
                </a:solidFill>
              </a:rPr>
              <a:t>}</a:t>
            </a:r>
            <a:r>
              <a:rPr lang="zh-CN" altLang="en-US" sz="2000" b="1" dirty="0">
                <a:solidFill>
                  <a:srgbClr val="C00000"/>
                </a:solidFill>
              </a:rPr>
              <a:t>其他字符串”</a:t>
            </a:r>
            <a:r>
              <a:rPr lang="en-US" altLang="zh-CN" sz="2000" b="1" dirty="0">
                <a:solidFill>
                  <a:srgbClr val="C00000"/>
                </a:solidFill>
              </a:rPr>
              <a:t>)</a:t>
            </a:r>
          </a:p>
          <a:p>
            <a:pPr lvl="3"/>
            <a:r>
              <a:rPr lang="zh-CN" altLang="en-US" sz="2000" dirty="0"/>
              <a:t>以ｆ为引导符，引导一个带有参数的字符串常量。在字符串中包含了｛｝参数项，其中冒号前为变量名，冒号后为格式符。</a:t>
            </a:r>
            <a:endParaRPr lang="en-US" altLang="zh-CN" sz="2000" dirty="0"/>
          </a:p>
          <a:p>
            <a:pPr lvl="4"/>
            <a:r>
              <a:rPr lang="zh-CN" altLang="en-US" sz="2000" b="0" dirty="0"/>
              <a:t>整型数： </a:t>
            </a:r>
            <a:r>
              <a:rPr lang="en-US" altLang="zh-CN" sz="2000" b="0" dirty="0"/>
              <a:t>%</a:t>
            </a:r>
            <a:r>
              <a:rPr lang="zh-CN" altLang="en-US" sz="2000" b="0" dirty="0"/>
              <a:t>宽度</a:t>
            </a:r>
            <a:r>
              <a:rPr lang="en-US" altLang="zh-CN" sz="2000" b="0" dirty="0"/>
              <a:t>d,      </a:t>
            </a:r>
            <a:r>
              <a:rPr lang="zh-CN" altLang="en-US" sz="2000" b="0" dirty="0"/>
              <a:t>例如：</a:t>
            </a:r>
            <a:r>
              <a:rPr lang="en-US" altLang="zh-CN" sz="2000" b="0" dirty="0"/>
              <a:t>%6d</a:t>
            </a:r>
          </a:p>
          <a:p>
            <a:pPr lvl="4"/>
            <a:r>
              <a:rPr lang="zh-CN" altLang="en-US" sz="2000" dirty="0"/>
              <a:t>浮点数：</a:t>
            </a:r>
            <a:r>
              <a:rPr lang="en-US" altLang="zh-CN" sz="2000" dirty="0"/>
              <a:t>%</a:t>
            </a:r>
            <a:r>
              <a:rPr lang="zh-CN" altLang="en-US" sz="2000" dirty="0"/>
              <a:t>宽度</a:t>
            </a:r>
            <a:r>
              <a:rPr lang="en-US" altLang="zh-CN" sz="2000" dirty="0"/>
              <a:t>.</a:t>
            </a:r>
            <a:r>
              <a:rPr lang="zh-CN" altLang="en-US" sz="2000" dirty="0"/>
              <a:t>小数位</a:t>
            </a:r>
            <a:r>
              <a:rPr lang="en-US" altLang="zh-CN" sz="2000" dirty="0"/>
              <a:t>f</a:t>
            </a:r>
            <a:r>
              <a:rPr lang="zh-CN" altLang="en-US" sz="2000" dirty="0"/>
              <a:t>，  例如：</a:t>
            </a:r>
            <a:r>
              <a:rPr lang="en-US" altLang="zh-CN" sz="2000" dirty="0"/>
              <a:t>%8.2f</a:t>
            </a:r>
          </a:p>
          <a:p>
            <a:pPr lvl="4"/>
            <a:r>
              <a:rPr lang="zh-CN" altLang="en-US" sz="2000" b="0" dirty="0"/>
              <a:t>字符串：</a:t>
            </a:r>
            <a:r>
              <a:rPr lang="en-US" altLang="zh-CN" sz="2000" b="0" dirty="0"/>
              <a:t>%s</a:t>
            </a:r>
          </a:p>
          <a:p>
            <a:pPr lvl="3"/>
            <a:r>
              <a:rPr lang="zh-CN" altLang="en-US" sz="2000" b="1" dirty="0">
                <a:solidFill>
                  <a:srgbClr val="C00000"/>
                </a:solidFill>
              </a:rPr>
              <a:t>操作实例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4"/>
            <a:r>
              <a:rPr lang="en-US" altLang="zh-CN" sz="2000" dirty="0">
                <a:solidFill>
                  <a:srgbClr val="C00000"/>
                </a:solidFill>
              </a:rPr>
              <a:t>Print(</a:t>
            </a:r>
            <a:r>
              <a:rPr lang="en-US" altLang="zh-CN" sz="2000" dirty="0" err="1">
                <a:solidFill>
                  <a:srgbClr val="C00000"/>
                </a:solidFill>
              </a:rPr>
              <a:t>f“x</a:t>
            </a:r>
            <a:r>
              <a:rPr lang="en-US" altLang="zh-CN" sz="2000" dirty="0">
                <a:solidFill>
                  <a:srgbClr val="C00000"/>
                </a:solidFill>
              </a:rPr>
              <a:t>={x:4d}, y={y: 8.2f}, z={</a:t>
            </a:r>
            <a:r>
              <a:rPr lang="en-US" altLang="zh-CN" sz="2000" dirty="0" err="1">
                <a:solidFill>
                  <a:srgbClr val="C00000"/>
                </a:solidFill>
              </a:rPr>
              <a:t>z:s</a:t>
            </a:r>
            <a:r>
              <a:rPr lang="en-US" altLang="zh-CN" sz="2000" dirty="0">
                <a:solidFill>
                  <a:srgbClr val="C00000"/>
                </a:solidFill>
              </a:rPr>
              <a:t>}”)</a:t>
            </a:r>
            <a:endParaRPr lang="en-US" altLang="zh-CN" sz="2000" b="0" dirty="0">
              <a:solidFill>
                <a:srgbClr val="C00000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xmlns="" id="{BC9434AC-47FD-C860-6141-9F93D34F1FA3}"/>
              </a:ext>
            </a:extLst>
          </p:cNvPr>
          <p:cNvSpPr/>
          <p:nvPr/>
        </p:nvSpPr>
        <p:spPr>
          <a:xfrm>
            <a:off x="7453746" y="883108"/>
            <a:ext cx="4738254" cy="190978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假设：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xx=98,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=92.7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#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以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5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位整型方式输出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，以宽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8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位、小数位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位小数方式输出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#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以宽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9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位、小数位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位小数方式输出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再以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6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位整数方式输出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  <p:bldP spid="4" grpId="0" build="p" bldLvl="5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的输入输出语句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Python</a:t>
            </a:r>
            <a:r>
              <a:rPr lang="zh-CN" altLang="en-US" dirty="0"/>
              <a:t>中输出语句</a:t>
            </a:r>
            <a:endParaRPr lang="en-US" altLang="zh-CN" dirty="0"/>
          </a:p>
          <a:p>
            <a:pPr lvl="1"/>
            <a:r>
              <a:rPr lang="zh-CN" altLang="en-US" b="0" dirty="0"/>
              <a:t>高级输出语句</a:t>
            </a:r>
            <a:endParaRPr lang="en-US" altLang="zh-CN" b="0" dirty="0"/>
          </a:p>
          <a:p>
            <a:pPr lvl="2"/>
            <a:r>
              <a:rPr lang="zh-CN" altLang="en-US" sz="2000" dirty="0"/>
              <a:t>标准格式（之三）</a:t>
            </a:r>
            <a:r>
              <a:rPr lang="en-US" altLang="zh-CN" sz="2000" dirty="0"/>
              <a:t>——</a:t>
            </a:r>
            <a:r>
              <a:rPr lang="zh-CN" altLang="en-US" sz="2000" b="1" dirty="0">
                <a:solidFill>
                  <a:srgbClr val="C00000"/>
                </a:solidFill>
              </a:rPr>
              <a:t>带</a:t>
            </a:r>
            <a:r>
              <a:rPr lang="en-US" altLang="zh-CN" sz="2000" b="1" dirty="0">
                <a:solidFill>
                  <a:srgbClr val="C00000"/>
                </a:solidFill>
              </a:rPr>
              <a:t>format</a:t>
            </a:r>
            <a:r>
              <a:rPr lang="zh-CN" altLang="en-US" sz="2000" b="1" dirty="0">
                <a:solidFill>
                  <a:srgbClr val="C00000"/>
                </a:solidFill>
              </a:rPr>
              <a:t>方法体的格式化语句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3"/>
            <a:r>
              <a:rPr lang="en-US" altLang="zh-CN" sz="1800" dirty="0"/>
              <a:t>Print(</a:t>
            </a:r>
            <a:r>
              <a:rPr lang="zh-CN" altLang="en-US" sz="1800" dirty="0">
                <a:solidFill>
                  <a:srgbClr val="C00000"/>
                </a:solidFill>
              </a:rPr>
              <a:t>带有</a:t>
            </a:r>
            <a:r>
              <a:rPr lang="en-US" altLang="zh-CN" sz="1800" dirty="0">
                <a:solidFill>
                  <a:srgbClr val="C00000"/>
                </a:solidFill>
              </a:rPr>
              <a:t>{}</a:t>
            </a:r>
            <a:r>
              <a:rPr lang="zh-CN" altLang="en-US" sz="1800" dirty="0">
                <a:solidFill>
                  <a:srgbClr val="C00000"/>
                </a:solidFill>
              </a:rPr>
              <a:t>参数的字符串</a:t>
            </a:r>
            <a:r>
              <a:rPr lang="en-US" altLang="zh-CN" sz="1800" dirty="0">
                <a:solidFill>
                  <a:srgbClr val="C00000"/>
                </a:solidFill>
              </a:rPr>
              <a:t>.format(</a:t>
            </a:r>
            <a:r>
              <a:rPr lang="zh-CN" altLang="en-US" sz="1800" dirty="0">
                <a:solidFill>
                  <a:srgbClr val="C00000"/>
                </a:solidFill>
              </a:rPr>
              <a:t>变量序列</a:t>
            </a:r>
            <a:r>
              <a:rPr lang="en-US" altLang="zh-CN" sz="1800" dirty="0">
                <a:solidFill>
                  <a:srgbClr val="C00000"/>
                </a:solidFill>
              </a:rPr>
              <a:t>)</a:t>
            </a:r>
            <a:r>
              <a:rPr lang="zh-CN" altLang="en-US" sz="1800" dirty="0"/>
              <a:t>）</a:t>
            </a:r>
            <a:endParaRPr lang="en-US" altLang="zh-CN" sz="1800" b="0" dirty="0"/>
          </a:p>
          <a:p>
            <a:pPr lvl="3"/>
            <a:r>
              <a:rPr lang="zh-CN" altLang="en-US" sz="1800" dirty="0"/>
              <a:t>常见的格式符：</a:t>
            </a:r>
            <a:endParaRPr lang="en-US" altLang="zh-CN" sz="1800" dirty="0"/>
          </a:p>
          <a:p>
            <a:pPr lvl="4"/>
            <a:r>
              <a:rPr lang="zh-CN" altLang="en-US" sz="1800" dirty="0"/>
              <a:t>整型数： </a:t>
            </a:r>
            <a:r>
              <a:rPr lang="en-US" altLang="zh-CN" sz="1800" dirty="0"/>
              <a:t>{:</a:t>
            </a:r>
            <a:r>
              <a:rPr lang="zh-CN" altLang="en-US" sz="1800" dirty="0"/>
              <a:t>宽度</a:t>
            </a:r>
            <a:r>
              <a:rPr lang="en-US" altLang="zh-CN" sz="1800" dirty="0"/>
              <a:t>d},      </a:t>
            </a:r>
            <a:r>
              <a:rPr lang="zh-CN" altLang="en-US" sz="1800" dirty="0"/>
              <a:t>例如：</a:t>
            </a:r>
            <a:r>
              <a:rPr lang="en-US" altLang="zh-CN" sz="1800" dirty="0"/>
              <a:t>{:6d}</a:t>
            </a:r>
          </a:p>
          <a:p>
            <a:pPr lvl="4"/>
            <a:r>
              <a:rPr lang="zh-CN" altLang="en-US" sz="1800" dirty="0"/>
              <a:t>浮点数：</a:t>
            </a:r>
            <a:r>
              <a:rPr lang="en-US" altLang="zh-CN" sz="1800" dirty="0"/>
              <a:t>{:</a:t>
            </a:r>
            <a:r>
              <a:rPr lang="zh-CN" altLang="en-US" sz="1800" dirty="0"/>
              <a:t>宽度</a:t>
            </a:r>
            <a:r>
              <a:rPr lang="en-US" altLang="zh-CN" sz="1800" dirty="0"/>
              <a:t>.</a:t>
            </a:r>
            <a:r>
              <a:rPr lang="zh-CN" altLang="en-US" sz="1800" dirty="0"/>
              <a:t>小数位</a:t>
            </a:r>
            <a:r>
              <a:rPr lang="en-US" altLang="zh-CN" sz="1800" dirty="0"/>
              <a:t>f}</a:t>
            </a:r>
            <a:r>
              <a:rPr lang="zh-CN" altLang="en-US" sz="1800" dirty="0"/>
              <a:t>，  例如：</a:t>
            </a:r>
            <a:r>
              <a:rPr lang="en-US" altLang="zh-CN" sz="1800" dirty="0"/>
              <a:t>{:8.2f}</a:t>
            </a:r>
          </a:p>
          <a:p>
            <a:pPr lvl="4"/>
            <a:r>
              <a:rPr lang="zh-CN" altLang="en-US" sz="1800" dirty="0"/>
              <a:t>字符串：</a:t>
            </a:r>
            <a:r>
              <a:rPr lang="en-US" altLang="zh-CN" sz="1800" dirty="0"/>
              <a:t>{:s}</a:t>
            </a:r>
          </a:p>
          <a:p>
            <a:pPr lvl="4"/>
            <a:r>
              <a:rPr lang="zh-CN" altLang="en-US" sz="1800" dirty="0"/>
              <a:t>二进制形式：</a:t>
            </a:r>
            <a:r>
              <a:rPr lang="en-US" altLang="zh-CN" sz="1800" smtClean="0"/>
              <a:t>{:b}——</a:t>
            </a:r>
            <a:r>
              <a:rPr lang="zh-CN" altLang="en-US" sz="1800" dirty="0"/>
              <a:t>仅限整型数据</a:t>
            </a:r>
            <a:endParaRPr lang="en-US" altLang="zh-CN" sz="1800" dirty="0"/>
          </a:p>
          <a:p>
            <a:pPr lvl="3"/>
            <a:r>
              <a:rPr lang="zh-CN" altLang="en-US" sz="1800" b="1" dirty="0">
                <a:solidFill>
                  <a:srgbClr val="C00000"/>
                </a:solidFill>
              </a:rPr>
              <a:t>操作实例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4"/>
            <a:r>
              <a:rPr lang="en-US" altLang="zh-CN" sz="1800" b="0" dirty="0">
                <a:solidFill>
                  <a:srgbClr val="C00000"/>
                </a:solidFill>
              </a:rPr>
              <a:t>Print(“The Result is{:6d}!”.format(x))</a:t>
            </a:r>
            <a:endParaRPr lang="en-US" altLang="zh-CN" b="0" dirty="0">
              <a:solidFill>
                <a:srgbClr val="C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01FE511A-846A-1DF0-0ECB-6E3C82305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453" y="2670175"/>
            <a:ext cx="2495550" cy="192405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xmlns="" id="{1C4E2AD4-8639-D01B-EC0F-9B2D0805D1EA}"/>
              </a:ext>
            </a:extLst>
          </p:cNvPr>
          <p:cNvSpPr/>
          <p:nvPr/>
        </p:nvSpPr>
        <p:spPr>
          <a:xfrm>
            <a:off x="7453746" y="4875502"/>
            <a:ext cx="4738254" cy="202853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假设：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xx=98,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=92.7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#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以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5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位整型方式输出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，以宽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8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位、小数位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位小数方式输出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#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以宽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9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位、小数位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位小数方式输出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yy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再以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6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位整数方式输出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01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  <p:bldP spid="4" grpId="0" build="p" bldLvl="5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A9A3EC1-3F2B-7283-8A9A-2A980FD5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的输入输出语句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78CBB21-C6D8-0C5E-5997-184ACC934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7248565" cy="57277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1. Python</a:t>
            </a:r>
            <a:r>
              <a:rPr lang="zh-CN" altLang="en-US" dirty="0"/>
              <a:t>中输出语句</a:t>
            </a:r>
            <a:endParaRPr lang="en-US" altLang="zh-CN" dirty="0"/>
          </a:p>
          <a:p>
            <a:pPr lvl="1"/>
            <a:r>
              <a:rPr lang="zh-CN" altLang="en-US" dirty="0"/>
              <a:t>输出结果的换行</a:t>
            </a:r>
            <a:endParaRPr lang="en-US" altLang="zh-CN" dirty="0"/>
          </a:p>
          <a:p>
            <a:pPr lvl="2"/>
            <a:r>
              <a:rPr lang="en-US" altLang="zh-CN" dirty="0"/>
              <a:t>Print</a:t>
            </a:r>
            <a:r>
              <a:rPr lang="zh-CN" altLang="en-US" dirty="0"/>
              <a:t>语句默认在输出信息之后自动换行</a:t>
            </a:r>
            <a:endParaRPr lang="en-US" altLang="zh-CN" dirty="0"/>
          </a:p>
          <a:p>
            <a:pPr lvl="2"/>
            <a:r>
              <a:rPr lang="zh-CN" altLang="en-US" dirty="0"/>
              <a:t>如希望暂不换行，可以在</a:t>
            </a:r>
            <a:r>
              <a:rPr lang="en-US" altLang="zh-CN" dirty="0"/>
              <a:t>print</a:t>
            </a:r>
            <a:r>
              <a:rPr lang="zh-CN" altLang="en-US" dirty="0"/>
              <a:t>语句的末尾增加一个标记“</a:t>
            </a:r>
            <a:r>
              <a:rPr lang="en-US" altLang="zh-CN" dirty="0"/>
              <a:t>end=“”</a:t>
            </a:r>
            <a:r>
              <a:rPr lang="zh-CN" altLang="en-US" dirty="0"/>
              <a:t>”，表示在此信息输出之后，暂不输出换行语句，而是输出一个空字符</a:t>
            </a:r>
            <a:endParaRPr lang="en-US" altLang="zh-CN" dirty="0"/>
          </a:p>
          <a:p>
            <a:pPr lvl="2"/>
            <a:r>
              <a:rPr lang="en-US" altLang="zh-CN" dirty="0"/>
              <a:t>Print(“</a:t>
            </a:r>
            <a:r>
              <a:rPr lang="zh-CN" altLang="en-US" dirty="0"/>
              <a:t>热爱祖国的教育事业</a:t>
            </a:r>
            <a:r>
              <a:rPr lang="en-US" altLang="zh-CN" dirty="0"/>
              <a:t>!”, end = “”)</a:t>
            </a:r>
          </a:p>
          <a:p>
            <a:pPr lvl="2"/>
            <a:r>
              <a:rPr lang="zh-CN" altLang="en-US" dirty="0"/>
              <a:t>直接写一个没有参数的</a:t>
            </a:r>
            <a:r>
              <a:rPr lang="en-US" altLang="zh-CN" dirty="0"/>
              <a:t>print</a:t>
            </a:r>
            <a:r>
              <a:rPr lang="zh-CN" altLang="en-US" dirty="0"/>
              <a:t>语句，就可实现输出内容立即换行</a:t>
            </a:r>
            <a:endParaRPr lang="en-US" altLang="zh-CN" dirty="0"/>
          </a:p>
          <a:p>
            <a:pPr lvl="2"/>
            <a:r>
              <a:rPr lang="en-US" altLang="zh-CN" dirty="0"/>
              <a:t>Print()</a:t>
            </a:r>
          </a:p>
          <a:p>
            <a:pPr lvl="2"/>
            <a:r>
              <a:rPr lang="en-US" altLang="zh-CN" dirty="0"/>
              <a:t>Print(</a:t>
            </a:r>
            <a:r>
              <a:rPr lang="zh-CN" altLang="en-US" dirty="0"/>
              <a:t>字符串常量或变量</a:t>
            </a:r>
            <a:r>
              <a:rPr lang="en-US" altLang="zh-CN" dirty="0"/>
              <a:t>, end=“\n”)   #</a:t>
            </a:r>
            <a:r>
              <a:rPr lang="zh-CN" altLang="en-US" dirty="0"/>
              <a:t>输出信息后换行，这里的</a:t>
            </a:r>
            <a:r>
              <a:rPr lang="en-US" altLang="zh-CN" dirty="0"/>
              <a:t>”\n”</a:t>
            </a:r>
            <a:r>
              <a:rPr lang="zh-CN" altLang="en-US" dirty="0"/>
              <a:t>是转义字符，代表换行符</a:t>
            </a:r>
            <a:endParaRPr lang="en-US" altLang="zh-CN" dirty="0"/>
          </a:p>
          <a:p>
            <a:pPr lvl="2"/>
            <a:r>
              <a:rPr lang="en-US" altLang="zh-CN" dirty="0"/>
              <a:t>”\”</a:t>
            </a:r>
            <a:r>
              <a:rPr lang="zh-CN" altLang="en-US" dirty="0"/>
              <a:t>是转义引导符，代表后边的信息是转义字符</a:t>
            </a:r>
            <a:endParaRPr lang="en-US" altLang="zh-CN" dirty="0"/>
          </a:p>
          <a:p>
            <a:pPr lvl="3"/>
            <a:r>
              <a:rPr lang="en-US" altLang="zh-CN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\n: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换行 </a:t>
            </a:r>
            <a:endParaRPr lang="en-US" altLang="zh-CN" b="0" i="0" dirty="0">
              <a:solidFill>
                <a:srgbClr val="C00000"/>
              </a:solidFill>
              <a:effectLst/>
              <a:latin typeface="Source Code Pro" panose="020B0509030403020204" pitchFamily="49" charset="0"/>
            </a:endParaRPr>
          </a:p>
          <a:p>
            <a:pPr lvl="3"/>
            <a:r>
              <a:rPr lang="en-US" altLang="zh-CN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\t: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制表符，一个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tab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键（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4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个空格）的距离</a:t>
            </a:r>
            <a:endParaRPr lang="en-US" altLang="zh-CN" b="0" i="0" dirty="0">
              <a:solidFill>
                <a:srgbClr val="C00000"/>
              </a:solidFill>
              <a:effectLst/>
              <a:latin typeface="Source Code Pro" panose="020B0509030403020204" pitchFamily="49" charset="0"/>
            </a:endParaRPr>
          </a:p>
          <a:p>
            <a:pPr lvl="3"/>
            <a:r>
              <a:rPr lang="en-US" altLang="zh-CN" dirty="0">
                <a:solidFill>
                  <a:srgbClr val="C00000"/>
                </a:solidFill>
                <a:latin typeface="Source Code Pro" panose="020B0509030403020204" pitchFamily="49" charset="0"/>
              </a:rPr>
              <a:t>\\</a:t>
            </a:r>
          </a:p>
          <a:p>
            <a:pPr lvl="2"/>
            <a:r>
              <a:rPr lang="zh-CN" altLang="en-US" dirty="0"/>
              <a:t>结束符 </a:t>
            </a:r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print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altLang="zh-CN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'</a:t>
            </a:r>
            <a:r>
              <a:rPr lang="en-US" altLang="zh-CN" b="0" i="0" dirty="0" err="1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hello'</a:t>
            </a:r>
            <a:r>
              <a:rPr lang="en-US" altLang="zh-CN" b="0" i="0" dirty="0" err="1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altLang="zh-CN" b="0" i="0" dirty="0" err="1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end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=</a:t>
            </a:r>
            <a:r>
              <a:rPr lang="en-US" altLang="zh-CN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"\n"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)</a:t>
            </a:r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，也可以自己更改。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E5C411C7-20B6-0F83-6477-10677992BC5B}"/>
              </a:ext>
            </a:extLst>
          </p:cNvPr>
          <p:cNvSpPr txBox="1"/>
          <p:nvPr/>
        </p:nvSpPr>
        <p:spPr>
          <a:xfrm>
            <a:off x="8277102" y="4368933"/>
            <a:ext cx="18169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hello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world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hello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world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hello	world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hello...world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20562D4D-E7A6-B44F-65E7-9AD265D05932}"/>
              </a:ext>
            </a:extLst>
          </p:cNvPr>
          <p:cNvSpPr txBox="1"/>
          <p:nvPr/>
        </p:nvSpPr>
        <p:spPr>
          <a:xfrm>
            <a:off x="8158348" y="883108"/>
            <a:ext cx="3871356" cy="338554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验证了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函数自带默认的结束符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'hello'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'world'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'hello'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end=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"\n"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'world'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可以根据自己需求更改结束符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'hello'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end=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'\t'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'world'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/>
            </a: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'hello'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end=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"..."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'world'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8764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  <p:bldP spid="7" grpId="0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的数据、常量与变量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Python</a:t>
            </a:r>
            <a:r>
              <a:rPr lang="zh-CN" altLang="en-US" dirty="0"/>
              <a:t>中输入语句</a:t>
            </a:r>
            <a:endParaRPr lang="en-US" altLang="zh-CN" dirty="0"/>
          </a:p>
          <a:p>
            <a:pPr lvl="1"/>
            <a:r>
              <a:rPr lang="zh-CN" altLang="en-US" dirty="0"/>
              <a:t>输入语句的格式</a:t>
            </a:r>
            <a:endParaRPr lang="en-US" altLang="zh-CN" b="0" dirty="0"/>
          </a:p>
          <a:p>
            <a:pPr lvl="2"/>
            <a:r>
              <a:rPr lang="zh-CN" altLang="en-US" sz="2000" b="0" dirty="0">
                <a:solidFill>
                  <a:srgbClr val="C00000"/>
                </a:solidFill>
              </a:rPr>
              <a:t>变量名</a:t>
            </a:r>
            <a:r>
              <a:rPr lang="en-US" altLang="zh-CN" sz="2000" b="0" dirty="0">
                <a:solidFill>
                  <a:srgbClr val="C00000"/>
                </a:solidFill>
              </a:rPr>
              <a:t>=input(</a:t>
            </a:r>
            <a:r>
              <a:rPr lang="zh-CN" altLang="en-US" sz="2000" b="0" dirty="0">
                <a:solidFill>
                  <a:srgbClr val="C00000"/>
                </a:solidFill>
              </a:rPr>
              <a:t>提示语句</a:t>
            </a:r>
            <a:r>
              <a:rPr lang="en-US" altLang="zh-CN" sz="2000" b="0" dirty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zh-CN" altLang="en-US" dirty="0"/>
              <a:t>说明</a:t>
            </a:r>
            <a:endParaRPr lang="en-US" altLang="zh-CN" b="0" dirty="0"/>
          </a:p>
          <a:p>
            <a:pPr lvl="2"/>
            <a:r>
              <a:rPr lang="zh-CN" altLang="en-US" sz="2000" dirty="0"/>
              <a:t>输入语句非常简单，仅此一个</a:t>
            </a:r>
            <a:endParaRPr lang="en-US" altLang="zh-CN" sz="2000" dirty="0"/>
          </a:p>
          <a:p>
            <a:pPr lvl="2"/>
            <a:r>
              <a:rPr lang="zh-CN" altLang="en-US" sz="2000" dirty="0">
                <a:solidFill>
                  <a:srgbClr val="C00000"/>
                </a:solidFill>
              </a:rPr>
              <a:t>获得的结果一定为字符串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常见处理方式</a:t>
            </a:r>
            <a:endParaRPr lang="en-US" altLang="zh-CN" dirty="0"/>
          </a:p>
          <a:p>
            <a:pPr lvl="2"/>
            <a:r>
              <a:rPr lang="zh-CN" altLang="en-US" sz="2000" b="1" dirty="0"/>
              <a:t>字符串的截取</a:t>
            </a:r>
            <a:endParaRPr lang="en-US" altLang="zh-CN" sz="2000" b="1" dirty="0"/>
          </a:p>
          <a:p>
            <a:pPr lvl="3"/>
            <a:r>
              <a:rPr lang="zh-CN" altLang="en-US" sz="1800" dirty="0"/>
              <a:t>新变量名</a:t>
            </a:r>
            <a:r>
              <a:rPr lang="en-US" altLang="zh-CN" sz="1800" dirty="0"/>
              <a:t>=</a:t>
            </a:r>
            <a:r>
              <a:rPr lang="zh-CN" altLang="en-US" sz="1800" dirty="0"/>
              <a:t>字符串变量</a:t>
            </a:r>
            <a:r>
              <a:rPr lang="en-US" altLang="zh-CN" sz="1800" dirty="0"/>
              <a:t>[</a:t>
            </a:r>
            <a:r>
              <a:rPr lang="zh-CN" altLang="en-US" sz="1800" dirty="0"/>
              <a:t>起点</a:t>
            </a:r>
            <a:r>
              <a:rPr lang="en-US" altLang="zh-CN" sz="1800" dirty="0"/>
              <a:t>:</a:t>
            </a:r>
            <a:r>
              <a:rPr lang="zh-CN" altLang="en-US" sz="1800" dirty="0"/>
              <a:t>终点</a:t>
            </a:r>
            <a:r>
              <a:rPr lang="en-US" altLang="zh-CN" sz="1800" dirty="0"/>
              <a:t>] </a:t>
            </a:r>
          </a:p>
          <a:p>
            <a:pPr lvl="3"/>
            <a:r>
              <a:rPr lang="zh-CN" altLang="en-US" sz="1800" dirty="0"/>
              <a:t>例如：</a:t>
            </a:r>
            <a:r>
              <a:rPr lang="en-US" altLang="zh-CN" sz="1800" dirty="0" err="1"/>
              <a:t>yy</a:t>
            </a:r>
            <a:r>
              <a:rPr lang="en-US" altLang="zh-CN" sz="1800" dirty="0"/>
              <a:t>=xx[2:8],    </a:t>
            </a:r>
            <a:r>
              <a:rPr lang="zh-CN" altLang="en-US" sz="1800" dirty="0"/>
              <a:t>或  </a:t>
            </a:r>
            <a:r>
              <a:rPr lang="en-US" altLang="zh-CN" sz="1800" dirty="0" err="1"/>
              <a:t>zz</a:t>
            </a:r>
            <a:r>
              <a:rPr lang="en-US" altLang="zh-CN" sz="1800" dirty="0"/>
              <a:t>=xx[:4]</a:t>
            </a:r>
          </a:p>
          <a:p>
            <a:pPr lvl="2"/>
            <a:r>
              <a:rPr lang="zh-CN" altLang="en-US" sz="2000" b="1" dirty="0"/>
              <a:t>类型转换</a:t>
            </a:r>
            <a:endParaRPr lang="en-US" altLang="zh-CN" sz="2000" b="1" dirty="0"/>
          </a:p>
          <a:p>
            <a:pPr lvl="3"/>
            <a:r>
              <a:rPr lang="en-US" altLang="zh-CN" sz="1800" dirty="0"/>
              <a:t>int(</a:t>
            </a:r>
            <a:r>
              <a:rPr lang="zh-CN" altLang="en-US" sz="1800" dirty="0"/>
              <a:t>字符串</a:t>
            </a:r>
            <a:r>
              <a:rPr lang="en-US" altLang="zh-CN" sz="1800" dirty="0"/>
              <a:t>)          float(</a:t>
            </a:r>
            <a:r>
              <a:rPr lang="zh-CN" altLang="en-US" sz="1800" dirty="0"/>
              <a:t>字符串</a:t>
            </a:r>
            <a:r>
              <a:rPr lang="en-US" altLang="zh-CN" sz="1800" dirty="0"/>
              <a:t>)       eval(</a:t>
            </a:r>
            <a:r>
              <a:rPr lang="zh-CN" altLang="en-US" sz="1800" dirty="0"/>
              <a:t>字符串</a:t>
            </a:r>
            <a:r>
              <a:rPr lang="en-US" altLang="zh-CN" sz="1800" dirty="0"/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FFC5712B-65AF-1D19-BD43-7E584C4EE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4" y="3930743"/>
            <a:ext cx="2924423" cy="229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0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的输入输出语句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1" y="1130299"/>
            <a:ext cx="5930180" cy="5727701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输入输出的应用</a:t>
            </a:r>
            <a:endParaRPr lang="en-US" altLang="zh-CN" dirty="0"/>
          </a:p>
          <a:p>
            <a:pPr lvl="1"/>
            <a:r>
              <a:rPr lang="zh-CN" altLang="en-US" dirty="0"/>
              <a:t>普通的数据输出</a:t>
            </a:r>
            <a:endParaRPr lang="en-US" altLang="zh-CN" dirty="0"/>
          </a:p>
          <a:p>
            <a:pPr lvl="2"/>
            <a:r>
              <a:rPr lang="zh-CN" altLang="en-US" dirty="0"/>
              <a:t>要求赋值</a:t>
            </a:r>
            <a:r>
              <a:rPr lang="en-US" altLang="zh-CN" dirty="0"/>
              <a:t>4</a:t>
            </a:r>
            <a:r>
              <a:rPr lang="zh-CN" altLang="en-US" dirty="0"/>
              <a:t>个变量，分别为整型、浮点型、浮点型、字符串型，然后直接为这</a:t>
            </a:r>
            <a:r>
              <a:rPr lang="en-US" altLang="zh-CN" dirty="0"/>
              <a:t>4</a:t>
            </a:r>
            <a:r>
              <a:rPr lang="zh-CN" altLang="en-US" dirty="0"/>
              <a:t>个变量赋初值，并借助</a:t>
            </a:r>
            <a:r>
              <a:rPr lang="en-US" altLang="zh-CN" dirty="0"/>
              <a:t>print()</a:t>
            </a:r>
            <a:r>
              <a:rPr lang="zh-CN" altLang="en-US" dirty="0"/>
              <a:t>函数把</a:t>
            </a:r>
            <a:r>
              <a:rPr lang="en-US" altLang="zh-CN" dirty="0"/>
              <a:t>4</a:t>
            </a:r>
            <a:r>
              <a:rPr lang="zh-CN" altLang="en-US" dirty="0"/>
              <a:t>个变量的值正确输出。</a:t>
            </a:r>
            <a:endParaRPr lang="en-US" altLang="zh-CN" dirty="0"/>
          </a:p>
          <a:p>
            <a:pPr lvl="2"/>
            <a:r>
              <a:rPr lang="zh-CN" altLang="en-US" dirty="0"/>
              <a:t>要求使用</a:t>
            </a:r>
            <a:r>
              <a:rPr lang="en-US" altLang="zh-CN" dirty="0"/>
              <a:t>input()</a:t>
            </a:r>
            <a:r>
              <a:rPr lang="zh-CN" altLang="en-US" dirty="0"/>
              <a:t>函数分别为</a:t>
            </a:r>
            <a:r>
              <a:rPr lang="en-US" altLang="zh-CN" dirty="0"/>
              <a:t>4</a:t>
            </a:r>
            <a:r>
              <a:rPr lang="zh-CN" altLang="en-US" dirty="0"/>
              <a:t>个变量输入具体的值，并分别转化为整型、浮点型，或者转化为一个表达式直接进行运算。最后借助</a:t>
            </a:r>
            <a:r>
              <a:rPr lang="en-US" altLang="zh-CN" dirty="0"/>
              <a:t>print()</a:t>
            </a:r>
            <a:r>
              <a:rPr lang="zh-CN" altLang="en-US" dirty="0"/>
              <a:t>函数把</a:t>
            </a:r>
            <a:r>
              <a:rPr lang="en-US" altLang="zh-CN" dirty="0"/>
              <a:t>4</a:t>
            </a:r>
            <a:r>
              <a:rPr lang="zh-CN" altLang="en-US" dirty="0"/>
              <a:t>个变量的值正确地输出。</a:t>
            </a:r>
            <a:endParaRPr lang="en-US" altLang="zh-CN" dirty="0"/>
          </a:p>
          <a:p>
            <a:pPr lvl="1"/>
            <a:r>
              <a:rPr lang="zh-CN" altLang="en-US" dirty="0"/>
              <a:t>输出整型量的二进制形式</a:t>
            </a:r>
            <a:endParaRPr lang="en-US" altLang="zh-CN" dirty="0"/>
          </a:p>
          <a:p>
            <a:pPr lvl="2"/>
            <a:r>
              <a:rPr lang="zh-CN" altLang="en-US" dirty="0"/>
              <a:t>说明</a:t>
            </a:r>
            <a:endParaRPr lang="en-US" altLang="zh-CN" dirty="0"/>
          </a:p>
          <a:p>
            <a:pPr lvl="3"/>
            <a:r>
              <a:rPr lang="zh-CN" altLang="en-US" dirty="0"/>
              <a:t>对于整数，在计算机中必须预先说清楚位数，然后才可输出。</a:t>
            </a:r>
            <a:endParaRPr lang="en-US" altLang="zh-CN" dirty="0"/>
          </a:p>
          <a:p>
            <a:pPr lvl="3"/>
            <a:r>
              <a:rPr lang="zh-CN" altLang="en-US" dirty="0"/>
              <a:t>通常可指定为</a:t>
            </a:r>
            <a:r>
              <a:rPr lang="en-US" altLang="zh-CN" dirty="0"/>
              <a:t>32</a:t>
            </a:r>
            <a:r>
              <a:rPr lang="zh-CN" altLang="en-US" dirty="0"/>
              <a:t>位，即</a:t>
            </a:r>
            <a:r>
              <a:rPr lang="en-US" altLang="zh-CN" dirty="0"/>
              <a:t>0xffffffff.</a:t>
            </a:r>
          </a:p>
          <a:p>
            <a:pPr lvl="2"/>
            <a:r>
              <a:rPr lang="zh-CN" altLang="en-US" dirty="0"/>
              <a:t>输出</a:t>
            </a:r>
            <a:r>
              <a:rPr lang="en-US" altLang="zh-CN" dirty="0" err="1"/>
              <a:t>x,y</a:t>
            </a:r>
            <a:r>
              <a:rPr lang="zh-CN" altLang="en-US" dirty="0"/>
              <a:t>的</a:t>
            </a:r>
            <a:r>
              <a:rPr lang="en-US" altLang="zh-CN" dirty="0"/>
              <a:t>32</a:t>
            </a:r>
            <a:r>
              <a:rPr lang="zh-CN" altLang="en-US" dirty="0"/>
              <a:t>位二进制形式</a:t>
            </a:r>
            <a:endParaRPr lang="en-US" altLang="zh-CN" dirty="0"/>
          </a:p>
          <a:p>
            <a:pPr lvl="3"/>
            <a:r>
              <a:rPr lang="en-US" altLang="zh-CN" dirty="0"/>
              <a:t>print("x={:b}, y={:b}, z={:b}!".format(x&amp; 0xffffffff, y&amp; 0xffffffff))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D74E1712-BA96-238F-1E76-0B2850EE7363}"/>
              </a:ext>
            </a:extLst>
          </p:cNvPr>
          <p:cNvSpPr txBox="1"/>
          <p:nvPr/>
        </p:nvSpPr>
        <p:spPr>
          <a:xfrm>
            <a:off x="7027635" y="517582"/>
            <a:ext cx="5094514" cy="19389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; j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21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9.67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dd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89.4578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ss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'Hello. You are welcome!'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/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(ss)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'The data is {}, and {}'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.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format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(i,j))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'The data is {}, and {}'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.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format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(i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j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+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,j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i))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'My Test is '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i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j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+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end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''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(j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40ECD13A-E35C-0D0D-36D1-0E8302B7F2EC}"/>
              </a:ext>
            </a:extLst>
          </p:cNvPr>
          <p:cNvSpPr txBox="1"/>
          <p:nvPr/>
        </p:nvSpPr>
        <p:spPr>
          <a:xfrm>
            <a:off x="7027635" y="2546901"/>
            <a:ext cx="2888094" cy="9387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Hello. You are welcome!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The data is 9, and 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The data is 91, and 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My Test is  9119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AB990E99-B3E2-91ED-B266-929E05FFCB7B}"/>
              </a:ext>
            </a:extLst>
          </p:cNvPr>
          <p:cNvSpPr txBox="1"/>
          <p:nvPr/>
        </p:nvSpPr>
        <p:spPr>
          <a:xfrm>
            <a:off x="7027635" y="3724397"/>
            <a:ext cx="4788258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input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请输入原始的整数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j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input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请输入原始的整数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j: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input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请输入原始的浮点数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dd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input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请输入原始的浮点数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dd: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ss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input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请输入原始的字符串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ss: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/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(i)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j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(j)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float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(x)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dd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float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(dd)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/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(ss)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'The data is {}, and {}.'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.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format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(i,j))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'The data is {}, and {}.'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.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format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(i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j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+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,j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i))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'My Test is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i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j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+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end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(dd)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68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5B3E5B0-A0E2-431F-8AAA-A4BB8BC14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921125"/>
            <a:ext cx="116570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宋体" charset="0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57F19AD6-DDB9-5D2E-2740-71D6F7CD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90327"/>
            <a:ext cx="10858500" cy="792781"/>
          </a:xfrm>
        </p:spPr>
        <p:txBody>
          <a:bodyPr/>
          <a:lstStyle/>
          <a:p>
            <a:r>
              <a:rPr lang="zh-CN" altLang="en-US" dirty="0"/>
              <a:t>程序的基本编写方法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xmlns="" id="{9032DA87-52BD-33DA-F376-DFC1F318A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IPO</a:t>
            </a:r>
            <a:r>
              <a:rPr lang="zh-CN" altLang="en-US" sz="2000" dirty="0"/>
              <a:t>程序编写方法</a:t>
            </a:r>
            <a:endParaRPr lang="en-US" altLang="zh-CN" sz="2000" dirty="0"/>
          </a:p>
          <a:p>
            <a:pPr lvl="1"/>
            <a:r>
              <a:rPr lang="en-US" altLang="zh-CN" sz="1800" dirty="0"/>
              <a:t>I:Input</a:t>
            </a:r>
            <a:r>
              <a:rPr lang="zh-CN" altLang="en-US" sz="1800" dirty="0"/>
              <a:t>输入，程序的输入。</a:t>
            </a:r>
            <a:r>
              <a:rPr lang="zh-CN" altLang="zh-CN" sz="1800" dirty="0">
                <a:solidFill>
                  <a:schemeClr val="tx1"/>
                </a:solidFill>
                <a:latin typeface="Palatino Linotype" panose="02040502050505030304" pitchFamily="18" charset="0"/>
                <a:ea typeface="楷体" panose="02010609060101010101" pitchFamily="49" charset="-122"/>
              </a:rPr>
              <a:t>输入（</a:t>
            </a:r>
            <a:r>
              <a:rPr lang="en-US" altLang="zh-CN" sz="1800" dirty="0">
                <a:solidFill>
                  <a:schemeClr val="tx1"/>
                </a:solidFill>
                <a:latin typeface="Palatino Linotype" panose="02040502050505030304" pitchFamily="18" charset="0"/>
                <a:ea typeface="楷体" panose="02010609060101010101" pitchFamily="49" charset="-122"/>
              </a:rPr>
              <a:t>Input</a:t>
            </a:r>
            <a:r>
              <a:rPr lang="zh-CN" altLang="zh-CN" sz="1800" dirty="0">
                <a:solidFill>
                  <a:schemeClr val="tx1"/>
                </a:solidFill>
                <a:latin typeface="Palatino Linotype" panose="02040502050505030304" pitchFamily="18" charset="0"/>
                <a:ea typeface="楷体" panose="02010609060101010101" pitchFamily="49" charset="-122"/>
              </a:rPr>
              <a:t>）是一个程序的开始。程序要处理的数据有多种来源，形成了多种输入方式，包括：文件输入、网络输入、控制台输入、交互界面输出、随机数据输入、内部参数输入等。</a:t>
            </a:r>
            <a:endParaRPr lang="en-US" altLang="zh-CN" sz="1800" dirty="0"/>
          </a:p>
          <a:p>
            <a:pPr lvl="1"/>
            <a:r>
              <a:rPr lang="en-US" altLang="zh-CN" sz="1800" dirty="0"/>
              <a:t>P:Process</a:t>
            </a:r>
            <a:r>
              <a:rPr lang="zh-CN" altLang="en-US" sz="1800" dirty="0"/>
              <a:t>处理，程序的主要逻辑。</a:t>
            </a:r>
            <a:r>
              <a:rPr lang="zh-CN" altLang="zh-CN" sz="1800" dirty="0">
                <a:solidFill>
                  <a:schemeClr val="tx1"/>
                </a:solidFill>
                <a:latin typeface="Palatino Linotype" panose="02040502050505030304" pitchFamily="18" charset="0"/>
                <a:ea typeface="楷体" panose="02010609060101010101" pitchFamily="49" charset="-122"/>
              </a:rPr>
              <a:t>处理（</a:t>
            </a:r>
            <a:r>
              <a:rPr lang="en-US" altLang="zh-CN" sz="1800" dirty="0">
                <a:solidFill>
                  <a:schemeClr val="tx1"/>
                </a:solidFill>
                <a:latin typeface="Palatino Linotype" panose="02040502050505030304" pitchFamily="18" charset="0"/>
                <a:ea typeface="楷体" panose="02010609060101010101" pitchFamily="49" charset="-122"/>
              </a:rPr>
              <a:t>Process</a:t>
            </a:r>
            <a:r>
              <a:rPr lang="zh-CN" altLang="zh-CN" sz="1800" dirty="0">
                <a:solidFill>
                  <a:schemeClr val="tx1"/>
                </a:solidFill>
                <a:latin typeface="Palatino Linotype" panose="02040502050505030304" pitchFamily="18" charset="0"/>
                <a:ea typeface="楷体" panose="02010609060101010101" pitchFamily="49" charset="-122"/>
              </a:rPr>
              <a:t>）是程序对输入数据进行计算产生输出结果的过程。计算问题的处理方法统称为“算法”，它是程序最重要的组成部分。可以说，算法是一个程序的灵魂。</a:t>
            </a:r>
            <a:endParaRPr lang="en-US" altLang="zh-CN" sz="1800" dirty="0"/>
          </a:p>
          <a:p>
            <a:pPr lvl="1"/>
            <a:r>
              <a:rPr lang="en-US" altLang="zh-CN" sz="1800" dirty="0"/>
              <a:t>O:Output</a:t>
            </a:r>
            <a:r>
              <a:rPr lang="zh-CN" altLang="en-US" sz="1800" dirty="0"/>
              <a:t>输出，程序的输出。</a:t>
            </a:r>
            <a:r>
              <a:rPr lang="zh-CN" altLang="zh-CN" sz="1800" dirty="0">
                <a:latin typeface="Palatino Linotype" panose="02040502050505030304" pitchFamily="18" charset="0"/>
                <a:ea typeface="楷体" panose="02010609060101010101" pitchFamily="49" charset="-122"/>
              </a:rPr>
              <a:t>输出（</a:t>
            </a:r>
            <a:r>
              <a:rPr lang="en-US" altLang="zh-CN" sz="1800" dirty="0">
                <a:latin typeface="Palatino Linotype" panose="02040502050505030304" pitchFamily="18" charset="0"/>
                <a:ea typeface="楷体" panose="02010609060101010101" pitchFamily="49" charset="-122"/>
              </a:rPr>
              <a:t>Output</a:t>
            </a:r>
            <a:r>
              <a:rPr lang="zh-CN" altLang="zh-CN" sz="1800" dirty="0">
                <a:latin typeface="Palatino Linotype" panose="02040502050505030304" pitchFamily="18" charset="0"/>
                <a:ea typeface="楷体" panose="02010609060101010101" pitchFamily="49" charset="-122"/>
              </a:rPr>
              <a:t>）是程序展示运算成果的方式。程序的输出方式包括：控制台输出、图形输出、文件输出、网络输出、操作系统内部变量输出等。</a:t>
            </a:r>
            <a:endParaRPr lang="en-US" altLang="zh-CN" sz="18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54571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标题 8">
            <a:extLst>
              <a:ext uri="{FF2B5EF4-FFF2-40B4-BE49-F238E27FC236}">
                <a16:creationId xmlns:a16="http://schemas.microsoft.com/office/drawing/2014/main" xmlns="" id="{F0AAD381-C81F-35A3-75A5-67F9A33CA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zh-CN" altLang="en-US" sz="2400" b="1">
                <a:latin typeface="微软雅黑" panose="020B0503020204020204" pitchFamily="34" charset="-122"/>
                <a:cs typeface="Times New Roman" panose="02020603050405020304" pitchFamily="18" charset="0"/>
              </a:rPr>
              <a:t>程序的基本编写方法</a:t>
            </a:r>
          </a:p>
        </p:txBody>
      </p:sp>
      <p:sp>
        <p:nvSpPr>
          <p:cNvPr id="2422" name="内容占位符 3">
            <a:extLst>
              <a:ext uri="{FF2B5EF4-FFF2-40B4-BE49-F238E27FC236}">
                <a16:creationId xmlns:a16="http://schemas.microsoft.com/office/drawing/2014/main" xmlns="" id="{F5CBC7CA-2757-F3F7-4FBA-45A6E8A1E0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7688" y="1713304"/>
            <a:ext cx="10858500" cy="5003800"/>
          </a:xfrm>
          <a:ln/>
        </p:spPr>
        <p:txBody>
          <a:bodyPr>
            <a:normAutofit fontScale="92500" lnSpcReduction="10000"/>
          </a:bodyPr>
          <a:lstStyle/>
          <a:p>
            <a:pPr lvl="1">
              <a:lnSpc>
                <a:spcPct val="150000"/>
              </a:lnSpc>
              <a:spcBef>
                <a:spcPts val="1000"/>
              </a:spcBef>
              <a:buClr>
                <a:srgbClr val="032089"/>
              </a:buClr>
              <a:buFont typeface="Wingdings" panose="05000000000000000000" pitchFamily="2" charset="2"/>
              <a:buChar char="Ø"/>
            </a:pPr>
            <a:r>
              <a:rPr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altLang="zh-CN" sz="2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程序对输入数据进行计算产生输出结果的过程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000"/>
              </a:spcBef>
              <a:buClr>
                <a:srgbClr val="032089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控制台输出、图形输出、文件输出、网络输出、操作系统内部变量输出等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000"/>
              </a:spcBef>
              <a:buClr>
                <a:srgbClr val="032089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程序对输入数据进行计算产生输出结果的过程 </a:t>
            </a:r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2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Clr>
                <a:srgbClr val="032089"/>
              </a:buClr>
              <a:buFont typeface="Wingdings" panose="05000000000000000000" pitchFamily="2" charset="2"/>
              <a:buNone/>
            </a:pPr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4" name="文本占位符 1">
            <a:extLst>
              <a:ext uri="{FF2B5EF4-FFF2-40B4-BE49-F238E27FC236}">
                <a16:creationId xmlns:a16="http://schemas.microsoft.com/office/drawing/2014/main" xmlns="" id="{7992F427-4F76-F51E-EA44-EC4602EAB73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60401" y="1146969"/>
            <a:ext cx="11107738" cy="427037"/>
          </a:xfrm>
          <a:ln/>
        </p:spPr>
        <p:txBody>
          <a:bodyPr anchor="ctr">
            <a:normAutofit/>
          </a:bodyPr>
          <a:lstStyle/>
          <a:p>
            <a:pPr marL="342900" indent="-342900"/>
            <a:r>
              <a:rPr lang="en-US" altLang="zh-CN" sz="2400" b="1" dirty="0">
                <a:solidFill>
                  <a:srgbClr val="37609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IPO</a:t>
            </a:r>
            <a:endParaRPr lang="zh-CN" altLang="en-US" sz="2400" b="1" dirty="0">
              <a:solidFill>
                <a:srgbClr val="37609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5" name="对话气泡: 圆角矩形 5">
            <a:extLst>
              <a:ext uri="{FF2B5EF4-FFF2-40B4-BE49-F238E27FC236}">
                <a16:creationId xmlns:a16="http://schemas.microsoft.com/office/drawing/2014/main" xmlns="" id="{FFC54547-8552-7364-80A9-D482E4FF7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6963" y="1524392"/>
            <a:ext cx="3609975" cy="531812"/>
          </a:xfrm>
          <a:prstGeom prst="wedgeRoundRectCallout">
            <a:avLst>
              <a:gd name="adj1" fmla="val -58815"/>
              <a:gd name="adj2" fmla="val -14690"/>
              <a:gd name="adj3" fmla="val 16667"/>
            </a:avLst>
          </a:prstGeom>
          <a:solidFill>
            <a:srgbClr val="4F81BD"/>
          </a:solidFill>
          <a:ln w="38100" cap="flat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一个程序的开始</a:t>
            </a:r>
          </a:p>
        </p:txBody>
      </p:sp>
      <p:sp>
        <p:nvSpPr>
          <p:cNvPr id="2426" name="对话气泡: 圆角矩形 6">
            <a:extLst>
              <a:ext uri="{FF2B5EF4-FFF2-40B4-BE49-F238E27FC236}">
                <a16:creationId xmlns:a16="http://schemas.microsoft.com/office/drawing/2014/main" xmlns="" id="{26AE7A12-93CA-8952-B36A-E811A020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6963" y="2664217"/>
            <a:ext cx="3609975" cy="531812"/>
          </a:xfrm>
          <a:prstGeom prst="wedgeRoundRectCallout">
            <a:avLst>
              <a:gd name="adj1" fmla="val -58815"/>
              <a:gd name="adj2" fmla="val -14690"/>
              <a:gd name="adj3" fmla="val 16667"/>
            </a:avLst>
          </a:prstGeom>
          <a:solidFill>
            <a:srgbClr val="4F81BD"/>
          </a:solidFill>
          <a:ln w="38100" cap="flat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程序展示结果的方式</a:t>
            </a:r>
          </a:p>
        </p:txBody>
      </p:sp>
      <p:sp>
        <p:nvSpPr>
          <p:cNvPr id="2427" name="对话气泡: 圆角矩形 7">
            <a:extLst>
              <a:ext uri="{FF2B5EF4-FFF2-40B4-BE49-F238E27FC236}">
                <a16:creationId xmlns:a16="http://schemas.microsoft.com/office/drawing/2014/main" xmlns="" id="{FF8A35F6-061D-C135-9BAE-7CAD4FD93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6963" y="3683392"/>
            <a:ext cx="3609975" cy="531812"/>
          </a:xfrm>
          <a:prstGeom prst="wedgeRoundRectCallout">
            <a:avLst>
              <a:gd name="adj1" fmla="val -58815"/>
              <a:gd name="adj2" fmla="val -14690"/>
              <a:gd name="adj3" fmla="val 16667"/>
            </a:avLst>
          </a:prstGeom>
          <a:solidFill>
            <a:srgbClr val="4F81BD"/>
          </a:solidFill>
          <a:ln w="38100" cap="flat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算法，程序的灵魂</a:t>
            </a:r>
          </a:p>
        </p:txBody>
      </p:sp>
    </p:spTree>
    <p:extLst>
      <p:ext uri="{BB962C8B-B14F-4D97-AF65-F5344CB8AC3E}">
        <p14:creationId xmlns:p14="http://schemas.microsoft.com/office/powerpoint/2010/main" val="416388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7" dur="500"/>
                                        <p:tgtEl>
                                          <p:spTgt spid="2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0" dur="500"/>
                                        <p:tgtEl>
                                          <p:spTgt spid="2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6" dur="500"/>
                                        <p:tgtEl>
                                          <p:spTgt spid="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22" dur="500"/>
                                        <p:tgtEl>
                                          <p:spTgt spid="2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25" dur="500"/>
                                        <p:tgtEl>
                                          <p:spTgt spid="2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31" dur="500"/>
                                        <p:tgtEl>
                                          <p:spTgt spid="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37" dur="500"/>
                                        <p:tgtEl>
                                          <p:spTgt spid="24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40" dur="500"/>
                                        <p:tgtEl>
                                          <p:spTgt spid="24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46" dur="500"/>
                                        <p:tgtEl>
                                          <p:spTgt spid="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5" grpId="0" animBg="1"/>
      <p:bldP spid="2426" grpId="0" animBg="1"/>
      <p:bldP spid="24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标题 13">
            <a:extLst>
              <a:ext uri="{FF2B5EF4-FFF2-40B4-BE49-F238E27FC236}">
                <a16:creationId xmlns:a16="http://schemas.microsoft.com/office/drawing/2014/main" xmlns="" id="{5A6538B8-DE13-3403-64E1-3BEA3F5A8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lIns="121920" tIns="60960" rIns="121920" bIns="60960"/>
          <a:lstStyle/>
          <a:p>
            <a:r>
              <a:rPr lang="zh-CN" altLang="en-US" sz="2400" b="1">
                <a:latin typeface="Arial" panose="020B0604020202020204" pitchFamily="34" charset="0"/>
              </a:rPr>
              <a:t>创建应声虫程序</a:t>
            </a:r>
          </a:p>
        </p:txBody>
      </p:sp>
      <p:sp>
        <p:nvSpPr>
          <p:cNvPr id="2431" name="内容占位符 4">
            <a:extLst>
              <a:ext uri="{FF2B5EF4-FFF2-40B4-BE49-F238E27FC236}">
                <a16:creationId xmlns:a16="http://schemas.microsoft.com/office/drawing/2014/main" xmlns="" id="{068D720B-9B50-FE9A-193D-6E78DE2F10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0401" y="1130300"/>
            <a:ext cx="8422639" cy="5003800"/>
          </a:xfrm>
          <a:ln/>
        </p:spPr>
        <p:txBody>
          <a:bodyPr/>
          <a:lstStyle/>
          <a:p>
            <a:pPr marL="0" indent="265113"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064BB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Python</a:t>
            </a:r>
            <a:r>
              <a:rPr lang="zh-CN" altLang="en-US" sz="2000" dirty="0">
                <a:solidFill>
                  <a:srgbClr val="064BB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和其他高级语言一样，程序的基本构架都会有输入和输出部分</a:t>
            </a:r>
            <a:endParaRPr lang="en-US" altLang="zh-CN" sz="2000" dirty="0">
              <a:solidFill>
                <a:srgbClr val="064BB2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064BB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Python</a:t>
            </a:r>
            <a:r>
              <a:rPr lang="zh-CN" altLang="en-US" sz="2000" dirty="0">
                <a:solidFill>
                  <a:srgbClr val="064BB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的输入和输出应声虫程序。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1.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输出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Python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语言中，实现数据的输出方式有两种：一种是使用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print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函数；另一种直接使用变量名查看该变量的原始值。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(1) print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print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函数可以打印输出数据的输出操作，其语法结构为：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print( &lt; expressions &gt;)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print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语法结构里的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&lt; expressions &gt;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单词后边有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的复数，其含义是表达式可以是多个。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如果有多个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&lt; expression &gt;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，则表达式之间用逗号隔开，其语法格式：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print( &lt; expression &gt;,&lt; expression &gt;,..&lt; expression &gt;)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545D3319-2357-9FD0-8347-398C32AEB5C8}"/>
              </a:ext>
            </a:extLst>
          </p:cNvPr>
          <p:cNvSpPr txBox="1"/>
          <p:nvPr/>
        </p:nvSpPr>
        <p:spPr>
          <a:xfrm>
            <a:off x="9014602" y="198794"/>
            <a:ext cx="3019245" cy="255389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36000" rIns="3600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848A8">
                    <a:lumMod val="75000"/>
                  </a:srgb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传说唐、宋时有人患怪病，腹内生虫；人说话，虫即小声应之，是为应声虫。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848A8">
                  <a:lumMod val="75000"/>
                </a:srgb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848A8">
                    <a:lumMod val="75000"/>
                  </a:srgb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应声虫会重复它听到的所有的内容。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848A8">
                  <a:lumMod val="75000"/>
                </a:srgb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848A8">
                    <a:lumMod val="75000"/>
                  </a:srgb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现在你可以用程序实现一个应声虫吗？无论接收到什么，就原样输出。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FC411302-A3C2-3DB1-AEC9-AAE50EF5D978}"/>
              </a:ext>
            </a:extLst>
          </p:cNvPr>
          <p:cNvSpPr txBox="1"/>
          <p:nvPr/>
        </p:nvSpPr>
        <p:spPr>
          <a:xfrm>
            <a:off x="10105010" y="2890391"/>
            <a:ext cx="142658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输入样例: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Hello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输出样例: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Hello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D1B8CFAA-1CE2-FA6F-407B-7B561C1F50C2}"/>
              </a:ext>
            </a:extLst>
          </p:cNvPr>
          <p:cNvGraphicFramePr>
            <a:graphicFrameLocks noGrp="1"/>
          </p:cNvGraphicFramePr>
          <p:nvPr/>
        </p:nvGraphicFramePr>
        <p:xfrm>
          <a:off x="9473218" y="4188460"/>
          <a:ext cx="2560629" cy="1188720"/>
        </p:xfrm>
        <a:graphic>
          <a:graphicData uri="http://schemas.openxmlformats.org/drawingml/2006/table">
            <a:tbl>
              <a:tblPr/>
              <a:tblGrid>
                <a:gridCol w="2560629">
                  <a:extLst>
                    <a:ext uri="{9D8B030D-6E8A-4147-A177-3AD203B41FA5}">
                      <a16:colId xmlns:a16="http://schemas.microsoft.com/office/drawing/2014/main" xmlns="" val="1242606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>
                          <a:effectLst/>
                          <a:latin typeface="Calibri" panose="020F0502020204030204" pitchFamily="34" charset="0"/>
                        </a:rPr>
                        <a:t>&gt;&gt;&gt;</a:t>
                      </a:r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 print ('hello world')</a:t>
                      </a:r>
                    </a:p>
                    <a:p>
                      <a:pPr fontAlgn="ctr"/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hello world</a:t>
                      </a:r>
                    </a:p>
                    <a:p>
                      <a:pPr fontAlgn="ctr"/>
                      <a:r>
                        <a:rPr lang="en-US" b="1" dirty="0">
                          <a:effectLst/>
                          <a:latin typeface="Calibri" panose="020F0502020204030204" pitchFamily="34" charset="0"/>
                        </a:rPr>
                        <a:t>&gt;&gt;&gt;</a:t>
                      </a:r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print ('hello', 'world')</a:t>
                      </a:r>
                    </a:p>
                    <a:p>
                      <a:pPr fontAlgn="ctr"/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hello world</a:t>
                      </a:r>
                    </a:p>
                  </a:txBody>
                  <a:tcPr marL="33338" marR="333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436790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CC918F3F-C8CE-3B82-1FBE-96C467D5B92A}"/>
              </a:ext>
            </a:extLst>
          </p:cNvPr>
          <p:cNvSpPr txBox="1"/>
          <p:nvPr/>
        </p:nvSpPr>
        <p:spPr>
          <a:xfrm>
            <a:off x="9265919" y="6543040"/>
            <a:ext cx="2854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https://www.modb.pro/db/130994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84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7" dur="500"/>
                                        <p:tgtEl>
                                          <p:spTgt spid="2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0" dur="500"/>
                                        <p:tgtEl>
                                          <p:spTgt spid="2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3" dur="500"/>
                                        <p:tgtEl>
                                          <p:spTgt spid="2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6" dur="500"/>
                                        <p:tgtEl>
                                          <p:spTgt spid="2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9" dur="500"/>
                                        <p:tgtEl>
                                          <p:spTgt spid="2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22" dur="500"/>
                                        <p:tgtEl>
                                          <p:spTgt spid="24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25" dur="500"/>
                                        <p:tgtEl>
                                          <p:spTgt spid="24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28" dur="500"/>
                                        <p:tgtEl>
                                          <p:spTgt spid="24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31" dur="500"/>
                                        <p:tgtEl>
                                          <p:spTgt spid="24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标题 13">
            <a:extLst>
              <a:ext uri="{FF2B5EF4-FFF2-40B4-BE49-F238E27FC236}">
                <a16:creationId xmlns:a16="http://schemas.microsoft.com/office/drawing/2014/main" xmlns="" id="{5A6538B8-DE13-3403-64E1-3BEA3F5A8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lIns="121920" tIns="60960" rIns="121920" bIns="60960"/>
          <a:lstStyle/>
          <a:p>
            <a:r>
              <a:rPr lang="zh-CN" altLang="en-US" sz="2400" b="1">
                <a:latin typeface="Arial" panose="020B0604020202020204" pitchFamily="34" charset="0"/>
              </a:rPr>
              <a:t>创建应声虫程序</a:t>
            </a:r>
          </a:p>
        </p:txBody>
      </p:sp>
      <p:sp>
        <p:nvSpPr>
          <p:cNvPr id="2431" name="内容占位符 4">
            <a:extLst>
              <a:ext uri="{FF2B5EF4-FFF2-40B4-BE49-F238E27FC236}">
                <a16:creationId xmlns:a16="http://schemas.microsoft.com/office/drawing/2014/main" xmlns="" id="{068D720B-9B50-FE9A-193D-6E78DE2F10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pPr marL="0" indent="265113"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064BB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Python</a:t>
            </a:r>
            <a:r>
              <a:rPr lang="zh-CN" altLang="en-US" sz="2000" dirty="0">
                <a:solidFill>
                  <a:srgbClr val="064BB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和其他高级语言一样，程序的基本构架都会有输入和输出部分</a:t>
            </a:r>
            <a:endParaRPr lang="en-US" altLang="zh-CN" sz="2000" dirty="0">
              <a:solidFill>
                <a:srgbClr val="064BB2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064BB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Python</a:t>
            </a:r>
            <a:r>
              <a:rPr lang="zh-CN" altLang="en-US" sz="2000" dirty="0">
                <a:solidFill>
                  <a:srgbClr val="064BB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的输入和输出应声虫程序。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1.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输出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Python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语言中，实现数据的输出方式有两种：一种是使用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print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函数；另一种直接使用变量名查看该变量的原始值。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(1)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直接使用变量名查看该变量的原始值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在交互式环境中，为了方便，可以直接使用变量名查看该变量的原始值，以达到输出的效果。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也可以直接在交互式环境中运行“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hello world”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，实现输出。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4C614E2B-162E-CF4D-65BC-1C4A0DD519EC}"/>
              </a:ext>
            </a:extLst>
          </p:cNvPr>
          <p:cNvGraphicFramePr>
            <a:graphicFrameLocks noGrp="1"/>
          </p:cNvGraphicFramePr>
          <p:nvPr/>
        </p:nvGraphicFramePr>
        <p:xfrm>
          <a:off x="9508820" y="4206240"/>
          <a:ext cx="2612059" cy="1188720"/>
        </p:xfrm>
        <a:graphic>
          <a:graphicData uri="http://schemas.openxmlformats.org/drawingml/2006/table">
            <a:tbl>
              <a:tblPr/>
              <a:tblGrid>
                <a:gridCol w="2612059">
                  <a:extLst>
                    <a:ext uri="{9D8B030D-6E8A-4147-A177-3AD203B41FA5}">
                      <a16:colId xmlns:a16="http://schemas.microsoft.com/office/drawing/2014/main" xmlns="" val="3770975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&gt;&gt;&gt; character = "hello world"</a:t>
                      </a:r>
                    </a:p>
                    <a:p>
                      <a:pPr fontAlgn="ctr"/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&gt;&gt;&gt; character</a:t>
                      </a:r>
                    </a:p>
                    <a:p>
                      <a:pPr fontAlgn="ctr"/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'hello world'</a:t>
                      </a:r>
                    </a:p>
                  </a:txBody>
                  <a:tcPr marL="33338" marR="333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8582905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559DB44E-970F-39F3-9AC4-ED9AC01C2EF3}"/>
              </a:ext>
            </a:extLst>
          </p:cNvPr>
          <p:cNvSpPr txBox="1"/>
          <p:nvPr/>
        </p:nvSpPr>
        <p:spPr>
          <a:xfrm>
            <a:off x="1160780" y="4800600"/>
            <a:ext cx="227330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alibri" panose="020F0502020204030204" pitchFamily="34" charset="0"/>
                <a:ea typeface="思源黑体 CN Normal"/>
                <a:cs typeface="+mn-cs"/>
              </a:rPr>
              <a:t>&gt;&gt;&gt;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alibri" panose="020F0502020204030204" pitchFamily="34" charset="0"/>
                <a:ea typeface="思源黑体 CN Normal"/>
                <a:cs typeface="+mn-cs"/>
              </a:rPr>
              <a:t> 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alibri" panose="020F0502020204030204" pitchFamily="34" charset="0"/>
                <a:ea typeface="思源黑体 CN Normal"/>
                <a:cs typeface="+mn-cs"/>
              </a:rPr>
              <a:t>"hello world"</a:t>
            </a:r>
          </a:p>
          <a:p>
            <a:pPr marL="0" marR="0" lvl="0" indent="0" algn="just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alibri" panose="020F0502020204030204" pitchFamily="34" charset="0"/>
                <a:ea typeface="思源黑体 CN Normal"/>
                <a:cs typeface="+mn-cs"/>
              </a:rPr>
              <a:t>'hello world'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FD41E647-7CEA-E5E5-A3B1-9CF0C1E2FAE6}"/>
              </a:ext>
            </a:extLst>
          </p:cNvPr>
          <p:cNvSpPr txBox="1"/>
          <p:nvPr/>
        </p:nvSpPr>
        <p:spPr>
          <a:xfrm>
            <a:off x="9265919" y="6543040"/>
            <a:ext cx="2854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https://www.modb.pro/db/130994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60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7" dur="500"/>
                                        <p:tgtEl>
                                          <p:spTgt spid="2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0" dur="500"/>
                                        <p:tgtEl>
                                          <p:spTgt spid="2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3" dur="500"/>
                                        <p:tgtEl>
                                          <p:spTgt spid="2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6" dur="500"/>
                                        <p:tgtEl>
                                          <p:spTgt spid="2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9" dur="500"/>
                                        <p:tgtEl>
                                          <p:spTgt spid="2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22" dur="500"/>
                                        <p:tgtEl>
                                          <p:spTgt spid="24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标题 13">
            <a:extLst>
              <a:ext uri="{FF2B5EF4-FFF2-40B4-BE49-F238E27FC236}">
                <a16:creationId xmlns:a16="http://schemas.microsoft.com/office/drawing/2014/main" xmlns="" id="{B3136879-5BC0-EEF6-CF2C-387F1BB37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lIns="121920" tIns="60960" rIns="121920" bIns="60960"/>
          <a:lstStyle/>
          <a:p>
            <a:r>
              <a:rPr lang="zh-CN" altLang="en-US" sz="2400" b="1">
                <a:latin typeface="Arial" panose="020B0604020202020204" pitchFamily="34" charset="0"/>
              </a:rPr>
              <a:t>安装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zh-CN" altLang="en-US" sz="2400" b="1">
                <a:latin typeface="Arial" panose="020B0604020202020204" pitchFamily="34" charset="0"/>
              </a:rPr>
              <a:t>并创建应声虫程序</a:t>
            </a:r>
          </a:p>
        </p:txBody>
      </p:sp>
      <p:sp>
        <p:nvSpPr>
          <p:cNvPr id="2435" name="内容占位符 4">
            <a:extLst>
              <a:ext uri="{FF2B5EF4-FFF2-40B4-BE49-F238E27FC236}">
                <a16:creationId xmlns:a16="http://schemas.microsoft.com/office/drawing/2014/main" xmlns="" id="{543DE216-0EA6-8689-70E5-FD574D8211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2.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输入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Python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里可以通过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input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函数从键盘获得用户的数据输入：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input(&lt; prompt &gt;)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input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函数的形参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prompt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是一个字符串，用于提示用户输入数据。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input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函数的返回值是字符串型的。</a:t>
            </a: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行使用了</a:t>
            </a:r>
            <a:r>
              <a:rPr lang="en-US" altLang="zh-CN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input</a:t>
            </a: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函数用于接收用户数据，当用户输入数据后，</a:t>
            </a:r>
            <a:r>
              <a:rPr lang="en-US" altLang="zh-CN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input</a:t>
            </a: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函数会把输入数据传给等号左边的</a:t>
            </a:r>
            <a:r>
              <a:rPr lang="en-US" altLang="zh-CN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character</a:t>
            </a: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变量来保存输入的数据。第</a:t>
            </a:r>
            <a:r>
              <a:rPr lang="en-US" altLang="zh-CN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行调用</a:t>
            </a:r>
            <a:r>
              <a:rPr lang="en-US" altLang="zh-CN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print</a:t>
            </a: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打印</a:t>
            </a:r>
            <a:r>
              <a:rPr lang="en-US" altLang="zh-CN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character</a:t>
            </a: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变量的值，所以执行第</a:t>
            </a:r>
            <a:r>
              <a:rPr lang="en-US" altLang="zh-CN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行后会打印字符串出“</a:t>
            </a:r>
            <a:r>
              <a:rPr lang="en-US" altLang="zh-CN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input your character:”</a:t>
            </a: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，以此作为新的提示符，输入“</a:t>
            </a:r>
            <a:r>
              <a:rPr lang="en-US" altLang="zh-CN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hello world”</a:t>
            </a: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，可以完整的输出“</a:t>
            </a:r>
            <a:r>
              <a:rPr lang="en-US" altLang="zh-CN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hello world”</a:t>
            </a:r>
            <a:r>
              <a:rPr lang="zh-CN" altLang="en-US" sz="16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16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26511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若想依次打印出“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first:”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和“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second:”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，可以用字符串拼接方式。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3E5EC0AE-3DFD-5C27-30BD-6CB0D19456B8}"/>
              </a:ext>
            </a:extLst>
          </p:cNvPr>
          <p:cNvSpPr txBox="1"/>
          <p:nvPr/>
        </p:nvSpPr>
        <p:spPr>
          <a:xfrm>
            <a:off x="995681" y="2510750"/>
            <a:ext cx="4419599" cy="9233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alibri" panose="020F0502020204030204" pitchFamily="34" charset="0"/>
                <a:ea typeface="思源黑体 CN Normal"/>
                <a:cs typeface="+mn-cs"/>
              </a:rPr>
              <a:t>&gt;&gt;&gt;character = input('input your character:')</a:t>
            </a:r>
          </a:p>
          <a:p>
            <a:pPr marL="0" marR="0" lvl="0" indent="0" algn="just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alibri" panose="020F0502020204030204" pitchFamily="34" charset="0"/>
                <a:ea typeface="思源黑体 CN Normal"/>
                <a:cs typeface="+mn-cs"/>
              </a:rPr>
              <a:t>&gt;&gt;&gt;print(character)</a:t>
            </a:r>
          </a:p>
          <a:p>
            <a:pPr marL="0" marR="0" lvl="0" indent="0" algn="just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alibri" panose="020F0502020204030204" pitchFamily="34" charset="0"/>
                <a:ea typeface="思源黑体 CN Normal"/>
                <a:cs typeface="+mn-cs"/>
              </a:rPr>
              <a:t>input your character: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EE18BD63-1AD3-A577-B5D2-AD9F4B6FDEB3}"/>
              </a:ext>
            </a:extLst>
          </p:cNvPr>
          <p:cNvGraphicFramePr>
            <a:graphicFrameLocks noGrp="1"/>
          </p:cNvGraphicFramePr>
          <p:nvPr/>
        </p:nvGraphicFramePr>
        <p:xfrm>
          <a:off x="1309087" y="5354320"/>
          <a:ext cx="2815873" cy="914400"/>
        </p:xfrm>
        <a:graphic>
          <a:graphicData uri="http://schemas.openxmlformats.org/drawingml/2006/table">
            <a:tbl>
              <a:tblPr/>
              <a:tblGrid>
                <a:gridCol w="2815873">
                  <a:extLst>
                    <a:ext uri="{9D8B030D-6E8A-4147-A177-3AD203B41FA5}">
                      <a16:colId xmlns:a16="http://schemas.microsoft.com/office/drawing/2014/main" xmlns="" val="3858049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&gt;&gt;&gt;x = input("first: ")</a:t>
                      </a:r>
                    </a:p>
                    <a:p>
                      <a:pPr fontAlgn="ctr"/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&gt;&gt;&gt;y = input("second: ")</a:t>
                      </a:r>
                    </a:p>
                    <a:p>
                      <a:pPr fontAlgn="ctr"/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&gt;&gt;&gt;print(x + y)</a:t>
                      </a:r>
                    </a:p>
                  </a:txBody>
                  <a:tcPr marL="33338" marR="333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7048612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78ABAF6B-35AD-8F38-5D40-DD49B064BDDB}"/>
              </a:ext>
            </a:extLst>
          </p:cNvPr>
          <p:cNvSpPr txBox="1"/>
          <p:nvPr/>
        </p:nvSpPr>
        <p:spPr>
          <a:xfrm>
            <a:off x="9265919" y="6543040"/>
            <a:ext cx="2854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https://www.modb.pro/db/130994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pic>
        <p:nvPicPr>
          <p:cNvPr id="6" name="图片 3">
            <a:extLst>
              <a:ext uri="{FF2B5EF4-FFF2-40B4-BE49-F238E27FC236}">
                <a16:creationId xmlns:a16="http://schemas.microsoft.com/office/drawing/2014/main" xmlns="" id="{5D9013D4-0F45-1177-CA17-0937F9F97F82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275" y="4622273"/>
            <a:ext cx="4295786" cy="1759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628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7" dur="500"/>
                                        <p:tgtEl>
                                          <p:spTgt spid="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0" dur="500"/>
                                        <p:tgtEl>
                                          <p:spTgt spid="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3" dur="500"/>
                                        <p:tgtEl>
                                          <p:spTgt spid="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6" dur="500"/>
                                        <p:tgtEl>
                                          <p:spTgt spid="2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9" dur="500"/>
                                        <p:tgtEl>
                                          <p:spTgt spid="2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标题 4">
            <a:extLst>
              <a:ext uri="{FF2B5EF4-FFF2-40B4-BE49-F238E27FC236}">
                <a16:creationId xmlns:a16="http://schemas.microsoft.com/office/drawing/2014/main" xmlns="" id="{083DAB2D-5A98-BDDE-FBB0-86D48DF580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zh-CN" altLang="en-US" sz="2400" b="1">
                <a:latin typeface="微软雅黑" panose="020B0503020204020204" pitchFamily="34" charset="-122"/>
                <a:cs typeface="Times New Roman" panose="02020603050405020304" pitchFamily="18" charset="0"/>
              </a:rPr>
              <a:t>实例</a:t>
            </a:r>
          </a:p>
        </p:txBody>
      </p:sp>
      <p:sp>
        <p:nvSpPr>
          <p:cNvPr id="2462" name="文本占位符 1">
            <a:extLst>
              <a:ext uri="{FF2B5EF4-FFF2-40B4-BE49-F238E27FC236}">
                <a16:creationId xmlns:a16="http://schemas.microsoft.com/office/drawing/2014/main" xmlns="" id="{12D58970-628C-1C2E-87CF-879BF5E06C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0401" y="1384300"/>
            <a:ext cx="10858500" cy="5003800"/>
          </a:xfrm>
          <a:ln/>
        </p:spPr>
        <p:txBody>
          <a:bodyPr/>
          <a:lstStyle/>
          <a:p>
            <a:pPr>
              <a:lnSpc>
                <a:spcPct val="150000"/>
              </a:lnSpc>
              <a:spcBef>
                <a:spcPts val="1000"/>
              </a:spcBef>
              <a:buClr>
                <a:srgbClr val="032089"/>
              </a:buClr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两种不同的温度体系：</a:t>
            </a:r>
          </a:p>
          <a:p>
            <a:pPr lvl="1"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摄氏度： 以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标准大气压下水的结冰点为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度，沸点为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度，将温度进行等分刻画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华氏度： 以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标准大气压下水的结冰点为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度，沸点为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度，将温度进行等分刻画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buClr>
                <a:srgbClr val="032089"/>
              </a:buClr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IPO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编程方法实现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需求：写一个程序，输入华氏温度，自动转换成摄氏温度</a:t>
            </a:r>
          </a:p>
          <a:p>
            <a:pPr lvl="2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输入：华氏温度值（纯数字，由键盘输入）</a:t>
            </a:r>
          </a:p>
          <a:p>
            <a:pPr lvl="2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处理：根据输入值将其转换成摄氏温度</a:t>
            </a:r>
          </a:p>
          <a:p>
            <a:pPr lvl="2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输出：输出带单位的摄氏温度值</a:t>
            </a:r>
          </a:p>
          <a:p>
            <a:pPr lvl="1"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64" name="内容占位符 9">
            <a:extLst>
              <a:ext uri="{FF2B5EF4-FFF2-40B4-BE49-F238E27FC236}">
                <a16:creationId xmlns:a16="http://schemas.microsoft.com/office/drawing/2014/main" xmlns="" id="{1BFE6B2D-539F-2B0C-4797-A8254CE7048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73099" y="883108"/>
            <a:ext cx="11107738" cy="427037"/>
          </a:xfrm>
          <a:ln/>
        </p:spPr>
        <p:txBody>
          <a:bodyPr anchor="ctr"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温度转换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8478E923-AD19-6299-3295-1EC6B4B70C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2" r="795" b="69196"/>
          <a:stretch/>
        </p:blipFill>
        <p:spPr>
          <a:xfrm>
            <a:off x="6096001" y="4709020"/>
            <a:ext cx="5781040" cy="180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45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xmlns="" id="{4B6C541C-1831-78B5-F2A2-72E80CEBB6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THANK YOU !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58147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51PPT模板网">
  <a:themeElements>
    <a:clrScheme name="蓝色几何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848A8"/>
      </a:accent1>
      <a:accent2>
        <a:srgbClr val="DDDEE0"/>
      </a:accent2>
      <a:accent3>
        <a:srgbClr val="7A85B8"/>
      </a:accent3>
      <a:accent4>
        <a:srgbClr val="9CA3BD"/>
      </a:accent4>
      <a:accent5>
        <a:srgbClr val="242431"/>
      </a:accent5>
      <a:accent6>
        <a:srgbClr val="F4B919"/>
      </a:accent6>
      <a:hlink>
        <a:srgbClr val="F84D4D"/>
      </a:hlink>
      <a:folHlink>
        <a:srgbClr val="979797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3491</Words>
  <Application>Microsoft Office PowerPoint</Application>
  <PresentationFormat>宽屏</PresentationFormat>
  <Paragraphs>448</Paragraphs>
  <Slides>26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nexzhu</vt:lpstr>
      <vt:lpstr>Source Code Pro</vt:lpstr>
      <vt:lpstr>等线</vt:lpstr>
      <vt:lpstr>华文新魏</vt:lpstr>
      <vt:lpstr>楷体</vt:lpstr>
      <vt:lpstr>思源黑体 CN Bold</vt:lpstr>
      <vt:lpstr>思源黑体 CN Normal</vt:lpstr>
      <vt:lpstr>宋体</vt:lpstr>
      <vt:lpstr>微软雅黑</vt:lpstr>
      <vt:lpstr>Arial</vt:lpstr>
      <vt:lpstr>Calibri</vt:lpstr>
      <vt:lpstr>Consolas</vt:lpstr>
      <vt:lpstr>Courier New</vt:lpstr>
      <vt:lpstr>Palatino Linotype</vt:lpstr>
      <vt:lpstr>Times New Roman</vt:lpstr>
      <vt:lpstr>Wingdings</vt:lpstr>
      <vt:lpstr>51PPT模板网</vt:lpstr>
      <vt:lpstr>第2讲 Python程序小试</vt:lpstr>
      <vt:lpstr>Python程序的基本结构</vt:lpstr>
      <vt:lpstr>Python程序的基本结构</vt:lpstr>
      <vt:lpstr>Python程序的基本结构</vt:lpstr>
      <vt:lpstr>Python程序的基本结构</vt:lpstr>
      <vt:lpstr>Python程序的基本结构</vt:lpstr>
      <vt:lpstr>Python的数据、常量与变量</vt:lpstr>
      <vt:lpstr>PowerPoint 演示文稿</vt:lpstr>
      <vt:lpstr>Python的数据、常量与变量</vt:lpstr>
      <vt:lpstr>Python的数据、常量与变量</vt:lpstr>
      <vt:lpstr>Python的数据、常量与变量</vt:lpstr>
      <vt:lpstr>Python命名法（无绝对与强制，为的是增加识别和可读性）</vt:lpstr>
      <vt:lpstr>Python的输入输出语句</vt:lpstr>
      <vt:lpstr>Python的输入输出语句</vt:lpstr>
      <vt:lpstr>Python的输入输出语句</vt:lpstr>
      <vt:lpstr>Python的输入输出语句</vt:lpstr>
      <vt:lpstr>Python的输入输出语句</vt:lpstr>
      <vt:lpstr>Python的数据、常量与变量</vt:lpstr>
      <vt:lpstr>Python的输入输出语句</vt:lpstr>
      <vt:lpstr>程序的基本编写方法</vt:lpstr>
      <vt:lpstr>程序的基本编写方法</vt:lpstr>
      <vt:lpstr>创建应声虫程序</vt:lpstr>
      <vt:lpstr>创建应声虫程序</vt:lpstr>
      <vt:lpstr>安装PyCharm并创建应声虫程序</vt:lpstr>
      <vt:lpstr>实例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第2讲 Python程序小试</dc:title>
  <dc:creator>rx zh</dc:creator>
  <cp:lastModifiedBy>dell</cp:lastModifiedBy>
  <cp:revision>2</cp:revision>
  <dcterms:created xsi:type="dcterms:W3CDTF">2023-09-14T07:15:17Z</dcterms:created>
  <dcterms:modified xsi:type="dcterms:W3CDTF">2023-09-14T08:05:58Z</dcterms:modified>
</cp:coreProperties>
</file>