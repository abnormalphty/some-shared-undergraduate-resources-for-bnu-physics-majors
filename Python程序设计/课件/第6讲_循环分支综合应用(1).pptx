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007578537" r:id="rId2"/>
    <p:sldId id="2007578538" r:id="rId3"/>
    <p:sldId id="2007578545" r:id="rId4"/>
    <p:sldId id="2007578546" r:id="rId5"/>
    <p:sldId id="2007578547" r:id="rId6"/>
    <p:sldId id="2007578548" r:id="rId7"/>
    <p:sldId id="2007578549" r:id="rId8"/>
    <p:sldId id="2007578550" r:id="rId9"/>
    <p:sldId id="2007578551" r:id="rId10"/>
    <p:sldId id="2007578552" r:id="rId11"/>
    <p:sldId id="2007578553" r:id="rId12"/>
    <p:sldId id="2007578554" r:id="rId13"/>
    <p:sldId id="200757855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89" d="100"/>
          <a:sy n="89" d="100"/>
        </p:scale>
        <p:origin x="3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D3564-0502-4933-8694-49F368A44BD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1875F-AA3C-449F-A224-3B7F68EA7D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63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14714345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zhuanlan.zhihu.com/p/602971700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循环分支和列表结合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047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把循环分支和列表结合起来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水仙花 </a:t>
            </a:r>
            <a:r>
              <a:rPr lang="en-US" altLang="zh-CN" dirty="0"/>
              <a:t>371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221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已经预制了排序函数，但要了解原理</a:t>
            </a:r>
            <a:endParaRPr lang="en-US" altLang="zh-CN" dirty="0"/>
          </a:p>
          <a:p>
            <a:r>
              <a:rPr lang="zh-CN" altLang="en-US" dirty="0"/>
              <a:t>选择排序</a:t>
            </a:r>
            <a:endParaRPr lang="en-US" altLang="zh-CN" dirty="0"/>
          </a:p>
          <a:p>
            <a:r>
              <a:rPr lang="zh-CN" altLang="en-US" dirty="0"/>
              <a:t>冒泡排序</a:t>
            </a:r>
            <a:endParaRPr lang="en-US" altLang="zh-CN" dirty="0"/>
          </a:p>
          <a:p>
            <a:r>
              <a:rPr lang="zh-CN" altLang="en-US" dirty="0"/>
              <a:t>插入排序</a:t>
            </a:r>
            <a:endParaRPr lang="en-US" altLang="zh-CN" dirty="0"/>
          </a:p>
          <a:p>
            <a:r>
              <a:rPr lang="zh-CN" altLang="en-US" dirty="0"/>
              <a:t>归并排序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hlinkClick r:id="rId3"/>
              </a:rPr>
              <a:t>选择排序算法动画演示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知乎 </a:t>
            </a:r>
            <a:r>
              <a:rPr lang="en-US" altLang="zh-CN" dirty="0">
                <a:hlinkClick r:id="rId3"/>
              </a:rPr>
              <a:t>(zhihu.com)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以下这个可以重点学习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Python</a:t>
            </a:r>
            <a:r>
              <a:rPr lang="zh-CN" altLang="en-US" dirty="0">
                <a:hlinkClick r:id="rId4"/>
              </a:rPr>
              <a:t>实例代码，十大经典排序算法（附算法思想、实例代码、动画演示，值得收藏学习） </a:t>
            </a:r>
            <a:r>
              <a:rPr lang="en-US" altLang="zh-CN" dirty="0">
                <a:hlinkClick r:id="rId4"/>
              </a:rPr>
              <a:t>- </a:t>
            </a:r>
            <a:r>
              <a:rPr lang="zh-CN" altLang="en-US" dirty="0">
                <a:hlinkClick r:id="rId4"/>
              </a:rPr>
              <a:t>知乎 </a:t>
            </a:r>
            <a:r>
              <a:rPr lang="en-US" altLang="zh-CN" dirty="0">
                <a:hlinkClick r:id="rId4"/>
              </a:rPr>
              <a:t>(zhihu.com)</a:t>
            </a:r>
            <a:endParaRPr lang="en-US" altLang="zh-CN" dirty="0"/>
          </a:p>
          <a:p>
            <a:r>
              <a:rPr lang="en-US" altLang="zh-CN" dirty="0"/>
              <a:t>https://zhuanlan.zhihu.com/p/602971700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486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冒泡就像池塘里气泡往水面走，右侧最大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046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507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把单个数据看作是有序的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540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6430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58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31092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841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397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2023/10/19</a:t>
            </a:fld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895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2023/10/19</a:t>
            </a:fld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913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535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74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商务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 lang="zh-CN" altLang="en-US" smtClean="0"/>
              <a:t>2023/10/19</a:t>
            </a:fld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14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dirty="0"/>
              <a:t>第</a:t>
            </a:r>
            <a:r>
              <a:rPr lang="en-US" altLang="zh-CN" sz="4800" dirty="0"/>
              <a:t>6</a:t>
            </a:r>
            <a:r>
              <a:rPr lang="zh-CN" altLang="en-US" sz="4800" dirty="0"/>
              <a:t>讲 循环分支综合应用</a:t>
            </a:r>
            <a:r>
              <a:rPr lang="en-US" altLang="zh-CN" sz="4800"/>
              <a:t>(1)</a:t>
            </a:r>
            <a:endParaRPr lang="zh-CN" altLang="en-US" sz="48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8B703A-A7C6-0731-CA35-F08AD62FE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91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一、导入与回顾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热身运动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(1)</a:t>
            </a:r>
            <a:r>
              <a:rPr lang="zh-CN" altLang="en-US" dirty="0"/>
              <a:t>百钱买百鸡问题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要求：</a:t>
            </a:r>
            <a:endParaRPr lang="en-US" altLang="zh-CN" dirty="0"/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现有百文钱，需买</a:t>
            </a:r>
            <a:r>
              <a:rPr lang="en-US" altLang="zh-CN" sz="1800" dirty="0"/>
              <a:t>100</a:t>
            </a:r>
            <a:r>
              <a:rPr lang="zh-CN" altLang="en-US" sz="1800" dirty="0"/>
              <a:t>只鸡；</a:t>
            </a:r>
            <a:endParaRPr lang="en-US" altLang="zh-CN" sz="1800" dirty="0"/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大公鸡三文一只，大母鸡</a:t>
            </a:r>
            <a:r>
              <a:rPr lang="en-US" altLang="zh-CN" sz="1800" dirty="0"/>
              <a:t>2</a:t>
            </a:r>
            <a:r>
              <a:rPr lang="zh-CN" altLang="en-US" sz="1800" dirty="0"/>
              <a:t>文一只，小鸡仔每文钱</a:t>
            </a:r>
            <a:r>
              <a:rPr lang="en-US" altLang="zh-CN" sz="1800" dirty="0"/>
              <a:t>3</a:t>
            </a:r>
            <a:r>
              <a:rPr lang="zh-CN" altLang="en-US" sz="1800" dirty="0"/>
              <a:t>只。</a:t>
            </a:r>
            <a:endParaRPr lang="en-US" altLang="zh-CN" sz="1800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给出方案：</a:t>
            </a:r>
            <a:endParaRPr lang="en-US" altLang="zh-CN" dirty="0"/>
          </a:p>
          <a:p>
            <a:pPr lvl="3">
              <a:spcBef>
                <a:spcPts val="1200"/>
              </a:spcBef>
            </a:pPr>
            <a:r>
              <a:rPr lang="zh-CN" altLang="en-US" sz="1800" dirty="0"/>
              <a:t>在</a:t>
            </a:r>
            <a:r>
              <a:rPr lang="en-US" altLang="zh-CN" sz="1800" dirty="0"/>
              <a:t>1——100</a:t>
            </a:r>
            <a:r>
              <a:rPr lang="zh-CN" altLang="en-US" sz="1800" dirty="0"/>
              <a:t>之间测试，找出满足要求的方案</a:t>
            </a:r>
            <a:endParaRPr lang="en-US" altLang="zh-CN" sz="1800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(2)</a:t>
            </a:r>
            <a:r>
              <a:rPr lang="zh-CN" altLang="en-US" dirty="0"/>
              <a:t>水仙花数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水仙花：构成此数的三位数码，其立方和等于该数。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179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三、选择排序入门</a:t>
            </a:r>
          </a:p>
        </p:txBody>
      </p:sp>
      <p:sp>
        <p:nvSpPr>
          <p:cNvPr id="6" name="AutoShape 4" descr="动图">
            <a:extLst>
              <a:ext uri="{FF2B5EF4-FFF2-40B4-BE49-F238E27FC236}">
                <a16:creationId xmlns:a16="http://schemas.microsoft.com/office/drawing/2014/main" id="{EF8620E3-0509-D89D-FA7B-C6AC76E59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pic>
        <p:nvPicPr>
          <p:cNvPr id="2074" name="Picture 26" descr="选择排序">
            <a:extLst>
              <a:ext uri="{FF2B5EF4-FFF2-40B4-BE49-F238E27FC236}">
                <a16:creationId xmlns:a16="http://schemas.microsoft.com/office/drawing/2014/main" id="{43D4FA2D-840D-E635-9A8E-750A2FC5F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0" y="3516753"/>
            <a:ext cx="912495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8139A00-724F-16EF-AF11-CD34E53C802B}"/>
              </a:ext>
            </a:extLst>
          </p:cNvPr>
          <p:cNvSpPr txBox="1"/>
          <p:nvPr/>
        </p:nvSpPr>
        <p:spPr>
          <a:xfrm>
            <a:off x="5460999" y="6590669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https://blog.csdn.net/qq_44433261/article/details/117235740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C973D0-0DE1-EC30-3814-4370B101C99A}"/>
              </a:ext>
            </a:extLst>
          </p:cNvPr>
          <p:cNvSpPr txBox="1"/>
          <p:nvPr/>
        </p:nvSpPr>
        <p:spPr>
          <a:xfrm>
            <a:off x="135924" y="6400800"/>
            <a:ext cx="1532238" cy="36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p96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2698" y="909598"/>
            <a:ext cx="4800598" cy="260715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算法思路</a:t>
            </a:r>
            <a:endParaRPr lang="en-US" altLang="zh-CN" dirty="0"/>
          </a:p>
          <a:p>
            <a:pPr lvl="1"/>
            <a:r>
              <a:rPr lang="zh-CN" altLang="en-US" dirty="0"/>
              <a:t>算法描述：（如从小到大排序）</a:t>
            </a:r>
            <a:endParaRPr lang="en-US" altLang="zh-CN" dirty="0"/>
          </a:p>
          <a:p>
            <a:pPr lvl="2"/>
            <a:r>
              <a:rPr lang="zh-CN" altLang="en-US" dirty="0"/>
              <a:t>从无序序列中找到最小值；</a:t>
            </a:r>
            <a:endParaRPr lang="en-US" altLang="zh-CN" dirty="0"/>
          </a:p>
          <a:p>
            <a:pPr lvl="2"/>
            <a:r>
              <a:rPr lang="zh-CN" altLang="en-US" dirty="0"/>
              <a:t>把最小值换到无序序列的最左侧；</a:t>
            </a:r>
            <a:endParaRPr lang="en-US" altLang="zh-CN" dirty="0"/>
          </a:p>
          <a:p>
            <a:pPr lvl="2"/>
            <a:r>
              <a:rPr lang="zh-CN" altLang="en-US" dirty="0"/>
              <a:t>无序序列减少一个数。</a:t>
            </a:r>
            <a:endParaRPr lang="en-US" altLang="zh-CN" dirty="0"/>
          </a:p>
          <a:p>
            <a:pPr lvl="2"/>
            <a:r>
              <a:rPr lang="zh-CN" altLang="en-US" dirty="0"/>
              <a:t>直到无序序列中仅有一个数为止。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41CCD1-5701-0E31-2F1A-6388F1F73934}"/>
              </a:ext>
            </a:extLst>
          </p:cNvPr>
          <p:cNvSpPr txBox="1"/>
          <p:nvPr/>
        </p:nvSpPr>
        <p:spPr>
          <a:xfrm>
            <a:off x="6089651" y="1202691"/>
            <a:ext cx="3879849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演示过程：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[6, 9, 18,   2,  15,  32,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7]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9, 18,   2,  15,  32,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6,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7]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1, [9, 18,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15,  32, 6,  7]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1, [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18,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9,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15,  32, 6,  7]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1, 2, [18,   9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15,  32,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6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 7]</a:t>
            </a:r>
          </a:p>
        </p:txBody>
      </p:sp>
    </p:spTree>
    <p:extLst>
      <p:ext uri="{BB962C8B-B14F-4D97-AF65-F5344CB8AC3E}">
        <p14:creationId xmlns:p14="http://schemas.microsoft.com/office/powerpoint/2010/main" val="115063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 animBg="1"/>
      <p:bldP spid="23" grpId="0" uiExpand="1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三、选择排序入门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算法思路</a:t>
            </a:r>
            <a:endParaRPr lang="en-US" altLang="zh-CN" dirty="0"/>
          </a:p>
          <a:p>
            <a:pPr lvl="1"/>
            <a:r>
              <a:rPr lang="zh-CN" altLang="en-US" dirty="0"/>
              <a:t>撰写伪码语句（或流程图）：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单趟处理</a:t>
            </a:r>
            <a:endParaRPr lang="en-US" altLang="zh-CN" dirty="0"/>
          </a:p>
          <a:p>
            <a:pPr lvl="2"/>
            <a:r>
              <a:rPr lang="zh-CN" altLang="en-US" dirty="0"/>
              <a:t>在以</a:t>
            </a:r>
            <a:r>
              <a:rPr lang="en-US" altLang="zh-CN" dirty="0" err="1"/>
              <a:t>i</a:t>
            </a:r>
            <a:r>
              <a:rPr lang="zh-CN" altLang="en-US" dirty="0"/>
              <a:t>为起点的序列中找到最小值：</a:t>
            </a:r>
            <a:endParaRPr lang="en-US" altLang="zh-CN" dirty="0"/>
          </a:p>
          <a:p>
            <a:pPr lvl="3"/>
            <a:r>
              <a:rPr lang="en-US" altLang="zh-CN" sz="1800" dirty="0" err="1">
                <a:solidFill>
                  <a:srgbClr val="FF0000"/>
                </a:solidFill>
              </a:rPr>
              <a:t>xmax</a:t>
            </a:r>
            <a:r>
              <a:rPr lang="en-US" altLang="zh-CN" sz="1800" dirty="0">
                <a:solidFill>
                  <a:srgbClr val="FF0000"/>
                </a:solidFill>
              </a:rPr>
              <a:t>=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For j in range(i+1,len(AA)):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if  AA(j)&gt;AA(</a:t>
            </a:r>
            <a:r>
              <a:rPr lang="en-US" altLang="zh-CN" sz="1800" dirty="0" err="1">
                <a:solidFill>
                  <a:srgbClr val="FF0000"/>
                </a:solidFill>
              </a:rPr>
              <a:t>xmax</a:t>
            </a:r>
            <a:r>
              <a:rPr lang="en-US" altLang="zh-CN" sz="1800" dirty="0">
                <a:solidFill>
                  <a:srgbClr val="FF0000"/>
                </a:solidFill>
              </a:rPr>
              <a:t>):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       </a:t>
            </a:r>
            <a:r>
              <a:rPr lang="en-US" altLang="zh-CN" sz="1800" dirty="0" err="1">
                <a:solidFill>
                  <a:srgbClr val="FF0000"/>
                </a:solidFill>
              </a:rPr>
              <a:t>xmaxx</a:t>
            </a:r>
            <a:r>
              <a:rPr lang="en-US" altLang="zh-CN" sz="1800" dirty="0">
                <a:solidFill>
                  <a:srgbClr val="FF0000"/>
                </a:solidFill>
              </a:rPr>
              <a:t>=j</a:t>
            </a:r>
          </a:p>
          <a:p>
            <a:pPr lvl="2"/>
            <a:r>
              <a:rPr lang="zh-CN" altLang="en-US" dirty="0"/>
              <a:t>交换到最左侧：</a:t>
            </a:r>
            <a:endParaRPr lang="en-US" altLang="zh-CN" dirty="0"/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AA[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],AA[</a:t>
            </a:r>
            <a:r>
              <a:rPr lang="en-US" altLang="zh-CN" sz="1800" dirty="0" err="1">
                <a:solidFill>
                  <a:srgbClr val="FF0000"/>
                </a:solidFill>
              </a:rPr>
              <a:t>xmax</a:t>
            </a:r>
            <a:r>
              <a:rPr lang="en-US" altLang="zh-CN" sz="1800" dirty="0">
                <a:solidFill>
                  <a:srgbClr val="FF0000"/>
                </a:solidFill>
              </a:rPr>
              <a:t>]=AA[</a:t>
            </a:r>
            <a:r>
              <a:rPr lang="en-US" altLang="zh-CN" sz="1800" dirty="0" err="1">
                <a:solidFill>
                  <a:srgbClr val="FF0000"/>
                </a:solidFill>
              </a:rPr>
              <a:t>xmax</a:t>
            </a:r>
            <a:r>
              <a:rPr lang="en-US" altLang="zh-CN" sz="1800" dirty="0">
                <a:solidFill>
                  <a:srgbClr val="FF0000"/>
                </a:solidFill>
              </a:rPr>
              <a:t>],AA[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F17EC1-3A36-43BE-E91D-8225671B7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15"/>
          <a:stretch/>
        </p:blipFill>
        <p:spPr>
          <a:xfrm>
            <a:off x="6206065" y="2139779"/>
            <a:ext cx="5985936" cy="348254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6B27A2-3CD3-7D88-E41A-71B77A215B71}"/>
              </a:ext>
            </a:extLst>
          </p:cNvPr>
          <p:cNvSpPr txBox="1"/>
          <p:nvPr/>
        </p:nvSpPr>
        <p:spPr>
          <a:xfrm>
            <a:off x="7635017" y="6629173"/>
            <a:ext cx="4762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https://blog.csdn.net/qq_44955537/article/details/103711081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73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三、选择排序入门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最终完整的程序</a:t>
            </a:r>
            <a:endParaRPr lang="en-US" altLang="zh-CN" dirty="0"/>
          </a:p>
          <a:p>
            <a:pPr lvl="1"/>
            <a:r>
              <a:rPr lang="zh-CN" altLang="en-US" dirty="0"/>
              <a:t>程序语句：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解析与说明：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8137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四、冒泡排序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27099"/>
            <a:ext cx="6807200" cy="5659051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算法思路</a:t>
            </a:r>
            <a:endParaRPr lang="en-US" altLang="zh-CN" dirty="0"/>
          </a:p>
          <a:p>
            <a:pPr lvl="1"/>
            <a:r>
              <a:rPr lang="zh-CN" altLang="en-US" dirty="0"/>
              <a:t>算法描述：</a:t>
            </a:r>
            <a:endParaRPr lang="en-US" altLang="zh-CN" dirty="0"/>
          </a:p>
          <a:p>
            <a:pPr lvl="2"/>
            <a:r>
              <a:rPr lang="zh-CN" altLang="en-US" sz="2000" dirty="0"/>
              <a:t>从左向右扫描无序序列，两两比较；</a:t>
            </a:r>
            <a:endParaRPr lang="en-US" altLang="zh-CN" sz="2000" dirty="0"/>
          </a:p>
          <a:p>
            <a:pPr lvl="2"/>
            <a:r>
              <a:rPr lang="zh-CN" altLang="en-US" sz="2000" dirty="0"/>
              <a:t>若左侧比右侧大，就交换；</a:t>
            </a:r>
            <a:endParaRPr lang="en-US" altLang="zh-CN" sz="2000" dirty="0"/>
          </a:p>
          <a:p>
            <a:pPr lvl="2"/>
            <a:r>
              <a:rPr lang="zh-CN" altLang="en-US" sz="2000" dirty="0"/>
              <a:t>一趟完成后，最大值会被换到最右侧。</a:t>
            </a:r>
            <a:endParaRPr lang="en-US" altLang="zh-CN" sz="2000" dirty="0"/>
          </a:p>
          <a:p>
            <a:pPr lvl="3"/>
            <a:r>
              <a:rPr lang="en-US" altLang="zh-CN" sz="2000" dirty="0"/>
              <a:t>——</a:t>
            </a:r>
            <a:r>
              <a:rPr lang="zh-CN" altLang="en-US" sz="2000" dirty="0"/>
              <a:t>无序序列减少一个</a:t>
            </a:r>
            <a:endParaRPr lang="en-US" altLang="zh-CN" sz="2000" dirty="0"/>
          </a:p>
          <a:p>
            <a:pPr lvl="2"/>
            <a:r>
              <a:rPr lang="zh-CN" altLang="en-US" sz="2000" dirty="0"/>
              <a:t>经过</a:t>
            </a:r>
            <a:r>
              <a:rPr lang="en-US" altLang="zh-CN" sz="2000" dirty="0"/>
              <a:t>n-1</a:t>
            </a:r>
            <a:r>
              <a:rPr lang="zh-CN" altLang="en-US" sz="2000" dirty="0"/>
              <a:t>趟之后，无序序列中仅有一个数，停止。</a:t>
            </a:r>
            <a:endParaRPr lang="en-US" altLang="zh-CN" sz="2000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1026" name="Picture 2" descr="动图">
            <a:extLst>
              <a:ext uri="{FF2B5EF4-FFF2-40B4-BE49-F238E27FC236}">
                <a16:creationId xmlns:a16="http://schemas.microsoft.com/office/drawing/2014/main" id="{C72DD389-331A-0989-040A-DC33EFAE4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626" y="4185111"/>
            <a:ext cx="8300374" cy="258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669DE12-F56F-2A58-9A05-17F0F1D3B451}"/>
              </a:ext>
            </a:extLst>
          </p:cNvPr>
          <p:cNvSpPr txBox="1"/>
          <p:nvPr/>
        </p:nvSpPr>
        <p:spPr>
          <a:xfrm>
            <a:off x="135924" y="6400800"/>
            <a:ext cx="1532238" cy="36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p96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60AF2B-DB14-3FDE-9CEA-E68648D1105E}"/>
              </a:ext>
            </a:extLst>
          </p:cNvPr>
          <p:cNvSpPr txBox="1"/>
          <p:nvPr/>
        </p:nvSpPr>
        <p:spPr>
          <a:xfrm>
            <a:off x="6607776" y="1240360"/>
            <a:ext cx="614748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演示过程：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18,   2,  15,  32, 1,  7]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18,   2,  15,  32, 1,  7]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18,   2,  15,  32, 1,  7]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  2,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18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 15,  32, 1,  7]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  2,  15,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18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 32, 1,  7]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  2,  15,  18,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32,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1,  7]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  2,  15,  18,   1,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32,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7]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[6, 9,   2,  15,  18,   1,  7,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32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] </a:t>
            </a:r>
          </a:p>
        </p:txBody>
      </p:sp>
    </p:spTree>
    <p:extLst>
      <p:ext uri="{BB962C8B-B14F-4D97-AF65-F5344CB8AC3E}">
        <p14:creationId xmlns:p14="http://schemas.microsoft.com/office/powerpoint/2010/main" val="381259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  <p:bldP spid="6" grpId="0" build="p" bldLvl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四、冒泡排序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算法思路</a:t>
            </a:r>
            <a:endParaRPr lang="en-US" altLang="zh-CN" dirty="0"/>
          </a:p>
          <a:p>
            <a:pPr lvl="1"/>
            <a:r>
              <a:rPr lang="zh-CN" altLang="en-US" dirty="0"/>
              <a:t>撰写伪码语句（或流程图）：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单趟处理</a:t>
            </a:r>
            <a:endParaRPr lang="en-US" altLang="zh-CN" dirty="0"/>
          </a:p>
          <a:p>
            <a:pPr lvl="2"/>
            <a:r>
              <a:rPr lang="zh-CN" altLang="en-US" sz="2000" dirty="0"/>
              <a:t>在整个序列中做处理：</a:t>
            </a:r>
            <a:endParaRPr lang="en-US" altLang="zh-CN" sz="2000" dirty="0"/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For j in range(</a:t>
            </a:r>
            <a:r>
              <a:rPr lang="en-US" altLang="zh-CN" sz="1800" dirty="0" err="1">
                <a:solidFill>
                  <a:srgbClr val="FF0000"/>
                </a:solidFill>
              </a:rPr>
              <a:t>len</a:t>
            </a:r>
            <a:r>
              <a:rPr lang="en-US" altLang="zh-CN" sz="1800" dirty="0">
                <a:solidFill>
                  <a:srgbClr val="FF0000"/>
                </a:solidFill>
              </a:rPr>
              <a:t>(AA)-1):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if  AA(j)&gt;AA(j+1):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      AA[j],AA[j+1]=AA[j+1],AA[j]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8985A2-6579-ED68-E805-F741FB2D59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27"/>
          <a:stretch/>
        </p:blipFill>
        <p:spPr>
          <a:xfrm>
            <a:off x="5825524" y="1828113"/>
            <a:ext cx="6370595" cy="3657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8C7B8FD-37DC-F9B1-7D77-CB2F745C1DE3}"/>
              </a:ext>
            </a:extLst>
          </p:cNvPr>
          <p:cNvSpPr txBox="1"/>
          <p:nvPr/>
        </p:nvSpPr>
        <p:spPr>
          <a:xfrm>
            <a:off x="7438767" y="5943600"/>
            <a:ext cx="47614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https://blog.csdn.net/qq_44955537/article/details/103711081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66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四、冒泡排序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完整的程序</a:t>
            </a:r>
            <a:endParaRPr lang="en-US" altLang="zh-CN" dirty="0"/>
          </a:p>
          <a:p>
            <a:pPr lvl="1"/>
            <a:r>
              <a:rPr lang="zh-CN" altLang="en-US" dirty="0"/>
              <a:t>程序语句：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解析与说明：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576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四、冒泡排序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冒泡排序的优化</a:t>
            </a:r>
            <a:endParaRPr lang="en-US" altLang="zh-CN" dirty="0"/>
          </a:p>
          <a:p>
            <a:pPr lvl="1"/>
            <a:r>
              <a:rPr lang="zh-CN" altLang="en-US" dirty="0"/>
              <a:t>优化思路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sz="2000" dirty="0"/>
              <a:t>每趟结束，无序序列内数据应该减少一个</a:t>
            </a:r>
            <a:endParaRPr lang="en-US" altLang="zh-CN" sz="2000" dirty="0"/>
          </a:p>
          <a:p>
            <a:pPr lvl="2"/>
            <a:r>
              <a:rPr lang="zh-CN" altLang="en-US" sz="2000" dirty="0"/>
              <a:t>因此，应逐渐减少对右侧有序区域的对比</a:t>
            </a:r>
            <a:endParaRPr lang="en-US" altLang="zh-CN" sz="2000" dirty="0"/>
          </a:p>
          <a:p>
            <a:pPr lvl="3"/>
            <a:r>
              <a:rPr lang="zh-CN" altLang="en-US" sz="2000" dirty="0"/>
              <a:t>对比区域的长度</a:t>
            </a:r>
            <a:r>
              <a:rPr lang="en-US" altLang="zh-CN" sz="2000" dirty="0"/>
              <a:t>-1</a:t>
            </a:r>
          </a:p>
          <a:p>
            <a:pPr lvl="1"/>
            <a:r>
              <a:rPr lang="zh-CN" altLang="en-US" dirty="0"/>
              <a:t>优化后的代码：</a:t>
            </a:r>
            <a:endParaRPr lang="en-US" altLang="zh-CN" dirty="0"/>
          </a:p>
          <a:p>
            <a:pPr lvl="2"/>
            <a:r>
              <a:rPr lang="zh-CN" altLang="en-US" sz="2000" dirty="0"/>
              <a:t>第</a:t>
            </a:r>
            <a:r>
              <a:rPr lang="en-US" altLang="zh-CN" sz="2000" dirty="0"/>
              <a:t>I </a:t>
            </a:r>
            <a:r>
              <a:rPr lang="zh-CN" altLang="en-US" sz="2000" dirty="0"/>
              <a:t>趟的对比：</a:t>
            </a:r>
            <a:endParaRPr lang="en-US" altLang="zh-CN" sz="2000" dirty="0"/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For j in range(</a:t>
            </a:r>
            <a:r>
              <a:rPr lang="en-US" altLang="zh-CN" sz="1800" dirty="0" err="1">
                <a:solidFill>
                  <a:srgbClr val="FF0000"/>
                </a:solidFill>
              </a:rPr>
              <a:t>len</a:t>
            </a:r>
            <a:r>
              <a:rPr lang="en-US" altLang="zh-CN" sz="1800" dirty="0">
                <a:solidFill>
                  <a:srgbClr val="FF0000"/>
                </a:solidFill>
              </a:rPr>
              <a:t>(AA)-1</a:t>
            </a:r>
            <a:r>
              <a:rPr lang="en-US" altLang="zh-C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 </a:t>
            </a:r>
            <a:r>
              <a:rPr lang="en-US" altLang="zh-CN" sz="1800" dirty="0">
                <a:solidFill>
                  <a:srgbClr val="FF0000"/>
                </a:solidFill>
              </a:rPr>
              <a:t>):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if  AA(j)&gt;AA(j+1):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      AA[j],AA[j+1]=AA[j+1],AA[j]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573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四、冒泡排序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冒泡排序的优化</a:t>
            </a:r>
            <a:endParaRPr lang="en-US" altLang="zh-CN" dirty="0"/>
          </a:p>
          <a:p>
            <a:pPr lvl="1"/>
            <a:r>
              <a:rPr lang="zh-CN" altLang="en-US" dirty="0"/>
              <a:t>优化思路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sz="2000" dirty="0"/>
              <a:t>若某一趟未有任何交换，则说明每两个数据均左</a:t>
            </a:r>
            <a:r>
              <a:rPr lang="en-US" altLang="zh-CN" sz="2000" dirty="0"/>
              <a:t>&lt;</a:t>
            </a:r>
            <a:r>
              <a:rPr lang="zh-CN" altLang="en-US" sz="2000" dirty="0"/>
              <a:t>右</a:t>
            </a:r>
            <a:endParaRPr lang="en-US" altLang="zh-CN" sz="2000" dirty="0"/>
          </a:p>
          <a:p>
            <a:pPr lvl="2"/>
            <a:r>
              <a:rPr lang="zh-CN" altLang="en-US" sz="2000" dirty="0"/>
              <a:t>程序应该结束对比和调整</a:t>
            </a:r>
            <a:endParaRPr lang="en-US" altLang="zh-CN" sz="2000" dirty="0"/>
          </a:p>
          <a:p>
            <a:pPr lvl="2"/>
            <a:r>
              <a:rPr lang="zh-CN" altLang="en-US" sz="2000" dirty="0"/>
              <a:t>所以：</a:t>
            </a:r>
            <a:endParaRPr lang="en-US" altLang="zh-CN" sz="2000" dirty="0"/>
          </a:p>
          <a:p>
            <a:pPr lvl="3"/>
            <a:r>
              <a:rPr lang="zh-CN" altLang="en-US" sz="2000" dirty="0"/>
              <a:t>增加交换标记变量</a:t>
            </a:r>
            <a:r>
              <a:rPr lang="en-US" altLang="zh-CN" sz="2000" dirty="0"/>
              <a:t>mark</a:t>
            </a:r>
            <a:r>
              <a:rPr lang="zh-CN" altLang="en-US" sz="2000" dirty="0"/>
              <a:t>，若</a:t>
            </a:r>
            <a:r>
              <a:rPr lang="en-US" altLang="zh-CN" sz="2000" dirty="0"/>
              <a:t>mark=0</a:t>
            </a:r>
            <a:r>
              <a:rPr lang="zh-CN" altLang="en-US" sz="2000" dirty="0"/>
              <a:t>，则结束比较 </a:t>
            </a:r>
            <a:endParaRPr lang="en-US" altLang="zh-CN" sz="2000" dirty="0"/>
          </a:p>
          <a:p>
            <a:pPr lvl="1"/>
            <a:r>
              <a:rPr lang="zh-CN" altLang="en-US" dirty="0"/>
              <a:t>优化后的代码：</a:t>
            </a:r>
            <a:endParaRPr lang="en-US" altLang="zh-CN" dirty="0"/>
          </a:p>
          <a:p>
            <a:pPr lvl="2"/>
            <a:r>
              <a:rPr lang="zh-CN" altLang="en-US" sz="2000" dirty="0"/>
              <a:t>第</a:t>
            </a:r>
            <a:r>
              <a:rPr lang="en-US" altLang="zh-CN" sz="2000" dirty="0"/>
              <a:t>I </a:t>
            </a:r>
            <a:r>
              <a:rPr lang="zh-CN" altLang="en-US" sz="2000" dirty="0"/>
              <a:t>趟的对比：</a:t>
            </a:r>
            <a:endParaRPr lang="en-US" altLang="zh-CN" sz="2000" dirty="0"/>
          </a:p>
          <a:p>
            <a:pPr lvl="3"/>
            <a:r>
              <a:rPr lang="en-US" altLang="zh-CN" sz="2000" dirty="0">
                <a:solidFill>
                  <a:srgbClr val="FF0000"/>
                </a:solidFill>
              </a:rPr>
              <a:t>Mark=0</a:t>
            </a:r>
          </a:p>
          <a:p>
            <a:pPr lvl="3"/>
            <a:r>
              <a:rPr lang="en-US" altLang="zh-CN" sz="2000" dirty="0">
                <a:solidFill>
                  <a:srgbClr val="FF0000"/>
                </a:solidFill>
              </a:rPr>
              <a:t>For j in range(</a:t>
            </a:r>
            <a:r>
              <a:rPr lang="en-US" altLang="zh-CN" sz="2000" dirty="0" err="1">
                <a:solidFill>
                  <a:srgbClr val="FF0000"/>
                </a:solidFill>
              </a:rPr>
              <a:t>len</a:t>
            </a:r>
            <a:r>
              <a:rPr lang="en-US" altLang="zh-CN" sz="2000" dirty="0">
                <a:solidFill>
                  <a:srgbClr val="FF0000"/>
                </a:solidFill>
              </a:rPr>
              <a:t>(AA)-1-I ):</a:t>
            </a:r>
          </a:p>
          <a:p>
            <a:pPr lvl="3"/>
            <a:r>
              <a:rPr lang="en-US" altLang="zh-CN" sz="2000" dirty="0">
                <a:solidFill>
                  <a:srgbClr val="FF0000"/>
                </a:solidFill>
              </a:rPr>
              <a:t>      if  AA(j)&gt;AA(j+1):</a:t>
            </a:r>
          </a:p>
          <a:p>
            <a:pPr lvl="3"/>
            <a:r>
              <a:rPr lang="en-US" altLang="zh-CN" sz="2000" dirty="0">
                <a:solidFill>
                  <a:srgbClr val="FF0000"/>
                </a:solidFill>
              </a:rPr>
              <a:t>            AA[j],AA[j+1]=AA[j+1],AA[j]</a:t>
            </a:r>
          </a:p>
          <a:p>
            <a:pPr lvl="3"/>
            <a:r>
              <a:rPr lang="en-US" altLang="zh-CN" sz="2000" dirty="0">
                <a:solidFill>
                  <a:srgbClr val="FF0000"/>
                </a:solidFill>
              </a:rPr>
              <a:t>            mark=mark+1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466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五、插入排序</a:t>
            </a:r>
          </a:p>
        </p:txBody>
      </p:sp>
      <p:pic>
        <p:nvPicPr>
          <p:cNvPr id="4" name="Picture 4" descr="动图">
            <a:extLst>
              <a:ext uri="{FF2B5EF4-FFF2-40B4-BE49-F238E27FC236}">
                <a16:creationId xmlns:a16="http://schemas.microsoft.com/office/drawing/2014/main" id="{2C943A2D-943D-B0B8-C6D2-2D78C91B0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683" y="2047875"/>
            <a:ext cx="7724775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05C5AB7-9B37-DB5A-C4EA-BE7029AA301D}"/>
              </a:ext>
            </a:extLst>
          </p:cNvPr>
          <p:cNvSpPr txBox="1"/>
          <p:nvPr/>
        </p:nvSpPr>
        <p:spPr>
          <a:xfrm>
            <a:off x="135924" y="6400800"/>
            <a:ext cx="1532238" cy="366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p101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27100"/>
            <a:ext cx="4406900" cy="50038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算法思路</a:t>
            </a:r>
            <a:endParaRPr lang="en-US" altLang="zh-CN" dirty="0"/>
          </a:p>
          <a:p>
            <a:pPr lvl="1"/>
            <a:r>
              <a:rPr lang="zh-CN" altLang="en-US" dirty="0"/>
              <a:t>算法描述：</a:t>
            </a:r>
            <a:endParaRPr lang="en-US" altLang="zh-CN" dirty="0"/>
          </a:p>
          <a:p>
            <a:pPr lvl="2"/>
            <a:r>
              <a:rPr lang="zh-CN" altLang="en-US" sz="2000" dirty="0"/>
              <a:t>假设已经有个有序序列，现在把新数</a:t>
            </a:r>
            <a:r>
              <a:rPr lang="en-US" altLang="zh-CN" sz="2000" dirty="0" err="1"/>
              <a:t>tmp</a:t>
            </a:r>
            <a:r>
              <a:rPr lang="zh-CN" altLang="en-US" sz="2000" dirty="0"/>
              <a:t>按序插入到应在位置；</a:t>
            </a:r>
            <a:endParaRPr lang="en-US" altLang="zh-CN" sz="2000" dirty="0"/>
          </a:p>
          <a:p>
            <a:pPr lvl="2"/>
            <a:r>
              <a:rPr lang="zh-CN" altLang="en-US" sz="2000" dirty="0"/>
              <a:t>从有序序列的队尾开始，</a:t>
            </a:r>
            <a:endParaRPr lang="en-US" altLang="zh-CN" sz="2000" dirty="0"/>
          </a:p>
          <a:p>
            <a:pPr lvl="2"/>
            <a:r>
              <a:rPr lang="zh-CN" altLang="en-US" sz="2000" dirty="0"/>
              <a:t>如果当前位置数据</a:t>
            </a:r>
            <a:r>
              <a:rPr lang="en-US" altLang="zh-CN" sz="2000" dirty="0"/>
              <a:t>&gt;</a:t>
            </a:r>
            <a:r>
              <a:rPr lang="en-US" altLang="zh-CN" sz="2000" dirty="0" err="1"/>
              <a:t>tmp</a:t>
            </a:r>
            <a:r>
              <a:rPr lang="en-US" altLang="zh-CN" sz="2000" dirty="0"/>
              <a:t>, </a:t>
            </a:r>
            <a:r>
              <a:rPr lang="zh-CN" altLang="en-US" sz="2000" dirty="0"/>
              <a:t>则当前位置数据后移</a:t>
            </a:r>
            <a:endParaRPr lang="en-US" altLang="zh-CN" sz="2000" dirty="0"/>
          </a:p>
          <a:p>
            <a:pPr lvl="2"/>
            <a:r>
              <a:rPr lang="zh-CN" altLang="en-US" sz="2000" dirty="0"/>
              <a:t>直到当前位置数据</a:t>
            </a:r>
            <a:r>
              <a:rPr lang="en-US" altLang="zh-CN" sz="2000" dirty="0"/>
              <a:t>&gt;=</a:t>
            </a:r>
            <a:r>
              <a:rPr lang="en-US" altLang="zh-CN" sz="2000" dirty="0" err="1"/>
              <a:t>tmp</a:t>
            </a:r>
            <a:r>
              <a:rPr lang="zh-CN" altLang="en-US" sz="2000" dirty="0"/>
              <a:t>或到了队首</a:t>
            </a:r>
            <a:endParaRPr lang="en-US" altLang="zh-CN" sz="2000" dirty="0"/>
          </a:p>
          <a:p>
            <a:pPr lvl="2"/>
            <a:r>
              <a:rPr lang="zh-CN" altLang="en-US" sz="2000" dirty="0"/>
              <a:t>把</a:t>
            </a:r>
            <a:r>
              <a:rPr lang="en-US" altLang="zh-CN" sz="2000" dirty="0" err="1"/>
              <a:t>tmp</a:t>
            </a:r>
            <a:r>
              <a:rPr lang="zh-CN" altLang="en-US" sz="2000" dirty="0"/>
              <a:t>插入到应然位置。</a:t>
            </a:r>
            <a:endParaRPr lang="en-US" altLang="zh-CN" sz="2000" dirty="0"/>
          </a:p>
          <a:p>
            <a:pPr lvl="2"/>
            <a:r>
              <a:rPr lang="zh-CN" altLang="en-US" sz="2000" dirty="0"/>
              <a:t>有序序列增加</a:t>
            </a:r>
            <a:r>
              <a:rPr lang="en-US" altLang="zh-CN" sz="2000" dirty="0"/>
              <a:t>1</a:t>
            </a:r>
            <a:r>
              <a:rPr lang="zh-CN" altLang="en-US" sz="2000" dirty="0"/>
              <a:t>个数据。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42BF08-F69B-D407-C4A8-7F9F6971DCF1}"/>
              </a:ext>
            </a:extLst>
          </p:cNvPr>
          <p:cNvSpPr txBox="1"/>
          <p:nvPr/>
        </p:nvSpPr>
        <p:spPr>
          <a:xfrm>
            <a:off x="7261997" y="-132555"/>
            <a:ext cx="4498203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演示过程：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6,  9,  18】,  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3, 11  15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6,  9,  18】,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3, 11  15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6,  9,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18】, 3, 11  15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6,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9,  18】, 3, 11  15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  6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9,  18】, 3, 11  15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[1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Normal"/>
                <a:ea typeface="思源黑体 CN Normal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Normal"/>
                <a:ea typeface="思源黑体 CN Normal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,  6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9,  18】, 3, 11  15</a:t>
            </a:r>
          </a:p>
        </p:txBody>
      </p:sp>
    </p:spTree>
    <p:extLst>
      <p:ext uri="{BB962C8B-B14F-4D97-AF65-F5344CB8AC3E}">
        <p14:creationId xmlns:p14="http://schemas.microsoft.com/office/powerpoint/2010/main" val="327472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 animBg="1"/>
      <p:bldP spid="7" grpId="0" uiExpand="1" build="p" bldLvl="4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五、插入排序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算法思路</a:t>
            </a:r>
            <a:endParaRPr lang="en-US" altLang="zh-CN" dirty="0"/>
          </a:p>
          <a:p>
            <a:pPr lvl="1"/>
            <a:r>
              <a:rPr lang="zh-CN" altLang="en-US" dirty="0"/>
              <a:t>撰写伪码语句（或流程图）：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011" y="2539325"/>
            <a:ext cx="6640498" cy="399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86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五、插入排序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sz="2400" dirty="0"/>
              <a:t>单趟处理</a:t>
            </a:r>
            <a:endParaRPr lang="en-US" altLang="zh-CN" sz="2400" dirty="0"/>
          </a:p>
          <a:p>
            <a:pPr lvl="2"/>
            <a:r>
              <a:rPr lang="zh-CN" altLang="en-US" sz="2000" dirty="0"/>
              <a:t>把位于</a:t>
            </a:r>
            <a:r>
              <a:rPr lang="en-US" altLang="zh-CN" sz="2000" dirty="0" err="1"/>
              <a:t>i</a:t>
            </a:r>
            <a:r>
              <a:rPr lang="zh-CN" altLang="en-US" sz="2000" dirty="0"/>
              <a:t>处的数据插入到序列</a:t>
            </a:r>
            <a:r>
              <a:rPr lang="en-US" altLang="zh-CN" sz="2000" dirty="0"/>
              <a:t>AA[0</a:t>
            </a:r>
            <a:r>
              <a:rPr lang="zh-CN" altLang="en-US" sz="2000" dirty="0"/>
              <a:t>至</a:t>
            </a:r>
            <a:r>
              <a:rPr lang="en-US" altLang="zh-CN" sz="2000" dirty="0"/>
              <a:t>i-1]</a:t>
            </a:r>
            <a:r>
              <a:rPr lang="zh-CN" altLang="en-US" sz="2000" dirty="0"/>
              <a:t>的有序序列中：</a:t>
            </a:r>
            <a:endParaRPr lang="en-US" altLang="zh-CN" sz="2000" dirty="0"/>
          </a:p>
          <a:p>
            <a:pPr lvl="3"/>
            <a:r>
              <a:rPr lang="en-US" altLang="zh-CN" sz="1800" dirty="0" err="1">
                <a:solidFill>
                  <a:srgbClr val="FF0000"/>
                </a:solidFill>
              </a:rPr>
              <a:t>tmp</a:t>
            </a:r>
            <a:r>
              <a:rPr lang="en-US" altLang="zh-CN" sz="1800" dirty="0">
                <a:solidFill>
                  <a:srgbClr val="FF0000"/>
                </a:solidFill>
              </a:rPr>
              <a:t>=AA[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J=i-1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While(j&gt;=0 and AA[j]&gt;</a:t>
            </a:r>
            <a:r>
              <a:rPr lang="en-US" altLang="zh-CN" sz="1800" dirty="0" err="1">
                <a:solidFill>
                  <a:srgbClr val="FF0000"/>
                </a:solidFill>
              </a:rPr>
              <a:t>tmp</a:t>
            </a:r>
            <a:r>
              <a:rPr lang="en-US" altLang="zh-CN" sz="1800" dirty="0">
                <a:solidFill>
                  <a:srgbClr val="FF0000"/>
                </a:solidFill>
              </a:rPr>
              <a:t>) :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AA[j+1]=AA[j]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      j=j-1</a:t>
            </a:r>
          </a:p>
          <a:p>
            <a:pPr lvl="3"/>
            <a:r>
              <a:rPr lang="en-US" altLang="zh-CN" sz="1800" dirty="0">
                <a:solidFill>
                  <a:srgbClr val="FF0000"/>
                </a:solidFill>
              </a:rPr>
              <a:t>AA[j+1] =</a:t>
            </a:r>
            <a:r>
              <a:rPr lang="en-US" altLang="zh-CN" sz="1800" dirty="0" err="1">
                <a:solidFill>
                  <a:srgbClr val="FF0000"/>
                </a:solidFill>
              </a:rPr>
              <a:t>tmp</a:t>
            </a:r>
            <a:r>
              <a:rPr lang="en-US" altLang="zh-CN" sz="1800" dirty="0">
                <a:solidFill>
                  <a:srgbClr val="FF0000"/>
                </a:solidFill>
              </a:rPr>
              <a:t>       #</a:t>
            </a:r>
            <a:r>
              <a:rPr lang="zh-CN" altLang="en-US" sz="1800" dirty="0">
                <a:solidFill>
                  <a:srgbClr val="FF0000"/>
                </a:solidFill>
              </a:rPr>
              <a:t>放到</a:t>
            </a:r>
            <a:r>
              <a:rPr lang="en-US" altLang="zh-CN" sz="1800" dirty="0" err="1">
                <a:solidFill>
                  <a:srgbClr val="FF0000"/>
                </a:solidFill>
              </a:rPr>
              <a:t>tmp</a:t>
            </a:r>
            <a:r>
              <a:rPr lang="zh-CN" altLang="en-US" sz="1800" dirty="0">
                <a:solidFill>
                  <a:srgbClr val="FF0000"/>
                </a:solidFill>
              </a:rPr>
              <a:t>应在的位置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en-US" altLang="zh-CN" dirty="0"/>
              <a:t>2. </a:t>
            </a:r>
            <a:r>
              <a:rPr lang="zh-CN" altLang="en-US" dirty="0"/>
              <a:t>最终完整的程序</a:t>
            </a:r>
            <a:endParaRPr lang="en-US" altLang="zh-CN" dirty="0"/>
          </a:p>
          <a:p>
            <a:pPr lvl="1"/>
            <a:r>
              <a:rPr lang="zh-CN" altLang="en-US" dirty="0"/>
              <a:t>程序语句：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解析与说明：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406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1301</Words>
  <Application>Microsoft Office PowerPoint</Application>
  <PresentationFormat>宽屏</PresentationFormat>
  <Paragraphs>164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思源黑体 CN Bold</vt:lpstr>
      <vt:lpstr>思源黑体 CN Normal</vt:lpstr>
      <vt:lpstr>Arial</vt:lpstr>
      <vt:lpstr>51PPT模板网</vt:lpstr>
      <vt:lpstr>第6讲 循环分支综合应用(1)</vt:lpstr>
      <vt:lpstr>一、导入与回顾</vt:lpstr>
      <vt:lpstr>三、选择排序入门</vt:lpstr>
      <vt:lpstr>三、选择排序入门</vt:lpstr>
      <vt:lpstr>三、选择排序入门</vt:lpstr>
      <vt:lpstr>四、冒泡排序</vt:lpstr>
      <vt:lpstr>四、冒泡排序</vt:lpstr>
      <vt:lpstr>四、冒泡排序</vt:lpstr>
      <vt:lpstr>四、冒泡排序</vt:lpstr>
      <vt:lpstr>四、冒泡排序</vt:lpstr>
      <vt:lpstr>五、插入排序</vt:lpstr>
      <vt:lpstr>五、插入排序</vt:lpstr>
      <vt:lpstr>五、插入排序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第6讲 循环分支综合应用(1)</dc:title>
  <dc:creator>rx zh</dc:creator>
  <cp:lastModifiedBy>rx zh</cp:lastModifiedBy>
  <cp:revision>1</cp:revision>
  <dcterms:created xsi:type="dcterms:W3CDTF">2023-10-19T07:30:04Z</dcterms:created>
  <dcterms:modified xsi:type="dcterms:W3CDTF">2023-10-19T07:31:16Z</dcterms:modified>
</cp:coreProperties>
</file>