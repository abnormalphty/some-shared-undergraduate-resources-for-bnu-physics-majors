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007578559" r:id="rId2"/>
    <p:sldId id="2007578560" r:id="rId3"/>
    <p:sldId id="2007578561" r:id="rId4"/>
    <p:sldId id="2007578562" r:id="rId5"/>
    <p:sldId id="2007578563" r:id="rId6"/>
    <p:sldId id="2007578564" r:id="rId7"/>
    <p:sldId id="2007578886" r:id="rId8"/>
    <p:sldId id="2007578565" r:id="rId9"/>
    <p:sldId id="2007578566" r:id="rId10"/>
    <p:sldId id="2007578567" r:id="rId11"/>
    <p:sldId id="2007578568" r:id="rId12"/>
    <p:sldId id="2007578569" r:id="rId13"/>
    <p:sldId id="2007578570" r:id="rId14"/>
    <p:sldId id="2007578896" r:id="rId15"/>
    <p:sldId id="2007578900" r:id="rId16"/>
    <p:sldId id="2007578948" r:id="rId17"/>
    <p:sldId id="2007578903" r:id="rId18"/>
    <p:sldId id="2007578904" r:id="rId19"/>
    <p:sldId id="2007578908" r:id="rId20"/>
    <p:sldId id="2007578909" r:id="rId21"/>
    <p:sldId id="2007578910" r:id="rId22"/>
    <p:sldId id="2007578949" r:id="rId23"/>
    <p:sldId id="2007578950" r:id="rId24"/>
    <p:sldId id="2007578951" r:id="rId25"/>
    <p:sldId id="2007578952" r:id="rId26"/>
    <p:sldId id="2007578954" r:id="rId27"/>
    <p:sldId id="2007578953" r:id="rId28"/>
    <p:sldId id="2007578914" r:id="rId29"/>
    <p:sldId id="2007578915" r:id="rId30"/>
    <p:sldId id="2007578916" r:id="rId31"/>
    <p:sldId id="2007578957" r:id="rId32"/>
    <p:sldId id="2007578955" r:id="rId33"/>
    <p:sldId id="2007578956" r:id="rId34"/>
    <p:sldId id="2007578935" r:id="rId35"/>
    <p:sldId id="2007578937" r:id="rId36"/>
    <p:sldId id="2007578939" r:id="rId37"/>
    <p:sldId id="200757872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0" d="100"/>
          <a:sy n="50" d="100"/>
        </p:scale>
        <p:origin x="751"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3FEA42-4056-4F43-80C6-0990EE4FC8F3}" type="datetimeFigureOut">
              <a:rPr lang="zh-CN" altLang="en-US" smtClean="0"/>
              <a:t>2023/10/26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EC7EC-2F2B-4CBA-B671-C711E82D466E}" type="slidenum">
              <a:rPr lang="zh-CN" altLang="en-US" smtClean="0"/>
              <a:t>‹#›</a:t>
            </a:fld>
            <a:endParaRPr lang="zh-CN" altLang="en-US"/>
          </a:p>
        </p:txBody>
      </p:sp>
    </p:spTree>
    <p:extLst>
      <p:ext uri="{BB962C8B-B14F-4D97-AF65-F5344CB8AC3E}">
        <p14:creationId xmlns:p14="http://schemas.microsoft.com/office/powerpoint/2010/main" val="189945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生成斐波那契数列的函数定义和调用</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99669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在函数内部或者外部，会经常用到变量。函数内部定义的变量一般为局部变量，函数外部定义的变量为全局变量。</a:t>
            </a:r>
            <a:endParaRPr lang="en-US" altLang="zh-CN" dirty="0"/>
          </a:p>
          <a:p>
            <a:r>
              <a:rPr lang="zh-CN" altLang="en-US" dirty="0"/>
              <a:t>变量起作用的代码范围称为“变量的作用域”</a:t>
            </a:r>
            <a:endParaRPr lang="en-US" altLang="zh-CN" dirty="0"/>
          </a:p>
          <a:p>
            <a:r>
              <a:rPr lang="en-US" altLang="zh-CN" dirty="0"/>
              <a:t>·</a:t>
            </a:r>
            <a:r>
              <a:rPr lang="zh-CN" altLang="en-US" dirty="0"/>
              <a:t>变量 </a:t>
            </a:r>
            <a:r>
              <a:rPr lang="en-US" altLang="zh-CN" dirty="0"/>
              <a:t>(</a:t>
            </a:r>
            <a:r>
              <a:rPr lang="zh-CN" altLang="en-US" dirty="0"/>
              <a:t>包括局部变量和全局变量</a:t>
            </a:r>
            <a:r>
              <a:rPr lang="en-US" altLang="zh-CN" dirty="0"/>
              <a:t>) </a:t>
            </a:r>
            <a:r>
              <a:rPr lang="zh-CN" altLang="en-US" dirty="0"/>
              <a:t>的作用域都是从定义的位置开始，在定义之前访问则会报错。</a:t>
            </a:r>
            <a:endParaRPr lang="en-US" altLang="zh-CN" dirty="0"/>
          </a:p>
          <a:p>
            <a:r>
              <a:rPr lang="en-US" altLang="zh-CN" dirty="0"/>
              <a:t>·</a:t>
            </a:r>
            <a:r>
              <a:rPr lang="zh-CN" altLang="en-US" dirty="0"/>
              <a:t>比如，在解释器环境中，直接使用没有定义的变量，就会报错</a:t>
            </a:r>
            <a:r>
              <a:rPr lang="en-US" altLang="zh-CN" dirty="0"/>
              <a:t>:</a:t>
            </a:r>
          </a:p>
          <a:p>
            <a:endParaRPr lang="en-US" altLang="zh-CN" dirty="0"/>
          </a:p>
          <a:p>
            <a:endParaRPr lang="en-US" altLang="zh-CN" dirty="0"/>
          </a:p>
          <a:p>
            <a:r>
              <a:rPr lang="en-US" altLang="zh-CN" dirty="0"/>
              <a:t>·</a:t>
            </a:r>
            <a:r>
              <a:rPr lang="zh-CN" altLang="en-US" dirty="0"/>
              <a:t>从本例可以看出，虽然全局变量与局部变量名称相同，但由于作用域不同其所包含的值也不相同。</a:t>
            </a:r>
            <a:r>
              <a:rPr lang="en-US" altLang="zh-CN" dirty="0"/>
              <a:t>·</a:t>
            </a:r>
            <a:r>
              <a:rPr lang="zh-CN" altLang="en-US" dirty="0"/>
              <a:t>在函数内部可以通过</a:t>
            </a:r>
            <a:r>
              <a:rPr lang="en-US" altLang="zh-CN" dirty="0"/>
              <a:t>global</a:t>
            </a:r>
            <a:r>
              <a:rPr lang="zh-CN" altLang="en-US" dirty="0"/>
              <a:t>定义的方式来定义全局变量，该全局变量在函数运行结束后依然存在并可访问。。下面对上例做简单的修改，在函数内部使用</a:t>
            </a:r>
            <a:r>
              <a:rPr lang="en-US" altLang="zh-CN" dirty="0"/>
              <a:t>global</a:t>
            </a:r>
            <a:r>
              <a:rPr lang="zh-CN" altLang="en-US" dirty="0"/>
              <a:t>定义全局变量</a:t>
            </a:r>
            <a:r>
              <a:rPr lang="en-US" altLang="zh-CN" dirty="0"/>
              <a:t>X</a:t>
            </a:r>
            <a:r>
              <a:rPr lang="zh-CN" altLang="en-US" dirty="0"/>
              <a:t>，其同名全局变量在函数外已经定义，该变量在函数内外是同一个变量，所以在函数内部该变量所有的运算结果也反映到函数外，如果在函数内部用</a:t>
            </a:r>
            <a:r>
              <a:rPr lang="en-US" altLang="zh-CN" dirty="0"/>
              <a:t>global</a:t>
            </a:r>
            <a:r>
              <a:rPr lang="zh-CN" altLang="en-US" dirty="0"/>
              <a:t>定义的全局变量，在函数外部没有同名的，则调用该函数后，创建新的全局变量。</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14652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3833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从本例可以看出，虽然全局变量与局部变量名称相同，但由于作用域不同其所包含的值也不相同。</a:t>
            </a:r>
            <a:endParaRPr lang="en-US" altLang="zh-CN" dirty="0"/>
          </a:p>
          <a:p>
            <a:r>
              <a:rPr lang="en-US" altLang="zh-CN" dirty="0"/>
              <a:t>·</a:t>
            </a:r>
            <a:r>
              <a:rPr lang="zh-CN" altLang="en-US" dirty="0"/>
              <a:t>在函数内部可以通过</a:t>
            </a:r>
            <a:r>
              <a:rPr lang="en-US" altLang="zh-CN" dirty="0"/>
              <a:t>global</a:t>
            </a:r>
            <a:r>
              <a:rPr lang="zh-CN" altLang="en-US" dirty="0"/>
              <a:t>定义的方式来定义全局变量，该全局变量在函数运行结束后依然存在并可访问。</a:t>
            </a:r>
            <a:endParaRPr lang="en-US" altLang="zh-CN" dirty="0"/>
          </a:p>
          <a:p>
            <a:r>
              <a:rPr lang="zh-CN" altLang="en-US" dirty="0"/>
              <a:t>下面对上例做简单的修改，在函数内部使用</a:t>
            </a:r>
            <a:r>
              <a:rPr lang="en-US" altLang="zh-CN" dirty="0"/>
              <a:t>global</a:t>
            </a:r>
            <a:r>
              <a:rPr lang="zh-CN" altLang="en-US" dirty="0"/>
              <a:t>定义全局变量</a:t>
            </a:r>
            <a:r>
              <a:rPr lang="en-US" altLang="zh-CN" dirty="0"/>
              <a:t>X</a:t>
            </a:r>
            <a:r>
              <a:rPr lang="zh-CN" altLang="en-US" dirty="0"/>
              <a:t>，其同名全局变量在函数外已经定义，该变量在函数内外是同一个变量，所以在函数内部该变量所有的运算结果也反映到函数外，如果在函数内部用</a:t>
            </a:r>
            <a:r>
              <a:rPr lang="en-US" altLang="zh-CN" dirty="0"/>
              <a:t>global</a:t>
            </a:r>
            <a:r>
              <a:rPr lang="zh-CN" altLang="en-US" dirty="0"/>
              <a:t>定义的全局变量，在函数外部没有同名的，则调用该函数后，创建新的全局变量。</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17827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73015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flip="none" rotWithShape="1">
          <a:gsLst>
            <a:gs pos="41000">
              <a:schemeClr val="accent1"/>
            </a:gs>
            <a:gs pos="100000">
              <a:schemeClr val="accent1">
                <a:alpha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1990725"/>
            <a:ext cx="7965440" cy="1757362"/>
          </a:xfrm>
        </p:spPr>
        <p:txBody>
          <a:bodyPr vert="horz" lIns="91440" tIns="45720" rIns="91440" bIns="45720" rtlCol="0" anchor="b">
            <a:noAutofit/>
          </a:bodyPr>
          <a:lstStyle>
            <a:lvl1pPr algn="l">
              <a:defRPr lang="zh-CN" altLang="en-US" sz="6000" b="1" dirty="0">
                <a:solidFill>
                  <a:srgbClr val="FFFFFF"/>
                </a:solidFill>
              </a:defRPr>
            </a:lvl1pPr>
          </a:lstStyle>
          <a:p>
            <a:pPr lvl="0" defTabSz="914332"/>
            <a:r>
              <a:rPr lang="zh-CN" altLang="en-US" dirty="0"/>
              <a:t>商务几何扁平</a:t>
            </a:r>
            <a:r>
              <a:rPr lang="en-US" altLang="zh-CN" dirty="0"/>
              <a:t>PPT</a:t>
            </a:r>
            <a:r>
              <a:rPr lang="zh-CN" altLang="en-US" dirty="0"/>
              <a:t>模板</a:t>
            </a:r>
          </a:p>
        </p:txBody>
      </p:sp>
      <p:sp>
        <p:nvSpPr>
          <p:cNvPr id="8" name="Speaker Placeholder 3">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660401" y="3921193"/>
            <a:ext cx="5568951" cy="296271"/>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汇报人：</a:t>
            </a:r>
            <a:r>
              <a:rPr lang="en-US" altLang="zh-CN" dirty="0"/>
              <a:t>XXX</a:t>
            </a:r>
          </a:p>
        </p:txBody>
      </p:sp>
      <p:sp>
        <p:nvSpPr>
          <p:cNvPr id="9" name="Date Placeholder 4">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1" y="4326535"/>
            <a:ext cx="5568951" cy="335488"/>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日期：</a:t>
            </a:r>
            <a:r>
              <a:rPr lang="en-US" altLang="zh-CN" dirty="0"/>
              <a:t>20XX</a:t>
            </a:r>
            <a:r>
              <a:rPr lang="zh-CN" altLang="en-US" dirty="0"/>
              <a:t>年</a:t>
            </a:r>
            <a:r>
              <a:rPr lang="en-US" altLang="zh-CN" dirty="0"/>
              <a:t>XX</a:t>
            </a:r>
            <a:r>
              <a:rPr lang="zh-CN" altLang="en-US" dirty="0"/>
              <a:t>月</a:t>
            </a:r>
            <a:r>
              <a:rPr lang="en-US" altLang="zh-CN" dirty="0"/>
              <a:t>XX</a:t>
            </a:r>
            <a:r>
              <a:rPr lang="zh-CN" altLang="en-US" dirty="0"/>
              <a:t>日</a:t>
            </a:r>
            <a:endParaRPr lang="en-US" altLang="en-US" dirty="0"/>
          </a:p>
        </p:txBody>
      </p:sp>
      <p:grpSp>
        <p:nvGrpSpPr>
          <p:cNvPr id="37" name="组合 36">
            <a:extLst>
              <a:ext uri="{FF2B5EF4-FFF2-40B4-BE49-F238E27FC236}">
                <a16:creationId xmlns:a16="http://schemas.microsoft.com/office/drawing/2014/main" id="{EC150303-72BE-99D1-AED7-E4050488661E}"/>
              </a:ext>
            </a:extLst>
          </p:cNvPr>
          <p:cNvGrpSpPr/>
          <p:nvPr userDrawn="1"/>
        </p:nvGrpSpPr>
        <p:grpSpPr>
          <a:xfrm>
            <a:off x="4643122" y="42334"/>
            <a:ext cx="7182311" cy="6773332"/>
            <a:chOff x="4648426" y="84668"/>
            <a:chExt cx="7182311" cy="6773332"/>
          </a:xfrm>
        </p:grpSpPr>
        <p:sp>
          <p:nvSpPr>
            <p:cNvPr id="34" name="椭圆 33">
              <a:extLst>
                <a:ext uri="{FF2B5EF4-FFF2-40B4-BE49-F238E27FC236}">
                  <a16:creationId xmlns:a16="http://schemas.microsoft.com/office/drawing/2014/main" id="{424C7F08-71A0-00F5-EBBA-322ACAF13151}"/>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5" name="椭圆 34">
              <a:extLst>
                <a:ext uri="{FF2B5EF4-FFF2-40B4-BE49-F238E27FC236}">
                  <a16:creationId xmlns:a16="http://schemas.microsoft.com/office/drawing/2014/main" id="{273E1D4D-50D8-6D9E-A448-01F5EC6C8A48}"/>
                </a:ext>
              </a:extLst>
            </p:cNvPr>
            <p:cNvSpPr/>
            <p:nvPr userDrawn="1"/>
          </p:nvSpPr>
          <p:spPr>
            <a:xfrm>
              <a:off x="7949862" y="3285063"/>
              <a:ext cx="2838859" cy="2950637"/>
            </a:xfrm>
            <a:prstGeom prst="ellipse">
              <a:avLst/>
            </a:prstGeom>
            <a:gradFill flip="none" rotWithShape="1">
              <a:gsLst>
                <a:gs pos="11000">
                  <a:srgbClr val="B1B6D1">
                    <a:alpha val="0"/>
                  </a:srgbClr>
                </a:gs>
                <a:gs pos="44000">
                  <a:srgbClr val="8B93C4">
                    <a:alpha val="42000"/>
                  </a:srgb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6" name="椭圆 35">
              <a:extLst>
                <a:ext uri="{FF2B5EF4-FFF2-40B4-BE49-F238E27FC236}">
                  <a16:creationId xmlns:a16="http://schemas.microsoft.com/office/drawing/2014/main" id="{E5140AED-15FA-1550-1408-ABCC3DA6258A}"/>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42" name="任意多边形: 形状 41">
            <a:extLst>
              <a:ext uri="{FF2B5EF4-FFF2-40B4-BE49-F238E27FC236}">
                <a16:creationId xmlns:a16="http://schemas.microsoft.com/office/drawing/2014/main" id="{3D31BE62-CC50-6DDF-053D-8D4A349275AD}"/>
              </a:ext>
            </a:extLst>
          </p:cNvPr>
          <p:cNvSpPr/>
          <p:nvPr userDrawn="1"/>
        </p:nvSpPr>
        <p:spPr>
          <a:xfrm>
            <a:off x="1" y="2"/>
            <a:ext cx="2712356" cy="2713385"/>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711594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AD982555-EA3F-4B74-7506-7B4EBD37E234}"/>
              </a:ext>
            </a:extLst>
          </p:cNvPr>
          <p:cNvSpPr/>
          <p:nvPr userDrawn="1"/>
        </p:nvSpPr>
        <p:spPr>
          <a:xfrm>
            <a:off x="1" y="0"/>
            <a:ext cx="42509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Title 1">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1" y="1784096"/>
            <a:ext cx="3045372" cy="594626"/>
          </a:xfrm>
        </p:spPr>
        <p:txBody>
          <a:bodyPr anchor="ctr" anchorCtr="0">
            <a:noAutofit/>
          </a:bodyPr>
          <a:lstStyle>
            <a:lvl1pPr marL="0" indent="0" algn="ctr">
              <a:buFont typeface="+mj-lt"/>
              <a:buNone/>
              <a:defRPr sz="4000" b="1">
                <a:solidFill>
                  <a:srgbClr val="FFFFFF"/>
                </a:solidFill>
                <a:latin typeface="+mj-ea"/>
                <a:ea typeface="+mj-ea"/>
              </a:defRPr>
            </a:lvl1pPr>
            <a:lvl2pPr marL="457189" indent="0">
              <a:buFont typeface="+mj-ea"/>
              <a:buNone/>
              <a:defRPr/>
            </a:lvl2pPr>
            <a:lvl3pPr marL="1257269" indent="-342891">
              <a:buFont typeface="+mj-lt"/>
              <a:buAutoNum type="alphaLcParenR"/>
              <a:defRPr/>
            </a:lvl3pPr>
          </a:lstStyle>
          <a:p>
            <a:pPr lvl="0"/>
            <a:r>
              <a:rPr lang="en-US" altLang="zh-CN" dirty="0"/>
              <a:t>Contents</a:t>
            </a:r>
            <a:endParaRPr lang="zh-CN" altLang="en-US" dirty="0"/>
          </a:p>
        </p:txBody>
      </p:sp>
      <p:grpSp>
        <p:nvGrpSpPr>
          <p:cNvPr id="34" name="组合 33">
            <a:extLst>
              <a:ext uri="{FF2B5EF4-FFF2-40B4-BE49-F238E27FC236}">
                <a16:creationId xmlns:a16="http://schemas.microsoft.com/office/drawing/2014/main" id="{EFDB9EF8-9BCC-B7E0-416E-F38D808442D6}"/>
              </a:ext>
            </a:extLst>
          </p:cNvPr>
          <p:cNvGrpSpPr/>
          <p:nvPr userDrawn="1"/>
        </p:nvGrpSpPr>
        <p:grpSpPr>
          <a:xfrm>
            <a:off x="409577" y="2622550"/>
            <a:ext cx="3762375" cy="3436252"/>
            <a:chOff x="4648426" y="84668"/>
            <a:chExt cx="7182311" cy="6773332"/>
          </a:xfrm>
        </p:grpSpPr>
        <p:sp>
          <p:nvSpPr>
            <p:cNvPr id="35" name="椭圆 34">
              <a:extLst>
                <a:ext uri="{FF2B5EF4-FFF2-40B4-BE49-F238E27FC236}">
                  <a16:creationId xmlns:a16="http://schemas.microsoft.com/office/drawing/2014/main" id="{4FC22150-351F-1D32-05AB-F7EA0286743B}"/>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6" name="椭圆 35">
              <a:extLst>
                <a:ext uri="{FF2B5EF4-FFF2-40B4-BE49-F238E27FC236}">
                  <a16:creationId xmlns:a16="http://schemas.microsoft.com/office/drawing/2014/main" id="{E1618A74-B359-D3CA-7690-4D04767D5E33}"/>
                </a:ext>
              </a:extLst>
            </p:cNvPr>
            <p:cNvSpPr/>
            <p:nvPr userDrawn="1"/>
          </p:nvSpPr>
          <p:spPr>
            <a:xfrm>
              <a:off x="7949862" y="3285063"/>
              <a:ext cx="2838859" cy="2950637"/>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7" name="椭圆 36">
              <a:extLst>
                <a:ext uri="{FF2B5EF4-FFF2-40B4-BE49-F238E27FC236}">
                  <a16:creationId xmlns:a16="http://schemas.microsoft.com/office/drawing/2014/main" id="{0CD826CB-6E0B-1B05-4FDD-2984599D3762}"/>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8" name="任意多边形: 形状 7">
            <a:extLst>
              <a:ext uri="{FF2B5EF4-FFF2-40B4-BE49-F238E27FC236}">
                <a16:creationId xmlns:a16="http://schemas.microsoft.com/office/drawing/2014/main" id="{9E5BD2CD-BEC8-A5D8-00BD-2A3A6C32C4A9}"/>
              </a:ext>
            </a:extLst>
          </p:cNvPr>
          <p:cNvSpPr/>
          <p:nvPr userDrawn="1"/>
        </p:nvSpPr>
        <p:spPr>
          <a:xfrm>
            <a:off x="2" y="3"/>
            <a:ext cx="1543049" cy="1580547"/>
          </a:xfrm>
          <a:custGeom>
            <a:avLst/>
            <a:gdLst>
              <a:gd name="connsiteX0" fmla="*/ 0 w 1543049"/>
              <a:gd name="connsiteY0" fmla="*/ 0 h 1580547"/>
              <a:gd name="connsiteX1" fmla="*/ 1389702 w 1543049"/>
              <a:gd name="connsiteY1" fmla="*/ 0 h 1580547"/>
              <a:gd name="connsiteX2" fmla="*/ 1464863 w 1543049"/>
              <a:gd name="connsiteY2" fmla="*/ 143926 h 1580547"/>
              <a:gd name="connsiteX3" fmla="*/ 1543049 w 1543049"/>
              <a:gd name="connsiteY3" fmla="*/ 546445 h 1580547"/>
              <a:gd name="connsiteX4" fmla="*/ 548121 w 1543049"/>
              <a:gd name="connsiteY4" fmla="*/ 1580547 h 1580547"/>
              <a:gd name="connsiteX5" fmla="*/ 73879 w 1543049"/>
              <a:gd name="connsiteY5" fmla="*/ 1455737 h 1580547"/>
              <a:gd name="connsiteX6" fmla="*/ 0 w 1543049"/>
              <a:gd name="connsiteY6" fmla="*/ 1409087 h 1580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49" h="1580547">
                <a:moveTo>
                  <a:pt x="0" y="0"/>
                </a:moveTo>
                <a:lnTo>
                  <a:pt x="1389702" y="0"/>
                </a:lnTo>
                <a:lnTo>
                  <a:pt x="1464863" y="143926"/>
                </a:lnTo>
                <a:cubicBezTo>
                  <a:pt x="1515209" y="267644"/>
                  <a:pt x="1543049" y="403665"/>
                  <a:pt x="1543049" y="546445"/>
                </a:cubicBezTo>
                <a:cubicBezTo>
                  <a:pt x="1543049" y="1117564"/>
                  <a:pt x="1097605" y="1580547"/>
                  <a:pt x="548121" y="1580547"/>
                </a:cubicBezTo>
                <a:cubicBezTo>
                  <a:pt x="376407" y="1580547"/>
                  <a:pt x="214854" y="1535334"/>
                  <a:pt x="73879" y="1455737"/>
                </a:cubicBezTo>
                <a:lnTo>
                  <a:pt x="0" y="1409087"/>
                </a:lnTo>
                <a:close/>
              </a:path>
            </a:pathLst>
          </a:cu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39" name="矩形: 圆角 38">
            <a:extLst>
              <a:ext uri="{FF2B5EF4-FFF2-40B4-BE49-F238E27FC236}">
                <a16:creationId xmlns:a16="http://schemas.microsoft.com/office/drawing/2014/main" id="{FDFBE58A-F4DC-EF1E-5D13-F8DFE171653F}"/>
              </a:ext>
            </a:extLst>
          </p:cNvPr>
          <p:cNvSpPr/>
          <p:nvPr userDrawn="1"/>
        </p:nvSpPr>
        <p:spPr>
          <a:xfrm>
            <a:off x="869210" y="2394698"/>
            <a:ext cx="2836561" cy="859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Tree>
    <p:extLst>
      <p:ext uri="{BB962C8B-B14F-4D97-AF65-F5344CB8AC3E}">
        <p14:creationId xmlns:p14="http://schemas.microsoft.com/office/powerpoint/2010/main" val="3276789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7662-4F6D-4B06-BB36-235FC06BF816}"/>
              </a:ext>
            </a:extLst>
          </p:cNvPr>
          <p:cNvSpPr>
            <a:spLocks noGrp="1"/>
          </p:cNvSpPr>
          <p:nvPr>
            <p:ph type="title" hasCustomPrompt="1"/>
          </p:nvPr>
        </p:nvSpPr>
        <p:spPr>
          <a:xfrm>
            <a:off x="660400" y="3112284"/>
            <a:ext cx="7401560" cy="951057"/>
          </a:xfrm>
        </p:spPr>
        <p:txBody>
          <a:bodyPr vert="horz" lIns="91440" tIns="45720" rIns="91440" bIns="45720" rtlCol="0" anchor="b">
            <a:normAutofit/>
          </a:bodyPr>
          <a:lstStyle>
            <a:lvl1pPr>
              <a:defRPr lang="zh-CN" altLang="en-US" sz="4800">
                <a:solidFill>
                  <a:schemeClr val="tx1"/>
                </a:solidFill>
              </a:defRPr>
            </a:lvl1pPr>
          </a:lstStyle>
          <a:p>
            <a:pPr lvl="0" defTabSz="914332"/>
            <a:r>
              <a:rPr lang="zh-CN" altLang="en-US" dirty="0"/>
              <a:t>单击此处添加主标题</a:t>
            </a:r>
          </a:p>
        </p:txBody>
      </p:sp>
      <p:sp>
        <p:nvSpPr>
          <p:cNvPr id="3" name="Text Placeholder 2">
            <a:extLst>
              <a:ext uri="{FF2B5EF4-FFF2-40B4-BE49-F238E27FC236}">
                <a16:creationId xmlns:a16="http://schemas.microsoft.com/office/drawing/2014/main" id="{9FF9930E-40DF-417D-8161-BD38EB172DC1}"/>
              </a:ext>
            </a:extLst>
          </p:cNvPr>
          <p:cNvSpPr>
            <a:spLocks noGrp="1"/>
          </p:cNvSpPr>
          <p:nvPr>
            <p:ph type="body" idx="1" hasCustomPrompt="1"/>
          </p:nvPr>
        </p:nvSpPr>
        <p:spPr>
          <a:xfrm>
            <a:off x="660400" y="4111117"/>
            <a:ext cx="7401560" cy="440729"/>
          </a:xfrm>
        </p:spPr>
        <p:txBody>
          <a:bodyPr>
            <a:normAutofit/>
          </a:bodyPr>
          <a:lstStyle>
            <a:lvl1pPr marL="0" indent="0">
              <a:buNone/>
              <a:defRPr lang="en-US" altLang="zh-CN" sz="2400" kern="1200">
                <a:solidFill>
                  <a:schemeClr val="tx1"/>
                </a:solidFill>
                <a:latin typeface="+mn-lt"/>
                <a:ea typeface="+mn-ea"/>
                <a:cs typeface="+mn-cs"/>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dirty="0"/>
              <a:t>点击简单描述该章节的大概内容，阐述核心思想</a:t>
            </a:r>
          </a:p>
        </p:txBody>
      </p:sp>
      <p:sp>
        <p:nvSpPr>
          <p:cNvPr id="8" name="文本占位符 7">
            <a:extLst>
              <a:ext uri="{FF2B5EF4-FFF2-40B4-BE49-F238E27FC236}">
                <a16:creationId xmlns:a16="http://schemas.microsoft.com/office/drawing/2014/main" id="{49A950A1-B947-717D-E187-AD0063089D78}"/>
              </a:ext>
            </a:extLst>
          </p:cNvPr>
          <p:cNvSpPr>
            <a:spLocks noGrp="1"/>
          </p:cNvSpPr>
          <p:nvPr>
            <p:ph type="body" sz="quarter" idx="13" hasCustomPrompt="1"/>
          </p:nvPr>
        </p:nvSpPr>
        <p:spPr>
          <a:xfrm>
            <a:off x="660400" y="2113598"/>
            <a:ext cx="7401187" cy="950912"/>
          </a:xfrm>
        </p:spPr>
        <p:txBody>
          <a:bodyPr anchor="b">
            <a:noAutofit/>
          </a:bodyPr>
          <a:lstStyle>
            <a:lvl1pPr marL="0" indent="0">
              <a:buNone/>
              <a:defRPr sz="6600" b="1">
                <a:solidFill>
                  <a:schemeClr val="tx1"/>
                </a:solidFill>
              </a:defRPr>
            </a:lvl1pPr>
          </a:lstStyle>
          <a:p>
            <a:pPr lvl="0"/>
            <a:r>
              <a:rPr lang="en-US" altLang="zh-CN" dirty="0"/>
              <a:t>01</a:t>
            </a:r>
            <a:endParaRPr lang="zh-CN" altLang="en-US" dirty="0"/>
          </a:p>
        </p:txBody>
      </p:sp>
      <p:sp>
        <p:nvSpPr>
          <p:cNvPr id="43" name="任意多边形: 形状 42">
            <a:extLst>
              <a:ext uri="{FF2B5EF4-FFF2-40B4-BE49-F238E27FC236}">
                <a16:creationId xmlns:a16="http://schemas.microsoft.com/office/drawing/2014/main" id="{5D2D51EC-47FD-72C3-B4F8-45F79C45684E}"/>
              </a:ext>
            </a:extLst>
          </p:cNvPr>
          <p:cNvSpPr/>
          <p:nvPr userDrawn="1"/>
        </p:nvSpPr>
        <p:spPr>
          <a:xfrm>
            <a:off x="4907279" y="3"/>
            <a:ext cx="7284723" cy="6857999"/>
          </a:xfrm>
          <a:custGeom>
            <a:avLst/>
            <a:gdLst>
              <a:gd name="connsiteX0" fmla="*/ 1966125 w 7284723"/>
              <a:gd name="connsiteY0" fmla="*/ 0 h 6857999"/>
              <a:gd name="connsiteX1" fmla="*/ 7284723 w 7284723"/>
              <a:gd name="connsiteY1" fmla="*/ 0 h 6857999"/>
              <a:gd name="connsiteX2" fmla="*/ 7284723 w 7284723"/>
              <a:gd name="connsiteY2" fmla="*/ 6857999 h 6857999"/>
              <a:gd name="connsiteX3" fmla="*/ 1340755 w 7284723"/>
              <a:gd name="connsiteY3" fmla="*/ 6857999 h 6857999"/>
              <a:gd name="connsiteX4" fmla="*/ 1292639 w 7284723"/>
              <a:gd name="connsiteY4" fmla="*/ 6810960 h 6857999"/>
              <a:gd name="connsiteX5" fmla="*/ 0 w 7284723"/>
              <a:gd name="connsiteY5" fmla="*/ 3692584 h 6857999"/>
              <a:gd name="connsiteX6" fmla="*/ 1810751 w 7284723"/>
              <a:gd name="connsiteY6" fmla="*/ 11380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84723" h="6857999">
                <a:moveTo>
                  <a:pt x="1966125" y="0"/>
                </a:moveTo>
                <a:lnTo>
                  <a:pt x="7284723" y="0"/>
                </a:lnTo>
                <a:lnTo>
                  <a:pt x="7284723" y="6857999"/>
                </a:lnTo>
                <a:lnTo>
                  <a:pt x="1340755" y="6857999"/>
                </a:lnTo>
                <a:lnTo>
                  <a:pt x="1292639" y="6810960"/>
                </a:lnTo>
                <a:cubicBezTo>
                  <a:pt x="489500" y="5987340"/>
                  <a:pt x="0" y="4893243"/>
                  <a:pt x="0" y="3692584"/>
                </a:cubicBezTo>
                <a:cubicBezTo>
                  <a:pt x="0" y="2251793"/>
                  <a:pt x="704880" y="964452"/>
                  <a:pt x="1810751" y="113805"/>
                </a:cubicBezTo>
                <a:close/>
              </a:path>
            </a:pathLst>
          </a:custGeom>
          <a:gradFill flip="none" rotWithShape="1">
            <a:gsLst>
              <a:gs pos="0">
                <a:srgbClr val="6B78C4"/>
              </a:gs>
              <a:gs pos="32000">
                <a:schemeClr val="accent1">
                  <a:lumMod val="45000"/>
                  <a:lumOff val="55000"/>
                  <a:alpha val="46000"/>
                </a:schemeClr>
              </a:gs>
              <a:gs pos="84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28" name="任意多边形: 形状 27">
            <a:extLst>
              <a:ext uri="{FF2B5EF4-FFF2-40B4-BE49-F238E27FC236}">
                <a16:creationId xmlns:a16="http://schemas.microsoft.com/office/drawing/2014/main" id="{C8B77142-FA8F-519E-7BBD-ABAE915BDE36}"/>
              </a:ext>
            </a:extLst>
          </p:cNvPr>
          <p:cNvSpPr/>
          <p:nvPr userDrawn="1"/>
        </p:nvSpPr>
        <p:spPr>
          <a:xfrm>
            <a:off x="7528557" y="1698"/>
            <a:ext cx="6891224" cy="9100292"/>
          </a:xfrm>
          <a:custGeom>
            <a:avLst/>
            <a:gdLst>
              <a:gd name="connsiteX0" fmla="*/ 3621363 w 6891224"/>
              <a:gd name="connsiteY0" fmla="*/ 0 h 9100292"/>
              <a:gd name="connsiteX1" fmla="*/ 4663443 w 6891224"/>
              <a:gd name="connsiteY1" fmla="*/ 0 h 9100292"/>
              <a:gd name="connsiteX2" fmla="*/ 4663443 w 6891224"/>
              <a:gd name="connsiteY2" fmla="*/ 8743717 h 9100292"/>
              <a:gd name="connsiteX3" fmla="*/ 6891224 w 6891224"/>
              <a:gd name="connsiteY3" fmla="*/ 8743717 h 9100292"/>
              <a:gd name="connsiteX4" fmla="*/ 6686729 w 6891224"/>
              <a:gd name="connsiteY4" fmla="*/ 8818869 h 9100292"/>
              <a:gd name="connsiteX5" fmla="*/ 4975861 w 6891224"/>
              <a:gd name="connsiteY5" fmla="*/ 9100292 h 9100292"/>
              <a:gd name="connsiteX6" fmla="*/ 0 w 6891224"/>
              <a:gd name="connsiteY6" fmla="*/ 4462457 h 9100292"/>
              <a:gd name="connsiteX7" fmla="*/ 3496192 w 6891224"/>
              <a:gd name="connsiteY7" fmla="*/ 33130 h 9100292"/>
              <a:gd name="connsiteX8" fmla="*/ 3621363 w 6891224"/>
              <a:gd name="connsiteY8" fmla="*/ 0 h 910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224" h="9100292">
                <a:moveTo>
                  <a:pt x="3621363" y="0"/>
                </a:moveTo>
                <a:lnTo>
                  <a:pt x="4663443" y="0"/>
                </a:lnTo>
                <a:lnTo>
                  <a:pt x="4663443" y="8743717"/>
                </a:lnTo>
                <a:lnTo>
                  <a:pt x="6891224" y="8743717"/>
                </a:lnTo>
                <a:lnTo>
                  <a:pt x="6686729" y="8818869"/>
                </a:lnTo>
                <a:cubicBezTo>
                  <a:pt x="6153253" y="9000932"/>
                  <a:pt x="5577006" y="9100292"/>
                  <a:pt x="4975861" y="9100292"/>
                </a:cubicBezTo>
                <a:cubicBezTo>
                  <a:pt x="2227769" y="9100292"/>
                  <a:pt x="0" y="7023863"/>
                  <a:pt x="0" y="4462457"/>
                </a:cubicBezTo>
                <a:cubicBezTo>
                  <a:pt x="0" y="2381315"/>
                  <a:pt x="1470676" y="620333"/>
                  <a:pt x="3496192" y="33130"/>
                </a:cubicBezTo>
                <a:lnTo>
                  <a:pt x="3621363" y="0"/>
                </a:lnTo>
                <a:close/>
              </a:path>
            </a:pathLst>
          </a:custGeom>
          <a:gradFill flip="none" rotWithShape="1">
            <a:gsLst>
              <a:gs pos="100000">
                <a:schemeClr val="accent1">
                  <a:lumMod val="45000"/>
                  <a:lumOff val="55000"/>
                  <a:alpha val="45000"/>
                </a:schemeClr>
              </a:gs>
              <a:gs pos="50000">
                <a:schemeClr val="accent1">
                  <a:alpha val="0"/>
                </a:schemeClr>
              </a:gs>
              <a:gs pos="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40" name="任意多边形: 形状 39">
            <a:extLst>
              <a:ext uri="{FF2B5EF4-FFF2-40B4-BE49-F238E27FC236}">
                <a16:creationId xmlns:a16="http://schemas.microsoft.com/office/drawing/2014/main" id="{49B6B922-9FE0-ACC0-2856-83979932223A}"/>
              </a:ext>
            </a:extLst>
          </p:cNvPr>
          <p:cNvSpPr/>
          <p:nvPr userDrawn="1"/>
        </p:nvSpPr>
        <p:spPr>
          <a:xfrm>
            <a:off x="6242193" y="3655434"/>
            <a:ext cx="5949809" cy="3202566"/>
          </a:xfrm>
          <a:custGeom>
            <a:avLst/>
            <a:gdLst>
              <a:gd name="connsiteX0" fmla="*/ 4151489 w 5949809"/>
              <a:gd name="connsiteY0" fmla="*/ 0 h 3202566"/>
              <a:gd name="connsiteX1" fmla="*/ 5824340 w 5949809"/>
              <a:gd name="connsiteY1" fmla="*/ 337733 h 3202566"/>
              <a:gd name="connsiteX2" fmla="*/ 5949809 w 5949809"/>
              <a:gd name="connsiteY2" fmla="*/ 394457 h 3202566"/>
              <a:gd name="connsiteX3" fmla="*/ 5949809 w 5949809"/>
              <a:gd name="connsiteY3" fmla="*/ 3202566 h 3202566"/>
              <a:gd name="connsiteX4" fmla="*/ 0 w 5949809"/>
              <a:gd name="connsiteY4" fmla="*/ 3202566 h 3202566"/>
              <a:gd name="connsiteX5" fmla="*/ 47025 w 5949809"/>
              <a:gd name="connsiteY5" fmla="*/ 3019682 h 3202566"/>
              <a:gd name="connsiteX6" fmla="*/ 4151489 w 5949809"/>
              <a:gd name="connsiteY6" fmla="*/ 0 h 3202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9809" h="3202566">
                <a:moveTo>
                  <a:pt x="4151489" y="0"/>
                </a:moveTo>
                <a:cubicBezTo>
                  <a:pt x="4744875" y="0"/>
                  <a:pt x="5310173" y="120259"/>
                  <a:pt x="5824340" y="337733"/>
                </a:cubicBezTo>
                <a:lnTo>
                  <a:pt x="5949809" y="394457"/>
                </a:lnTo>
                <a:lnTo>
                  <a:pt x="5949809" y="3202566"/>
                </a:lnTo>
                <a:lnTo>
                  <a:pt x="0" y="3202566"/>
                </a:lnTo>
                <a:lnTo>
                  <a:pt x="47025" y="3019682"/>
                </a:lnTo>
                <a:cubicBezTo>
                  <a:pt x="591160" y="1270231"/>
                  <a:pt x="2222986" y="0"/>
                  <a:pt x="4151489" y="0"/>
                </a:cubicBezTo>
                <a:close/>
              </a:path>
            </a:pathLst>
          </a:custGeom>
          <a:gradFill>
            <a:gsLst>
              <a:gs pos="0">
                <a:schemeClr val="accent1"/>
              </a:gs>
              <a:gs pos="100000">
                <a:schemeClr val="accent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Tree>
    <p:extLst>
      <p:ext uri="{BB962C8B-B14F-4D97-AF65-F5344CB8AC3E}">
        <p14:creationId xmlns:p14="http://schemas.microsoft.com/office/powerpoint/2010/main" val="3170733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BD5DC2-93F8-A6A6-D337-0AFDC4E3B7D9}"/>
              </a:ext>
            </a:extLst>
          </p:cNvPr>
          <p:cNvSpPr/>
          <p:nvPr userDrawn="1"/>
        </p:nvSpPr>
        <p:spPr>
          <a:xfrm>
            <a:off x="0" y="2"/>
            <a:ext cx="12192000" cy="88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2" name="Title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1" y="90327"/>
            <a:ext cx="10858500" cy="792781"/>
          </a:xfrm>
        </p:spPr>
        <p:txBody>
          <a:bodyPr anchor="ctr" anchorCtr="0"/>
          <a:lstStyle>
            <a:lvl1pPr>
              <a:defRPr>
                <a:solidFill>
                  <a:srgbClr val="FFFFFF"/>
                </a:solidFill>
              </a:defRPr>
            </a:lvl1pPr>
          </a:lstStyle>
          <a:p>
            <a:r>
              <a:rPr lang="zh-CN" altLang="en-US" dirty="0"/>
              <a:t>单击此处添加主标题</a:t>
            </a:r>
          </a:p>
        </p:txBody>
      </p:sp>
      <p:grpSp>
        <p:nvGrpSpPr>
          <p:cNvPr id="8" name="组合 7">
            <a:extLst>
              <a:ext uri="{FF2B5EF4-FFF2-40B4-BE49-F238E27FC236}">
                <a16:creationId xmlns:a16="http://schemas.microsoft.com/office/drawing/2014/main" id="{330E0B63-DF19-3794-3DF0-9401BE50367F}"/>
              </a:ext>
            </a:extLst>
          </p:cNvPr>
          <p:cNvGrpSpPr/>
          <p:nvPr userDrawn="1"/>
        </p:nvGrpSpPr>
        <p:grpSpPr>
          <a:xfrm>
            <a:off x="11074400" y="-89836"/>
            <a:ext cx="1117600" cy="972451"/>
            <a:chOff x="4792887" y="84668"/>
            <a:chExt cx="7037850" cy="6773332"/>
          </a:xfrm>
        </p:grpSpPr>
        <p:sp>
          <p:nvSpPr>
            <p:cNvPr id="9" name="椭圆 8">
              <a:extLst>
                <a:ext uri="{FF2B5EF4-FFF2-40B4-BE49-F238E27FC236}">
                  <a16:creationId xmlns:a16="http://schemas.microsoft.com/office/drawing/2014/main" id="{3F370A4D-BC39-B3D9-65E0-793CBEA4D82A}"/>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0" name="椭圆 9">
              <a:extLst>
                <a:ext uri="{FF2B5EF4-FFF2-40B4-BE49-F238E27FC236}">
                  <a16:creationId xmlns:a16="http://schemas.microsoft.com/office/drawing/2014/main" id="{6BF1186D-E493-415B-0DB8-79DE79037869}"/>
                </a:ext>
              </a:extLst>
            </p:cNvPr>
            <p:cNvSpPr/>
            <p:nvPr userDrawn="1"/>
          </p:nvSpPr>
          <p:spPr>
            <a:xfrm>
              <a:off x="7949863" y="3285061"/>
              <a:ext cx="2838856" cy="2950641"/>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12" name="任意多边形: 形状 11">
            <a:extLst>
              <a:ext uri="{FF2B5EF4-FFF2-40B4-BE49-F238E27FC236}">
                <a16:creationId xmlns:a16="http://schemas.microsoft.com/office/drawing/2014/main" id="{705CAEB6-4A51-02B2-D69B-9EF3C0945242}"/>
              </a:ext>
            </a:extLst>
          </p:cNvPr>
          <p:cNvSpPr/>
          <p:nvPr userDrawn="1"/>
        </p:nvSpPr>
        <p:spPr>
          <a:xfrm>
            <a:off x="0" y="2"/>
            <a:ext cx="792480" cy="792781"/>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91065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正文">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BD5DC2-93F8-A6A6-D337-0AFDC4E3B7D9}"/>
              </a:ext>
            </a:extLst>
          </p:cNvPr>
          <p:cNvSpPr/>
          <p:nvPr userDrawn="1"/>
        </p:nvSpPr>
        <p:spPr>
          <a:xfrm>
            <a:off x="0" y="2"/>
            <a:ext cx="12192000" cy="88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2" name="Title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1" y="90327"/>
            <a:ext cx="10858500" cy="792781"/>
          </a:xfrm>
        </p:spPr>
        <p:txBody>
          <a:bodyPr anchor="ctr" anchorCtr="0">
            <a:normAutofit/>
          </a:bodyPr>
          <a:lstStyle>
            <a:lvl1pPr>
              <a:defRPr sz="3200">
                <a:solidFill>
                  <a:srgbClr val="FFFFFF"/>
                </a:solidFill>
              </a:defRPr>
            </a:lvl1pPr>
          </a:lstStyle>
          <a:p>
            <a:r>
              <a:rPr lang="zh-CN" altLang="en-US" dirty="0"/>
              <a:t>单击此处添加主标题</a:t>
            </a:r>
          </a:p>
        </p:txBody>
      </p:sp>
      <p:grpSp>
        <p:nvGrpSpPr>
          <p:cNvPr id="8" name="组合 7">
            <a:extLst>
              <a:ext uri="{FF2B5EF4-FFF2-40B4-BE49-F238E27FC236}">
                <a16:creationId xmlns:a16="http://schemas.microsoft.com/office/drawing/2014/main" id="{330E0B63-DF19-3794-3DF0-9401BE50367F}"/>
              </a:ext>
            </a:extLst>
          </p:cNvPr>
          <p:cNvGrpSpPr/>
          <p:nvPr userDrawn="1"/>
        </p:nvGrpSpPr>
        <p:grpSpPr>
          <a:xfrm>
            <a:off x="11074400" y="-89836"/>
            <a:ext cx="1117600" cy="972451"/>
            <a:chOff x="4792887" y="84668"/>
            <a:chExt cx="7037850" cy="6773332"/>
          </a:xfrm>
        </p:grpSpPr>
        <p:sp>
          <p:nvSpPr>
            <p:cNvPr id="9" name="椭圆 8">
              <a:extLst>
                <a:ext uri="{FF2B5EF4-FFF2-40B4-BE49-F238E27FC236}">
                  <a16:creationId xmlns:a16="http://schemas.microsoft.com/office/drawing/2014/main" id="{3F370A4D-BC39-B3D9-65E0-793CBEA4D82A}"/>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0" name="椭圆 9">
              <a:extLst>
                <a:ext uri="{FF2B5EF4-FFF2-40B4-BE49-F238E27FC236}">
                  <a16:creationId xmlns:a16="http://schemas.microsoft.com/office/drawing/2014/main" id="{6BF1186D-E493-415B-0DB8-79DE79037869}"/>
                </a:ext>
              </a:extLst>
            </p:cNvPr>
            <p:cNvSpPr/>
            <p:nvPr userDrawn="1"/>
          </p:nvSpPr>
          <p:spPr>
            <a:xfrm>
              <a:off x="7949863" y="3285061"/>
              <a:ext cx="2838856" cy="2950641"/>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12" name="任意多边形: 形状 11">
            <a:extLst>
              <a:ext uri="{FF2B5EF4-FFF2-40B4-BE49-F238E27FC236}">
                <a16:creationId xmlns:a16="http://schemas.microsoft.com/office/drawing/2014/main" id="{705CAEB6-4A51-02B2-D69B-9EF3C0945242}"/>
              </a:ext>
            </a:extLst>
          </p:cNvPr>
          <p:cNvSpPr/>
          <p:nvPr userDrawn="1"/>
        </p:nvSpPr>
        <p:spPr>
          <a:xfrm>
            <a:off x="0" y="2"/>
            <a:ext cx="792480" cy="792781"/>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3" name="Content Placeholder 2">
            <a:extLst>
              <a:ext uri="{FF2B5EF4-FFF2-40B4-BE49-F238E27FC236}">
                <a16:creationId xmlns:a16="http://schemas.microsoft.com/office/drawing/2014/main" id="{1A2A9F09-7DDC-32D6-81D8-6D33FC4931AE}"/>
              </a:ext>
            </a:extLst>
          </p:cNvPr>
          <p:cNvSpPr>
            <a:spLocks noGrp="1"/>
          </p:cNvSpPr>
          <p:nvPr>
            <p:ph idx="1"/>
          </p:nvPr>
        </p:nvSpPr>
        <p:spPr>
          <a:xfrm>
            <a:off x="660401" y="1130300"/>
            <a:ext cx="10858500" cy="5003800"/>
          </a:xfrm>
        </p:spPr>
        <p:txBody>
          <a:bodyPr>
            <a:normAutofit/>
          </a:bodyPr>
          <a:lstStyle>
            <a:lvl1pPr>
              <a:lnSpc>
                <a:spcPct val="110000"/>
              </a:lnSpc>
              <a:spcBef>
                <a:spcPts val="600"/>
              </a:spcBef>
              <a:defRPr sz="2400" baseline="0">
                <a:latin typeface="Arial" panose="020B0604020202020204" pitchFamily="34" charset="0"/>
                <a:ea typeface="微软雅黑" panose="020B0503020204020204" pitchFamily="34" charset="-122"/>
              </a:defRPr>
            </a:lvl1pPr>
            <a:lvl2pPr>
              <a:lnSpc>
                <a:spcPct val="110000"/>
              </a:lnSpc>
              <a:spcBef>
                <a:spcPts val="600"/>
              </a:spcBef>
              <a:defRPr sz="2000" baseline="0">
                <a:latin typeface="Arial" panose="020B0604020202020204" pitchFamily="34" charset="0"/>
                <a:ea typeface="微软雅黑" panose="020B0503020204020204" pitchFamily="34" charset="-122"/>
              </a:defRPr>
            </a:lvl2pPr>
            <a:lvl3pPr>
              <a:lnSpc>
                <a:spcPct val="110000"/>
              </a:lnSpc>
              <a:spcBef>
                <a:spcPts val="600"/>
              </a:spcBef>
              <a:defRPr sz="1800" baseline="0">
                <a:latin typeface="Arial" panose="020B0604020202020204" pitchFamily="34" charset="0"/>
                <a:ea typeface="微软雅黑" panose="020B0503020204020204" pitchFamily="34" charset="-122"/>
              </a:defRPr>
            </a:lvl3pPr>
            <a:lvl4pPr>
              <a:lnSpc>
                <a:spcPct val="110000"/>
              </a:lnSpc>
              <a:spcBef>
                <a:spcPts val="600"/>
              </a:spcBef>
              <a:defRPr sz="1600" baseline="0">
                <a:latin typeface="Arial" panose="020B0604020202020204" pitchFamily="34" charset="0"/>
                <a:ea typeface="微软雅黑" panose="020B0503020204020204" pitchFamily="34" charset="-122"/>
              </a:defRPr>
            </a:lvl4pPr>
            <a:lvl5pPr>
              <a:lnSpc>
                <a:spcPct val="110000"/>
              </a:lnSpc>
              <a:spcBef>
                <a:spcPts val="600"/>
              </a:spcBef>
              <a:defRPr sz="1600" baseline="0">
                <a:latin typeface="Arial" panose="020B0604020202020204" pitchFamily="34" charset="0"/>
                <a:ea typeface="微软雅黑"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169150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6DA8-D137-41D2-A934-63CB8FFB8B81}"/>
              </a:ext>
            </a:extLst>
          </p:cNvPr>
          <p:cNvSpPr>
            <a:spLocks noGrp="1"/>
          </p:cNvSpPr>
          <p:nvPr>
            <p:ph type="title" hasCustomPrompt="1"/>
          </p:nvPr>
        </p:nvSpPr>
        <p:spPr/>
        <p:txBody>
          <a:bodyPr/>
          <a:lstStyle/>
          <a:p>
            <a:r>
              <a:rPr lang="en-US" altLang="zh-CN" dirty="0"/>
              <a:t>Click to edit title</a:t>
            </a:r>
            <a:endParaRPr lang="zh-CN" altLang="en-US" dirty="0"/>
          </a:p>
        </p:txBody>
      </p:sp>
      <p:sp>
        <p:nvSpPr>
          <p:cNvPr id="3" name="Content Placeholder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7" name="日期占位符 6">
            <a:extLst>
              <a:ext uri="{FF2B5EF4-FFF2-40B4-BE49-F238E27FC236}">
                <a16:creationId xmlns:a16="http://schemas.microsoft.com/office/drawing/2014/main" id="{8AB63B05-F6A0-3D6F-F801-8D11984D089B}"/>
              </a:ext>
            </a:extLst>
          </p:cNvPr>
          <p:cNvSpPr>
            <a:spLocks noGrp="1"/>
          </p:cNvSpPr>
          <p:nvPr>
            <p:ph type="dt" sz="half" idx="10"/>
          </p:nvPr>
        </p:nvSpPr>
        <p:spPr/>
        <p:txBody>
          <a:bodyPr/>
          <a:lstStyle/>
          <a:p>
            <a:fld id="{22581C77-C049-4AAA-A3C8-544909BBB11E}" type="datetime1">
              <a:rPr lang="zh-CN" altLang="en-US" smtClean="0"/>
              <a:t>2023/10/26</a:t>
            </a:fld>
            <a:endParaRPr lang="en-US" altLang="zh-CN" dirty="0"/>
          </a:p>
        </p:txBody>
      </p:sp>
      <p:sp>
        <p:nvSpPr>
          <p:cNvPr id="9" name="灯片编号占位符 8">
            <a:extLst>
              <a:ext uri="{FF2B5EF4-FFF2-40B4-BE49-F238E27FC236}">
                <a16:creationId xmlns:a16="http://schemas.microsoft.com/office/drawing/2014/main" id="{127CA976-277E-412D-DEC7-ABBF4B1C5C65}"/>
              </a:ext>
            </a:extLst>
          </p:cNvPr>
          <p:cNvSpPr>
            <a:spLocks noGrp="1"/>
          </p:cNvSpPr>
          <p:nvPr>
            <p:ph type="sldNum" sz="quarter" idx="12"/>
          </p:nvPr>
        </p:nvSpPr>
        <p:spPr/>
        <p:txBody>
          <a:body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3374053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www.51pptmoban.com">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7F34B5E9-7F1A-757A-6933-C2854022C321}"/>
              </a:ext>
            </a:extLst>
          </p:cNvPr>
          <p:cNvSpPr>
            <a:spLocks noGrp="1"/>
          </p:cNvSpPr>
          <p:nvPr>
            <p:ph type="dt" sz="half" idx="10"/>
          </p:nvPr>
        </p:nvSpPr>
        <p:spPr/>
        <p:txBody>
          <a:bodyPr/>
          <a:lstStyle/>
          <a:p>
            <a:fld id="{22581C77-C049-4AAA-A3C8-544909BBB11E}" type="datetime1">
              <a:rPr lang="zh-CN" altLang="en-US" smtClean="0"/>
              <a:t>2023/10/26</a:t>
            </a:fld>
            <a:endParaRPr lang="en-US" altLang="zh-CN" dirty="0"/>
          </a:p>
        </p:txBody>
      </p:sp>
      <p:sp>
        <p:nvSpPr>
          <p:cNvPr id="6" name="页脚占位符 5">
            <a:extLst>
              <a:ext uri="{FF2B5EF4-FFF2-40B4-BE49-F238E27FC236}">
                <a16:creationId xmlns:a16="http://schemas.microsoft.com/office/drawing/2014/main" id="{DED42E90-FD3D-CF04-A89E-B408C6596245}"/>
              </a:ext>
            </a:extLst>
          </p:cNvPr>
          <p:cNvSpPr>
            <a:spLocks noGrp="1"/>
          </p:cNvSpPr>
          <p:nvPr>
            <p:ph type="ftr" sz="quarter" idx="11"/>
          </p:nvPr>
        </p:nvSpPr>
        <p:spPr/>
        <p:txBody>
          <a:bodyPr/>
          <a:lstStyle/>
          <a:p>
            <a:r>
              <a:rPr lang="zh-CN" altLang="en-US"/>
              <a:t>商务</a:t>
            </a:r>
            <a:r>
              <a:rPr lang="en-US" altLang="zh-CN"/>
              <a:t>PPT</a:t>
            </a:r>
            <a:r>
              <a:rPr lang="zh-CN" altLang="en-US"/>
              <a:t>模板</a:t>
            </a:r>
            <a:endParaRPr lang="zh-CN" altLang="en-US" dirty="0"/>
          </a:p>
        </p:txBody>
      </p:sp>
      <p:sp>
        <p:nvSpPr>
          <p:cNvPr id="7" name="灯片编号占位符 6">
            <a:extLst>
              <a:ext uri="{FF2B5EF4-FFF2-40B4-BE49-F238E27FC236}">
                <a16:creationId xmlns:a16="http://schemas.microsoft.com/office/drawing/2014/main" id="{BC451E9D-D337-3CDB-5813-83070E69D71F}"/>
              </a:ext>
            </a:extLst>
          </p:cNvPr>
          <p:cNvSpPr>
            <a:spLocks noGrp="1"/>
          </p:cNvSpPr>
          <p:nvPr>
            <p:ph type="sldNum" sz="quarter" idx="12"/>
          </p:nvPr>
        </p:nvSpPr>
        <p:spPr/>
        <p:txBody>
          <a:body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357293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bg>
      <p:bgPr>
        <a:gradFill>
          <a:gsLst>
            <a:gs pos="41000">
              <a:schemeClr val="accent1"/>
            </a:gs>
            <a:gs pos="100000">
              <a:schemeClr val="accent1">
                <a:alpha val="90000"/>
              </a:schemeClr>
            </a:gs>
          </a:gsLst>
          <a:path path="circle">
            <a:fillToRect r="100000" b="100000"/>
          </a:path>
        </a:gra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AA98E5A-3A9B-76BC-8AC3-016C59AA4760}"/>
              </a:ext>
            </a:extLst>
          </p:cNvPr>
          <p:cNvGrpSpPr/>
          <p:nvPr userDrawn="1"/>
        </p:nvGrpSpPr>
        <p:grpSpPr>
          <a:xfrm>
            <a:off x="4643122" y="42334"/>
            <a:ext cx="7182311" cy="6773332"/>
            <a:chOff x="4648426" y="84668"/>
            <a:chExt cx="7182311" cy="6773332"/>
          </a:xfrm>
        </p:grpSpPr>
        <p:sp>
          <p:nvSpPr>
            <p:cNvPr id="3" name="椭圆 2">
              <a:extLst>
                <a:ext uri="{FF2B5EF4-FFF2-40B4-BE49-F238E27FC236}">
                  <a16:creationId xmlns:a16="http://schemas.microsoft.com/office/drawing/2014/main" id="{443180D6-55C2-456A-876B-6DFD6FED559E}"/>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4" name="椭圆 3">
              <a:extLst>
                <a:ext uri="{FF2B5EF4-FFF2-40B4-BE49-F238E27FC236}">
                  <a16:creationId xmlns:a16="http://schemas.microsoft.com/office/drawing/2014/main" id="{CCE37F71-F955-2E51-24EA-BAE38D51B2AA}"/>
                </a:ext>
              </a:extLst>
            </p:cNvPr>
            <p:cNvSpPr/>
            <p:nvPr userDrawn="1"/>
          </p:nvSpPr>
          <p:spPr>
            <a:xfrm>
              <a:off x="7949862" y="3285063"/>
              <a:ext cx="2838859" cy="2950637"/>
            </a:xfrm>
            <a:prstGeom prst="ellipse">
              <a:avLst/>
            </a:prstGeom>
            <a:gradFill flip="none" rotWithShape="1">
              <a:gsLst>
                <a:gs pos="11000">
                  <a:srgbClr val="B1B6D1">
                    <a:alpha val="0"/>
                  </a:srgbClr>
                </a:gs>
                <a:gs pos="44000">
                  <a:srgbClr val="8B93C4">
                    <a:alpha val="42000"/>
                  </a:srgb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5" name="椭圆 4">
              <a:extLst>
                <a:ext uri="{FF2B5EF4-FFF2-40B4-BE49-F238E27FC236}">
                  <a16:creationId xmlns:a16="http://schemas.microsoft.com/office/drawing/2014/main" id="{2863C955-22E4-E129-BD9B-0A61289448AA}"/>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6" name="任意多边形: 形状 5">
            <a:extLst>
              <a:ext uri="{FF2B5EF4-FFF2-40B4-BE49-F238E27FC236}">
                <a16:creationId xmlns:a16="http://schemas.microsoft.com/office/drawing/2014/main" id="{9BF1409B-5AAA-AD35-F9DB-81783BA40697}"/>
              </a:ext>
            </a:extLst>
          </p:cNvPr>
          <p:cNvSpPr/>
          <p:nvPr userDrawn="1"/>
        </p:nvSpPr>
        <p:spPr>
          <a:xfrm>
            <a:off x="1" y="2"/>
            <a:ext cx="2712356" cy="2713385"/>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10" name="Speaker Placeholder 3">
            <a:extLst>
              <a:ext uri="{FF2B5EF4-FFF2-40B4-BE49-F238E27FC236}">
                <a16:creationId xmlns:a16="http://schemas.microsoft.com/office/drawing/2014/main" id="{393CF57B-4E6D-EC77-AFD7-10BC4CE1EEAF}"/>
              </a:ext>
            </a:extLst>
          </p:cNvPr>
          <p:cNvSpPr>
            <a:spLocks noGrp="1"/>
          </p:cNvSpPr>
          <p:nvPr>
            <p:ph type="body" sz="quarter" idx="14" hasCustomPrompt="1"/>
          </p:nvPr>
        </p:nvSpPr>
        <p:spPr>
          <a:xfrm>
            <a:off x="660401" y="3769098"/>
            <a:ext cx="5568951" cy="296271"/>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汇报人：</a:t>
            </a:r>
            <a:r>
              <a:rPr lang="en-US" altLang="zh-CN" dirty="0"/>
              <a:t>XXX</a:t>
            </a:r>
          </a:p>
        </p:txBody>
      </p:sp>
      <p:sp>
        <p:nvSpPr>
          <p:cNvPr id="11" name="Date Placeholder 4">
            <a:extLst>
              <a:ext uri="{FF2B5EF4-FFF2-40B4-BE49-F238E27FC236}">
                <a16:creationId xmlns:a16="http://schemas.microsoft.com/office/drawing/2014/main" id="{0491E251-5B90-7136-462F-BC5F844245A3}"/>
              </a:ext>
            </a:extLst>
          </p:cNvPr>
          <p:cNvSpPr>
            <a:spLocks noGrp="1"/>
          </p:cNvSpPr>
          <p:nvPr>
            <p:ph type="body" sz="quarter" idx="15" hasCustomPrompt="1"/>
          </p:nvPr>
        </p:nvSpPr>
        <p:spPr>
          <a:xfrm>
            <a:off x="660401" y="4174440"/>
            <a:ext cx="5568951" cy="335488"/>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日期：</a:t>
            </a:r>
            <a:r>
              <a:rPr lang="en-US" altLang="zh-CN" dirty="0"/>
              <a:t>20XX</a:t>
            </a:r>
            <a:r>
              <a:rPr lang="zh-CN" altLang="en-US" dirty="0"/>
              <a:t>年</a:t>
            </a:r>
            <a:r>
              <a:rPr lang="en-US" altLang="zh-CN" dirty="0"/>
              <a:t>XX</a:t>
            </a:r>
            <a:r>
              <a:rPr lang="zh-CN" altLang="en-US" dirty="0"/>
              <a:t>月</a:t>
            </a:r>
            <a:r>
              <a:rPr lang="en-US" altLang="zh-CN" dirty="0"/>
              <a:t>XX</a:t>
            </a:r>
            <a:r>
              <a:rPr lang="zh-CN" altLang="en-US" dirty="0"/>
              <a:t>日</a:t>
            </a:r>
            <a:endParaRPr lang="en-US" altLang="en-US" dirty="0"/>
          </a:p>
        </p:txBody>
      </p:sp>
      <p:sp>
        <p:nvSpPr>
          <p:cNvPr id="7" name="Title Placeholder 1">
            <a:extLst>
              <a:ext uri="{FF2B5EF4-FFF2-40B4-BE49-F238E27FC236}">
                <a16:creationId xmlns:a16="http://schemas.microsoft.com/office/drawing/2014/main" id="{C2320649-ACD7-42E9-A261-E6ED46ACB452}"/>
              </a:ext>
            </a:extLst>
          </p:cNvPr>
          <p:cNvSpPr>
            <a:spLocks noGrp="1"/>
          </p:cNvSpPr>
          <p:nvPr>
            <p:ph type="body" sz="quarter" idx="13" hasCustomPrompt="1"/>
          </p:nvPr>
        </p:nvSpPr>
        <p:spPr>
          <a:xfrm>
            <a:off x="660401" y="2753098"/>
            <a:ext cx="10858500" cy="885891"/>
          </a:xfrm>
        </p:spPr>
        <p:txBody>
          <a:bodyPr vert="horz" lIns="91440" tIns="45720" rIns="91440" bIns="45720" rtlCol="0" anchor="t" anchorCtr="0">
            <a:normAutofit/>
          </a:bodyPr>
          <a:lstStyle>
            <a:lvl1pPr marL="0" indent="0">
              <a:buNone/>
              <a:defRPr lang="en-US" altLang="zh-CN" sz="6000" b="1" kern="1200" dirty="0">
                <a:solidFill>
                  <a:srgbClr val="FFFFFF"/>
                </a:solidFill>
                <a:latin typeface="+mj-lt"/>
                <a:ea typeface="+mj-ea"/>
                <a:cs typeface="+mj-cs"/>
              </a:defRPr>
            </a:lvl1pPr>
            <a:lvl2pPr marL="457189" indent="0">
              <a:buNone/>
              <a:defRPr lang="en-US" altLang="zh-CN" smtClean="0"/>
            </a:lvl2pPr>
            <a:lvl3pPr>
              <a:defRPr lang="en-US" altLang="zh-CN" smtClean="0"/>
            </a:lvl3pPr>
            <a:lvl4pPr>
              <a:defRPr lang="en-US" altLang="zh-CN" smtClean="0"/>
            </a:lvl4pPr>
            <a:lvl5pPr>
              <a:defRPr lang="zh-CN" altLang="en-US"/>
            </a:lvl5pPr>
          </a:lstStyle>
          <a:p>
            <a:pPr marL="228594" lvl="0" indent="-228594" defTabSz="914332">
              <a:spcBef>
                <a:spcPct val="0"/>
              </a:spcBef>
            </a:pPr>
            <a:r>
              <a:rPr lang="en-US" altLang="zh-CN" dirty="0"/>
              <a:t>THANK YOU</a:t>
            </a:r>
            <a:r>
              <a:rPr lang="zh-CN" altLang="en-US" dirty="0"/>
              <a:t>！</a:t>
            </a:r>
            <a:endParaRPr lang="en-US" altLang="zh-CN" dirty="0"/>
          </a:p>
        </p:txBody>
      </p:sp>
    </p:spTree>
    <p:extLst>
      <p:ext uri="{BB962C8B-B14F-4D97-AF65-F5344CB8AC3E}">
        <p14:creationId xmlns:p14="http://schemas.microsoft.com/office/powerpoint/2010/main" val="3013843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825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7103-D92B-4D3C-B386-9FD58793CACA}"/>
              </a:ext>
            </a:extLst>
          </p:cNvPr>
          <p:cNvSpPr>
            <a:spLocks noGrp="1"/>
          </p:cNvSpPr>
          <p:nvPr>
            <p:ph type="title"/>
          </p:nvPr>
        </p:nvSpPr>
        <p:spPr>
          <a:xfrm>
            <a:off x="660401" y="0"/>
            <a:ext cx="10858500" cy="1028700"/>
          </a:xfrm>
          <a:prstGeom prst="rect">
            <a:avLst/>
          </a:prstGeom>
        </p:spPr>
        <p:txBody>
          <a:bodyPr vert="horz" lIns="91440" tIns="45720" rIns="91440" bIns="45720" rtlCol="0" anchor="b">
            <a:normAutofit/>
          </a:bodyPr>
          <a:lstStyle/>
          <a:p>
            <a:pPr lvl="0" defTabSz="914332"/>
            <a:r>
              <a:rPr lang="en-US" altLang="zh-CN" dirty="0"/>
              <a:t>Click to edit title</a:t>
            </a:r>
            <a:endParaRPr lang="zh-CN" altLang="en-US" dirty="0"/>
          </a:p>
        </p:txBody>
      </p:sp>
      <p:sp>
        <p:nvSpPr>
          <p:cNvPr id="3" name="Text Placeholder 2">
            <a:extLst>
              <a:ext uri="{FF2B5EF4-FFF2-40B4-BE49-F238E27FC236}">
                <a16:creationId xmlns:a16="http://schemas.microsoft.com/office/drawing/2014/main" id="{0F8920D0-E0E5-40BB-AEDA-3D7A0909240E}"/>
              </a:ext>
            </a:extLst>
          </p:cNvPr>
          <p:cNvSpPr>
            <a:spLocks noGrp="1"/>
          </p:cNvSpPr>
          <p:nvPr>
            <p:ph type="body" idx="1"/>
          </p:nvPr>
        </p:nvSpPr>
        <p:spPr>
          <a:xfrm>
            <a:off x="660401"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Footer Placeholder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r>
              <a:rPr lang="zh-CN" altLang="en-US" dirty="0"/>
              <a:t>商务</a:t>
            </a:r>
            <a:r>
              <a:rPr lang="en-US" altLang="zh-CN" dirty="0"/>
              <a:t>PPT</a:t>
            </a:r>
            <a:r>
              <a:rPr lang="zh-CN" altLang="en-US" dirty="0"/>
              <a:t>模板</a:t>
            </a:r>
          </a:p>
        </p:txBody>
      </p:sp>
      <p:sp>
        <p:nvSpPr>
          <p:cNvPr id="4" name="Date Placeholder 3">
            <a:extLst>
              <a:ext uri="{FF2B5EF4-FFF2-40B4-BE49-F238E27FC236}">
                <a16:creationId xmlns:a16="http://schemas.microsoft.com/office/drawing/2014/main" id="{0C12D871-753D-4991-B44B-EFAE9F8682B5}"/>
              </a:ext>
            </a:extLst>
          </p:cNvPr>
          <p:cNvSpPr>
            <a:spLocks noGrp="1"/>
          </p:cNvSpPr>
          <p:nvPr>
            <p:ph type="dt" sz="half" idx="2"/>
          </p:nvPr>
        </p:nvSpPr>
        <p:spPr>
          <a:xfrm>
            <a:off x="5504657"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22581C77-C049-4AAA-A3C8-544909BBB11E}" type="datetime1">
              <a:rPr lang="zh-CN" altLang="en-US" smtClean="0"/>
              <a:t>2023/10/26</a:t>
            </a:fld>
            <a:endParaRPr lang="en-US" altLang="zh-CN" dirty="0"/>
          </a:p>
        </p:txBody>
      </p:sp>
      <p:sp>
        <p:nvSpPr>
          <p:cNvPr id="6" name="Slide Number Placeholder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1398863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p:txStyles>
    <p:titleStyle>
      <a:lvl1pPr algn="l" defTabSz="914377"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800" dirty="0"/>
              <a:t>第</a:t>
            </a:r>
            <a:r>
              <a:rPr lang="en-US" altLang="zh-CN" sz="4800" dirty="0"/>
              <a:t>7</a:t>
            </a:r>
            <a:r>
              <a:rPr lang="zh-CN" altLang="en-US" sz="4800" dirty="0"/>
              <a:t>讲 函数概念</a:t>
            </a:r>
            <a:r>
              <a:rPr lang="en-US" altLang="zh-CN" sz="4800" dirty="0"/>
              <a:t>&amp;</a:t>
            </a:r>
            <a:r>
              <a:rPr lang="zh-CN" altLang="en-US" sz="4800" dirty="0"/>
              <a:t>应用</a:t>
            </a:r>
          </a:p>
        </p:txBody>
      </p:sp>
      <p:sp>
        <p:nvSpPr>
          <p:cNvPr id="6" name="文本占位符 5">
            <a:extLst>
              <a:ext uri="{FF2B5EF4-FFF2-40B4-BE49-F238E27FC236}">
                <a16:creationId xmlns:a16="http://schemas.microsoft.com/office/drawing/2014/main" id="{59A0496F-5247-81D4-9483-6F1898DF5863}"/>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7529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函数的概念</a:t>
            </a:r>
            <a:endParaRPr lang="zh-CN" altLang="en-US" dirty="0"/>
          </a:p>
        </p:txBody>
      </p:sp>
      <p:sp>
        <p:nvSpPr>
          <p:cNvPr id="3" name="内容占位符 2"/>
          <p:cNvSpPr>
            <a:spLocks noGrp="1"/>
          </p:cNvSpPr>
          <p:nvPr>
            <p:ph idx="1"/>
          </p:nvPr>
        </p:nvSpPr>
        <p:spPr/>
        <p:txBody>
          <a:bodyPr>
            <a:normAutofit/>
          </a:bodyPr>
          <a:lstStyle/>
          <a:p>
            <a:r>
              <a:rPr lang="en-US" altLang="zh-CN" dirty="0"/>
              <a:t>1. </a:t>
            </a:r>
            <a:r>
              <a:rPr lang="zh-CN" altLang="en-US" dirty="0"/>
              <a:t>函数的必要性</a:t>
            </a:r>
            <a:endParaRPr lang="en-US" altLang="zh-CN" dirty="0"/>
          </a:p>
          <a:p>
            <a:pPr lvl="1">
              <a:spcBef>
                <a:spcPts val="1200"/>
              </a:spcBef>
            </a:pPr>
            <a:r>
              <a:rPr lang="en-US" altLang="zh-CN" dirty="0"/>
              <a:t>(1)</a:t>
            </a:r>
            <a:r>
              <a:rPr lang="zh-CN" altLang="en-US" dirty="0"/>
              <a:t>请看这个程序</a:t>
            </a:r>
            <a:endParaRPr lang="en-US" altLang="zh-CN" dirty="0"/>
          </a:p>
          <a:p>
            <a:pPr lvl="1">
              <a:spcBef>
                <a:spcPts val="1200"/>
              </a:spcBef>
            </a:pPr>
            <a:endParaRPr lang="en-US" altLang="zh-CN" dirty="0"/>
          </a:p>
          <a:p>
            <a:pPr lvl="1">
              <a:spcBef>
                <a:spcPts val="1200"/>
              </a:spcBef>
            </a:pPr>
            <a:endParaRPr lang="en-US" altLang="zh-CN" dirty="0"/>
          </a:p>
          <a:p>
            <a:pPr lvl="1">
              <a:spcBef>
                <a:spcPts val="1200"/>
              </a:spcBef>
            </a:pPr>
            <a:endParaRPr lang="en-US" altLang="zh-CN" dirty="0"/>
          </a:p>
          <a:p>
            <a:pPr marL="457189" lvl="1" indent="0">
              <a:spcBef>
                <a:spcPts val="1200"/>
              </a:spcBef>
              <a:buNone/>
            </a:pPr>
            <a:endParaRPr lang="en-US" altLang="zh-CN" dirty="0"/>
          </a:p>
          <a:p>
            <a:pPr lvl="1">
              <a:spcBef>
                <a:spcPts val="1200"/>
              </a:spcBef>
            </a:pPr>
            <a:r>
              <a:rPr lang="en-US" altLang="zh-CN" dirty="0"/>
              <a:t>(2)</a:t>
            </a:r>
            <a:r>
              <a:rPr lang="zh-CN" altLang="en-US" dirty="0"/>
              <a:t>思考</a:t>
            </a:r>
            <a:endParaRPr lang="en-US" altLang="zh-CN" dirty="0"/>
          </a:p>
          <a:p>
            <a:pPr lvl="2">
              <a:spcBef>
                <a:spcPts val="1200"/>
              </a:spcBef>
            </a:pPr>
            <a:r>
              <a:rPr lang="zh-CN" altLang="en-US" dirty="0"/>
              <a:t>针对列表</a:t>
            </a:r>
            <a:r>
              <a:rPr lang="en-US" altLang="zh-CN" dirty="0"/>
              <a:t>xx</a:t>
            </a:r>
            <a:r>
              <a:rPr lang="zh-CN" altLang="en-US" dirty="0"/>
              <a:t>求取最大值的代码段</a:t>
            </a:r>
            <a:endParaRPr lang="en-US" altLang="zh-CN" dirty="0"/>
          </a:p>
          <a:p>
            <a:pPr lvl="2">
              <a:spcBef>
                <a:spcPts val="1200"/>
              </a:spcBef>
            </a:pPr>
            <a:r>
              <a:rPr lang="zh-CN" altLang="en-US" dirty="0"/>
              <a:t>与针对列表</a:t>
            </a:r>
            <a:r>
              <a:rPr lang="en-US" altLang="zh-CN" dirty="0" err="1"/>
              <a:t>yy</a:t>
            </a:r>
            <a:r>
              <a:rPr lang="zh-CN" altLang="en-US" dirty="0"/>
              <a:t>求取最大值的代码段</a:t>
            </a:r>
            <a:r>
              <a:rPr lang="en-US" altLang="zh-CN" dirty="0"/>
              <a:t>——</a:t>
            </a:r>
            <a:r>
              <a:rPr lang="zh-CN" altLang="en-US" dirty="0"/>
              <a:t>有很大的相似性。</a:t>
            </a:r>
            <a:endParaRPr lang="en-US" altLang="zh-CN" dirty="0"/>
          </a:p>
          <a:p>
            <a:pPr lvl="1">
              <a:spcBef>
                <a:spcPts val="1200"/>
              </a:spcBef>
            </a:pPr>
            <a:endParaRPr lang="en-US" altLang="zh-CN" dirty="0"/>
          </a:p>
          <a:p>
            <a:pPr lvl="2">
              <a:spcBef>
                <a:spcPts val="1200"/>
              </a:spcBef>
            </a:pPr>
            <a:endParaRPr lang="zh-CN" altLang="en-US" dirty="0"/>
          </a:p>
        </p:txBody>
      </p:sp>
      <p:sp>
        <p:nvSpPr>
          <p:cNvPr id="7" name="文本框 6">
            <a:extLst>
              <a:ext uri="{FF2B5EF4-FFF2-40B4-BE49-F238E27FC236}">
                <a16:creationId xmlns:a16="http://schemas.microsoft.com/office/drawing/2014/main" id="{823B7068-8ABE-4287-60BD-2853D52485B2}"/>
              </a:ext>
            </a:extLst>
          </p:cNvPr>
          <p:cNvSpPr txBox="1"/>
          <p:nvPr/>
        </p:nvSpPr>
        <p:spPr>
          <a:xfrm>
            <a:off x="4909820" y="1384300"/>
            <a:ext cx="4914900" cy="3108543"/>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myMax)</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spTree>
    <p:extLst>
      <p:ext uri="{BB962C8B-B14F-4D97-AF65-F5344CB8AC3E}">
        <p14:creationId xmlns:p14="http://schemas.microsoft.com/office/powerpoint/2010/main" val="140305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函数的概念</a:t>
            </a:r>
            <a:endParaRPr lang="zh-CN" altLang="en-US" dirty="0"/>
          </a:p>
        </p:txBody>
      </p:sp>
      <p:sp>
        <p:nvSpPr>
          <p:cNvPr id="3" name="内容占位符 2"/>
          <p:cNvSpPr>
            <a:spLocks noGrp="1"/>
          </p:cNvSpPr>
          <p:nvPr>
            <p:ph idx="1"/>
          </p:nvPr>
        </p:nvSpPr>
        <p:spPr>
          <a:xfrm>
            <a:off x="437117" y="1102856"/>
            <a:ext cx="6074784" cy="5003800"/>
          </a:xfrm>
        </p:spPr>
        <p:txBody>
          <a:bodyPr>
            <a:normAutofit/>
          </a:bodyPr>
          <a:lstStyle/>
          <a:p>
            <a:r>
              <a:rPr lang="en-US" altLang="zh-CN" dirty="0"/>
              <a:t>1. </a:t>
            </a:r>
            <a:r>
              <a:rPr lang="zh-CN" altLang="en-US" dirty="0"/>
              <a:t>函数的必要性</a:t>
            </a:r>
            <a:endParaRPr lang="en-US" altLang="zh-CN" dirty="0"/>
          </a:p>
          <a:p>
            <a:pPr lvl="1">
              <a:spcBef>
                <a:spcPts val="1200"/>
              </a:spcBef>
            </a:pPr>
            <a:r>
              <a:rPr lang="en-US" altLang="zh-CN" dirty="0"/>
              <a:t>(3)</a:t>
            </a:r>
            <a:r>
              <a:rPr lang="zh-CN" altLang="en-US" dirty="0"/>
              <a:t>进一步思考</a:t>
            </a:r>
            <a:endParaRPr lang="en-US" altLang="zh-CN" dirty="0"/>
          </a:p>
          <a:p>
            <a:pPr lvl="2">
              <a:spcBef>
                <a:spcPts val="1200"/>
              </a:spcBef>
            </a:pPr>
            <a:r>
              <a:rPr lang="zh-CN" altLang="en-US" dirty="0"/>
              <a:t>可否把求取最大值的代码段提取出来，形成独立的代码段。</a:t>
            </a:r>
            <a:endParaRPr lang="en-US" altLang="zh-CN" dirty="0"/>
          </a:p>
          <a:p>
            <a:pPr lvl="2">
              <a:spcBef>
                <a:spcPts val="1200"/>
              </a:spcBef>
            </a:pPr>
            <a:r>
              <a:rPr lang="zh-CN" altLang="en-US" dirty="0"/>
              <a:t>此代码段可针对不同的列表均能求取最大值。</a:t>
            </a:r>
            <a:endParaRPr lang="en-US" altLang="zh-CN" dirty="0"/>
          </a:p>
          <a:p>
            <a:pPr lvl="2">
              <a:spcBef>
                <a:spcPts val="1200"/>
              </a:spcBef>
            </a:pPr>
            <a:endParaRPr lang="en-US" altLang="zh-CN" dirty="0"/>
          </a:p>
          <a:p>
            <a:pPr lvl="2">
              <a:spcBef>
                <a:spcPts val="1200"/>
              </a:spcBef>
            </a:pPr>
            <a:endParaRPr lang="zh-CN" altLang="en-US" dirty="0"/>
          </a:p>
        </p:txBody>
      </p:sp>
      <p:sp>
        <p:nvSpPr>
          <p:cNvPr id="4" name="文本框 3">
            <a:extLst>
              <a:ext uri="{FF2B5EF4-FFF2-40B4-BE49-F238E27FC236}">
                <a16:creationId xmlns:a16="http://schemas.microsoft.com/office/drawing/2014/main" id="{4A39D56D-B8F0-CA29-CAC4-67FCA8D13C69}"/>
              </a:ext>
            </a:extLst>
          </p:cNvPr>
          <p:cNvSpPr txBox="1"/>
          <p:nvPr/>
        </p:nvSpPr>
        <p:spPr>
          <a:xfrm>
            <a:off x="1691655" y="3886200"/>
            <a:ext cx="4422805" cy="2677656"/>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4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pic>
        <p:nvPicPr>
          <p:cNvPr id="8" name="图片 7">
            <a:extLst>
              <a:ext uri="{FF2B5EF4-FFF2-40B4-BE49-F238E27FC236}">
                <a16:creationId xmlns:a16="http://schemas.microsoft.com/office/drawing/2014/main" id="{D8A1B430-FCB4-D6E6-6345-8C0EB9ED8E40}"/>
              </a:ext>
            </a:extLst>
          </p:cNvPr>
          <p:cNvPicPr>
            <a:picLocks noChangeAspect="1"/>
          </p:cNvPicPr>
          <p:nvPr/>
        </p:nvPicPr>
        <p:blipFill>
          <a:blip r:embed="rId2"/>
          <a:stretch>
            <a:fillRect/>
          </a:stretch>
        </p:blipFill>
        <p:spPr>
          <a:xfrm>
            <a:off x="7609049" y="0"/>
            <a:ext cx="4582951" cy="6858000"/>
          </a:xfrm>
          <a:prstGeom prst="rect">
            <a:avLst/>
          </a:prstGeom>
        </p:spPr>
      </p:pic>
    </p:spTree>
    <p:extLst>
      <p:ext uri="{BB962C8B-B14F-4D97-AF65-F5344CB8AC3E}">
        <p14:creationId xmlns:p14="http://schemas.microsoft.com/office/powerpoint/2010/main" val="2994120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函数的概念</a:t>
            </a:r>
            <a:endParaRPr lang="zh-CN" altLang="en-US" dirty="0"/>
          </a:p>
        </p:txBody>
      </p:sp>
      <p:sp>
        <p:nvSpPr>
          <p:cNvPr id="3" name="内容占位符 2"/>
          <p:cNvSpPr>
            <a:spLocks noGrp="1"/>
          </p:cNvSpPr>
          <p:nvPr>
            <p:ph idx="1"/>
          </p:nvPr>
        </p:nvSpPr>
        <p:spPr>
          <a:xfrm>
            <a:off x="660401" y="1130300"/>
            <a:ext cx="7005673" cy="5003800"/>
          </a:xfrm>
        </p:spPr>
        <p:txBody>
          <a:bodyPr>
            <a:normAutofit/>
          </a:bodyPr>
          <a:lstStyle/>
          <a:p>
            <a:r>
              <a:rPr lang="en-US" altLang="zh-CN" dirty="0"/>
              <a:t>2. </a:t>
            </a:r>
            <a:r>
              <a:rPr lang="zh-CN" altLang="en-US" dirty="0"/>
              <a:t>函数的概念</a:t>
            </a:r>
            <a:endParaRPr lang="en-US" altLang="zh-CN" dirty="0"/>
          </a:p>
          <a:p>
            <a:pPr lvl="1">
              <a:spcBef>
                <a:spcPts val="1200"/>
              </a:spcBef>
            </a:pPr>
            <a:r>
              <a:rPr lang="en-US" altLang="zh-CN" dirty="0"/>
              <a:t>(1)</a:t>
            </a:r>
            <a:r>
              <a:rPr lang="zh-CN" altLang="en-US" dirty="0"/>
              <a:t>定义</a:t>
            </a:r>
            <a:endParaRPr lang="en-US" altLang="zh-CN" dirty="0"/>
          </a:p>
          <a:p>
            <a:pPr lvl="2">
              <a:lnSpc>
                <a:spcPct val="125000"/>
              </a:lnSpc>
              <a:spcBef>
                <a:spcPts val="1200"/>
              </a:spcBef>
            </a:pPr>
            <a:r>
              <a:rPr lang="zh-CN" altLang="en-US" sz="2000" dirty="0"/>
              <a:t>函数是为实现某一特定功能、或对数据做特定操作而设计出的程序块。</a:t>
            </a:r>
            <a:endParaRPr lang="en-US" altLang="zh-CN" sz="2000" dirty="0"/>
          </a:p>
          <a:p>
            <a:pPr lvl="2">
              <a:lnSpc>
                <a:spcPct val="125000"/>
              </a:lnSpc>
              <a:spcBef>
                <a:spcPts val="1200"/>
              </a:spcBef>
            </a:pPr>
            <a:r>
              <a:rPr lang="zh-CN" altLang="en-US" sz="2000" dirty="0"/>
              <a:t>设计函数的目的是把能够实现某一特定功能的语句组合提取出来，组成一个</a:t>
            </a:r>
            <a:r>
              <a:rPr lang="zh-CN" altLang="en-US" sz="2000" dirty="0">
                <a:solidFill>
                  <a:srgbClr val="FF0000"/>
                </a:solidFill>
              </a:rPr>
              <a:t>功能块</a:t>
            </a:r>
            <a:r>
              <a:rPr lang="zh-CN" altLang="en-US" sz="2000" dirty="0"/>
              <a:t>。此功能块可在不同的场合被直接调用，以实现特定功能的重复调用。</a:t>
            </a:r>
            <a:endParaRPr lang="en-US" altLang="zh-CN" sz="2000" dirty="0"/>
          </a:p>
          <a:p>
            <a:pPr lvl="2">
              <a:lnSpc>
                <a:spcPct val="125000"/>
              </a:lnSpc>
              <a:spcBef>
                <a:spcPts val="1200"/>
              </a:spcBef>
            </a:pPr>
            <a:r>
              <a:rPr lang="zh-CN" altLang="en-US" sz="2000" dirty="0"/>
              <a:t>在结构化程序设计中，这种程序块被称为函数。</a:t>
            </a:r>
            <a:endParaRPr lang="en-US" altLang="zh-CN" sz="2000" dirty="0"/>
          </a:p>
          <a:p>
            <a:pPr lvl="2">
              <a:lnSpc>
                <a:spcPct val="125000"/>
              </a:lnSpc>
              <a:spcBef>
                <a:spcPts val="1200"/>
              </a:spcBef>
            </a:pPr>
            <a:r>
              <a:rPr lang="zh-CN" altLang="en-US" sz="2000" dirty="0"/>
              <a:t>在面向对象程序设计中，这种功能块往往是</a:t>
            </a:r>
            <a:r>
              <a:rPr lang="zh-CN" altLang="en-US" sz="2000" dirty="0">
                <a:solidFill>
                  <a:srgbClr val="FF0000"/>
                </a:solidFill>
              </a:rPr>
              <a:t>依托于某一对象的，通常被称为方法，或方法体</a:t>
            </a:r>
            <a:r>
              <a:rPr lang="zh-CN" altLang="en-US" sz="2000" dirty="0"/>
              <a:t>。</a:t>
            </a:r>
            <a:endParaRPr lang="en-US" altLang="zh-CN" sz="2000" dirty="0"/>
          </a:p>
          <a:p>
            <a:pPr lvl="2">
              <a:spcBef>
                <a:spcPts val="1200"/>
              </a:spcBef>
            </a:pPr>
            <a:endParaRPr lang="en-US" altLang="zh-CN" dirty="0"/>
          </a:p>
          <a:p>
            <a:pPr lvl="2">
              <a:spcBef>
                <a:spcPts val="1200"/>
              </a:spcBef>
            </a:pPr>
            <a:endParaRPr lang="zh-CN" altLang="en-US" dirty="0"/>
          </a:p>
        </p:txBody>
      </p:sp>
      <p:sp>
        <p:nvSpPr>
          <p:cNvPr id="4" name="文本框 3">
            <a:extLst>
              <a:ext uri="{FF2B5EF4-FFF2-40B4-BE49-F238E27FC236}">
                <a16:creationId xmlns:a16="http://schemas.microsoft.com/office/drawing/2014/main" id="{090CC7C9-1759-9EA9-7AAE-46D8AE25F6E0}"/>
              </a:ext>
            </a:extLst>
          </p:cNvPr>
          <p:cNvSpPr txBox="1"/>
          <p:nvPr/>
        </p:nvSpPr>
        <p:spPr>
          <a:xfrm>
            <a:off x="7769195" y="2178789"/>
            <a:ext cx="4422805" cy="2677656"/>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4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spTree>
    <p:extLst>
      <p:ext uri="{BB962C8B-B14F-4D97-AF65-F5344CB8AC3E}">
        <p14:creationId xmlns:p14="http://schemas.microsoft.com/office/powerpoint/2010/main" val="3048412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函数的概念</a:t>
            </a:r>
            <a:endParaRPr lang="zh-CN" altLang="en-US" dirty="0"/>
          </a:p>
        </p:txBody>
      </p:sp>
      <p:sp>
        <p:nvSpPr>
          <p:cNvPr id="3" name="内容占位符 2"/>
          <p:cNvSpPr>
            <a:spLocks noGrp="1"/>
          </p:cNvSpPr>
          <p:nvPr>
            <p:ph idx="1"/>
          </p:nvPr>
        </p:nvSpPr>
        <p:spPr/>
        <p:txBody>
          <a:bodyPr>
            <a:normAutofit/>
          </a:bodyPr>
          <a:lstStyle/>
          <a:p>
            <a:r>
              <a:rPr lang="en-US" altLang="zh-CN" dirty="0"/>
              <a:t>2. </a:t>
            </a:r>
            <a:r>
              <a:rPr lang="zh-CN" altLang="en-US" dirty="0"/>
              <a:t>函数的概念</a:t>
            </a:r>
            <a:endParaRPr lang="en-US" altLang="zh-CN" dirty="0"/>
          </a:p>
          <a:p>
            <a:pPr lvl="1">
              <a:spcBef>
                <a:spcPts val="1200"/>
              </a:spcBef>
            </a:pPr>
            <a:r>
              <a:rPr lang="en-US" altLang="zh-CN" dirty="0"/>
              <a:t>(2)</a:t>
            </a:r>
            <a:r>
              <a:rPr lang="zh-CN" altLang="en-US" dirty="0"/>
              <a:t>函数的作用</a:t>
            </a:r>
            <a:endParaRPr lang="en-US" altLang="zh-CN" dirty="0"/>
          </a:p>
          <a:p>
            <a:pPr lvl="2">
              <a:spcBef>
                <a:spcPts val="1200"/>
              </a:spcBef>
            </a:pPr>
            <a:r>
              <a:rPr lang="zh-CN" altLang="en-US" sz="2000" dirty="0"/>
              <a:t>把能够实现特定功能的语句封装为一个函数，可以提高代码的复用率，提高程序的运行效率。</a:t>
            </a:r>
          </a:p>
          <a:p>
            <a:pPr lvl="2">
              <a:spcBef>
                <a:spcPts val="1200"/>
              </a:spcBef>
            </a:pPr>
            <a:r>
              <a:rPr lang="zh-CN" altLang="en-US" sz="2000" dirty="0"/>
              <a:t>借助于函数，可以把流水账式的语句模块块，提高程序的可读性</a:t>
            </a:r>
            <a:r>
              <a:rPr lang="en-US" altLang="zh-CN" sz="2000" dirty="0"/>
              <a:t>——</a:t>
            </a:r>
            <a:r>
              <a:rPr lang="zh-CN" altLang="en-US" sz="2000" dirty="0"/>
              <a:t>结构化的程序设计。</a:t>
            </a:r>
            <a:endParaRPr lang="en-US" altLang="zh-CN" sz="2000" dirty="0"/>
          </a:p>
          <a:p>
            <a:pPr lvl="2">
              <a:spcBef>
                <a:spcPts val="1200"/>
              </a:spcBef>
            </a:pPr>
            <a:endParaRPr lang="zh-CN" altLang="en-US" dirty="0"/>
          </a:p>
        </p:txBody>
      </p:sp>
    </p:spTree>
    <p:extLst>
      <p:ext uri="{BB962C8B-B14F-4D97-AF65-F5344CB8AC3E}">
        <p14:creationId xmlns:p14="http://schemas.microsoft.com/office/powerpoint/2010/main" val="359190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a:xfrm>
            <a:off x="660400" y="1130300"/>
            <a:ext cx="11703318" cy="5727700"/>
          </a:xfrm>
        </p:spPr>
        <p:txBody>
          <a:bodyPr>
            <a:normAutofit/>
          </a:bodyPr>
          <a:lstStyle/>
          <a:p>
            <a:r>
              <a:rPr lang="en-US" altLang="zh-CN" dirty="0"/>
              <a:t>1. </a:t>
            </a:r>
            <a:r>
              <a:rPr lang="zh-CN" altLang="en-US" dirty="0"/>
              <a:t>定义新函数</a:t>
            </a:r>
            <a:endParaRPr lang="en-US" altLang="zh-CN" dirty="0"/>
          </a:p>
          <a:p>
            <a:pPr lvl="1">
              <a:spcBef>
                <a:spcPts val="1200"/>
              </a:spcBef>
            </a:pPr>
            <a:r>
              <a:rPr lang="en-US" altLang="zh-CN" dirty="0"/>
              <a:t>(1)</a:t>
            </a:r>
            <a:r>
              <a:rPr lang="zh-CN" altLang="en-US" dirty="0"/>
              <a:t>如何定义新函数？</a:t>
            </a:r>
            <a:endParaRPr lang="en-US" altLang="zh-CN" dirty="0"/>
          </a:p>
          <a:p>
            <a:pPr marL="914377" lvl="2" indent="0">
              <a:spcBef>
                <a:spcPts val="1200"/>
              </a:spcBef>
              <a:buNone/>
            </a:pPr>
            <a:r>
              <a:rPr lang="en-US" altLang="zh-CN" dirty="0">
                <a:solidFill>
                  <a:srgbClr val="FF0000"/>
                </a:solidFill>
              </a:rPr>
              <a:t>def &lt;</a:t>
            </a:r>
            <a:r>
              <a:rPr lang="zh-CN" altLang="en-US" dirty="0">
                <a:solidFill>
                  <a:srgbClr val="FF0000"/>
                </a:solidFill>
              </a:rPr>
              <a:t>函数名</a:t>
            </a:r>
            <a:r>
              <a:rPr lang="en-US" altLang="zh-CN" dirty="0">
                <a:solidFill>
                  <a:srgbClr val="FF0000"/>
                </a:solidFill>
              </a:rPr>
              <a:t>&gt;([</a:t>
            </a:r>
            <a:r>
              <a:rPr lang="zh-CN" altLang="en-US" dirty="0">
                <a:solidFill>
                  <a:srgbClr val="FF0000"/>
                </a:solidFill>
              </a:rPr>
              <a:t>参数列表</a:t>
            </a:r>
            <a:r>
              <a:rPr lang="en-US" altLang="zh-CN" dirty="0">
                <a:solidFill>
                  <a:srgbClr val="FF0000"/>
                </a:solidFill>
              </a:rPr>
              <a:t>]):</a:t>
            </a:r>
          </a:p>
          <a:p>
            <a:pPr marL="1371566" lvl="3" indent="0">
              <a:spcBef>
                <a:spcPts val="1200"/>
              </a:spcBef>
              <a:buNone/>
            </a:pPr>
            <a:r>
              <a:rPr lang="en-US" altLang="zh-CN" dirty="0">
                <a:solidFill>
                  <a:srgbClr val="FF0000"/>
                </a:solidFill>
              </a:rPr>
              <a:t>&lt;</a:t>
            </a:r>
            <a:r>
              <a:rPr lang="zh-CN" altLang="en-US" dirty="0">
                <a:solidFill>
                  <a:srgbClr val="FF0000"/>
                </a:solidFill>
              </a:rPr>
              <a:t>函数体</a:t>
            </a:r>
            <a:r>
              <a:rPr lang="en-US" altLang="zh-CN" dirty="0">
                <a:solidFill>
                  <a:srgbClr val="FF0000"/>
                </a:solidFill>
              </a:rPr>
              <a:t>&gt;</a:t>
            </a:r>
          </a:p>
          <a:p>
            <a:pPr marL="1371566" lvl="3" indent="0">
              <a:spcBef>
                <a:spcPts val="1200"/>
              </a:spcBef>
              <a:buNone/>
            </a:pPr>
            <a:r>
              <a:rPr lang="en-US" altLang="zh-CN" dirty="0">
                <a:solidFill>
                  <a:srgbClr val="FF0000"/>
                </a:solidFill>
              </a:rPr>
              <a:t>[return&lt;</a:t>
            </a:r>
            <a:r>
              <a:rPr lang="zh-CN" altLang="en-US" dirty="0">
                <a:solidFill>
                  <a:srgbClr val="FF0000"/>
                </a:solidFill>
              </a:rPr>
              <a:t>返回值</a:t>
            </a:r>
            <a:r>
              <a:rPr lang="en-US" altLang="zh-CN" dirty="0">
                <a:solidFill>
                  <a:srgbClr val="FF0000"/>
                </a:solidFill>
              </a:rPr>
              <a:t>&gt;]</a:t>
            </a:r>
          </a:p>
          <a:p>
            <a:pPr lvl="2">
              <a:spcBef>
                <a:spcPts val="1200"/>
              </a:spcBef>
            </a:pPr>
            <a:r>
              <a:rPr lang="zh-CN" altLang="en-US" dirty="0"/>
              <a:t>自定义函数一般由函数名、参数和函数体组成</a:t>
            </a:r>
            <a:endParaRPr lang="en-US" altLang="zh-CN" dirty="0"/>
          </a:p>
          <a:p>
            <a:pPr lvl="2">
              <a:spcBef>
                <a:spcPts val="1200"/>
              </a:spcBef>
            </a:pPr>
            <a:r>
              <a:rPr lang="zh-CN" altLang="en-US" dirty="0"/>
              <a:t>函数名可以是任何有效的</a:t>
            </a:r>
            <a:r>
              <a:rPr lang="en-US" altLang="zh-CN" dirty="0"/>
              <a:t>Python</a:t>
            </a:r>
            <a:r>
              <a:rPr lang="zh-CN" altLang="en-US" dirty="0"/>
              <a:t>标识符</a:t>
            </a:r>
            <a:r>
              <a:rPr lang="en-US" altLang="zh-CN" dirty="0"/>
              <a:t>;</a:t>
            </a:r>
          </a:p>
          <a:p>
            <a:pPr lvl="2">
              <a:spcBef>
                <a:spcPts val="1200"/>
              </a:spcBef>
            </a:pPr>
            <a:r>
              <a:rPr lang="zh-CN" altLang="en-US" dirty="0"/>
              <a:t>参数</a:t>
            </a:r>
            <a:r>
              <a:rPr lang="en-US" altLang="zh-CN" dirty="0"/>
              <a:t>(</a:t>
            </a:r>
            <a:r>
              <a:rPr lang="zh-CN" altLang="en-US" dirty="0"/>
              <a:t>可以有零个、一个或多个</a:t>
            </a:r>
            <a:r>
              <a:rPr lang="en-US" altLang="zh-CN" dirty="0"/>
              <a:t>)</a:t>
            </a:r>
            <a:r>
              <a:rPr lang="zh-CN" altLang="en-US" dirty="0"/>
              <a:t>称为形式参数，简称为“形参”</a:t>
            </a:r>
            <a:endParaRPr lang="en-US" altLang="zh-CN" dirty="0"/>
          </a:p>
          <a:p>
            <a:pPr lvl="2">
              <a:spcBef>
                <a:spcPts val="1200"/>
              </a:spcBef>
            </a:pPr>
            <a:r>
              <a:rPr lang="zh-CN" altLang="en-US" dirty="0"/>
              <a:t>对于</a:t>
            </a:r>
            <a:r>
              <a:rPr lang="en-US" altLang="zh-CN" dirty="0"/>
              <a:t>Python</a:t>
            </a:r>
            <a:r>
              <a:rPr lang="zh-CN" altLang="en-US" dirty="0"/>
              <a:t>中的函数，通常在语句块中会有“</a:t>
            </a:r>
            <a:r>
              <a:rPr lang="en-US" altLang="zh-CN" dirty="0"/>
              <a:t>return </a:t>
            </a:r>
            <a:r>
              <a:rPr lang="zh-CN" altLang="en-US" dirty="0"/>
              <a:t>变量名”语句，以便返回函数的运行结果；函数可以没有</a:t>
            </a:r>
            <a:r>
              <a:rPr lang="en-US" altLang="zh-CN" dirty="0"/>
              <a:t>return</a:t>
            </a:r>
            <a:r>
              <a:rPr lang="zh-CN" altLang="en-US" dirty="0"/>
              <a:t>语句，这样的函数返回</a:t>
            </a:r>
            <a:r>
              <a:rPr lang="en-US" altLang="zh-CN" dirty="0"/>
              <a:t>None</a:t>
            </a:r>
            <a:r>
              <a:rPr lang="zh-CN" altLang="en-US" dirty="0"/>
              <a:t>值。</a:t>
            </a:r>
          </a:p>
          <a:p>
            <a:pPr lvl="2">
              <a:spcBef>
                <a:spcPts val="1200"/>
              </a:spcBef>
            </a:pPr>
            <a:r>
              <a:rPr lang="zh-CN" altLang="en-US" dirty="0"/>
              <a:t>对于参数表中的参数：</a:t>
            </a:r>
            <a:endParaRPr lang="en-US" altLang="zh-CN" dirty="0"/>
          </a:p>
          <a:p>
            <a:pPr lvl="3">
              <a:spcBef>
                <a:spcPts val="1200"/>
              </a:spcBef>
            </a:pPr>
            <a:r>
              <a:rPr lang="zh-CN" altLang="en-US" sz="1700" dirty="0"/>
              <a:t>如果参数为简单数据类型，在函数体内的数值修改将不会带出函数体。</a:t>
            </a:r>
            <a:endParaRPr lang="en-US" altLang="zh-CN" sz="1700" dirty="0"/>
          </a:p>
          <a:p>
            <a:pPr lvl="3">
              <a:spcBef>
                <a:spcPts val="1200"/>
              </a:spcBef>
            </a:pPr>
            <a:r>
              <a:rPr lang="zh-CN" altLang="en-US" sz="1700" dirty="0"/>
              <a:t>如果参数为复杂数据类型，则在函数内做的各种修改将会带出函数体</a:t>
            </a:r>
            <a:r>
              <a:rPr lang="en-US" altLang="zh-CN" sz="1700" dirty="0"/>
              <a:t>——</a:t>
            </a:r>
            <a:r>
              <a:rPr lang="zh-CN" altLang="en-US" sz="1700" dirty="0"/>
              <a:t>有可能影响到其他地方的使用。</a:t>
            </a:r>
          </a:p>
        </p:txBody>
      </p:sp>
      <p:sp>
        <p:nvSpPr>
          <p:cNvPr id="5" name="文本框 4">
            <a:extLst>
              <a:ext uri="{FF2B5EF4-FFF2-40B4-BE49-F238E27FC236}">
                <a16:creationId xmlns:a16="http://schemas.microsoft.com/office/drawing/2014/main" id="{A62D364D-4E1E-E94E-A3DF-4E5478EFE340}"/>
              </a:ext>
            </a:extLst>
          </p:cNvPr>
          <p:cNvSpPr txBox="1"/>
          <p:nvPr/>
        </p:nvSpPr>
        <p:spPr>
          <a:xfrm>
            <a:off x="6089651" y="751344"/>
            <a:ext cx="6101080" cy="2677656"/>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4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spTree>
    <p:extLst>
      <p:ext uri="{BB962C8B-B14F-4D97-AF65-F5344CB8AC3E}">
        <p14:creationId xmlns:p14="http://schemas.microsoft.com/office/powerpoint/2010/main" val="520327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a:xfrm>
            <a:off x="660400" y="1130300"/>
            <a:ext cx="11703318" cy="5727700"/>
          </a:xfrm>
        </p:spPr>
        <p:txBody>
          <a:bodyPr>
            <a:normAutofit/>
          </a:bodyPr>
          <a:lstStyle/>
          <a:p>
            <a:r>
              <a:rPr lang="en-US" altLang="zh-CN" dirty="0"/>
              <a:t>1. </a:t>
            </a:r>
            <a:r>
              <a:rPr lang="zh-CN" altLang="en-US" dirty="0"/>
              <a:t>定义新函数</a:t>
            </a:r>
            <a:endParaRPr lang="en-US" altLang="zh-CN" dirty="0"/>
          </a:p>
          <a:p>
            <a:pPr lvl="1">
              <a:spcBef>
                <a:spcPts val="1200"/>
              </a:spcBef>
            </a:pPr>
            <a:r>
              <a:rPr lang="en-US" altLang="zh-CN" dirty="0"/>
              <a:t>(1)</a:t>
            </a:r>
            <a:r>
              <a:rPr lang="zh-CN" altLang="en-US" dirty="0"/>
              <a:t>如何定义新函数？</a:t>
            </a:r>
            <a:endParaRPr lang="en-US" altLang="zh-CN" dirty="0"/>
          </a:p>
          <a:p>
            <a:pPr marL="914377" lvl="2" indent="0">
              <a:spcBef>
                <a:spcPts val="1200"/>
              </a:spcBef>
              <a:buNone/>
            </a:pPr>
            <a:r>
              <a:rPr lang="en-US" altLang="zh-CN" dirty="0">
                <a:solidFill>
                  <a:srgbClr val="FF0000"/>
                </a:solidFill>
              </a:rPr>
              <a:t>def </a:t>
            </a:r>
            <a:r>
              <a:rPr lang="zh-CN" altLang="en-US" dirty="0">
                <a:solidFill>
                  <a:srgbClr val="FF0000"/>
                </a:solidFill>
              </a:rPr>
              <a:t>函数名</a:t>
            </a:r>
            <a:r>
              <a:rPr lang="en-US" altLang="zh-CN" dirty="0">
                <a:solidFill>
                  <a:srgbClr val="FF0000"/>
                </a:solidFill>
              </a:rPr>
              <a:t>([</a:t>
            </a:r>
            <a:r>
              <a:rPr lang="zh-CN" altLang="en-US" dirty="0">
                <a:solidFill>
                  <a:srgbClr val="FF0000"/>
                </a:solidFill>
              </a:rPr>
              <a:t>参数表</a:t>
            </a:r>
            <a:r>
              <a:rPr lang="en-US" altLang="zh-CN" dirty="0">
                <a:solidFill>
                  <a:srgbClr val="FF0000"/>
                </a:solidFill>
              </a:rPr>
              <a:t>]):</a:t>
            </a:r>
          </a:p>
          <a:p>
            <a:pPr marL="1371566" lvl="3" indent="0">
              <a:spcBef>
                <a:spcPts val="1200"/>
              </a:spcBef>
              <a:buNone/>
            </a:pPr>
            <a:r>
              <a:rPr lang="en-US" altLang="zh-CN" dirty="0">
                <a:solidFill>
                  <a:srgbClr val="FF0000"/>
                </a:solidFill>
              </a:rPr>
              <a:t>&lt;</a:t>
            </a:r>
            <a:r>
              <a:rPr lang="zh-CN" altLang="en-US" dirty="0">
                <a:solidFill>
                  <a:srgbClr val="FF0000"/>
                </a:solidFill>
              </a:rPr>
              <a:t>函数体</a:t>
            </a:r>
            <a:r>
              <a:rPr lang="en-US" altLang="zh-CN" dirty="0">
                <a:solidFill>
                  <a:srgbClr val="FF0000"/>
                </a:solidFill>
              </a:rPr>
              <a:t>&gt;</a:t>
            </a:r>
          </a:p>
          <a:p>
            <a:pPr marL="1371566" lvl="3" indent="0">
              <a:spcBef>
                <a:spcPts val="1200"/>
              </a:spcBef>
              <a:buNone/>
            </a:pPr>
            <a:r>
              <a:rPr lang="en-US" altLang="zh-CN" dirty="0">
                <a:solidFill>
                  <a:srgbClr val="FF0000"/>
                </a:solidFill>
              </a:rPr>
              <a:t>[return&lt;</a:t>
            </a:r>
            <a:r>
              <a:rPr lang="zh-CN" altLang="en-US" dirty="0">
                <a:solidFill>
                  <a:srgbClr val="FF0000"/>
                </a:solidFill>
              </a:rPr>
              <a:t>返回值</a:t>
            </a:r>
            <a:r>
              <a:rPr lang="en-US" altLang="zh-CN" dirty="0">
                <a:solidFill>
                  <a:srgbClr val="FF0000"/>
                </a:solidFill>
              </a:rPr>
              <a:t>&gt;]</a:t>
            </a:r>
          </a:p>
          <a:p>
            <a:pPr lvl="2">
              <a:spcBef>
                <a:spcPts val="1200"/>
              </a:spcBef>
            </a:pPr>
            <a:r>
              <a:rPr lang="zh-CN" altLang="en-US" dirty="0"/>
              <a:t>自定义函数一般由函数名、参数和函数体组成</a:t>
            </a:r>
            <a:endParaRPr lang="en-US" altLang="zh-CN" dirty="0"/>
          </a:p>
          <a:p>
            <a:pPr lvl="1">
              <a:spcBef>
                <a:spcPts val="1200"/>
              </a:spcBef>
            </a:pPr>
            <a:r>
              <a:rPr lang="en-US" altLang="zh-CN" dirty="0"/>
              <a:t>(2)</a:t>
            </a:r>
            <a:r>
              <a:rPr lang="zh-CN" altLang="en-US" dirty="0"/>
              <a:t>调用函数</a:t>
            </a:r>
            <a:endParaRPr lang="en-US" altLang="zh-CN" dirty="0"/>
          </a:p>
          <a:p>
            <a:pPr lvl="2">
              <a:spcBef>
                <a:spcPts val="1200"/>
              </a:spcBef>
            </a:pPr>
            <a:r>
              <a:rPr lang="zh-CN" altLang="en-US" dirty="0">
                <a:solidFill>
                  <a:srgbClr val="0070C0"/>
                </a:solidFill>
              </a:rPr>
              <a:t>函数名</a:t>
            </a:r>
            <a:r>
              <a:rPr lang="en-US" altLang="zh-CN" dirty="0">
                <a:solidFill>
                  <a:srgbClr val="0070C0"/>
                </a:solidFill>
              </a:rPr>
              <a:t>([</a:t>
            </a:r>
            <a:r>
              <a:rPr lang="zh-CN" altLang="en-US" dirty="0">
                <a:solidFill>
                  <a:srgbClr val="0070C0"/>
                </a:solidFill>
              </a:rPr>
              <a:t>参数列表</a:t>
            </a:r>
            <a:r>
              <a:rPr lang="en-US" altLang="zh-CN" dirty="0">
                <a:solidFill>
                  <a:srgbClr val="0070C0"/>
                </a:solidFill>
              </a:rPr>
              <a:t>])</a:t>
            </a:r>
          </a:p>
          <a:p>
            <a:pPr lvl="2">
              <a:spcBef>
                <a:spcPts val="1200"/>
              </a:spcBef>
            </a:pPr>
            <a:r>
              <a:rPr lang="zh-CN" altLang="en-US" dirty="0"/>
              <a:t>参数列表中给出要传入函数内部的数据，这类参数称为实际参数，简称为“</a:t>
            </a:r>
            <a:r>
              <a:rPr lang="zh-CN" altLang="en-US" dirty="0">
                <a:solidFill>
                  <a:srgbClr val="0070C0"/>
                </a:solidFill>
              </a:rPr>
              <a:t>实参</a:t>
            </a:r>
            <a:r>
              <a:rPr lang="zh-CN" altLang="en-US" dirty="0"/>
              <a:t>”。</a:t>
            </a:r>
            <a:endParaRPr lang="en-US" altLang="zh-CN" dirty="0"/>
          </a:p>
          <a:p>
            <a:pPr lvl="2">
              <a:spcBef>
                <a:spcPts val="1200"/>
              </a:spcBef>
            </a:pPr>
            <a:r>
              <a:rPr lang="zh-CN" altLang="en-US" dirty="0"/>
              <a:t>实参和形参要一一对应，而且类型完全相同；形参名称与实参名称可以相同或不同</a:t>
            </a:r>
            <a:endParaRPr lang="en-US" altLang="zh-CN" dirty="0"/>
          </a:p>
          <a:p>
            <a:pPr lvl="2">
              <a:spcBef>
                <a:spcPts val="1200"/>
              </a:spcBef>
            </a:pPr>
            <a:r>
              <a:rPr lang="zh-CN" altLang="en-US" dirty="0"/>
              <a:t>如果函数被定义为无返回值函数，则调用时写函数名称并给予实参即可</a:t>
            </a:r>
            <a:endParaRPr lang="en-US" altLang="zh-CN" dirty="0"/>
          </a:p>
          <a:p>
            <a:pPr lvl="2">
              <a:spcBef>
                <a:spcPts val="1200"/>
              </a:spcBef>
            </a:pPr>
            <a:r>
              <a:rPr lang="zh-CN" altLang="en-US" dirty="0"/>
              <a:t>如果函数被定义为带返回值函数，则调用时要使用赋值语句或</a:t>
            </a:r>
            <a:r>
              <a:rPr lang="en-US" altLang="zh-CN" dirty="0"/>
              <a:t>print</a:t>
            </a:r>
            <a:r>
              <a:rPr lang="zh-CN" altLang="en-US" dirty="0"/>
              <a:t>语句中直接输出返回值</a:t>
            </a:r>
            <a:endParaRPr lang="en-US" altLang="zh-CN" dirty="0"/>
          </a:p>
          <a:p>
            <a:pPr lvl="2">
              <a:spcBef>
                <a:spcPts val="1200"/>
              </a:spcBef>
            </a:pPr>
            <a:endParaRPr lang="en-US" altLang="zh-CN" dirty="0"/>
          </a:p>
        </p:txBody>
      </p:sp>
      <p:sp>
        <p:nvSpPr>
          <p:cNvPr id="5" name="文本框 4">
            <a:extLst>
              <a:ext uri="{FF2B5EF4-FFF2-40B4-BE49-F238E27FC236}">
                <a16:creationId xmlns:a16="http://schemas.microsoft.com/office/drawing/2014/main" id="{A62D364D-4E1E-E94E-A3DF-4E5478EFE340}"/>
              </a:ext>
            </a:extLst>
          </p:cNvPr>
          <p:cNvSpPr txBox="1"/>
          <p:nvPr/>
        </p:nvSpPr>
        <p:spPr>
          <a:xfrm>
            <a:off x="4105844" y="0"/>
            <a:ext cx="4382548" cy="2123658"/>
          </a:xfrm>
          <a:prstGeom prst="rect">
            <a:avLst/>
          </a:prstGeom>
          <a:solidFill>
            <a:schemeClr val="bg2">
              <a:lumMod val="25000"/>
            </a:schemeClr>
          </a:solidFill>
          <a:effectLst>
            <a:outerShdw blurRad="50800" dist="38100" dir="5400000" algn="t" rotWithShape="0">
              <a:prstClr val="black">
                <a:alpha val="40000"/>
              </a:prstClr>
            </a:outerShdw>
          </a:effec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1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1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1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16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pic>
        <p:nvPicPr>
          <p:cNvPr id="4" name="图片 3">
            <a:extLst>
              <a:ext uri="{FF2B5EF4-FFF2-40B4-BE49-F238E27FC236}">
                <a16:creationId xmlns:a16="http://schemas.microsoft.com/office/drawing/2014/main" id="{7AE547D6-E35F-0BFC-6987-69C88278D5C8}"/>
              </a:ext>
            </a:extLst>
          </p:cNvPr>
          <p:cNvPicPr>
            <a:picLocks noChangeAspect="1"/>
          </p:cNvPicPr>
          <p:nvPr/>
        </p:nvPicPr>
        <p:blipFill>
          <a:blip r:embed="rId3"/>
          <a:stretch>
            <a:fillRect/>
          </a:stretch>
        </p:blipFill>
        <p:spPr>
          <a:xfrm>
            <a:off x="7900032" y="2123658"/>
            <a:ext cx="4194201" cy="2644170"/>
          </a:xfrm>
          <a:prstGeom prst="rect">
            <a:avLst/>
          </a:prstGeom>
          <a:ln>
            <a:noFill/>
          </a:ln>
          <a:effectLst>
            <a:outerShdw blurRad="292100" dist="139700" dir="2700000" algn="tl" rotWithShape="0">
              <a:srgbClr val="333333">
                <a:alpha val="65000"/>
              </a:srgbClr>
            </a:outerShdw>
          </a:effectLst>
        </p:spPr>
      </p:pic>
      <p:sp>
        <p:nvSpPr>
          <p:cNvPr id="6" name="文本框 5">
            <a:extLst>
              <a:ext uri="{FF2B5EF4-FFF2-40B4-BE49-F238E27FC236}">
                <a16:creationId xmlns:a16="http://schemas.microsoft.com/office/drawing/2014/main" id="{1B03C0FC-0790-2123-E5EE-FF7F9721CC91}"/>
              </a:ext>
            </a:extLst>
          </p:cNvPr>
          <p:cNvSpPr txBox="1"/>
          <p:nvPr/>
        </p:nvSpPr>
        <p:spPr>
          <a:xfrm>
            <a:off x="10717618" y="4814965"/>
            <a:ext cx="147438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2F2F2F"/>
                </a:solidFill>
                <a:effectLst/>
                <a:uLnTx/>
                <a:uFillTx/>
                <a:latin typeface="思源黑体 CN Normal"/>
                <a:ea typeface="思源黑体 CN Normal"/>
                <a:cs typeface="+mn-cs"/>
              </a:rPr>
              <a:t>https://blog.csdn.net/dongfuguo/article/details/118705163</a:t>
            </a:r>
            <a:endParaRPr kumimoji="0" lang="zh-CN" altLang="en-US" sz="70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spTree>
    <p:extLst>
      <p:ext uri="{BB962C8B-B14F-4D97-AF65-F5344CB8AC3E}">
        <p14:creationId xmlns:p14="http://schemas.microsoft.com/office/powerpoint/2010/main" val="421300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p:txBody>
          <a:bodyPr>
            <a:normAutofit/>
          </a:bodyPr>
          <a:lstStyle/>
          <a:p>
            <a:r>
              <a:rPr lang="en-US" altLang="zh-CN" dirty="0"/>
              <a:t>1. </a:t>
            </a:r>
            <a:r>
              <a:rPr lang="zh-CN" altLang="en-US" dirty="0"/>
              <a:t>定义新函数</a:t>
            </a:r>
            <a:endParaRPr lang="en-US" altLang="zh-CN" dirty="0"/>
          </a:p>
          <a:p>
            <a:pPr lvl="1">
              <a:spcBef>
                <a:spcPts val="1200"/>
              </a:spcBef>
            </a:pPr>
            <a:r>
              <a:rPr lang="en-US" altLang="zh-CN" dirty="0"/>
              <a:t>(2)</a:t>
            </a:r>
            <a:r>
              <a:rPr lang="zh-CN" altLang="en-US" dirty="0"/>
              <a:t>新函数实例</a:t>
            </a:r>
            <a:endParaRPr lang="en-US" altLang="zh-CN" dirty="0"/>
          </a:p>
          <a:p>
            <a:pPr lvl="2">
              <a:spcBef>
                <a:spcPts val="1200"/>
              </a:spcBef>
            </a:pPr>
            <a:endParaRPr lang="en-US" altLang="zh-CN" dirty="0"/>
          </a:p>
          <a:p>
            <a:pPr lvl="2">
              <a:spcBef>
                <a:spcPts val="1200"/>
              </a:spcBef>
            </a:pPr>
            <a:endParaRPr lang="en-US" altLang="zh-CN" dirty="0"/>
          </a:p>
          <a:p>
            <a:pPr lvl="2">
              <a:spcBef>
                <a:spcPts val="1200"/>
              </a:spcBef>
            </a:pPr>
            <a:endParaRPr lang="en-US" altLang="zh-CN" dirty="0"/>
          </a:p>
          <a:p>
            <a:pPr lvl="2">
              <a:spcBef>
                <a:spcPts val="1200"/>
              </a:spcBef>
            </a:pPr>
            <a:endParaRPr lang="en-US" altLang="zh-CN" dirty="0"/>
          </a:p>
        </p:txBody>
      </p:sp>
      <p:sp>
        <p:nvSpPr>
          <p:cNvPr id="7" name="文本框 6">
            <a:extLst>
              <a:ext uri="{FF2B5EF4-FFF2-40B4-BE49-F238E27FC236}">
                <a16:creationId xmlns:a16="http://schemas.microsoft.com/office/drawing/2014/main" id="{241B91A0-3DBF-E5C7-F6FE-F0262AB6577A}"/>
              </a:ext>
            </a:extLst>
          </p:cNvPr>
          <p:cNvSpPr txBox="1"/>
          <p:nvPr/>
        </p:nvSpPr>
        <p:spPr>
          <a:xfrm>
            <a:off x="1555366" y="2311497"/>
            <a:ext cx="4377601" cy="2893100"/>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4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pic>
        <p:nvPicPr>
          <p:cNvPr id="4" name="图片 3">
            <a:extLst>
              <a:ext uri="{FF2B5EF4-FFF2-40B4-BE49-F238E27FC236}">
                <a16:creationId xmlns:a16="http://schemas.microsoft.com/office/drawing/2014/main" id="{7D451728-8143-ABC0-317C-823E5B0267F5}"/>
              </a:ext>
            </a:extLst>
          </p:cNvPr>
          <p:cNvPicPr>
            <a:picLocks noChangeAspect="1"/>
          </p:cNvPicPr>
          <p:nvPr/>
        </p:nvPicPr>
        <p:blipFill>
          <a:blip r:embed="rId2"/>
          <a:stretch>
            <a:fillRect/>
          </a:stretch>
        </p:blipFill>
        <p:spPr>
          <a:xfrm>
            <a:off x="7609049" y="0"/>
            <a:ext cx="4582951" cy="6858000"/>
          </a:xfrm>
          <a:prstGeom prst="rect">
            <a:avLst/>
          </a:prstGeom>
        </p:spPr>
      </p:pic>
    </p:spTree>
    <p:extLst>
      <p:ext uri="{BB962C8B-B14F-4D97-AF65-F5344CB8AC3E}">
        <p14:creationId xmlns:p14="http://schemas.microsoft.com/office/powerpoint/2010/main" val="3371668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a:xfrm>
            <a:off x="660401" y="1130300"/>
            <a:ext cx="3428809" cy="5003800"/>
          </a:xfrm>
        </p:spPr>
        <p:txBody>
          <a:bodyPr>
            <a:normAutofit/>
          </a:bodyPr>
          <a:lstStyle/>
          <a:p>
            <a:r>
              <a:rPr lang="en-US" altLang="zh-CN" dirty="0"/>
              <a:t>2. </a:t>
            </a:r>
            <a:r>
              <a:rPr lang="zh-CN" altLang="en-US" dirty="0"/>
              <a:t>函数间信息的传递</a:t>
            </a:r>
            <a:endParaRPr lang="en-US" altLang="zh-CN" dirty="0"/>
          </a:p>
          <a:p>
            <a:pPr lvl="1">
              <a:spcBef>
                <a:spcPts val="1200"/>
              </a:spcBef>
            </a:pPr>
            <a:r>
              <a:rPr lang="en-US" altLang="zh-CN" dirty="0"/>
              <a:t>(1)</a:t>
            </a:r>
            <a:r>
              <a:rPr lang="zh-CN" altLang="en-US" dirty="0"/>
              <a:t>函数间的关系</a:t>
            </a:r>
            <a:endParaRPr lang="en-US" altLang="zh-CN" dirty="0"/>
          </a:p>
          <a:p>
            <a:pPr lvl="2">
              <a:spcBef>
                <a:spcPts val="1200"/>
              </a:spcBef>
            </a:pPr>
            <a:r>
              <a:rPr lang="zh-CN" altLang="en-US" dirty="0"/>
              <a:t>并列关系</a:t>
            </a:r>
            <a:endParaRPr lang="en-US" altLang="zh-CN" dirty="0"/>
          </a:p>
          <a:p>
            <a:pPr lvl="2">
              <a:spcBef>
                <a:spcPts val="1200"/>
              </a:spcBef>
            </a:pPr>
            <a:r>
              <a:rPr lang="zh-CN" altLang="en-US" dirty="0"/>
              <a:t>上下级关系</a:t>
            </a:r>
            <a:endParaRPr lang="en-US" altLang="zh-CN" dirty="0"/>
          </a:p>
          <a:p>
            <a:pPr lvl="3">
              <a:spcBef>
                <a:spcPts val="1200"/>
              </a:spcBef>
            </a:pPr>
            <a:r>
              <a:rPr lang="zh-CN" altLang="en-US" dirty="0"/>
              <a:t>主程序（负责调用函数的程序）</a:t>
            </a:r>
            <a:r>
              <a:rPr lang="en-US" altLang="zh-CN" dirty="0"/>
              <a:t>——</a:t>
            </a:r>
            <a:r>
              <a:rPr lang="zh-CN" altLang="en-US" dirty="0"/>
              <a:t>子程序（函数本身）</a:t>
            </a:r>
            <a:endParaRPr lang="en-US" altLang="zh-CN" dirty="0"/>
          </a:p>
          <a:p>
            <a:pPr lvl="2">
              <a:spcBef>
                <a:spcPts val="1200"/>
              </a:spcBef>
            </a:pPr>
            <a:endParaRPr lang="en-US" altLang="zh-CN" dirty="0"/>
          </a:p>
          <a:p>
            <a:pPr lvl="2">
              <a:spcBef>
                <a:spcPts val="1200"/>
              </a:spcBef>
            </a:pPr>
            <a:endParaRPr lang="en-US" altLang="zh-CN" dirty="0"/>
          </a:p>
        </p:txBody>
      </p:sp>
      <p:pic>
        <p:nvPicPr>
          <p:cNvPr id="5" name="图片 4">
            <a:extLst>
              <a:ext uri="{FF2B5EF4-FFF2-40B4-BE49-F238E27FC236}">
                <a16:creationId xmlns:a16="http://schemas.microsoft.com/office/drawing/2014/main" id="{5567EB7F-7958-CD35-3A90-0428EF156B21}"/>
              </a:ext>
            </a:extLst>
          </p:cNvPr>
          <p:cNvPicPr>
            <a:picLocks noChangeAspect="1"/>
          </p:cNvPicPr>
          <p:nvPr/>
        </p:nvPicPr>
        <p:blipFill rotWithShape="1">
          <a:blip r:embed="rId2"/>
          <a:srcRect r="4531"/>
          <a:stretch/>
        </p:blipFill>
        <p:spPr>
          <a:xfrm>
            <a:off x="7487479" y="2519916"/>
            <a:ext cx="4704521" cy="4338084"/>
          </a:xfrm>
          <a:prstGeom prst="rect">
            <a:avLst/>
          </a:prstGeom>
        </p:spPr>
      </p:pic>
      <p:pic>
        <p:nvPicPr>
          <p:cNvPr id="6" name="图片 5">
            <a:extLst>
              <a:ext uri="{FF2B5EF4-FFF2-40B4-BE49-F238E27FC236}">
                <a16:creationId xmlns:a16="http://schemas.microsoft.com/office/drawing/2014/main" id="{7AFD7533-24D0-7327-877F-3B8FCDFBF241}"/>
              </a:ext>
            </a:extLst>
          </p:cNvPr>
          <p:cNvPicPr>
            <a:picLocks noChangeAspect="1"/>
          </p:cNvPicPr>
          <p:nvPr/>
        </p:nvPicPr>
        <p:blipFill rotWithShape="1">
          <a:blip r:embed="rId3"/>
          <a:srcRect b="27037"/>
          <a:stretch/>
        </p:blipFill>
        <p:spPr>
          <a:xfrm>
            <a:off x="4133098" y="3115340"/>
            <a:ext cx="3428809" cy="3742660"/>
          </a:xfrm>
          <a:prstGeom prst="rect">
            <a:avLst/>
          </a:prstGeom>
        </p:spPr>
      </p:pic>
    </p:spTree>
    <p:extLst>
      <p:ext uri="{BB962C8B-B14F-4D97-AF65-F5344CB8AC3E}">
        <p14:creationId xmlns:p14="http://schemas.microsoft.com/office/powerpoint/2010/main" val="2882707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a:xfrm>
            <a:off x="22448" y="1098401"/>
            <a:ext cx="7973236" cy="5961617"/>
          </a:xfrm>
        </p:spPr>
        <p:txBody>
          <a:bodyPr>
            <a:normAutofit fontScale="92500" lnSpcReduction="10000"/>
          </a:bodyPr>
          <a:lstStyle/>
          <a:p>
            <a:pPr>
              <a:lnSpc>
                <a:spcPct val="120000"/>
              </a:lnSpc>
            </a:pPr>
            <a:r>
              <a:rPr lang="en-US" altLang="zh-CN" dirty="0"/>
              <a:t>2. </a:t>
            </a:r>
            <a:r>
              <a:rPr lang="zh-CN" altLang="en-US" dirty="0"/>
              <a:t>函数间信息的传递</a:t>
            </a:r>
            <a:endParaRPr lang="en-US" altLang="zh-CN" dirty="0"/>
          </a:p>
          <a:p>
            <a:pPr lvl="1">
              <a:lnSpc>
                <a:spcPct val="120000"/>
              </a:lnSpc>
            </a:pPr>
            <a:r>
              <a:rPr lang="en-US" altLang="zh-CN" dirty="0"/>
              <a:t>(2)</a:t>
            </a:r>
            <a:r>
              <a:rPr lang="zh-CN" altLang="en-US" dirty="0"/>
              <a:t>变量的类型</a:t>
            </a:r>
            <a:endParaRPr lang="en-US" altLang="zh-CN" dirty="0"/>
          </a:p>
          <a:p>
            <a:pPr lvl="2">
              <a:lnSpc>
                <a:spcPct val="120000"/>
              </a:lnSpc>
            </a:pPr>
            <a:r>
              <a:rPr lang="zh-CN" altLang="en-US" dirty="0">
                <a:solidFill>
                  <a:schemeClr val="accent1"/>
                </a:solidFill>
              </a:rPr>
              <a:t>全局性变量</a:t>
            </a:r>
            <a:endParaRPr lang="en-US" altLang="zh-CN" dirty="0">
              <a:solidFill>
                <a:schemeClr val="accent1"/>
              </a:solidFill>
            </a:endParaRPr>
          </a:p>
          <a:p>
            <a:pPr lvl="3">
              <a:lnSpc>
                <a:spcPct val="120000"/>
              </a:lnSpc>
            </a:pPr>
            <a:r>
              <a:rPr lang="zh-CN" altLang="en-US" dirty="0"/>
              <a:t>作用范围为整个程序的变量</a:t>
            </a:r>
            <a:endParaRPr lang="en-US" altLang="zh-CN" dirty="0"/>
          </a:p>
          <a:p>
            <a:pPr lvl="3">
              <a:lnSpc>
                <a:spcPct val="120000"/>
              </a:lnSpc>
            </a:pPr>
            <a:r>
              <a:rPr lang="zh-CN" altLang="en-US" b="0" dirty="0"/>
              <a:t>位于主程序且顶格定义，没有任何缩进的变量，</a:t>
            </a:r>
            <a:br>
              <a:rPr lang="en-US" altLang="zh-CN" b="0" dirty="0"/>
            </a:br>
            <a:r>
              <a:rPr lang="zh-CN" altLang="en-US" b="0" dirty="0"/>
              <a:t>不属于任何函数，</a:t>
            </a:r>
            <a:r>
              <a:rPr lang="zh-CN" altLang="en-US" dirty="0"/>
              <a:t>不会自动作用于各函数内部</a:t>
            </a:r>
            <a:endParaRPr lang="en-US" altLang="zh-CN" dirty="0"/>
          </a:p>
          <a:p>
            <a:pPr lvl="3">
              <a:lnSpc>
                <a:spcPct val="120000"/>
              </a:lnSpc>
            </a:pPr>
            <a:r>
              <a:rPr lang="zh-CN" altLang="en-US" dirty="0">
                <a:solidFill>
                  <a:srgbClr val="FF0000"/>
                </a:solidFill>
              </a:rPr>
              <a:t>在函数内，以</a:t>
            </a:r>
            <a:r>
              <a:rPr lang="en-US" altLang="zh-CN" b="0" dirty="0">
                <a:solidFill>
                  <a:srgbClr val="FF0000"/>
                </a:solidFill>
              </a:rPr>
              <a:t>global</a:t>
            </a:r>
            <a:r>
              <a:rPr lang="zh-CN" altLang="en-US" b="0" dirty="0">
                <a:solidFill>
                  <a:srgbClr val="FF0000"/>
                </a:solidFill>
              </a:rPr>
              <a:t>关键字声明的变量</a:t>
            </a:r>
            <a:endParaRPr lang="en-US" altLang="zh-CN" dirty="0">
              <a:solidFill>
                <a:srgbClr val="FF0000"/>
              </a:solidFill>
            </a:endParaRPr>
          </a:p>
          <a:p>
            <a:pPr lvl="2">
              <a:lnSpc>
                <a:spcPct val="120000"/>
              </a:lnSpc>
            </a:pPr>
            <a:r>
              <a:rPr lang="zh-CN" altLang="en-US" dirty="0">
                <a:solidFill>
                  <a:schemeClr val="accent1"/>
                </a:solidFill>
              </a:rPr>
              <a:t>局部变量</a:t>
            </a:r>
            <a:endParaRPr lang="en-US" altLang="zh-CN" dirty="0">
              <a:solidFill>
                <a:schemeClr val="accent1"/>
              </a:solidFill>
            </a:endParaRPr>
          </a:p>
          <a:p>
            <a:pPr lvl="3">
              <a:lnSpc>
                <a:spcPct val="120000"/>
              </a:lnSpc>
            </a:pPr>
            <a:r>
              <a:rPr lang="zh-CN" altLang="en-US" dirty="0"/>
              <a:t>定义于函数内部，作用范围仅限于某个函数的变量</a:t>
            </a:r>
            <a:endParaRPr lang="en-US" altLang="zh-CN" dirty="0"/>
          </a:p>
          <a:p>
            <a:pPr lvl="3">
              <a:lnSpc>
                <a:spcPct val="120000"/>
              </a:lnSpc>
            </a:pPr>
            <a:r>
              <a:rPr lang="zh-CN" altLang="en-US" dirty="0"/>
              <a:t>说明：</a:t>
            </a:r>
            <a:endParaRPr lang="en-US" altLang="zh-CN" dirty="0"/>
          </a:p>
          <a:p>
            <a:pPr lvl="4">
              <a:lnSpc>
                <a:spcPct val="120000"/>
              </a:lnSpc>
            </a:pPr>
            <a:r>
              <a:rPr lang="zh-CN" altLang="en-US" dirty="0"/>
              <a:t>某变量在函数内重新定义过，则此变量为本函数的局部变量，与函数外的同名变量没有关系</a:t>
            </a:r>
            <a:endParaRPr lang="en-US" altLang="zh-CN" dirty="0"/>
          </a:p>
          <a:p>
            <a:pPr lvl="4">
              <a:lnSpc>
                <a:spcPct val="120000"/>
              </a:lnSpc>
            </a:pPr>
            <a:r>
              <a:rPr lang="zh-CN" altLang="en-US" dirty="0"/>
              <a:t>某变量位于函数内部且在函数外无同名变量，局部变量</a:t>
            </a:r>
            <a:endParaRPr lang="en-US" altLang="zh-CN" dirty="0"/>
          </a:p>
          <a:p>
            <a:pPr lvl="4">
              <a:lnSpc>
                <a:spcPct val="120000"/>
              </a:lnSpc>
            </a:pPr>
            <a:r>
              <a:rPr lang="zh-CN" altLang="en-US" dirty="0"/>
              <a:t>某变量位于函数内部但在函数外有同名变量，且未标记</a:t>
            </a:r>
            <a:r>
              <a:rPr lang="en-US" altLang="zh-CN" dirty="0"/>
              <a:t>global</a:t>
            </a:r>
            <a:r>
              <a:rPr lang="zh-CN" altLang="en-US" dirty="0"/>
              <a:t>，简单变量可向内传值但不回传，组合变量双向传值。</a:t>
            </a:r>
            <a:endParaRPr lang="en-US" altLang="zh-CN" dirty="0"/>
          </a:p>
          <a:p>
            <a:pPr lvl="2">
              <a:lnSpc>
                <a:spcPct val="120000"/>
              </a:lnSpc>
            </a:pPr>
            <a:r>
              <a:rPr lang="zh-CN" altLang="en-US" dirty="0">
                <a:solidFill>
                  <a:srgbClr val="FF0000"/>
                </a:solidFill>
              </a:rPr>
              <a:t>若需要通过全局变量传递信息，需要在函数内将某变量以</a:t>
            </a:r>
            <a:r>
              <a:rPr lang="en-US" altLang="zh-CN" dirty="0">
                <a:solidFill>
                  <a:srgbClr val="FF0000"/>
                </a:solidFill>
              </a:rPr>
              <a:t>global </a:t>
            </a:r>
            <a:r>
              <a:rPr lang="zh-CN" altLang="en-US" dirty="0">
                <a:solidFill>
                  <a:srgbClr val="FF0000"/>
                </a:solidFill>
              </a:rPr>
              <a:t>修饰符设置为“全局变量”</a:t>
            </a:r>
            <a:endParaRPr lang="en-US" altLang="zh-CN" dirty="0">
              <a:solidFill>
                <a:srgbClr val="FF0000"/>
              </a:solidFill>
            </a:endParaRPr>
          </a:p>
          <a:p>
            <a:pPr lvl="2">
              <a:lnSpc>
                <a:spcPct val="120000"/>
              </a:lnSpc>
            </a:pPr>
            <a:endParaRPr lang="en-US" altLang="zh-CN" dirty="0"/>
          </a:p>
        </p:txBody>
      </p:sp>
      <p:pic>
        <p:nvPicPr>
          <p:cNvPr id="5" name="图片 4">
            <a:extLst>
              <a:ext uri="{FF2B5EF4-FFF2-40B4-BE49-F238E27FC236}">
                <a16:creationId xmlns:a16="http://schemas.microsoft.com/office/drawing/2014/main" id="{CA9466F1-9D57-EC5F-DF7D-506472CDC6DA}"/>
              </a:ext>
            </a:extLst>
          </p:cNvPr>
          <p:cNvPicPr>
            <a:picLocks noChangeAspect="1"/>
          </p:cNvPicPr>
          <p:nvPr/>
        </p:nvPicPr>
        <p:blipFill>
          <a:blip r:embed="rId3"/>
          <a:stretch>
            <a:fillRect/>
          </a:stretch>
        </p:blipFill>
        <p:spPr>
          <a:xfrm>
            <a:off x="3539088" y="-2717"/>
            <a:ext cx="5438775" cy="1771650"/>
          </a:xfrm>
          <a:prstGeom prst="rect">
            <a:avLst/>
          </a:prstGeom>
          <a:ln>
            <a:noFill/>
          </a:ln>
          <a:effectLst>
            <a:outerShdw blurRad="292100" dist="139700" dir="2700000" algn="tl" rotWithShape="0">
              <a:srgbClr val="333333">
                <a:alpha val="65000"/>
              </a:srgbClr>
            </a:outerShdw>
          </a:effectLst>
        </p:spPr>
      </p:pic>
      <p:pic>
        <p:nvPicPr>
          <p:cNvPr id="7" name="图片 6">
            <a:extLst>
              <a:ext uri="{FF2B5EF4-FFF2-40B4-BE49-F238E27FC236}">
                <a16:creationId xmlns:a16="http://schemas.microsoft.com/office/drawing/2014/main" id="{EE6C0EC1-6E49-2CA6-93DE-35F29BC00654}"/>
              </a:ext>
            </a:extLst>
          </p:cNvPr>
          <p:cNvPicPr>
            <a:picLocks noChangeAspect="1"/>
          </p:cNvPicPr>
          <p:nvPr/>
        </p:nvPicPr>
        <p:blipFill>
          <a:blip r:embed="rId4"/>
          <a:stretch>
            <a:fillRect/>
          </a:stretch>
        </p:blipFill>
        <p:spPr>
          <a:xfrm>
            <a:off x="8652913" y="-74428"/>
            <a:ext cx="3539087" cy="6858000"/>
          </a:xfrm>
          <a:prstGeom prst="rect">
            <a:avLst/>
          </a:prstGeom>
        </p:spPr>
      </p:pic>
    </p:spTree>
    <p:extLst>
      <p:ext uri="{BB962C8B-B14F-4D97-AF65-F5344CB8AC3E}">
        <p14:creationId xmlns:p14="http://schemas.microsoft.com/office/powerpoint/2010/main" val="1052497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a:xfrm>
            <a:off x="352057" y="1130299"/>
            <a:ext cx="8122092" cy="5323663"/>
          </a:xfrm>
        </p:spPr>
        <p:txBody>
          <a:bodyPr>
            <a:normAutofit fontScale="92500" lnSpcReduction="20000"/>
          </a:bodyPr>
          <a:lstStyle/>
          <a:p>
            <a:r>
              <a:rPr lang="en-US" altLang="zh-CN" sz="2600" dirty="0"/>
              <a:t>2. </a:t>
            </a:r>
            <a:r>
              <a:rPr lang="zh-CN" altLang="en-US" sz="2600" dirty="0"/>
              <a:t>函数间信息的传递</a:t>
            </a:r>
            <a:endParaRPr lang="en-US" altLang="zh-CN" sz="2600" dirty="0"/>
          </a:p>
          <a:p>
            <a:pPr lvl="1">
              <a:spcBef>
                <a:spcPts val="1200"/>
              </a:spcBef>
            </a:pPr>
            <a:r>
              <a:rPr lang="en-US" altLang="zh-CN" sz="2200" dirty="0"/>
              <a:t>(3) </a:t>
            </a:r>
            <a:r>
              <a:rPr lang="zh-CN" altLang="en-US" sz="2200" dirty="0"/>
              <a:t>函数间通过参数传递信息</a:t>
            </a:r>
            <a:endParaRPr lang="en-US" altLang="zh-CN" sz="2200" dirty="0"/>
          </a:p>
          <a:p>
            <a:pPr lvl="2">
              <a:spcBef>
                <a:spcPts val="1200"/>
              </a:spcBef>
            </a:pPr>
            <a:r>
              <a:rPr lang="zh-CN" altLang="en-US" sz="1900" dirty="0"/>
              <a:t>简单类型：</a:t>
            </a:r>
            <a:endParaRPr lang="en-US" altLang="zh-CN" sz="1900" dirty="0"/>
          </a:p>
          <a:p>
            <a:pPr lvl="3">
              <a:spcBef>
                <a:spcPts val="1200"/>
              </a:spcBef>
            </a:pPr>
            <a:r>
              <a:rPr lang="zh-CN" altLang="en-US" sz="1700" dirty="0"/>
              <a:t>从主程序传递进子程序，但不会把子程序中的改变带回主程序，值传递</a:t>
            </a:r>
            <a:endParaRPr lang="en-US" altLang="zh-CN" sz="1700" dirty="0"/>
          </a:p>
          <a:p>
            <a:pPr lvl="2">
              <a:spcBef>
                <a:spcPts val="1200"/>
              </a:spcBef>
            </a:pPr>
            <a:r>
              <a:rPr lang="zh-CN" altLang="en-US" sz="1900" dirty="0"/>
              <a:t>复杂类型</a:t>
            </a:r>
            <a:endParaRPr lang="en-US" altLang="zh-CN" sz="1900" dirty="0"/>
          </a:p>
          <a:p>
            <a:pPr lvl="3">
              <a:spcBef>
                <a:spcPts val="1200"/>
              </a:spcBef>
            </a:pPr>
            <a:r>
              <a:rPr lang="zh-CN" altLang="en-US" sz="1700" dirty="0"/>
              <a:t>从主程序传递进子程序，在子程序中的改变也会带回主程序，引用传递</a:t>
            </a:r>
            <a:endParaRPr lang="en-US" altLang="zh-CN" sz="1700" dirty="0"/>
          </a:p>
          <a:p>
            <a:pPr marL="712788" lvl="1" indent="-255588">
              <a:spcBef>
                <a:spcPts val="1200"/>
              </a:spcBef>
            </a:pPr>
            <a:r>
              <a:rPr lang="en-US" altLang="zh-CN" sz="2200" dirty="0"/>
              <a:t>(4) </a:t>
            </a:r>
            <a:r>
              <a:rPr lang="zh-CN" altLang="en-US" sz="2200" dirty="0"/>
              <a:t>借助变量实现数据传递</a:t>
            </a:r>
            <a:endParaRPr lang="en-US" altLang="zh-CN" sz="2200" dirty="0"/>
          </a:p>
          <a:p>
            <a:pPr lvl="2">
              <a:spcBef>
                <a:spcPts val="1200"/>
              </a:spcBef>
            </a:pPr>
            <a:r>
              <a:rPr lang="zh-CN" altLang="en-US" sz="1900" dirty="0"/>
              <a:t>全局性变量</a:t>
            </a:r>
            <a:r>
              <a:rPr lang="en-US" altLang="zh-CN" sz="1900" dirty="0"/>
              <a:t>(</a:t>
            </a:r>
            <a:r>
              <a:rPr lang="zh-CN" altLang="en-US" sz="1900" dirty="0"/>
              <a:t>主程序定义，函数内</a:t>
            </a:r>
            <a:r>
              <a:rPr lang="en-US" altLang="zh-CN" sz="1900" dirty="0"/>
              <a:t>global </a:t>
            </a:r>
            <a:r>
              <a:rPr lang="zh-CN" altLang="en-US" sz="1900" dirty="0"/>
              <a:t>声明</a:t>
            </a:r>
            <a:r>
              <a:rPr lang="en-US" altLang="zh-CN" sz="1900" dirty="0"/>
              <a:t>)</a:t>
            </a:r>
          </a:p>
          <a:p>
            <a:pPr lvl="3">
              <a:spcBef>
                <a:spcPts val="1200"/>
              </a:spcBef>
            </a:pPr>
            <a:r>
              <a:rPr lang="zh-CN" altLang="en-US" sz="1700" dirty="0"/>
              <a:t>会传进子程序，在子程序内的修改也能反馈回主程序</a:t>
            </a:r>
            <a:endParaRPr lang="en-US" altLang="zh-CN" sz="1700" dirty="0"/>
          </a:p>
          <a:p>
            <a:pPr lvl="2">
              <a:spcBef>
                <a:spcPts val="1200"/>
              </a:spcBef>
            </a:pPr>
            <a:r>
              <a:rPr lang="zh-CN" altLang="en-US" sz="1900" dirty="0"/>
              <a:t>局部变量</a:t>
            </a:r>
            <a:endParaRPr lang="en-US" altLang="zh-CN" sz="1900" dirty="0"/>
          </a:p>
          <a:p>
            <a:pPr lvl="3">
              <a:spcBef>
                <a:spcPts val="1200"/>
              </a:spcBef>
            </a:pPr>
            <a:r>
              <a:rPr lang="zh-CN" altLang="en-US" sz="1700" dirty="0"/>
              <a:t>仅对定义局部变量的函数有效，其值可传入其子程序</a:t>
            </a:r>
            <a:endParaRPr lang="en-US" altLang="zh-CN" sz="1700" dirty="0"/>
          </a:p>
          <a:p>
            <a:pPr lvl="3">
              <a:spcBef>
                <a:spcPts val="1200"/>
              </a:spcBef>
            </a:pPr>
            <a:r>
              <a:rPr lang="zh-CN" altLang="en-US" sz="1700" dirty="0"/>
              <a:t>其并列函数和上级程序无效，不可产生数据的相互传递</a:t>
            </a:r>
            <a:endParaRPr lang="en-US" altLang="zh-CN" sz="1700" dirty="0"/>
          </a:p>
          <a:p>
            <a:pPr lvl="1">
              <a:spcBef>
                <a:spcPts val="1200"/>
              </a:spcBef>
            </a:pPr>
            <a:r>
              <a:rPr lang="en-US" altLang="zh-CN" sz="2200" dirty="0"/>
              <a:t>(5) </a:t>
            </a:r>
            <a:r>
              <a:rPr lang="zh-CN" altLang="en-US" sz="2200" dirty="0"/>
              <a:t>基于返回值的反向信息传递</a:t>
            </a:r>
            <a:endParaRPr lang="en-US" altLang="zh-CN" sz="2200" dirty="0"/>
          </a:p>
          <a:p>
            <a:pPr lvl="2">
              <a:spcBef>
                <a:spcPts val="1200"/>
              </a:spcBef>
            </a:pPr>
            <a:endParaRPr lang="en-US" altLang="zh-CN" dirty="0"/>
          </a:p>
          <a:p>
            <a:pPr lvl="2">
              <a:spcBef>
                <a:spcPts val="1200"/>
              </a:spcBef>
            </a:pPr>
            <a:endParaRPr lang="en-US" altLang="zh-CN" dirty="0"/>
          </a:p>
          <a:p>
            <a:pPr lvl="2">
              <a:spcBef>
                <a:spcPts val="1200"/>
              </a:spcBef>
            </a:pPr>
            <a:endParaRPr lang="en-US" altLang="zh-CN" dirty="0"/>
          </a:p>
        </p:txBody>
      </p:sp>
      <p:pic>
        <p:nvPicPr>
          <p:cNvPr id="4" name="图片 3">
            <a:extLst>
              <a:ext uri="{FF2B5EF4-FFF2-40B4-BE49-F238E27FC236}">
                <a16:creationId xmlns:a16="http://schemas.microsoft.com/office/drawing/2014/main" id="{08984E0C-03FA-22EC-CE15-1CA37E3D6876}"/>
              </a:ext>
            </a:extLst>
          </p:cNvPr>
          <p:cNvPicPr>
            <a:picLocks noChangeAspect="1"/>
          </p:cNvPicPr>
          <p:nvPr/>
        </p:nvPicPr>
        <p:blipFill>
          <a:blip r:embed="rId2"/>
          <a:stretch>
            <a:fillRect/>
          </a:stretch>
        </p:blipFill>
        <p:spPr>
          <a:xfrm>
            <a:off x="8650224" y="0"/>
            <a:ext cx="3541776" cy="6858000"/>
          </a:xfrm>
          <a:prstGeom prst="rect">
            <a:avLst/>
          </a:prstGeom>
        </p:spPr>
      </p:pic>
    </p:spTree>
    <p:extLst>
      <p:ext uri="{BB962C8B-B14F-4D97-AF65-F5344CB8AC3E}">
        <p14:creationId xmlns:p14="http://schemas.microsoft.com/office/powerpoint/2010/main" val="100477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p:txBody>
          <a:bodyPr>
            <a:normAutofit/>
          </a:bodyPr>
          <a:lstStyle/>
          <a:p>
            <a:r>
              <a:rPr lang="en-US" altLang="zh-CN"/>
              <a:t>3. </a:t>
            </a:r>
            <a:r>
              <a:rPr lang="zh-CN" altLang="en-US"/>
              <a:t>实际应用</a:t>
            </a:r>
            <a:endParaRPr lang="en-US" altLang="zh-CN" dirty="0"/>
          </a:p>
          <a:p>
            <a:pPr lvl="1">
              <a:spcBef>
                <a:spcPts val="1200"/>
              </a:spcBef>
            </a:pPr>
            <a:r>
              <a:rPr lang="en-US" altLang="zh-CN"/>
              <a:t>(1)</a:t>
            </a:r>
            <a:r>
              <a:rPr lang="zh-CN" altLang="en-US"/>
              <a:t>定义并调用函数的实例</a:t>
            </a:r>
            <a:endParaRPr lang="en-US" altLang="zh-CN"/>
          </a:p>
          <a:p>
            <a:pPr lvl="1">
              <a:spcBef>
                <a:spcPts val="1200"/>
              </a:spcBef>
            </a:pPr>
            <a:endParaRPr lang="en-US" altLang="zh-CN"/>
          </a:p>
          <a:p>
            <a:pPr lvl="1">
              <a:spcBef>
                <a:spcPts val="1200"/>
              </a:spcBef>
            </a:pPr>
            <a:endParaRPr lang="en-US" altLang="zh-CN"/>
          </a:p>
          <a:p>
            <a:pPr lvl="1">
              <a:spcBef>
                <a:spcPts val="1200"/>
              </a:spcBef>
            </a:pPr>
            <a:endParaRPr lang="en-US" altLang="zh-CN"/>
          </a:p>
          <a:p>
            <a:pPr lvl="2">
              <a:spcBef>
                <a:spcPts val="1200"/>
              </a:spcBef>
            </a:pPr>
            <a:endParaRPr lang="en-US" altLang="zh-CN"/>
          </a:p>
          <a:p>
            <a:pPr lvl="2">
              <a:spcBef>
                <a:spcPts val="1200"/>
              </a:spcBef>
            </a:pPr>
            <a:endParaRPr lang="en-US" altLang="zh-CN"/>
          </a:p>
          <a:p>
            <a:pPr lvl="2">
              <a:spcBef>
                <a:spcPts val="1200"/>
              </a:spcBef>
            </a:pPr>
            <a:endParaRPr lang="en-US" altLang="zh-CN"/>
          </a:p>
          <a:p>
            <a:pPr lvl="2">
              <a:spcBef>
                <a:spcPts val="1200"/>
              </a:spcBef>
            </a:pPr>
            <a:endParaRPr lang="en-US" altLang="zh-CN"/>
          </a:p>
        </p:txBody>
      </p:sp>
      <p:sp>
        <p:nvSpPr>
          <p:cNvPr id="4" name="文本框 3">
            <a:extLst>
              <a:ext uri="{FF2B5EF4-FFF2-40B4-BE49-F238E27FC236}">
                <a16:creationId xmlns:a16="http://schemas.microsoft.com/office/drawing/2014/main" id="{383FFC55-4F47-A991-B54F-9F30E464A4E5}"/>
              </a:ext>
            </a:extLst>
          </p:cNvPr>
          <p:cNvSpPr txBox="1"/>
          <p:nvPr/>
        </p:nvSpPr>
        <p:spPr>
          <a:xfrm>
            <a:off x="1902460" y="2699940"/>
            <a:ext cx="6101080" cy="2893100"/>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400" b="0" i="0" u="none" strike="noStrike" kern="1200" cap="none" spc="0" normalizeH="0" baseline="0" noProof="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400" b="0" i="0" u="none" strike="noStrike" kern="1200" cap="none" spc="0" normalizeH="0" baseline="0" noProof="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4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4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is</a:t>
            </a:r>
            <a:r>
              <a:rPr kumimoji="0" lang="zh-CN" altLang="zh-CN" sz="14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4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4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4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endParaRPr kumimoji="0" lang="zh-CN" altLang="zh-CN" sz="20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spTree>
    <p:extLst>
      <p:ext uri="{BB962C8B-B14F-4D97-AF65-F5344CB8AC3E}">
        <p14:creationId xmlns:p14="http://schemas.microsoft.com/office/powerpoint/2010/main" val="2389570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函数的定义</a:t>
            </a:r>
            <a:endParaRPr lang="zh-CN" altLang="en-US" dirty="0"/>
          </a:p>
        </p:txBody>
      </p:sp>
      <p:sp>
        <p:nvSpPr>
          <p:cNvPr id="3" name="内容占位符 2"/>
          <p:cNvSpPr>
            <a:spLocks noGrp="1"/>
          </p:cNvSpPr>
          <p:nvPr>
            <p:ph idx="1"/>
          </p:nvPr>
        </p:nvSpPr>
        <p:spPr/>
        <p:txBody>
          <a:bodyPr>
            <a:normAutofit/>
          </a:bodyPr>
          <a:lstStyle/>
          <a:p>
            <a:r>
              <a:rPr lang="en-US" altLang="zh-CN"/>
              <a:t>3. </a:t>
            </a:r>
            <a:r>
              <a:rPr lang="zh-CN" altLang="en-US"/>
              <a:t>实际应用</a:t>
            </a:r>
            <a:endParaRPr lang="en-US" altLang="zh-CN" dirty="0"/>
          </a:p>
          <a:p>
            <a:pPr lvl="1">
              <a:spcBef>
                <a:spcPts val="1200"/>
              </a:spcBef>
            </a:pPr>
            <a:r>
              <a:rPr lang="en-US" altLang="zh-CN"/>
              <a:t>(2)</a:t>
            </a:r>
            <a:r>
              <a:rPr lang="zh-CN" altLang="en-US"/>
              <a:t>函数间信息传递的实例</a:t>
            </a:r>
            <a:endParaRPr lang="en-US" altLang="zh-CN"/>
          </a:p>
          <a:p>
            <a:pPr lvl="2">
              <a:spcBef>
                <a:spcPts val="1200"/>
              </a:spcBef>
            </a:pPr>
            <a:endParaRPr lang="en-US" altLang="zh-CN"/>
          </a:p>
          <a:p>
            <a:pPr lvl="2">
              <a:spcBef>
                <a:spcPts val="1200"/>
              </a:spcBef>
            </a:pPr>
            <a:endParaRPr lang="en-US" altLang="zh-CN"/>
          </a:p>
          <a:p>
            <a:pPr lvl="2">
              <a:spcBef>
                <a:spcPts val="1200"/>
              </a:spcBef>
            </a:pPr>
            <a:endParaRPr lang="en-US" altLang="zh-CN"/>
          </a:p>
          <a:p>
            <a:pPr lvl="2">
              <a:spcBef>
                <a:spcPts val="1200"/>
              </a:spcBef>
            </a:pPr>
            <a:endParaRPr lang="en-US" altLang="zh-CN"/>
          </a:p>
        </p:txBody>
      </p:sp>
      <p:sp>
        <p:nvSpPr>
          <p:cNvPr id="7" name="文本框 6">
            <a:extLst>
              <a:ext uri="{FF2B5EF4-FFF2-40B4-BE49-F238E27FC236}">
                <a16:creationId xmlns:a16="http://schemas.microsoft.com/office/drawing/2014/main" id="{716F644D-C172-D444-E5ED-688640535B2E}"/>
              </a:ext>
            </a:extLst>
          </p:cNvPr>
          <p:cNvSpPr txBox="1"/>
          <p:nvPr/>
        </p:nvSpPr>
        <p:spPr>
          <a:xfrm>
            <a:off x="660401" y="2329136"/>
            <a:ext cx="4142738" cy="2800767"/>
          </a:xfrm>
          <a:prstGeom prst="rect">
            <a:avLst/>
          </a:prstGeom>
          <a:solidFill>
            <a:schemeClr val="bg2">
              <a:lumMod val="25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4</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9</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23</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12</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67</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'abc'</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'21'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'62w'</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'123'</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'891'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def </a:t>
            </a:r>
            <a:r>
              <a:rPr kumimoji="0" lang="zh-CN" altLang="zh-CN" sz="1100" b="0" i="0" u="none" strike="noStrike" kern="1200" cap="none" spc="0" normalizeH="0" baseline="0" noProof="0" dirty="0">
                <a:ln>
                  <a:noFill/>
                </a:ln>
                <a:solidFill>
                  <a:srgbClr val="A6E22E"/>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global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mm  </a:t>
            </a:r>
            <a:r>
              <a:rPr kumimoji="0" lang="zh-CN" altLang="zh-CN" sz="1100" b="0" i="0" u="none" strike="noStrike" kern="1200" cap="none" spc="0" normalizeH="0" baseline="0" noProof="0" dirty="0">
                <a:ln>
                  <a:noFill/>
                </a:ln>
                <a:solidFill>
                  <a:srgbClr val="75715E"/>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75715E"/>
                </a:solidFill>
                <a:effectLst/>
                <a:uLnTx/>
                <a:uFillTx/>
                <a:latin typeface="宋体" panose="02010600030101010101" pitchFamily="2" charset="-122"/>
                <a:ea typeface="宋体" panose="02010600030101010101" pitchFamily="2" charset="-122"/>
                <a:cs typeface="Courier New" panose="02070309020205020404" pitchFamily="49" charset="0"/>
              </a:rPr>
              <a:t>强调此</a:t>
            </a:r>
            <a:r>
              <a:rPr kumimoji="0" lang="zh-CN" altLang="zh-CN" sz="1100" b="0" i="0" u="none" strike="noStrike" kern="1200" cap="none" spc="0" normalizeH="0" baseline="0" noProof="0" dirty="0">
                <a:ln>
                  <a:noFill/>
                </a:ln>
                <a:solidFill>
                  <a:srgbClr val="75715E"/>
                </a:solidFill>
                <a:effectLst/>
                <a:uLnTx/>
                <a:uFillTx/>
                <a:latin typeface="Courier New" panose="02070309020205020404" pitchFamily="49" charset="0"/>
                <a:ea typeface="思源黑体 CN Normal"/>
                <a:cs typeface="Courier New" panose="02070309020205020404" pitchFamily="49" charset="0"/>
              </a:rPr>
              <a:t>mm</a:t>
            </a:r>
            <a:r>
              <a:rPr kumimoji="0" lang="zh-CN" altLang="zh-CN" sz="1100" b="0" i="0" u="none" strike="noStrike" kern="1200" cap="none" spc="0" normalizeH="0" baseline="0" noProof="0" dirty="0">
                <a:ln>
                  <a:noFill/>
                </a:ln>
                <a:solidFill>
                  <a:srgbClr val="75715E"/>
                </a:solidFill>
                <a:effectLst/>
                <a:uLnTx/>
                <a:uFillTx/>
                <a:latin typeface="宋体" panose="02010600030101010101" pitchFamily="2" charset="-122"/>
                <a:ea typeface="宋体" panose="02010600030101010101" pitchFamily="2" charset="-122"/>
                <a:cs typeface="Courier New" panose="02070309020205020404" pitchFamily="49" charset="0"/>
              </a:rPr>
              <a:t>就是主程序的</a:t>
            </a:r>
            <a:r>
              <a:rPr kumimoji="0" lang="zh-CN" altLang="zh-CN" sz="1100" b="0" i="0" u="none" strike="noStrike" kern="1200" cap="none" spc="0" normalizeH="0" baseline="0" noProof="0" dirty="0">
                <a:ln>
                  <a:noFill/>
                </a:ln>
                <a:solidFill>
                  <a:srgbClr val="75715E"/>
                </a:solidFill>
                <a:effectLst/>
                <a:uLnTx/>
                <a:uFillTx/>
                <a:latin typeface="Courier New" panose="02070309020205020404" pitchFamily="49" charset="0"/>
                <a:ea typeface="思源黑体 CN Normal"/>
                <a:cs typeface="Courier New" panose="02070309020205020404" pitchFamily="49" charset="0"/>
              </a:rPr>
              <a:t>mm</a:t>
            </a:r>
            <a:r>
              <a:rPr kumimoji="0" lang="zh-CN" altLang="zh-CN" sz="1100" b="0" i="0" u="none" strike="noStrike" kern="1200" cap="none" spc="0" normalizeH="0" baseline="0" noProof="0" dirty="0">
                <a:ln>
                  <a:noFill/>
                </a:ln>
                <a:solidFill>
                  <a:srgbClr val="75715E"/>
                </a:solidFill>
                <a:effectLst/>
                <a:uLnTx/>
                <a:uFillTx/>
                <a:latin typeface="宋体" panose="02010600030101010101" pitchFamily="2" charset="-122"/>
                <a:ea typeface="宋体" panose="02010600030101010101" pitchFamily="2" charset="-122"/>
                <a:cs typeface="Courier New" panose="02070309020205020404" pitchFamily="49" charset="0"/>
              </a:rPr>
              <a:t>变量</a:t>
            </a:r>
            <a:br>
              <a:rPr kumimoji="0" lang="zh-CN" altLang="zh-CN" sz="1100" b="0" i="0" u="none" strike="noStrike" kern="1200" cap="none" spc="0" normalizeH="0" baseline="0" noProof="0" dirty="0">
                <a:ln>
                  <a:noFill/>
                </a:ln>
                <a:solidFill>
                  <a:srgbClr val="75715E"/>
                </a:solidFill>
                <a:effectLst/>
                <a:uLnTx/>
                <a:uFillTx/>
                <a:latin typeface="宋体" panose="02010600030101010101" pitchFamily="2" charset="-122"/>
                <a:ea typeface="宋体" panose="02010600030101010101" pitchFamily="2" charset="-122"/>
                <a:cs typeface="Courier New" panose="02070309020205020404" pitchFamily="49" charset="0"/>
              </a:rPr>
            </a:br>
            <a:r>
              <a:rPr kumimoji="0" lang="zh-CN" altLang="zh-CN" sz="1100" b="0" i="0" u="none" strike="noStrike" kern="1200" cap="none" spc="0" normalizeH="0" baseline="0" noProof="0" dirty="0">
                <a:ln>
                  <a:noFill/>
                </a:ln>
                <a:solidFill>
                  <a:srgbClr val="75715E"/>
                </a:solidFill>
                <a:effectLst/>
                <a:uLnTx/>
                <a:uFillTx/>
                <a:latin typeface="宋体" panose="02010600030101010101" pitchFamily="2" charset="-122"/>
                <a:ea typeface="宋体" panose="02010600030101010101" pitchFamily="2" charset="-122"/>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0</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for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in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range</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1</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len</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if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&gt;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a:t>
            </a:r>
            <a:b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FD971F"/>
                </a:solidFill>
                <a:effectLst/>
                <a:uLnTx/>
                <a:uFillTx/>
                <a:latin typeface="Courier New" panose="02070309020205020404" pitchFamily="49" charset="0"/>
                <a:ea typeface="思源黑体 CN Normal"/>
                <a:cs typeface="Courier New" panose="02070309020205020404" pitchFamily="49" charset="0"/>
              </a:rPr>
              <a:t>data</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[i]</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mm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21</a:t>
            </a:r>
            <a:b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1"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return </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myMax</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mm </a:t>
            </a:r>
            <a:r>
              <a:rPr kumimoji="0" lang="zh-CN" altLang="zh-CN" sz="1100" b="0" i="0" u="none" strike="noStrike" kern="1200" cap="none" spc="0" normalizeH="0" baseline="0" noProof="0" dirty="0">
                <a:ln>
                  <a:noFill/>
                </a:ln>
                <a:solidFill>
                  <a:srgbClr val="F9267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t>88</a:t>
            </a:r>
            <a:br>
              <a:rPr kumimoji="0" lang="zh-CN" altLang="zh-CN" sz="1100" b="0" i="0" u="none" strike="noStrike" kern="1200" cap="none" spc="0" normalizeH="0" baseline="0" noProof="0" dirty="0">
                <a:ln>
                  <a:noFill/>
                </a:ln>
                <a:solidFill>
                  <a:srgbClr val="AE81FF"/>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a:t>
            </a:r>
            <a:r>
              <a:rPr kumimoji="0" lang="en-US"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of xx </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is</a:t>
            </a:r>
            <a:r>
              <a:rPr kumimoji="0" lang="zh-CN" altLang="zh-CN" sz="11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(xx))</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"The max Data </a:t>
            </a:r>
            <a:r>
              <a:rPr kumimoji="0" lang="en-US"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of </a:t>
            </a:r>
            <a:r>
              <a:rPr kumimoji="0" lang="en-US" altLang="zh-CN" sz="1100" b="0" i="0" u="none" strike="noStrike" kern="1200" cap="none" spc="0" normalizeH="0" baseline="0" noProof="0" dirty="0" err="1">
                <a:ln>
                  <a:noFill/>
                </a:ln>
                <a:solidFill>
                  <a:srgbClr val="E6DB74"/>
                </a:solidFill>
                <a:effectLst/>
                <a:uLnTx/>
                <a:uFillTx/>
                <a:latin typeface="Courier New" panose="02070309020205020404" pitchFamily="49" charset="0"/>
                <a:ea typeface="思源黑体 CN Normal"/>
                <a:cs typeface="Courier New" panose="02070309020205020404" pitchFamily="49" charset="0"/>
              </a:rPr>
              <a:t>yy</a:t>
            </a:r>
            <a:r>
              <a:rPr kumimoji="0" lang="en-US"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is</a:t>
            </a:r>
            <a:r>
              <a:rPr kumimoji="0" lang="zh-CN" altLang="zh-CN" sz="11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a:t>
            </a: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getMax</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(yy))</a:t>
            </a:r>
            <a:b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br>
            <a:r>
              <a:rPr kumimoji="0" lang="zh-CN" altLang="zh-CN" sz="1100" b="0" i="0" u="none" strike="noStrike" kern="1200" cap="none" spc="0" normalizeH="0" baseline="0" noProof="0" dirty="0">
                <a:ln>
                  <a:noFill/>
                </a:ln>
                <a:solidFill>
                  <a:srgbClr val="66D9EF"/>
                </a:solidFill>
                <a:effectLst/>
                <a:uLnTx/>
                <a:uFillTx/>
                <a:latin typeface="Courier New" panose="02070309020205020404" pitchFamily="49" charset="0"/>
                <a:ea typeface="思源黑体 CN Normal"/>
                <a:cs typeface="Courier New" panose="02070309020205020404" pitchFamily="49" charset="0"/>
              </a:rPr>
              <a:t>print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en-US"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mm </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is</a:t>
            </a:r>
            <a:r>
              <a:rPr kumimoji="0" lang="en-US" altLang="zh-CN" sz="1100" b="0" i="0" u="none" strike="noStrike" kern="1200" cap="none" spc="0" normalizeH="0" baseline="0" noProof="0" dirty="0">
                <a:ln>
                  <a:noFill/>
                </a:ln>
                <a:solidFill>
                  <a:srgbClr val="E6DB74"/>
                </a:solidFill>
                <a:effectLst/>
                <a:uLnTx/>
                <a:uFillTx/>
                <a:latin typeface="宋体" panose="02010600030101010101" pitchFamily="2" charset="-122"/>
                <a:ea typeface="宋体" panose="02010600030101010101" pitchFamily="2" charset="-122"/>
                <a:cs typeface="Courier New" panose="02070309020205020404" pitchFamily="49" charset="0"/>
              </a:rPr>
              <a:t> </a:t>
            </a:r>
            <a:r>
              <a:rPr kumimoji="0" lang="zh-CN" altLang="zh-CN" sz="1100" b="0" i="0" u="none" strike="noStrike" kern="1200" cap="none" spc="0" normalizeH="0" baseline="0" noProof="0" dirty="0">
                <a:ln>
                  <a:noFill/>
                </a:ln>
                <a:solidFill>
                  <a:srgbClr val="E6DB74"/>
                </a:solidFill>
                <a:effectLst/>
                <a:uLnTx/>
                <a:uFillTx/>
                <a:latin typeface="Courier New" panose="02070309020205020404" pitchFamily="49" charset="0"/>
                <a:ea typeface="思源黑体 CN Normal"/>
                <a:cs typeface="Courier New" panose="02070309020205020404" pitchFamily="49" charset="0"/>
              </a:rPr>
              <a:t>"</a:t>
            </a:r>
            <a:r>
              <a:rPr kumimoji="0" lang="zh-CN" altLang="zh-CN" sz="1100" b="0" i="0" u="none" strike="noStrike" kern="1200" cap="none" spc="0" normalizeH="0" baseline="0" noProof="0" dirty="0">
                <a:ln>
                  <a:noFill/>
                </a:ln>
                <a:solidFill>
                  <a:srgbClr val="F8F8F2"/>
                </a:solidFill>
                <a:effectLst/>
                <a:uLnTx/>
                <a:uFillTx/>
                <a:latin typeface="Courier New" panose="02070309020205020404" pitchFamily="49" charset="0"/>
                <a:ea typeface="思源黑体 CN Normal"/>
                <a:cs typeface="Courier New" panose="02070309020205020404" pitchFamily="49" charset="0"/>
              </a:rPr>
              <a:t>, mm)</a:t>
            </a:r>
            <a:endParaRPr kumimoji="0" lang="zh-CN" altLang="zh-CN" sz="1600" b="0" i="0" u="none" strike="noStrike" kern="1200" cap="none" spc="0" normalizeH="0" baseline="0" noProof="0" dirty="0">
              <a:ln>
                <a:noFill/>
              </a:ln>
              <a:solidFill>
                <a:srgbClr val="2F2F2F"/>
              </a:solidFill>
              <a:effectLst/>
              <a:uLnTx/>
              <a:uFillTx/>
              <a:latin typeface="Arial" panose="020B0604020202020204" pitchFamily="34" charset="0"/>
              <a:ea typeface="思源黑体 CN Normal"/>
              <a:cs typeface="+mn-cs"/>
            </a:endParaRPr>
          </a:p>
        </p:txBody>
      </p:sp>
      <p:sp>
        <p:nvSpPr>
          <p:cNvPr id="9" name="文本框 8">
            <a:extLst>
              <a:ext uri="{FF2B5EF4-FFF2-40B4-BE49-F238E27FC236}">
                <a16:creationId xmlns:a16="http://schemas.microsoft.com/office/drawing/2014/main" id="{19440B11-062F-5C69-16C5-10083DEE6D3B}"/>
              </a:ext>
            </a:extLst>
          </p:cNvPr>
          <p:cNvSpPr txBox="1"/>
          <p:nvPr/>
        </p:nvSpPr>
        <p:spPr>
          <a:xfrm>
            <a:off x="660401" y="5343461"/>
            <a:ext cx="3482340"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rPr>
              <a:t>The max Data of xx is</a:t>
            </a:r>
            <a:r>
              <a:rPr kumimoji="0" lang="zh-CN" altLang="en-US" sz="1050" b="0" i="0" u="none" strike="noStrike" kern="1200" cap="none" spc="0" normalizeH="0" baseline="0" noProof="0" dirty="0">
                <a:ln>
                  <a:noFill/>
                </a:ln>
                <a:solidFill>
                  <a:srgbClr val="2F2F2F"/>
                </a:solidFill>
                <a:effectLst/>
                <a:uLnTx/>
                <a:uFillTx/>
                <a:latin typeface="思源黑体 CN Normal"/>
                <a:ea typeface="思源黑体 CN Normal"/>
                <a:cs typeface="+mn-cs"/>
              </a:rPr>
              <a:t>： </a:t>
            </a:r>
            <a:r>
              <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rPr>
              <a:t>81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rPr>
              <a:t>The max Data of </a:t>
            </a:r>
            <a:r>
              <a:rPr kumimoji="0" lang="en-US" altLang="zh-CN" sz="1050" b="0" i="0" u="none" strike="noStrike" kern="1200" cap="none" spc="0" normalizeH="0" baseline="0" noProof="0" dirty="0" err="1">
                <a:ln>
                  <a:noFill/>
                </a:ln>
                <a:solidFill>
                  <a:srgbClr val="2F2F2F"/>
                </a:solidFill>
                <a:effectLst/>
                <a:uLnTx/>
                <a:uFillTx/>
                <a:latin typeface="思源黑体 CN Normal"/>
                <a:ea typeface="思源黑体 CN Normal"/>
                <a:cs typeface="+mn-cs"/>
              </a:rPr>
              <a:t>yy</a:t>
            </a:r>
            <a:r>
              <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rPr>
              <a:t> is</a:t>
            </a:r>
            <a:r>
              <a:rPr kumimoji="0" lang="zh-CN" altLang="en-US" sz="1050" b="0" i="0" u="none" strike="noStrike" kern="1200" cap="none" spc="0" normalizeH="0" baseline="0" noProof="0" dirty="0">
                <a:ln>
                  <a:noFill/>
                </a:ln>
                <a:solidFill>
                  <a:srgbClr val="2F2F2F"/>
                </a:solidFill>
                <a:effectLst/>
                <a:uLnTx/>
                <a:uFillTx/>
                <a:latin typeface="思源黑体 CN Normal"/>
                <a:ea typeface="思源黑体 CN Normal"/>
                <a:cs typeface="+mn-cs"/>
              </a:rPr>
              <a:t>： </a:t>
            </a:r>
            <a:r>
              <a:rPr kumimoji="0" lang="en-US" altLang="zh-CN" sz="1050" b="0" i="0" u="none" strike="noStrike" kern="1200" cap="none" spc="0" normalizeH="0" baseline="0" noProof="0" dirty="0" err="1">
                <a:ln>
                  <a:noFill/>
                </a:ln>
                <a:solidFill>
                  <a:srgbClr val="2F2F2F"/>
                </a:solidFill>
                <a:effectLst/>
                <a:uLnTx/>
                <a:uFillTx/>
                <a:latin typeface="思源黑体 CN Normal"/>
                <a:ea typeface="思源黑体 CN Normal"/>
                <a:cs typeface="+mn-cs"/>
              </a:rPr>
              <a:t>abc</a:t>
            </a:r>
            <a:endPar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2F2F2F"/>
                </a:solidFill>
                <a:effectLst/>
                <a:uLnTx/>
                <a:uFillTx/>
                <a:latin typeface="思源黑体 CN Normal"/>
                <a:ea typeface="思源黑体 CN Normal"/>
                <a:cs typeface="+mn-cs"/>
              </a:rPr>
              <a:t>mm is  21</a:t>
            </a:r>
            <a:endParaRPr kumimoji="0" lang="zh-CN" altLang="en-US" sz="105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pic>
        <p:nvPicPr>
          <p:cNvPr id="4" name="图片 3">
            <a:extLst>
              <a:ext uri="{FF2B5EF4-FFF2-40B4-BE49-F238E27FC236}">
                <a16:creationId xmlns:a16="http://schemas.microsoft.com/office/drawing/2014/main" id="{5DD1941D-6143-063C-989D-E95B6001D49E}"/>
              </a:ext>
            </a:extLst>
          </p:cNvPr>
          <p:cNvPicPr>
            <a:picLocks noChangeAspect="1"/>
          </p:cNvPicPr>
          <p:nvPr/>
        </p:nvPicPr>
        <p:blipFill>
          <a:blip r:embed="rId3"/>
          <a:stretch>
            <a:fillRect/>
          </a:stretch>
        </p:blipFill>
        <p:spPr>
          <a:xfrm>
            <a:off x="6175094" y="1706221"/>
            <a:ext cx="5678489" cy="32854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65564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5E232-9BC0-18C6-4886-1F6D5AB7AB6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D4E50E-B971-391A-A36C-452F20C9E4C0}"/>
              </a:ext>
            </a:extLst>
          </p:cNvPr>
          <p:cNvSpPr>
            <a:spLocks noGrp="1"/>
          </p:cNvSpPr>
          <p:nvPr>
            <p:ph idx="1"/>
          </p:nvPr>
        </p:nvSpPr>
        <p:spPr>
          <a:xfrm>
            <a:off x="660401" y="1130300"/>
            <a:ext cx="5261934" cy="5003800"/>
          </a:xfrm>
        </p:spPr>
        <p:txBody>
          <a:bodyPr>
            <a:normAutofit/>
          </a:bodyPr>
          <a:lstStyle/>
          <a:p>
            <a:pPr>
              <a:lnSpc>
                <a:spcPct val="125000"/>
              </a:lnSpc>
              <a:spcBef>
                <a:spcPts val="1200"/>
              </a:spcBef>
            </a:pPr>
            <a:r>
              <a:rPr lang="zh-CN" altLang="en-US" sz="2000" dirty="0"/>
              <a:t>在有些情况下，可以通过特殊的方式在函数内部修改实参的值。</a:t>
            </a:r>
            <a:endParaRPr lang="en-US" altLang="zh-CN" sz="2000" dirty="0"/>
          </a:p>
          <a:p>
            <a:pPr>
              <a:lnSpc>
                <a:spcPct val="125000"/>
              </a:lnSpc>
              <a:spcBef>
                <a:spcPts val="1200"/>
              </a:spcBef>
            </a:pPr>
            <a:r>
              <a:rPr lang="zh-CN" altLang="en-US" sz="2000" dirty="0"/>
              <a:t>即如果传递给函数的实参是</a:t>
            </a:r>
            <a:r>
              <a:rPr lang="zh-CN" altLang="en-US" sz="2000" dirty="0">
                <a:solidFill>
                  <a:srgbClr val="FF0000"/>
                </a:solidFill>
              </a:rPr>
              <a:t>可变序列</a:t>
            </a:r>
            <a:r>
              <a:rPr lang="zh-CN" altLang="en-US" sz="2000" dirty="0"/>
              <a:t>，并且在函数内部使用</a:t>
            </a:r>
            <a:r>
              <a:rPr lang="zh-CN" altLang="en-US" sz="2000" dirty="0">
                <a:solidFill>
                  <a:srgbClr val="FF0000"/>
                </a:solidFill>
              </a:rPr>
              <a:t>下标或可变序列自身的方法</a:t>
            </a:r>
            <a:r>
              <a:rPr lang="zh-CN" altLang="en-US" sz="2000" dirty="0"/>
              <a:t>增加、删除元素或修改元素时，实参也得到相应的修改。</a:t>
            </a:r>
            <a:endParaRPr lang="en-US" altLang="zh-CN" sz="2000" dirty="0"/>
          </a:p>
          <a:p>
            <a:pPr>
              <a:lnSpc>
                <a:spcPct val="125000"/>
              </a:lnSpc>
              <a:spcBef>
                <a:spcPts val="1200"/>
              </a:spcBef>
            </a:pPr>
            <a:endParaRPr lang="zh-CN" altLang="en-US" sz="2000" dirty="0"/>
          </a:p>
        </p:txBody>
      </p:sp>
      <p:sp>
        <p:nvSpPr>
          <p:cNvPr id="7" name="文本框 6">
            <a:extLst>
              <a:ext uri="{FF2B5EF4-FFF2-40B4-BE49-F238E27FC236}">
                <a16:creationId xmlns:a16="http://schemas.microsoft.com/office/drawing/2014/main" id="{A9C8A16F-6DAD-0D2D-0BF1-C43E1C67D23E}"/>
              </a:ext>
            </a:extLst>
          </p:cNvPr>
          <p:cNvSpPr txBox="1"/>
          <p:nvPr/>
        </p:nvSpPr>
        <p:spPr>
          <a:xfrm>
            <a:off x="8109397" y="6596390"/>
            <a:ext cx="408260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2F2F2F"/>
                </a:solidFill>
                <a:effectLst/>
                <a:uLnTx/>
                <a:uFillTx/>
                <a:latin typeface="思源黑体 CN Normal"/>
                <a:ea typeface="思源黑体 CN Normal"/>
                <a:cs typeface="+mn-cs"/>
              </a:rPr>
              <a:t>https://blog.csdn.net/dongfuguo/article/details/118705163</a:t>
            </a:r>
            <a:endParaRPr kumimoji="0" lang="zh-CN" altLang="en-US" sz="110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pic>
        <p:nvPicPr>
          <p:cNvPr id="6" name="图片 5">
            <a:extLst>
              <a:ext uri="{FF2B5EF4-FFF2-40B4-BE49-F238E27FC236}">
                <a16:creationId xmlns:a16="http://schemas.microsoft.com/office/drawing/2014/main" id="{08A9D565-6981-8219-D18F-1E256B96E94F}"/>
              </a:ext>
            </a:extLst>
          </p:cNvPr>
          <p:cNvPicPr>
            <a:picLocks noChangeAspect="1"/>
          </p:cNvPicPr>
          <p:nvPr/>
        </p:nvPicPr>
        <p:blipFill>
          <a:blip r:embed="rId2"/>
          <a:stretch>
            <a:fillRect/>
          </a:stretch>
        </p:blipFill>
        <p:spPr>
          <a:xfrm>
            <a:off x="6677025" y="883108"/>
            <a:ext cx="4667250" cy="1533525"/>
          </a:xfrm>
          <a:prstGeom prst="rect">
            <a:avLst/>
          </a:prstGeom>
          <a:ln>
            <a:noFill/>
          </a:ln>
          <a:effectLst>
            <a:outerShdw blurRad="292100" dist="139700" dir="2700000" algn="tl" rotWithShape="0">
              <a:srgbClr val="333333">
                <a:alpha val="65000"/>
              </a:srgbClr>
            </a:outerShdw>
          </a:effectLst>
        </p:spPr>
      </p:pic>
      <p:pic>
        <p:nvPicPr>
          <p:cNvPr id="10" name="图片 9">
            <a:extLst>
              <a:ext uri="{FF2B5EF4-FFF2-40B4-BE49-F238E27FC236}">
                <a16:creationId xmlns:a16="http://schemas.microsoft.com/office/drawing/2014/main" id="{30F6AAD7-3534-CBA7-A91D-6419D33E8BDB}"/>
              </a:ext>
            </a:extLst>
          </p:cNvPr>
          <p:cNvPicPr>
            <a:picLocks noChangeAspect="1"/>
          </p:cNvPicPr>
          <p:nvPr/>
        </p:nvPicPr>
        <p:blipFill>
          <a:blip r:embed="rId3"/>
          <a:stretch>
            <a:fillRect/>
          </a:stretch>
        </p:blipFill>
        <p:spPr>
          <a:xfrm>
            <a:off x="6677025" y="2663825"/>
            <a:ext cx="5514975" cy="1276350"/>
          </a:xfrm>
          <a:prstGeom prst="rect">
            <a:avLst/>
          </a:prstGeom>
          <a:ln>
            <a:noFill/>
          </a:ln>
          <a:effectLst>
            <a:outerShdw blurRad="292100" dist="139700" dir="2700000" algn="tl" rotWithShape="0">
              <a:srgbClr val="333333">
                <a:alpha val="65000"/>
              </a:srgbClr>
            </a:outerShdw>
          </a:effectLst>
        </p:spPr>
      </p:pic>
      <p:pic>
        <p:nvPicPr>
          <p:cNvPr id="12" name="图片 11">
            <a:extLst>
              <a:ext uri="{FF2B5EF4-FFF2-40B4-BE49-F238E27FC236}">
                <a16:creationId xmlns:a16="http://schemas.microsoft.com/office/drawing/2014/main" id="{64B49C07-111A-E095-DEBB-AC21B40DE8E7}"/>
              </a:ext>
            </a:extLst>
          </p:cNvPr>
          <p:cNvPicPr>
            <a:picLocks noChangeAspect="1"/>
          </p:cNvPicPr>
          <p:nvPr/>
        </p:nvPicPr>
        <p:blipFill>
          <a:blip r:embed="rId4"/>
          <a:stretch>
            <a:fillRect/>
          </a:stretch>
        </p:blipFill>
        <p:spPr>
          <a:xfrm>
            <a:off x="6515100" y="4187367"/>
            <a:ext cx="5676900" cy="1905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9659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ADB44-40F7-FC57-CA8F-7F805AA4FF0F}"/>
              </a:ext>
            </a:extLst>
          </p:cNvPr>
          <p:cNvSpPr>
            <a:spLocks noGrp="1"/>
          </p:cNvSpPr>
          <p:nvPr>
            <p:ph type="title"/>
          </p:nvPr>
        </p:nvSpPr>
        <p:spPr/>
        <p:txBody>
          <a:bodyPr/>
          <a:lstStyle/>
          <a:p>
            <a:r>
              <a:rPr lang="zh-CN" altLang="en-US" dirty="0"/>
              <a:t>参数类型</a:t>
            </a:r>
          </a:p>
        </p:txBody>
      </p:sp>
      <p:sp>
        <p:nvSpPr>
          <p:cNvPr id="3" name="内容占位符 2">
            <a:extLst>
              <a:ext uri="{FF2B5EF4-FFF2-40B4-BE49-F238E27FC236}">
                <a16:creationId xmlns:a16="http://schemas.microsoft.com/office/drawing/2014/main" id="{A66F9901-E77C-BEC3-7F44-076BDC7C6067}"/>
              </a:ext>
            </a:extLst>
          </p:cNvPr>
          <p:cNvSpPr>
            <a:spLocks noGrp="1"/>
          </p:cNvSpPr>
          <p:nvPr>
            <p:ph idx="1"/>
          </p:nvPr>
        </p:nvSpPr>
        <p:spPr/>
        <p:txBody>
          <a:bodyPr>
            <a:normAutofit/>
          </a:bodyPr>
          <a:lstStyle/>
          <a:p>
            <a:r>
              <a:rPr lang="zh-CN" altLang="en-US" sz="2000" dirty="0"/>
              <a:t>位置参数（</a:t>
            </a:r>
            <a:r>
              <a:rPr lang="en-US" altLang="zh-CN" sz="2000" dirty="0"/>
              <a:t>positional arguments</a:t>
            </a:r>
            <a:r>
              <a:rPr lang="zh-CN" altLang="en-US" sz="2000" dirty="0"/>
              <a:t>）是比较常用的形式，调用函数时实参和形参的顺序必须严格一样，且实参和形参的数量必须相同。</a:t>
            </a:r>
          </a:p>
        </p:txBody>
      </p:sp>
      <p:pic>
        <p:nvPicPr>
          <p:cNvPr id="6" name="图片 5">
            <a:extLst>
              <a:ext uri="{FF2B5EF4-FFF2-40B4-BE49-F238E27FC236}">
                <a16:creationId xmlns:a16="http://schemas.microsoft.com/office/drawing/2014/main" id="{07FDF190-1AFE-2E48-5529-4CFA376BE0A3}"/>
              </a:ext>
            </a:extLst>
          </p:cNvPr>
          <p:cNvPicPr>
            <a:picLocks noChangeAspect="1"/>
          </p:cNvPicPr>
          <p:nvPr/>
        </p:nvPicPr>
        <p:blipFill>
          <a:blip r:embed="rId2"/>
          <a:stretch>
            <a:fillRect/>
          </a:stretch>
        </p:blipFill>
        <p:spPr>
          <a:xfrm>
            <a:off x="1167810" y="2176623"/>
            <a:ext cx="6858000" cy="4591050"/>
          </a:xfrm>
          <a:prstGeom prst="rect">
            <a:avLst/>
          </a:prstGeom>
        </p:spPr>
      </p:pic>
    </p:spTree>
    <p:extLst>
      <p:ext uri="{BB962C8B-B14F-4D97-AF65-F5344CB8AC3E}">
        <p14:creationId xmlns:p14="http://schemas.microsoft.com/office/powerpoint/2010/main" val="281348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ADB44-40F7-FC57-CA8F-7F805AA4FF0F}"/>
              </a:ext>
            </a:extLst>
          </p:cNvPr>
          <p:cNvSpPr>
            <a:spLocks noGrp="1"/>
          </p:cNvSpPr>
          <p:nvPr>
            <p:ph type="title"/>
          </p:nvPr>
        </p:nvSpPr>
        <p:spPr/>
        <p:txBody>
          <a:bodyPr/>
          <a:lstStyle/>
          <a:p>
            <a:r>
              <a:rPr lang="zh-CN" altLang="en-US" dirty="0"/>
              <a:t>默认值参数</a:t>
            </a:r>
          </a:p>
        </p:txBody>
      </p:sp>
      <p:sp>
        <p:nvSpPr>
          <p:cNvPr id="3" name="内容占位符 2">
            <a:extLst>
              <a:ext uri="{FF2B5EF4-FFF2-40B4-BE49-F238E27FC236}">
                <a16:creationId xmlns:a16="http://schemas.microsoft.com/office/drawing/2014/main" id="{A66F9901-E77C-BEC3-7F44-076BDC7C6067}"/>
              </a:ext>
            </a:extLst>
          </p:cNvPr>
          <p:cNvSpPr>
            <a:spLocks noGrp="1"/>
          </p:cNvSpPr>
          <p:nvPr>
            <p:ph idx="1"/>
          </p:nvPr>
        </p:nvSpPr>
        <p:spPr>
          <a:xfrm>
            <a:off x="660401" y="1130300"/>
            <a:ext cx="4921692" cy="5003800"/>
          </a:xfrm>
        </p:spPr>
        <p:txBody>
          <a:bodyPr>
            <a:normAutofit/>
          </a:bodyPr>
          <a:lstStyle/>
          <a:p>
            <a:r>
              <a:rPr lang="zh-CN" altLang="en-US" sz="2000" dirty="0"/>
              <a:t>调用带有默认值参数的函数时，可以不对默认值参数进行赋值，也可以为其赋值，具有很大的灵活性。</a:t>
            </a:r>
          </a:p>
        </p:txBody>
      </p:sp>
      <p:pic>
        <p:nvPicPr>
          <p:cNvPr id="5" name="图片 4">
            <a:extLst>
              <a:ext uri="{FF2B5EF4-FFF2-40B4-BE49-F238E27FC236}">
                <a16:creationId xmlns:a16="http://schemas.microsoft.com/office/drawing/2014/main" id="{64DA799A-FA14-173D-E104-391B19D59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988" y="2522566"/>
            <a:ext cx="3400900" cy="2772162"/>
          </a:xfrm>
          <a:prstGeom prst="rect">
            <a:avLst/>
          </a:prstGeom>
        </p:spPr>
      </p:pic>
      <p:sp>
        <p:nvSpPr>
          <p:cNvPr id="7" name="内容占位符 2">
            <a:extLst>
              <a:ext uri="{FF2B5EF4-FFF2-40B4-BE49-F238E27FC236}">
                <a16:creationId xmlns:a16="http://schemas.microsoft.com/office/drawing/2014/main" id="{8B012516-CAFA-8CF3-F011-19CAB113ECEB}"/>
              </a:ext>
            </a:extLst>
          </p:cNvPr>
          <p:cNvSpPr txBox="1">
            <a:spLocks/>
          </p:cNvSpPr>
          <p:nvPr/>
        </p:nvSpPr>
        <p:spPr>
          <a:xfrm>
            <a:off x="6609909" y="1130300"/>
            <a:ext cx="4921692" cy="5003800"/>
          </a:xfrm>
          <a:prstGeom prst="rect">
            <a:avLst/>
          </a:prstGeom>
        </p:spPr>
        <p:txBody>
          <a:bodyPr vert="horz" lIns="91440" tIns="45720" rIns="91440" bIns="45720" rtlCol="0">
            <a:normAutofit/>
          </a:bodyPr>
          <a:lstStyle>
            <a:lvl1pPr marL="228594" indent="-228594" algn="l" defTabSz="914377" rtl="0" eaLnBrk="1" latinLnBrk="0" hangingPunct="1">
              <a:lnSpc>
                <a:spcPct val="110000"/>
              </a:lnSpc>
              <a:spcBef>
                <a:spcPts val="600"/>
              </a:spcBef>
              <a:buFont typeface="Arial" panose="020B0604020202020204" pitchFamily="34" charset="0"/>
              <a:buChar char="•"/>
              <a:defRPr sz="2400" kern="1200" baseline="0">
                <a:solidFill>
                  <a:schemeClr val="tx1"/>
                </a:solidFill>
                <a:latin typeface="Arial" panose="020B0604020202020204" pitchFamily="34" charset="0"/>
                <a:ea typeface="微软雅黑" panose="020B0503020204020204" pitchFamily="34" charset="-122"/>
                <a:cs typeface="+mn-cs"/>
              </a:defRPr>
            </a:lvl1pPr>
            <a:lvl2pPr marL="685783" indent="-228594" algn="l" defTabSz="914377" rtl="0" eaLnBrk="1" latinLnBrk="0" hangingPunct="1">
              <a:lnSpc>
                <a:spcPct val="110000"/>
              </a:lnSpc>
              <a:spcBef>
                <a:spcPts val="600"/>
              </a:spcBef>
              <a:buFont typeface="Arial" panose="020B0604020202020204" pitchFamily="34" charset="0"/>
              <a:buChar char="•"/>
              <a:defRPr sz="2000" kern="1200" baseline="0">
                <a:solidFill>
                  <a:schemeClr val="tx1"/>
                </a:solidFill>
                <a:latin typeface="Arial" panose="020B0604020202020204" pitchFamily="34" charset="0"/>
                <a:ea typeface="微软雅黑" panose="020B0503020204020204" pitchFamily="34" charset="-122"/>
                <a:cs typeface="+mn-cs"/>
              </a:defRPr>
            </a:lvl2pPr>
            <a:lvl3pPr marL="1142971" indent="-228594" algn="l" defTabSz="914377" rtl="0" eaLnBrk="1" latinLnBrk="0" hangingPunct="1">
              <a:lnSpc>
                <a:spcPct val="110000"/>
              </a:lnSpc>
              <a:spcBef>
                <a:spcPts val="600"/>
              </a:spcBef>
              <a:buFont typeface="Arial" panose="020B0604020202020204" pitchFamily="34" charset="0"/>
              <a:buChar char="•"/>
              <a:defRPr sz="1800" kern="1200" baseline="0">
                <a:solidFill>
                  <a:schemeClr val="tx1"/>
                </a:solidFill>
                <a:latin typeface="Arial" panose="020B0604020202020204" pitchFamily="34" charset="0"/>
                <a:ea typeface="微软雅黑" panose="020B0503020204020204" pitchFamily="34" charset="-122"/>
                <a:cs typeface="+mn-cs"/>
              </a:defRPr>
            </a:lvl3pPr>
            <a:lvl4pPr marL="1600160" indent="-228594" algn="l" defTabSz="914377" rtl="0" eaLnBrk="1" latinLnBrk="0" hangingPunct="1">
              <a:lnSpc>
                <a:spcPct val="110000"/>
              </a:lnSpc>
              <a:spcBef>
                <a:spcPts val="600"/>
              </a:spcBef>
              <a:buFont typeface="Arial" panose="020B0604020202020204" pitchFamily="34" charset="0"/>
              <a:buChar char="•"/>
              <a:defRPr sz="1600" kern="1200" baseline="0">
                <a:solidFill>
                  <a:schemeClr val="tx1"/>
                </a:solidFill>
                <a:latin typeface="Arial" panose="020B0604020202020204" pitchFamily="34" charset="0"/>
                <a:ea typeface="微软雅黑" panose="020B0503020204020204" pitchFamily="34" charset="-122"/>
                <a:cs typeface="+mn-cs"/>
              </a:defRPr>
            </a:lvl4pPr>
            <a:lvl5pPr marL="2057349" indent="-228594" algn="l" defTabSz="914377" rtl="0" eaLnBrk="1" latinLnBrk="0" hangingPunct="1">
              <a:lnSpc>
                <a:spcPct val="110000"/>
              </a:lnSpc>
              <a:spcBef>
                <a:spcPts val="600"/>
              </a:spcBef>
              <a:buFont typeface="Arial" panose="020B0604020202020204" pitchFamily="34" charset="0"/>
              <a:buChar char="•"/>
              <a:defRPr sz="1600" kern="1200" baseline="0">
                <a:solidFill>
                  <a:schemeClr val="tx1"/>
                </a:solidFill>
                <a:latin typeface="Arial" panose="020B0604020202020204" pitchFamily="34" charset="0"/>
                <a:ea typeface="微软雅黑" panose="020B0503020204020204" pitchFamily="34" charset="-122"/>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94" marR="0" lvl="0" indent="-228594"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下面的函数使用指定分隔符将列表中所有字符串元素连接成一个字符串。</a:t>
            </a:r>
          </a:p>
        </p:txBody>
      </p:sp>
      <p:pic>
        <p:nvPicPr>
          <p:cNvPr id="9" name="图片 8">
            <a:extLst>
              <a:ext uri="{FF2B5EF4-FFF2-40B4-BE49-F238E27FC236}">
                <a16:creationId xmlns:a16="http://schemas.microsoft.com/office/drawing/2014/main" id="{A1B40F33-50FD-833E-B6C6-C92AC6F0D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307" y="2509746"/>
            <a:ext cx="6039693" cy="2781688"/>
          </a:xfrm>
          <a:prstGeom prst="rect">
            <a:avLst/>
          </a:prstGeom>
        </p:spPr>
      </p:pic>
    </p:spTree>
    <p:extLst>
      <p:ext uri="{BB962C8B-B14F-4D97-AF65-F5344CB8AC3E}">
        <p14:creationId xmlns:p14="http://schemas.microsoft.com/office/powerpoint/2010/main" val="2388126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8C2D94-2B7D-494D-224F-E64CE892467A}"/>
              </a:ext>
            </a:extLst>
          </p:cNvPr>
          <p:cNvSpPr>
            <a:spLocks noGrp="1"/>
          </p:cNvSpPr>
          <p:nvPr>
            <p:ph type="title"/>
          </p:nvPr>
        </p:nvSpPr>
        <p:spPr/>
        <p:txBody>
          <a:bodyPr/>
          <a:lstStyle/>
          <a:p>
            <a:r>
              <a:rPr lang="zh-CN" altLang="en-US" dirty="0"/>
              <a:t>默认值参数</a:t>
            </a:r>
          </a:p>
        </p:txBody>
      </p:sp>
      <p:sp>
        <p:nvSpPr>
          <p:cNvPr id="3" name="内容占位符 2">
            <a:extLst>
              <a:ext uri="{FF2B5EF4-FFF2-40B4-BE49-F238E27FC236}">
                <a16:creationId xmlns:a16="http://schemas.microsoft.com/office/drawing/2014/main" id="{AB7FC457-9886-B287-CE8A-8AD14E938F4B}"/>
              </a:ext>
            </a:extLst>
          </p:cNvPr>
          <p:cNvSpPr>
            <a:spLocks noGrp="1"/>
          </p:cNvSpPr>
          <p:nvPr>
            <p:ph idx="1"/>
          </p:nvPr>
        </p:nvSpPr>
        <p:spPr/>
        <p:txBody>
          <a:bodyPr/>
          <a:lstStyle/>
          <a:p>
            <a:r>
              <a:rPr lang="zh-CN" altLang="en-US" dirty="0"/>
              <a:t>注：默认值参数必须出现在函数参数列表的最右端，任何一个默认值参数右边不能有非默认值参数。</a:t>
            </a:r>
            <a:endParaRPr lang="en-US" altLang="zh-CN" dirty="0"/>
          </a:p>
          <a:p>
            <a:endParaRPr lang="zh-CN" altLang="en-US" dirty="0"/>
          </a:p>
        </p:txBody>
      </p:sp>
      <p:pic>
        <p:nvPicPr>
          <p:cNvPr id="5" name="图片 4">
            <a:extLst>
              <a:ext uri="{FF2B5EF4-FFF2-40B4-BE49-F238E27FC236}">
                <a16:creationId xmlns:a16="http://schemas.microsoft.com/office/drawing/2014/main" id="{1BD77132-C074-9578-B207-6746B76DE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868" y="2142568"/>
            <a:ext cx="7278116" cy="3991532"/>
          </a:xfrm>
          <a:prstGeom prst="rect">
            <a:avLst/>
          </a:prstGeom>
        </p:spPr>
      </p:pic>
    </p:spTree>
    <p:extLst>
      <p:ext uri="{BB962C8B-B14F-4D97-AF65-F5344CB8AC3E}">
        <p14:creationId xmlns:p14="http://schemas.microsoft.com/office/powerpoint/2010/main" val="2568090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E6C38-0688-3DD8-5722-B264D91E89A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1D5FD43-E0AB-F3C0-6E0D-1B3C08FD714B}"/>
              </a:ext>
            </a:extLst>
          </p:cNvPr>
          <p:cNvSpPr>
            <a:spLocks noGrp="1"/>
          </p:cNvSpPr>
          <p:nvPr>
            <p:ph idx="1"/>
          </p:nvPr>
        </p:nvSpPr>
        <p:spPr>
          <a:xfrm>
            <a:off x="394588" y="970499"/>
            <a:ext cx="5245300" cy="5003800"/>
          </a:xfrm>
        </p:spPr>
        <p:txBody>
          <a:bodyPr>
            <a:normAutofit/>
          </a:bodyPr>
          <a:lstStyle/>
          <a:p>
            <a:r>
              <a:rPr lang="zh-CN" altLang="en-US" sz="2000" dirty="0"/>
              <a:t>另外，默认值参数如果使用不当，会导致很难发现的逻辑错误，例如</a:t>
            </a:r>
            <a:r>
              <a:rPr lang="en-US" altLang="zh-CN" sz="2000" dirty="0"/>
              <a:t>:</a:t>
            </a:r>
          </a:p>
          <a:p>
            <a:r>
              <a:rPr lang="zh-CN" altLang="en-US" sz="2000" dirty="0"/>
              <a:t>试着想一想，这段代码会输出什么呢</a:t>
            </a:r>
            <a:r>
              <a:rPr lang="en-US" altLang="zh-CN" sz="2000" dirty="0"/>
              <a:t>?</a:t>
            </a:r>
            <a:endParaRPr lang="zh-CN" altLang="en-US" sz="2000" dirty="0"/>
          </a:p>
        </p:txBody>
      </p:sp>
      <p:pic>
        <p:nvPicPr>
          <p:cNvPr id="6" name="图片 5">
            <a:extLst>
              <a:ext uri="{FF2B5EF4-FFF2-40B4-BE49-F238E27FC236}">
                <a16:creationId xmlns:a16="http://schemas.microsoft.com/office/drawing/2014/main" id="{97A8F577-5F09-13CD-3C8B-025DD0FBB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94" y="2187900"/>
            <a:ext cx="4467849" cy="3486637"/>
          </a:xfrm>
          <a:prstGeom prst="rect">
            <a:avLst/>
          </a:prstGeom>
        </p:spPr>
      </p:pic>
      <p:sp>
        <p:nvSpPr>
          <p:cNvPr id="8" name="文本框 7">
            <a:extLst>
              <a:ext uri="{FF2B5EF4-FFF2-40B4-BE49-F238E27FC236}">
                <a16:creationId xmlns:a16="http://schemas.microsoft.com/office/drawing/2014/main" id="{522E2EA6-74F0-B212-049D-20DDBA949B46}"/>
              </a:ext>
            </a:extLst>
          </p:cNvPr>
          <p:cNvSpPr txBox="1"/>
          <p:nvPr/>
        </p:nvSpPr>
        <p:spPr>
          <a:xfrm>
            <a:off x="5800649" y="883108"/>
            <a:ext cx="6398440" cy="1576329"/>
          </a:xfrm>
          <a:prstGeom prst="rect">
            <a:avLst/>
          </a:prstGeom>
          <a:noFill/>
        </p:spPr>
        <p:txBody>
          <a:bodyPr wrap="square">
            <a:spAutoFit/>
          </a:bodyPr>
          <a:lstStyle/>
          <a:p>
            <a:pPr marL="228594" marR="0" lvl="0" indent="-228594"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原因在于默认值参数的赋值</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pitchFamily="34" charset="-122"/>
                <a:cs typeface="+mn-cs"/>
              </a:rPr>
              <a:t>只会在函数定义时被解释一次</a:t>
            </a:r>
            <a:endPar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pitchFamily="34" charset="-122"/>
              <a:cs typeface="+mn-cs"/>
            </a:endParaRPr>
          </a:p>
          <a:p>
            <a:pPr marL="228594" marR="0" lvl="0" indent="-228594"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当使用可变序列作为参数默认值时，一定要谨慎操作</a:t>
            </a:r>
            <a:endParaRPr kumimoji="0" lang="en-US" altLang="zh-CN"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endParaRPr>
          </a:p>
          <a:p>
            <a:pPr marL="228594" marR="0" lvl="0" indent="-228594"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最后一个问题来了</a:t>
            </a:r>
            <a:r>
              <a:rPr kumimoji="0" lang="en-US" altLang="zh-CN"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正确的代码该怎么写呢</a:t>
            </a:r>
            <a:r>
              <a:rPr kumimoji="0" lang="en-US" altLang="zh-CN"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rPr>
              <a:t>?</a:t>
            </a:r>
            <a:endParaRPr kumimoji="0" lang="zh-CN" altLang="en-US" sz="20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cs"/>
            </a:endParaRPr>
          </a:p>
        </p:txBody>
      </p:sp>
      <p:pic>
        <p:nvPicPr>
          <p:cNvPr id="10" name="图片 9">
            <a:extLst>
              <a:ext uri="{FF2B5EF4-FFF2-40B4-BE49-F238E27FC236}">
                <a16:creationId xmlns:a16="http://schemas.microsoft.com/office/drawing/2014/main" id="{9BADC1A8-DE38-FDAC-29F7-4CAFFAC99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183" y="2459437"/>
            <a:ext cx="3781953" cy="4010585"/>
          </a:xfrm>
          <a:prstGeom prst="rect">
            <a:avLst/>
          </a:prstGeom>
        </p:spPr>
      </p:pic>
      <p:pic>
        <p:nvPicPr>
          <p:cNvPr id="12" name="图片 11">
            <a:extLst>
              <a:ext uri="{FF2B5EF4-FFF2-40B4-BE49-F238E27FC236}">
                <a16:creationId xmlns:a16="http://schemas.microsoft.com/office/drawing/2014/main" id="{32A29EE0-7541-182A-AF44-1731551580DE}"/>
              </a:ext>
            </a:extLst>
          </p:cNvPr>
          <p:cNvPicPr>
            <a:picLocks noChangeAspect="1"/>
          </p:cNvPicPr>
          <p:nvPr/>
        </p:nvPicPr>
        <p:blipFill>
          <a:blip r:embed="rId4"/>
          <a:stretch>
            <a:fillRect/>
          </a:stretch>
        </p:blipFill>
        <p:spPr>
          <a:xfrm>
            <a:off x="5742764" y="297688"/>
            <a:ext cx="6245243" cy="3207939"/>
          </a:xfrm>
          <a:prstGeom prst="rect">
            <a:avLst/>
          </a:prstGeom>
        </p:spPr>
      </p:pic>
      <p:pic>
        <p:nvPicPr>
          <p:cNvPr id="14" name="图片 13">
            <a:extLst>
              <a:ext uri="{FF2B5EF4-FFF2-40B4-BE49-F238E27FC236}">
                <a16:creationId xmlns:a16="http://schemas.microsoft.com/office/drawing/2014/main" id="{016E9DBB-0BEC-735F-89D3-2454FD1148FB}"/>
              </a:ext>
            </a:extLst>
          </p:cNvPr>
          <p:cNvPicPr>
            <a:picLocks noChangeAspect="1"/>
          </p:cNvPicPr>
          <p:nvPr/>
        </p:nvPicPr>
        <p:blipFill>
          <a:blip r:embed="rId5"/>
          <a:stretch>
            <a:fillRect/>
          </a:stretch>
        </p:blipFill>
        <p:spPr>
          <a:xfrm>
            <a:off x="5742764" y="3505627"/>
            <a:ext cx="6449236" cy="3044270"/>
          </a:xfrm>
          <a:prstGeom prst="rect">
            <a:avLst/>
          </a:prstGeom>
        </p:spPr>
      </p:pic>
    </p:spTree>
    <p:extLst>
      <p:ext uri="{BB962C8B-B14F-4D97-AF65-F5344CB8AC3E}">
        <p14:creationId xmlns:p14="http://schemas.microsoft.com/office/powerpoint/2010/main" val="176276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22" presetClass="exit" presetSubtype="8" fill="hold" nodeType="withEffect">
                                  <p:stCondLst>
                                    <p:cond delay="0"/>
                                  </p:stCondLst>
                                  <p:childTnLst>
                                    <p:animEffect transition="out" filter="wipe(left)">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5E1EB0-5A01-C6EF-8A40-6A48936F7F7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EC884C7E-4474-B30E-E29E-69E71AB2BC0A}"/>
              </a:ext>
            </a:extLst>
          </p:cNvPr>
          <p:cNvSpPr>
            <a:spLocks noGrp="1"/>
          </p:cNvSpPr>
          <p:nvPr>
            <p:ph idx="1"/>
          </p:nvPr>
        </p:nvSpPr>
        <p:spPr/>
        <p:txBody>
          <a:bodyPr>
            <a:normAutofit/>
          </a:bodyPr>
          <a:lstStyle/>
          <a:p>
            <a:r>
              <a:rPr lang="zh-CN" altLang="en-US" sz="2000" dirty="0"/>
              <a:t>注意：</a:t>
            </a:r>
            <a:r>
              <a:rPr lang="zh-CN" altLang="en-US" sz="2000" dirty="0">
                <a:solidFill>
                  <a:srgbClr val="FF0000"/>
                </a:solidFill>
              </a:rPr>
              <a:t>默认值参数只在函数定义时被解释一次</a:t>
            </a:r>
            <a:endParaRPr lang="en-US" altLang="zh-CN" sz="2000" dirty="0">
              <a:solidFill>
                <a:srgbClr val="FF0000"/>
              </a:solidFill>
            </a:endParaRPr>
          </a:p>
          <a:p>
            <a:r>
              <a:rPr lang="zh-CN" altLang="en-US" sz="2000" dirty="0"/>
              <a:t>可以使用“函数名</a:t>
            </a:r>
            <a:r>
              <a:rPr lang="en-US" altLang="zh-CN" sz="2000" dirty="0"/>
              <a:t>._defaults_</a:t>
            </a:r>
            <a:r>
              <a:rPr lang="zh-CN" altLang="en-US" sz="2000" dirty="0"/>
              <a:t>”查看所有默认参数的当前值</a:t>
            </a:r>
          </a:p>
        </p:txBody>
      </p:sp>
      <p:pic>
        <p:nvPicPr>
          <p:cNvPr id="6146" name="Picture 2">
            <a:extLst>
              <a:ext uri="{FF2B5EF4-FFF2-40B4-BE49-F238E27FC236}">
                <a16:creationId xmlns:a16="http://schemas.microsoft.com/office/drawing/2014/main" id="{44EF2525-BEA7-476E-539A-4DD65014E9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66" t="45271"/>
          <a:stretch/>
        </p:blipFill>
        <p:spPr bwMode="auto">
          <a:xfrm>
            <a:off x="797441" y="2211572"/>
            <a:ext cx="8817935" cy="3753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765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A2959A-B49D-2001-7E5F-5D857E28B3DF}"/>
              </a:ext>
            </a:extLst>
          </p:cNvPr>
          <p:cNvSpPr>
            <a:spLocks noGrp="1"/>
          </p:cNvSpPr>
          <p:nvPr>
            <p:ph type="title"/>
          </p:nvPr>
        </p:nvSpPr>
        <p:spPr/>
        <p:txBody>
          <a:bodyPr/>
          <a:lstStyle/>
          <a:p>
            <a:r>
              <a:rPr lang="zh-CN" altLang="en-US" dirty="0"/>
              <a:t>关键字参数</a:t>
            </a:r>
          </a:p>
        </p:txBody>
      </p:sp>
      <p:sp>
        <p:nvSpPr>
          <p:cNvPr id="3" name="内容占位符 2">
            <a:extLst>
              <a:ext uri="{FF2B5EF4-FFF2-40B4-BE49-F238E27FC236}">
                <a16:creationId xmlns:a16="http://schemas.microsoft.com/office/drawing/2014/main" id="{0FE18960-D44E-E07A-9E5E-5C764D14091E}"/>
              </a:ext>
            </a:extLst>
          </p:cNvPr>
          <p:cNvSpPr>
            <a:spLocks noGrp="1"/>
          </p:cNvSpPr>
          <p:nvPr>
            <p:ph idx="1"/>
          </p:nvPr>
        </p:nvSpPr>
        <p:spPr/>
        <p:txBody>
          <a:bodyPr>
            <a:normAutofit/>
          </a:bodyPr>
          <a:lstStyle/>
          <a:p>
            <a:r>
              <a:rPr lang="zh-CN" altLang="en-US" sz="2000" dirty="0"/>
              <a:t>通过关键字参数，</a:t>
            </a:r>
            <a:r>
              <a:rPr lang="zh-CN" altLang="en-US" sz="2000" dirty="0">
                <a:solidFill>
                  <a:srgbClr val="FF0000"/>
                </a:solidFill>
              </a:rPr>
              <a:t>实参顺序可以和形参顺序不一致</a:t>
            </a:r>
            <a:r>
              <a:rPr lang="zh-CN" altLang="en-US" sz="2000" dirty="0"/>
              <a:t>，但不影响传递结果，</a:t>
            </a:r>
            <a:r>
              <a:rPr lang="zh-CN" altLang="en-US" sz="2000" dirty="0">
                <a:solidFill>
                  <a:srgbClr val="FF0000"/>
                </a:solidFill>
              </a:rPr>
              <a:t>避免了用户需要牢记位置参数顺序的麻烦</a:t>
            </a:r>
          </a:p>
        </p:txBody>
      </p:sp>
      <p:pic>
        <p:nvPicPr>
          <p:cNvPr id="6" name="图片 5">
            <a:extLst>
              <a:ext uri="{FF2B5EF4-FFF2-40B4-BE49-F238E27FC236}">
                <a16:creationId xmlns:a16="http://schemas.microsoft.com/office/drawing/2014/main" id="{5C60F3A1-E3D5-0A91-0D3B-8CDFA8D86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750" y="2282120"/>
            <a:ext cx="2686425" cy="3229426"/>
          </a:xfrm>
          <a:prstGeom prst="rect">
            <a:avLst/>
          </a:prstGeom>
        </p:spPr>
      </p:pic>
    </p:spTree>
    <p:extLst>
      <p:ext uri="{BB962C8B-B14F-4D97-AF65-F5344CB8AC3E}">
        <p14:creationId xmlns:p14="http://schemas.microsoft.com/office/powerpoint/2010/main" val="3247076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F9F2C-6CE9-2736-332C-AEBAAE33D494}"/>
              </a:ext>
            </a:extLst>
          </p:cNvPr>
          <p:cNvSpPr>
            <a:spLocks noGrp="1"/>
          </p:cNvSpPr>
          <p:nvPr>
            <p:ph type="title"/>
          </p:nvPr>
        </p:nvSpPr>
        <p:spPr/>
        <p:txBody>
          <a:bodyPr/>
          <a:lstStyle/>
          <a:p>
            <a:r>
              <a:rPr lang="zh-CN" altLang="en-US" dirty="0"/>
              <a:t>可变长度参数</a:t>
            </a:r>
          </a:p>
        </p:txBody>
      </p:sp>
      <p:sp>
        <p:nvSpPr>
          <p:cNvPr id="3" name="内容占位符 2">
            <a:extLst>
              <a:ext uri="{FF2B5EF4-FFF2-40B4-BE49-F238E27FC236}">
                <a16:creationId xmlns:a16="http://schemas.microsoft.com/office/drawing/2014/main" id="{B5A373A1-B4BB-649B-4BE4-CE037AC023E9}"/>
              </a:ext>
            </a:extLst>
          </p:cNvPr>
          <p:cNvSpPr>
            <a:spLocks noGrp="1"/>
          </p:cNvSpPr>
          <p:nvPr>
            <p:ph idx="1"/>
          </p:nvPr>
        </p:nvSpPr>
        <p:spPr/>
        <p:txBody>
          <a:bodyPr>
            <a:normAutofit/>
          </a:bodyPr>
          <a:lstStyle/>
          <a:p>
            <a:pPr algn="l"/>
            <a:r>
              <a:rPr lang="zh-CN" altLang="en-US" sz="2000" b="0" i="0" dirty="0">
                <a:solidFill>
                  <a:srgbClr val="333333"/>
                </a:solidFill>
                <a:effectLst/>
                <a:latin typeface="PingFang SC"/>
              </a:rPr>
              <a:t>可变长度参数：指的是在调用函数时，传入的参数个数可以不固定</a:t>
            </a:r>
          </a:p>
          <a:p>
            <a:r>
              <a:rPr lang="zh-CN" altLang="en-US" sz="2000" dirty="0"/>
              <a:t>可变长度参数主要有两种形式</a:t>
            </a:r>
            <a:r>
              <a:rPr lang="en-US" altLang="zh-CN" sz="2000" dirty="0"/>
              <a:t>: </a:t>
            </a:r>
            <a:r>
              <a:rPr lang="zh-CN" altLang="en-US" sz="2000" dirty="0"/>
              <a:t>在参数名前加</a:t>
            </a:r>
            <a:r>
              <a:rPr lang="en-US" altLang="zh-CN" sz="2000" dirty="0"/>
              <a:t>1</a:t>
            </a:r>
            <a:r>
              <a:rPr lang="zh-CN" altLang="en-US" sz="2000" dirty="0"/>
              <a:t>个*或</a:t>
            </a:r>
            <a:r>
              <a:rPr lang="en-US" altLang="zh-CN" sz="2000" dirty="0"/>
              <a:t>2</a:t>
            </a:r>
            <a:r>
              <a:rPr lang="zh-CN" altLang="en-US" sz="2000" dirty="0"/>
              <a:t>个**</a:t>
            </a:r>
            <a:endParaRPr lang="en-US" altLang="zh-CN" sz="2000" dirty="0"/>
          </a:p>
          <a:p>
            <a:r>
              <a:rPr lang="en-US" altLang="zh-CN" sz="2000" dirty="0"/>
              <a:t>*parameter</a:t>
            </a:r>
            <a:r>
              <a:rPr lang="zh-CN" altLang="en-US" sz="2000" dirty="0"/>
              <a:t>用来接受多个实参并将其放在一个</a:t>
            </a:r>
            <a:r>
              <a:rPr lang="zh-CN" altLang="en-US" sz="2000" dirty="0">
                <a:solidFill>
                  <a:srgbClr val="FF0000"/>
                </a:solidFill>
              </a:rPr>
              <a:t>元组</a:t>
            </a:r>
            <a:r>
              <a:rPr lang="zh-CN" altLang="en-US" sz="2000" dirty="0"/>
              <a:t>中</a:t>
            </a:r>
            <a:endParaRPr lang="en-US" altLang="zh-CN" sz="2000" dirty="0"/>
          </a:p>
          <a:p>
            <a:r>
              <a:rPr lang="zh-CN" altLang="en-US" sz="2000" dirty="0"/>
              <a:t>**</a:t>
            </a:r>
            <a:r>
              <a:rPr lang="en-US" altLang="zh-CN" sz="2000" dirty="0"/>
              <a:t>parameter</a:t>
            </a:r>
            <a:r>
              <a:rPr lang="zh-CN" altLang="en-US" sz="2000" dirty="0"/>
              <a:t>接受多个关键参数并存放到</a:t>
            </a:r>
            <a:r>
              <a:rPr lang="zh-CN" altLang="en-US" sz="2000" dirty="0">
                <a:solidFill>
                  <a:srgbClr val="FF0000"/>
                </a:solidFill>
              </a:rPr>
              <a:t>字典</a:t>
            </a:r>
            <a:r>
              <a:rPr lang="zh-CN" altLang="en-US" sz="2000" dirty="0"/>
              <a:t>中</a:t>
            </a:r>
            <a:endParaRPr lang="en-US" altLang="zh-CN" sz="2000" dirty="0"/>
          </a:p>
          <a:p>
            <a:r>
              <a:rPr lang="zh-CN" altLang="en-US" sz="2000" b="0" i="0" dirty="0">
                <a:solidFill>
                  <a:srgbClr val="333333"/>
                </a:solidFill>
                <a:effectLst/>
                <a:latin typeface="PingFang SC"/>
              </a:rPr>
              <a:t>调用函数时，传值的方式无非两种，一种是位置实参，另一种是关键字实参，因此形参也必须得有两种解决方法，以此来分别接收溢出的位置实参和关键字实参</a:t>
            </a:r>
          </a:p>
          <a:p>
            <a:endParaRPr lang="zh-CN" altLang="en-US" sz="2000" dirty="0"/>
          </a:p>
        </p:txBody>
      </p:sp>
      <p:sp>
        <p:nvSpPr>
          <p:cNvPr id="6" name="文本框 5">
            <a:extLst>
              <a:ext uri="{FF2B5EF4-FFF2-40B4-BE49-F238E27FC236}">
                <a16:creationId xmlns:a16="http://schemas.microsoft.com/office/drawing/2014/main" id="{E5C55B6D-9E5C-70C0-1E86-292B2326C782}"/>
              </a:ext>
            </a:extLst>
          </p:cNvPr>
          <p:cNvSpPr txBox="1"/>
          <p:nvPr/>
        </p:nvSpPr>
        <p:spPr>
          <a:xfrm>
            <a:off x="8112641" y="6596390"/>
            <a:ext cx="4086447"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2F2F2F"/>
                </a:solidFill>
                <a:effectLst/>
                <a:uLnTx/>
                <a:uFillTx/>
                <a:latin typeface="思源黑体 CN Normal"/>
                <a:ea typeface="思源黑体 CN Normal"/>
                <a:cs typeface="+mn-cs"/>
              </a:rPr>
              <a:t>https://www.cnblogs.com/SkyOceanchen/p/11336568.html</a:t>
            </a:r>
            <a:endParaRPr kumimoji="0" lang="zh-CN" altLang="en-US" sz="110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spTree>
    <p:extLst>
      <p:ext uri="{BB962C8B-B14F-4D97-AF65-F5344CB8AC3E}">
        <p14:creationId xmlns:p14="http://schemas.microsoft.com/office/powerpoint/2010/main" val="1105280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0A8E2808-A194-8D45-D345-F3E823D35086}"/>
              </a:ext>
            </a:extLst>
          </p:cNvPr>
          <p:cNvSpPr>
            <a:spLocks noGrp="1"/>
          </p:cNvSpPr>
          <p:nvPr>
            <p:ph type="title"/>
          </p:nvPr>
        </p:nvSpPr>
        <p:spPr/>
        <p:txBody>
          <a:bodyPr/>
          <a:lstStyle/>
          <a:p>
            <a:endParaRPr lang="zh-CN" altLang="en-US"/>
          </a:p>
        </p:txBody>
      </p:sp>
      <p:sp>
        <p:nvSpPr>
          <p:cNvPr id="8" name="内容占位符 7">
            <a:extLst>
              <a:ext uri="{FF2B5EF4-FFF2-40B4-BE49-F238E27FC236}">
                <a16:creationId xmlns:a16="http://schemas.microsoft.com/office/drawing/2014/main" id="{15379E1C-955B-F6A0-C6FD-64274199878D}"/>
              </a:ext>
            </a:extLst>
          </p:cNvPr>
          <p:cNvSpPr>
            <a:spLocks noGrp="1"/>
          </p:cNvSpPr>
          <p:nvPr>
            <p:ph idx="1"/>
          </p:nvPr>
        </p:nvSpPr>
        <p:spPr>
          <a:xfrm>
            <a:off x="543811" y="927100"/>
            <a:ext cx="10858500" cy="5003800"/>
          </a:xfrm>
        </p:spPr>
        <p:txBody>
          <a:bodyPr>
            <a:normAutofit/>
          </a:bodyPr>
          <a:lstStyle/>
          <a:p>
            <a:r>
              <a:rPr lang="zh-CN" altLang="en-US" sz="1800" dirty="0"/>
              <a:t>可变长形参之*</a:t>
            </a:r>
          </a:p>
          <a:p>
            <a:r>
              <a:rPr lang="zh-CN" altLang="en-US" sz="1800" dirty="0"/>
              <a:t>形参中的*会将溢出的位置实参全部接受，然后以元组的形式存储，然后把元组赋值给*后的参数，需要注意的是*后的参数名约定成俗成为</a:t>
            </a:r>
            <a:r>
              <a:rPr lang="en-US" altLang="zh-CN" sz="1800" dirty="0" err="1"/>
              <a:t>args</a:t>
            </a:r>
            <a:endParaRPr lang="en-US" altLang="zh-CN" sz="1800" dirty="0"/>
          </a:p>
          <a:p>
            <a:endParaRPr lang="zh-CN" altLang="en-US" sz="1800" dirty="0"/>
          </a:p>
        </p:txBody>
      </p:sp>
      <p:pic>
        <p:nvPicPr>
          <p:cNvPr id="10" name="图片 9">
            <a:extLst>
              <a:ext uri="{FF2B5EF4-FFF2-40B4-BE49-F238E27FC236}">
                <a16:creationId xmlns:a16="http://schemas.microsoft.com/office/drawing/2014/main" id="{942CCE30-A033-519D-7BEB-35BF996DABC0}"/>
              </a:ext>
            </a:extLst>
          </p:cNvPr>
          <p:cNvPicPr>
            <a:picLocks noChangeAspect="1"/>
          </p:cNvPicPr>
          <p:nvPr/>
        </p:nvPicPr>
        <p:blipFill>
          <a:blip r:embed="rId2"/>
          <a:stretch>
            <a:fillRect/>
          </a:stretch>
        </p:blipFill>
        <p:spPr>
          <a:xfrm>
            <a:off x="5314064" y="1986123"/>
            <a:ext cx="6334125" cy="4781550"/>
          </a:xfrm>
          <a:prstGeom prst="rect">
            <a:avLst/>
          </a:prstGeom>
        </p:spPr>
      </p:pic>
      <p:pic>
        <p:nvPicPr>
          <p:cNvPr id="11" name="Picture 2">
            <a:extLst>
              <a:ext uri="{FF2B5EF4-FFF2-40B4-BE49-F238E27FC236}">
                <a16:creationId xmlns:a16="http://schemas.microsoft.com/office/drawing/2014/main" id="{46AF325C-4BA7-B186-AAA1-810BF6BB5D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81" t="21474" r="59224" b="28838"/>
          <a:stretch/>
        </p:blipFill>
        <p:spPr bwMode="auto">
          <a:xfrm>
            <a:off x="789689" y="2185040"/>
            <a:ext cx="3327991" cy="3407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20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AE80B-BA91-29AF-E926-EA48BB9670E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A438AB-1DB4-A6FC-2B8B-FC2C0FB0EC5F}"/>
              </a:ext>
            </a:extLst>
          </p:cNvPr>
          <p:cNvSpPr>
            <a:spLocks noGrp="1"/>
          </p:cNvSpPr>
          <p:nvPr>
            <p:ph idx="1"/>
          </p:nvPr>
        </p:nvSpPr>
        <p:spPr/>
        <p:txBody>
          <a:bodyPr>
            <a:normAutofit/>
          </a:bodyPr>
          <a:lstStyle/>
          <a:p>
            <a:r>
              <a:rPr lang="zh-CN" altLang="en-US" sz="2000" b="1" i="0" dirty="0">
                <a:solidFill>
                  <a:srgbClr val="333333"/>
                </a:solidFill>
                <a:effectLst/>
                <a:latin typeface="PingFang SC"/>
              </a:rPr>
              <a:t>可变长实参之*</a:t>
            </a:r>
            <a:endParaRPr lang="en-US" altLang="zh-CN" sz="2000" b="1" i="0" dirty="0">
              <a:solidFill>
                <a:srgbClr val="333333"/>
              </a:solidFill>
              <a:effectLst/>
              <a:latin typeface="PingFang SC"/>
            </a:endParaRPr>
          </a:p>
          <a:p>
            <a:r>
              <a:rPr lang="zh-CN" altLang="en-US" sz="2000" b="0" i="0" dirty="0">
                <a:solidFill>
                  <a:srgbClr val="333333"/>
                </a:solidFill>
                <a:effectLst/>
                <a:latin typeface="PingFang SC"/>
              </a:rPr>
              <a:t>实参中的</a:t>
            </a:r>
            <a:r>
              <a:rPr lang="zh-CN" altLang="en-US" sz="2000" dirty="0"/>
              <a:t>*</a:t>
            </a:r>
            <a:r>
              <a:rPr lang="zh-CN" altLang="en-US" sz="2000" b="0" i="0" dirty="0">
                <a:solidFill>
                  <a:srgbClr val="333333"/>
                </a:solidFill>
                <a:effectLst/>
                <a:latin typeface="PingFang SC"/>
              </a:rPr>
              <a:t>会将</a:t>
            </a:r>
            <a:r>
              <a:rPr lang="zh-CN" altLang="en-US" sz="2000" dirty="0"/>
              <a:t>*</a:t>
            </a:r>
            <a:r>
              <a:rPr lang="zh-CN" altLang="en-US" sz="2000" b="0" i="0" dirty="0">
                <a:solidFill>
                  <a:srgbClr val="333333"/>
                </a:solidFill>
                <a:effectLst/>
                <a:latin typeface="PingFang SC"/>
              </a:rPr>
              <a:t>后参数的值循环取出，打散成位置实参，以后但凡碰到实参中带有</a:t>
            </a:r>
            <a:r>
              <a:rPr lang="zh-CN" altLang="en-US" sz="2000" dirty="0"/>
              <a:t>*</a:t>
            </a:r>
            <a:r>
              <a:rPr lang="zh-CN" altLang="en-US" sz="2000" b="0" i="0" dirty="0">
                <a:solidFill>
                  <a:srgbClr val="333333"/>
                </a:solidFill>
                <a:effectLst/>
                <a:latin typeface="PingFang SC"/>
              </a:rPr>
              <a:t>的，就是位置实参，应该马上进行打散成位置实参去看。</a:t>
            </a:r>
            <a:endParaRPr lang="zh-CN" altLang="en-US" sz="2000" b="1" i="0" dirty="0">
              <a:solidFill>
                <a:srgbClr val="333333"/>
              </a:solidFill>
              <a:effectLst/>
              <a:latin typeface="PingFang SC"/>
            </a:endParaRPr>
          </a:p>
          <a:p>
            <a:endParaRPr lang="zh-CN" altLang="en-US" sz="2000" dirty="0"/>
          </a:p>
        </p:txBody>
      </p:sp>
      <p:pic>
        <p:nvPicPr>
          <p:cNvPr id="5" name="图片 4">
            <a:extLst>
              <a:ext uri="{FF2B5EF4-FFF2-40B4-BE49-F238E27FC236}">
                <a16:creationId xmlns:a16="http://schemas.microsoft.com/office/drawing/2014/main" id="{71612BAD-9A96-9861-121B-0A994598D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842" y="2521997"/>
            <a:ext cx="7097115" cy="3515216"/>
          </a:xfrm>
          <a:prstGeom prst="rect">
            <a:avLst/>
          </a:prstGeom>
        </p:spPr>
      </p:pic>
    </p:spTree>
    <p:extLst>
      <p:ext uri="{BB962C8B-B14F-4D97-AF65-F5344CB8AC3E}">
        <p14:creationId xmlns:p14="http://schemas.microsoft.com/office/powerpoint/2010/main" val="1205960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35AFC-D69F-37D7-9823-7A65AEA899B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FE08C52-99BC-B3D6-D102-F295CBA62706}"/>
              </a:ext>
            </a:extLst>
          </p:cNvPr>
          <p:cNvSpPr>
            <a:spLocks noGrp="1"/>
          </p:cNvSpPr>
          <p:nvPr>
            <p:ph idx="1"/>
          </p:nvPr>
        </p:nvSpPr>
        <p:spPr/>
        <p:txBody>
          <a:bodyPr>
            <a:normAutofit/>
          </a:bodyPr>
          <a:lstStyle/>
          <a:p>
            <a:r>
              <a:rPr lang="zh-CN" altLang="en-US" sz="2000" dirty="0"/>
              <a:t>可变长形参之**</a:t>
            </a:r>
          </a:p>
          <a:p>
            <a:r>
              <a:rPr lang="zh-CN" altLang="en-US" sz="2000" dirty="0"/>
              <a:t>形参中的**会将溢出的关键字实参全部接收，然后存储字典的形式，然后把字典赋值给**后的参数，需要注意的是**后的参数名约定成俗为</a:t>
            </a:r>
            <a:r>
              <a:rPr lang="en-US" altLang="zh-CN" sz="2000" dirty="0" err="1"/>
              <a:t>kwargs</a:t>
            </a:r>
            <a:endParaRPr lang="zh-CN" altLang="en-US" sz="2000" dirty="0"/>
          </a:p>
        </p:txBody>
      </p:sp>
      <p:pic>
        <p:nvPicPr>
          <p:cNvPr id="6" name="图片 5">
            <a:extLst>
              <a:ext uri="{FF2B5EF4-FFF2-40B4-BE49-F238E27FC236}">
                <a16:creationId xmlns:a16="http://schemas.microsoft.com/office/drawing/2014/main" id="{21EA5287-65D8-7803-D0D4-93C51071C662}"/>
              </a:ext>
            </a:extLst>
          </p:cNvPr>
          <p:cNvPicPr>
            <a:picLocks noChangeAspect="1"/>
          </p:cNvPicPr>
          <p:nvPr/>
        </p:nvPicPr>
        <p:blipFill>
          <a:blip r:embed="rId2"/>
          <a:stretch>
            <a:fillRect/>
          </a:stretch>
        </p:blipFill>
        <p:spPr>
          <a:xfrm>
            <a:off x="980521" y="2858607"/>
            <a:ext cx="2447925" cy="2076450"/>
          </a:xfrm>
          <a:prstGeom prst="rect">
            <a:avLst/>
          </a:prstGeom>
        </p:spPr>
      </p:pic>
      <p:pic>
        <p:nvPicPr>
          <p:cNvPr id="7" name="图片 6">
            <a:extLst>
              <a:ext uri="{FF2B5EF4-FFF2-40B4-BE49-F238E27FC236}">
                <a16:creationId xmlns:a16="http://schemas.microsoft.com/office/drawing/2014/main" id="{81F9CCAA-3866-D5D8-01CB-E7DE1BD32302}"/>
              </a:ext>
            </a:extLst>
          </p:cNvPr>
          <p:cNvPicPr>
            <a:picLocks noChangeAspect="1"/>
          </p:cNvPicPr>
          <p:nvPr/>
        </p:nvPicPr>
        <p:blipFill rotWithShape="1">
          <a:blip r:embed="rId3"/>
          <a:srcRect l="3915" t="22481" r="56084" b="32558"/>
          <a:stretch/>
        </p:blipFill>
        <p:spPr>
          <a:xfrm>
            <a:off x="5954233" y="2644257"/>
            <a:ext cx="3657600" cy="3083443"/>
          </a:xfrm>
          <a:prstGeom prst="rect">
            <a:avLst/>
          </a:prstGeom>
        </p:spPr>
      </p:pic>
    </p:spTree>
    <p:extLst>
      <p:ext uri="{BB962C8B-B14F-4D97-AF65-F5344CB8AC3E}">
        <p14:creationId xmlns:p14="http://schemas.microsoft.com/office/powerpoint/2010/main" val="2953476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5D3BDE-00CC-236E-B05B-DA8C9606D55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F9172E7-007E-4793-8D07-20987CCE75CF}"/>
              </a:ext>
            </a:extLst>
          </p:cNvPr>
          <p:cNvSpPr>
            <a:spLocks noGrp="1"/>
          </p:cNvSpPr>
          <p:nvPr>
            <p:ph idx="1"/>
          </p:nvPr>
        </p:nvSpPr>
        <p:spPr/>
        <p:txBody>
          <a:bodyPr>
            <a:normAutofit/>
          </a:bodyPr>
          <a:lstStyle/>
          <a:p>
            <a:r>
              <a:rPr lang="zh-CN" altLang="en-US" sz="2000" dirty="0"/>
              <a:t>可变长实参之**</a:t>
            </a:r>
          </a:p>
          <a:p>
            <a:r>
              <a:rPr lang="zh-CN" altLang="en-US" sz="2000" dirty="0"/>
              <a:t>实参中的**，会将参数后面的值循环取出，打散成关键字实参，以后遇到实参中带有**的，就是关键字实参，应该马上就打散成关键字实参去看。</a:t>
            </a:r>
          </a:p>
        </p:txBody>
      </p:sp>
      <p:pic>
        <p:nvPicPr>
          <p:cNvPr id="5" name="图片 4">
            <a:extLst>
              <a:ext uri="{FF2B5EF4-FFF2-40B4-BE49-F238E27FC236}">
                <a16:creationId xmlns:a16="http://schemas.microsoft.com/office/drawing/2014/main" id="{CDBCD630-2A84-26C0-F72D-61BC15EBBD44}"/>
              </a:ext>
            </a:extLst>
          </p:cNvPr>
          <p:cNvPicPr>
            <a:picLocks noChangeAspect="1"/>
          </p:cNvPicPr>
          <p:nvPr/>
        </p:nvPicPr>
        <p:blipFill>
          <a:blip r:embed="rId2"/>
          <a:stretch>
            <a:fillRect/>
          </a:stretch>
        </p:blipFill>
        <p:spPr>
          <a:xfrm>
            <a:off x="166687" y="2338387"/>
            <a:ext cx="8201025" cy="2181225"/>
          </a:xfrm>
          <a:prstGeom prst="rect">
            <a:avLst/>
          </a:prstGeom>
        </p:spPr>
      </p:pic>
      <p:pic>
        <p:nvPicPr>
          <p:cNvPr id="7" name="图片 6">
            <a:extLst>
              <a:ext uri="{FF2B5EF4-FFF2-40B4-BE49-F238E27FC236}">
                <a16:creationId xmlns:a16="http://schemas.microsoft.com/office/drawing/2014/main" id="{B196EC4C-0B54-C46D-0C27-04F0C3F0424D}"/>
              </a:ext>
            </a:extLst>
          </p:cNvPr>
          <p:cNvPicPr>
            <a:picLocks noChangeAspect="1"/>
          </p:cNvPicPr>
          <p:nvPr/>
        </p:nvPicPr>
        <p:blipFill>
          <a:blip r:embed="rId3"/>
          <a:stretch>
            <a:fillRect/>
          </a:stretch>
        </p:blipFill>
        <p:spPr>
          <a:xfrm>
            <a:off x="6848919" y="3632200"/>
            <a:ext cx="5438775" cy="3276600"/>
          </a:xfrm>
          <a:prstGeom prst="rect">
            <a:avLst/>
          </a:prstGeom>
        </p:spPr>
      </p:pic>
    </p:spTree>
    <p:extLst>
      <p:ext uri="{BB962C8B-B14F-4D97-AF65-F5344CB8AC3E}">
        <p14:creationId xmlns:p14="http://schemas.microsoft.com/office/powerpoint/2010/main" val="2159631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E0160-15E9-5318-762D-45E40BDFDC5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28ECBC7-7749-E2EE-D27C-6822392F4965}"/>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D59F6182-DFA0-FC82-1C83-A5070B74332D}"/>
              </a:ext>
            </a:extLst>
          </p:cNvPr>
          <p:cNvPicPr>
            <a:picLocks noChangeAspect="1"/>
          </p:cNvPicPr>
          <p:nvPr/>
        </p:nvPicPr>
        <p:blipFill>
          <a:blip r:embed="rId2"/>
          <a:stretch>
            <a:fillRect/>
          </a:stretch>
        </p:blipFill>
        <p:spPr>
          <a:xfrm>
            <a:off x="660401" y="1130300"/>
            <a:ext cx="8529043" cy="5291787"/>
          </a:xfrm>
          <a:prstGeom prst="rect">
            <a:avLst/>
          </a:prstGeom>
        </p:spPr>
      </p:pic>
    </p:spTree>
    <p:extLst>
      <p:ext uri="{BB962C8B-B14F-4D97-AF65-F5344CB8AC3E}">
        <p14:creationId xmlns:p14="http://schemas.microsoft.com/office/powerpoint/2010/main" val="2836158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6B1A-C054-FB49-84F8-D4FDEF2F7EE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202C98B-8876-3FC6-B0F3-8EE1505A048F}"/>
              </a:ext>
            </a:extLst>
          </p:cNvPr>
          <p:cNvSpPr>
            <a:spLocks noGrp="1"/>
          </p:cNvSpPr>
          <p:nvPr>
            <p:ph idx="1"/>
          </p:nvPr>
        </p:nvSpPr>
        <p:spPr/>
        <p:txBody>
          <a:bodyPr>
            <a:normAutofit/>
          </a:bodyPr>
          <a:lstStyle/>
          <a:p>
            <a:r>
              <a:rPr lang="zh-CN" altLang="en-US" sz="2000" b="1" i="0" dirty="0">
                <a:solidFill>
                  <a:srgbClr val="333333"/>
                </a:solidFill>
                <a:effectLst/>
                <a:latin typeface="PingFang SC"/>
              </a:rPr>
              <a:t>命名关键字形参</a:t>
            </a:r>
          </a:p>
          <a:p>
            <a:r>
              <a:rPr lang="zh-CN" altLang="en-US" sz="2000" dirty="0"/>
              <a:t>命名关键字形参：在函数定义阶段，*后面的参数都是命名关键字参数</a:t>
            </a:r>
          </a:p>
          <a:p>
            <a:r>
              <a:rPr lang="zh-CN" altLang="en-US" sz="2000" dirty="0"/>
              <a:t>特点：在传值时，必须按照</a:t>
            </a:r>
            <a:r>
              <a:rPr lang="en-US" altLang="zh-CN" sz="2000" dirty="0"/>
              <a:t>key=value</a:t>
            </a:r>
            <a:r>
              <a:rPr lang="zh-CN" altLang="en-US" sz="2000" dirty="0"/>
              <a:t>的方式传值，并且</a:t>
            </a:r>
            <a:r>
              <a:rPr lang="en-US" altLang="zh-CN" sz="2000" dirty="0"/>
              <a:t>key</a:t>
            </a:r>
            <a:r>
              <a:rPr lang="zh-CN" altLang="en-US" sz="2000" dirty="0"/>
              <a:t>必须命名关键字参数的指定的参数。</a:t>
            </a:r>
          </a:p>
        </p:txBody>
      </p:sp>
      <p:pic>
        <p:nvPicPr>
          <p:cNvPr id="5" name="图片 4">
            <a:extLst>
              <a:ext uri="{FF2B5EF4-FFF2-40B4-BE49-F238E27FC236}">
                <a16:creationId xmlns:a16="http://schemas.microsoft.com/office/drawing/2014/main" id="{37F75E69-32B5-FFFD-19F3-4478DF1C0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865" y="2657239"/>
            <a:ext cx="4963218" cy="3372321"/>
          </a:xfrm>
          <a:prstGeom prst="rect">
            <a:avLst/>
          </a:prstGeom>
        </p:spPr>
      </p:pic>
      <p:pic>
        <p:nvPicPr>
          <p:cNvPr id="7" name="图片 6">
            <a:extLst>
              <a:ext uri="{FF2B5EF4-FFF2-40B4-BE49-F238E27FC236}">
                <a16:creationId xmlns:a16="http://schemas.microsoft.com/office/drawing/2014/main" id="{2CA65176-743F-70C8-A650-E2DC4F801A94}"/>
              </a:ext>
            </a:extLst>
          </p:cNvPr>
          <p:cNvPicPr>
            <a:picLocks noChangeAspect="1"/>
          </p:cNvPicPr>
          <p:nvPr/>
        </p:nvPicPr>
        <p:blipFill>
          <a:blip r:embed="rId3"/>
          <a:stretch>
            <a:fillRect/>
          </a:stretch>
        </p:blipFill>
        <p:spPr>
          <a:xfrm>
            <a:off x="7026585" y="2500473"/>
            <a:ext cx="4400550" cy="4267200"/>
          </a:xfrm>
          <a:prstGeom prst="rect">
            <a:avLst/>
          </a:prstGeom>
        </p:spPr>
      </p:pic>
    </p:spTree>
    <p:extLst>
      <p:ext uri="{BB962C8B-B14F-4D97-AF65-F5344CB8AC3E}">
        <p14:creationId xmlns:p14="http://schemas.microsoft.com/office/powerpoint/2010/main" val="1467955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6D047-22EB-0A31-55B5-7D8985961778}"/>
              </a:ext>
            </a:extLst>
          </p:cNvPr>
          <p:cNvSpPr>
            <a:spLocks noGrp="1"/>
          </p:cNvSpPr>
          <p:nvPr>
            <p:ph type="title"/>
          </p:nvPr>
        </p:nvSpPr>
        <p:spPr/>
        <p:txBody>
          <a:bodyPr/>
          <a:lstStyle/>
          <a:p>
            <a:r>
              <a:rPr lang="zh-CN" altLang="en-US" dirty="0"/>
              <a:t>参数传递的序列解包</a:t>
            </a:r>
          </a:p>
        </p:txBody>
      </p:sp>
      <p:sp>
        <p:nvSpPr>
          <p:cNvPr id="3" name="内容占位符 2">
            <a:extLst>
              <a:ext uri="{FF2B5EF4-FFF2-40B4-BE49-F238E27FC236}">
                <a16:creationId xmlns:a16="http://schemas.microsoft.com/office/drawing/2014/main" id="{95FB34CC-46F6-13A0-2551-30420D004CD5}"/>
              </a:ext>
            </a:extLst>
          </p:cNvPr>
          <p:cNvSpPr>
            <a:spLocks noGrp="1"/>
          </p:cNvSpPr>
          <p:nvPr>
            <p:ph idx="1"/>
          </p:nvPr>
        </p:nvSpPr>
        <p:spPr/>
        <p:txBody>
          <a:bodyPr/>
          <a:lstStyle/>
          <a:p>
            <a:endParaRPr lang="zh-CN" altLang="en-US" dirty="0"/>
          </a:p>
        </p:txBody>
      </p:sp>
      <p:pic>
        <p:nvPicPr>
          <p:cNvPr id="9218" name="Picture 2">
            <a:extLst>
              <a:ext uri="{FF2B5EF4-FFF2-40B4-BE49-F238E27FC236}">
                <a16:creationId xmlns:a16="http://schemas.microsoft.com/office/drawing/2014/main" id="{2E016721-DB14-5AF6-5EBA-0312A339DC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01" t="20142"/>
          <a:stretch/>
        </p:blipFill>
        <p:spPr bwMode="auto">
          <a:xfrm>
            <a:off x="467832" y="978195"/>
            <a:ext cx="8860465" cy="547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776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42F295-2039-5DB6-9353-1A0887963366}"/>
              </a:ext>
            </a:extLst>
          </p:cNvPr>
          <p:cNvSpPr>
            <a:spLocks noGrp="1"/>
          </p:cNvSpPr>
          <p:nvPr>
            <p:ph type="title"/>
          </p:nvPr>
        </p:nvSpPr>
        <p:spPr/>
        <p:txBody>
          <a:bodyPr/>
          <a:lstStyle/>
          <a:p>
            <a:r>
              <a:rPr lang="zh-CN" altLang="en-US" dirty="0"/>
              <a:t>参数传递的序列解包</a:t>
            </a:r>
          </a:p>
        </p:txBody>
      </p:sp>
      <p:sp>
        <p:nvSpPr>
          <p:cNvPr id="3" name="内容占位符 2">
            <a:extLst>
              <a:ext uri="{FF2B5EF4-FFF2-40B4-BE49-F238E27FC236}">
                <a16:creationId xmlns:a16="http://schemas.microsoft.com/office/drawing/2014/main" id="{0B10273F-54D6-E03E-FCB7-E2E20E805328}"/>
              </a:ext>
            </a:extLst>
          </p:cNvPr>
          <p:cNvSpPr>
            <a:spLocks noGrp="1"/>
          </p:cNvSpPr>
          <p:nvPr>
            <p:ph idx="1"/>
          </p:nvPr>
        </p:nvSpPr>
        <p:spPr/>
        <p:txBody>
          <a:bodyPr/>
          <a:lstStyle/>
          <a:p>
            <a:endParaRPr lang="zh-CN" altLang="en-US" dirty="0"/>
          </a:p>
        </p:txBody>
      </p:sp>
      <p:pic>
        <p:nvPicPr>
          <p:cNvPr id="10242" name="Picture 2">
            <a:extLst>
              <a:ext uri="{FF2B5EF4-FFF2-40B4-BE49-F238E27FC236}">
                <a16:creationId xmlns:a16="http://schemas.microsoft.com/office/drawing/2014/main" id="{70AF884C-391F-9A7F-CD94-61DC4C92AD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49" t="21693"/>
          <a:stretch/>
        </p:blipFill>
        <p:spPr bwMode="auto">
          <a:xfrm>
            <a:off x="660401" y="1130300"/>
            <a:ext cx="8828568" cy="537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266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65F18-74B8-F0F3-2905-E046830E661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4C315B9-3A0A-5CC1-B364-D8171216B42D}"/>
              </a:ext>
            </a:extLst>
          </p:cNvPr>
          <p:cNvSpPr>
            <a:spLocks noGrp="1"/>
          </p:cNvSpPr>
          <p:nvPr>
            <p:ph idx="1"/>
          </p:nvPr>
        </p:nvSpPr>
        <p:spPr/>
        <p:txBody>
          <a:bodyPr>
            <a:normAutofit/>
          </a:bodyPr>
          <a:lstStyle/>
          <a:p>
            <a:r>
              <a:rPr lang="zh-CN" altLang="en-US" sz="2000" dirty="0"/>
              <a:t>注意：调用函数时对实参序列使用一个星号*进行解包后的实参将会被当做普通位置参数对待，并且会在关键参数和使用两个星号**进行序列解包的参数之前进行处理。</a:t>
            </a:r>
          </a:p>
        </p:txBody>
      </p:sp>
      <p:pic>
        <p:nvPicPr>
          <p:cNvPr id="4" name="Picture 2">
            <a:extLst>
              <a:ext uri="{FF2B5EF4-FFF2-40B4-BE49-F238E27FC236}">
                <a16:creationId xmlns:a16="http://schemas.microsoft.com/office/drawing/2014/main" id="{10581747-B335-CEC3-FE82-E6BBEEA097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15" t="19845" r="4226" b="32403"/>
          <a:stretch/>
        </p:blipFill>
        <p:spPr bwMode="auto">
          <a:xfrm>
            <a:off x="797441" y="1892594"/>
            <a:ext cx="8454265" cy="32960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B1236B09-C8C7-BB38-9E95-01AD76A942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15" t="20930" r="8877" b="13179"/>
          <a:stretch/>
        </p:blipFill>
        <p:spPr bwMode="auto">
          <a:xfrm>
            <a:off x="4114799" y="1892594"/>
            <a:ext cx="7974419" cy="45188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7D2AF1B0-3D08-788A-C14E-1483417A9B91}"/>
              </a:ext>
            </a:extLst>
          </p:cNvPr>
          <p:cNvPicPr>
            <a:picLocks noChangeAspect="1"/>
          </p:cNvPicPr>
          <p:nvPr/>
        </p:nvPicPr>
        <p:blipFill rotWithShape="1">
          <a:blip r:embed="rId3"/>
          <a:srcRect l="3217" t="22481" r="7829" b="24497"/>
          <a:stretch/>
        </p:blipFill>
        <p:spPr>
          <a:xfrm>
            <a:off x="3806455" y="3221665"/>
            <a:ext cx="8133907" cy="36363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0307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1AE2C2-7E6F-4ABC-21A6-C4CF4315ED66}"/>
              </a:ext>
            </a:extLst>
          </p:cNvPr>
          <p:cNvSpPr>
            <a:spLocks noGrp="1"/>
          </p:cNvSpPr>
          <p:nvPr>
            <p:ph type="title"/>
          </p:nvPr>
        </p:nvSpPr>
        <p:spPr/>
        <p:txBody>
          <a:bodyPr/>
          <a:lstStyle/>
          <a:p>
            <a:r>
              <a:rPr lang="en-US" altLang="zh-CN" dirty="0"/>
              <a:t>lambda</a:t>
            </a:r>
            <a:r>
              <a:rPr lang="zh-CN" altLang="en-US" dirty="0"/>
              <a:t>表达式</a:t>
            </a:r>
          </a:p>
        </p:txBody>
      </p:sp>
      <p:sp>
        <p:nvSpPr>
          <p:cNvPr id="3" name="内容占位符 2">
            <a:extLst>
              <a:ext uri="{FF2B5EF4-FFF2-40B4-BE49-F238E27FC236}">
                <a16:creationId xmlns:a16="http://schemas.microsoft.com/office/drawing/2014/main" id="{389CB8A3-A7FE-44EF-48A8-786F7BFD22F2}"/>
              </a:ext>
            </a:extLst>
          </p:cNvPr>
          <p:cNvSpPr>
            <a:spLocks noGrp="1"/>
          </p:cNvSpPr>
          <p:nvPr>
            <p:ph idx="1"/>
          </p:nvPr>
        </p:nvSpPr>
        <p:spPr/>
        <p:txBody>
          <a:bodyPr>
            <a:normAutofit/>
          </a:bodyPr>
          <a:lstStyle/>
          <a:p>
            <a:r>
              <a:rPr lang="en-US" altLang="zh-CN" sz="2000" dirty="0"/>
              <a:t>lambda</a:t>
            </a:r>
            <a:r>
              <a:rPr lang="zh-CN" altLang="en-US" sz="2000" dirty="0"/>
              <a:t>表达式可以用来声明匿名函数，也就是没有函数名字的临时使用的小函数，尤其适合需要一个函数作为另一个函数参数的场合。也可以定义具名函数。</a:t>
            </a:r>
            <a:endParaRPr lang="en-US" altLang="zh-CN" sz="2000" dirty="0"/>
          </a:p>
          <a:p>
            <a:r>
              <a:rPr lang="en-US" altLang="zh-CN" sz="2000" dirty="0"/>
              <a:t>lambda</a:t>
            </a:r>
            <a:r>
              <a:rPr lang="zh-CN" altLang="en-US" sz="2000" dirty="0"/>
              <a:t>表达式只可以包含一个表达式，该表达式的计算结果可以看作是函数的返回值，不允许包含复合语句，但在表达式中可以调用其他函数。</a:t>
            </a:r>
            <a:endParaRPr lang="en-US" altLang="zh-CN" sz="2000" dirty="0"/>
          </a:p>
          <a:p>
            <a:r>
              <a:rPr lang="en-US" altLang="zh-CN" sz="2000" dirty="0"/>
              <a:t>lambda </a:t>
            </a:r>
            <a:r>
              <a:rPr lang="zh-CN" altLang="en-US" sz="2000" dirty="0"/>
              <a:t>函数的语法只包含一个语句，表现形式如下：</a:t>
            </a:r>
            <a:endParaRPr lang="en-US" altLang="zh-CN" sz="2000" dirty="0"/>
          </a:p>
          <a:p>
            <a:r>
              <a:rPr lang="en-US" altLang="zh-CN" sz="2000" dirty="0">
                <a:solidFill>
                  <a:srgbClr val="FF0000"/>
                </a:solidFill>
              </a:rPr>
              <a:t>lambda [arg1 [,arg2,.....</a:t>
            </a:r>
            <a:r>
              <a:rPr lang="en-US" altLang="zh-CN" sz="2000" dirty="0" err="1">
                <a:solidFill>
                  <a:srgbClr val="FF0000"/>
                </a:solidFill>
              </a:rPr>
              <a:t>argn</a:t>
            </a:r>
            <a:r>
              <a:rPr lang="en-US" altLang="zh-CN" sz="2000" dirty="0">
                <a:solidFill>
                  <a:srgbClr val="FF0000"/>
                </a:solidFill>
              </a:rPr>
              <a:t>]]:expression</a:t>
            </a:r>
          </a:p>
          <a:p>
            <a:r>
              <a:rPr lang="zh-CN" altLang="en-US" sz="2000" dirty="0"/>
              <a:t>其中，</a:t>
            </a:r>
            <a:r>
              <a:rPr lang="en-US" altLang="zh-CN" sz="2000" dirty="0"/>
              <a:t>lambda </a:t>
            </a:r>
            <a:r>
              <a:rPr lang="zh-CN" altLang="en-US" sz="2000" dirty="0"/>
              <a:t>是 </a:t>
            </a:r>
            <a:r>
              <a:rPr lang="en-US" altLang="zh-CN" sz="2000" dirty="0"/>
              <a:t>Python </a:t>
            </a:r>
            <a:r>
              <a:rPr lang="zh-CN" altLang="en-US" sz="2000" dirty="0"/>
              <a:t>预留的关键字，</a:t>
            </a:r>
            <a:r>
              <a:rPr lang="en-US" altLang="zh-CN" sz="2000" dirty="0"/>
              <a:t>[</a:t>
            </a:r>
            <a:r>
              <a:rPr lang="en-US" altLang="zh-CN" sz="2000" dirty="0" err="1"/>
              <a:t>arg</a:t>
            </a:r>
            <a:r>
              <a:rPr lang="en-US" altLang="zh-CN" sz="2000" dirty="0"/>
              <a:t>…] </a:t>
            </a:r>
            <a:r>
              <a:rPr lang="zh-CN" altLang="en-US" sz="2000" dirty="0"/>
              <a:t>和 </a:t>
            </a:r>
            <a:r>
              <a:rPr lang="en-US" altLang="zh-CN" sz="2000" dirty="0"/>
              <a:t>expression </a:t>
            </a:r>
            <a:r>
              <a:rPr lang="zh-CN" altLang="en-US" sz="2000" dirty="0"/>
              <a:t>由用户自定义。</a:t>
            </a:r>
            <a:endParaRPr lang="en-US" altLang="zh-CN" sz="2000" dirty="0"/>
          </a:p>
          <a:p>
            <a:r>
              <a:rPr lang="zh-CN" altLang="en-US" sz="2000" dirty="0"/>
              <a:t>具体介绍如下</a:t>
            </a:r>
            <a:r>
              <a:rPr lang="en-US" altLang="zh-CN" sz="2000" dirty="0"/>
              <a:t>:[</a:t>
            </a:r>
            <a:r>
              <a:rPr lang="en-US" altLang="zh-CN" sz="2000" dirty="0" err="1"/>
              <a:t>arg</a:t>
            </a:r>
            <a:r>
              <a:rPr lang="en-US" altLang="zh-CN" sz="2000" dirty="0"/>
              <a:t>…] </a:t>
            </a:r>
            <a:r>
              <a:rPr lang="zh-CN" altLang="en-US" sz="2000" dirty="0"/>
              <a:t>是参数列表，它的结构与 </a:t>
            </a:r>
            <a:r>
              <a:rPr lang="en-US" altLang="zh-CN" sz="2000" dirty="0"/>
              <a:t>Python </a:t>
            </a:r>
            <a:r>
              <a:rPr lang="zh-CN" altLang="en-US" sz="2000" dirty="0"/>
              <a:t>中函数</a:t>
            </a:r>
            <a:r>
              <a:rPr lang="en-US" altLang="zh-CN" sz="2000" dirty="0"/>
              <a:t>(function)</a:t>
            </a:r>
            <a:r>
              <a:rPr lang="zh-CN" altLang="en-US" sz="2000" dirty="0"/>
              <a:t>的参数列表是一样的</a:t>
            </a:r>
            <a:endParaRPr lang="en-US" altLang="zh-CN" sz="2000" dirty="0"/>
          </a:p>
        </p:txBody>
      </p:sp>
      <p:pic>
        <p:nvPicPr>
          <p:cNvPr id="4" name="Picture 2">
            <a:extLst>
              <a:ext uri="{FF2B5EF4-FFF2-40B4-BE49-F238E27FC236}">
                <a16:creationId xmlns:a16="http://schemas.microsoft.com/office/drawing/2014/main" id="{20356B51-A269-B247-61ED-873731B3FE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64" t="21705" r="9923" b="43721"/>
          <a:stretch/>
        </p:blipFill>
        <p:spPr bwMode="auto">
          <a:xfrm>
            <a:off x="1924492" y="4763387"/>
            <a:ext cx="5784112" cy="17477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069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B1BD3-B9C3-ABD6-4A6F-5006F3E78457}"/>
              </a:ext>
            </a:extLst>
          </p:cNvPr>
          <p:cNvSpPr>
            <a:spLocks noGrp="1"/>
          </p:cNvSpPr>
          <p:nvPr>
            <p:ph type="title"/>
          </p:nvPr>
        </p:nvSpPr>
        <p:spPr/>
        <p:txBody>
          <a:bodyPr/>
          <a:lstStyle/>
          <a:p>
            <a:r>
              <a:rPr lang="en-US" altLang="zh-CN" dirty="0"/>
              <a:t>lambda </a:t>
            </a:r>
            <a:r>
              <a:rPr lang="zh-CN" altLang="en-US" dirty="0"/>
              <a:t>语法</a:t>
            </a:r>
          </a:p>
        </p:txBody>
      </p:sp>
      <p:sp>
        <p:nvSpPr>
          <p:cNvPr id="3" name="内容占位符 2">
            <a:extLst>
              <a:ext uri="{FF2B5EF4-FFF2-40B4-BE49-F238E27FC236}">
                <a16:creationId xmlns:a16="http://schemas.microsoft.com/office/drawing/2014/main" id="{8A736136-982C-ECE9-76FA-95265479D975}"/>
              </a:ext>
            </a:extLst>
          </p:cNvPr>
          <p:cNvSpPr>
            <a:spLocks noGrp="1"/>
          </p:cNvSpPr>
          <p:nvPr>
            <p:ph idx="1"/>
          </p:nvPr>
        </p:nvSpPr>
        <p:spPr/>
        <p:txBody>
          <a:bodyPr>
            <a:normAutofit/>
          </a:bodyPr>
          <a:lstStyle/>
          <a:p>
            <a:r>
              <a:rPr lang="en-US" altLang="zh-CN" sz="2000" b="1" dirty="0"/>
              <a:t>lambda </a:t>
            </a:r>
            <a:r>
              <a:rPr lang="zh-CN" altLang="en-US" sz="2000" b="1" dirty="0"/>
              <a:t>特性</a:t>
            </a:r>
            <a:endParaRPr lang="en-US" altLang="zh-CN" sz="2000" b="1" dirty="0"/>
          </a:p>
          <a:p>
            <a:r>
              <a:rPr lang="en-US" altLang="zh-CN" sz="2000" b="1" dirty="0"/>
              <a:t>lambda </a:t>
            </a:r>
            <a:r>
              <a:rPr lang="zh-CN" altLang="en-US" sz="2000" b="1" dirty="0"/>
              <a:t>函数是匿名的：</a:t>
            </a:r>
            <a:r>
              <a:rPr lang="zh-CN" altLang="en-US" sz="2000" dirty="0"/>
              <a:t>所谓匿名函数，通俗地说就是没有名字的函数。</a:t>
            </a:r>
            <a:r>
              <a:rPr lang="en-US" altLang="zh-CN" sz="2000" dirty="0"/>
              <a:t>lambda</a:t>
            </a:r>
            <a:r>
              <a:rPr lang="zh-CN" altLang="en-US" sz="2000" dirty="0"/>
              <a:t>函数没有名字。</a:t>
            </a:r>
            <a:endParaRPr lang="en-US" altLang="zh-CN" sz="2000" dirty="0"/>
          </a:p>
          <a:p>
            <a:r>
              <a:rPr lang="en-US" altLang="zh-CN" sz="2000" b="1" dirty="0"/>
              <a:t>lambda </a:t>
            </a:r>
            <a:r>
              <a:rPr lang="zh-CN" altLang="en-US" sz="2000" b="1" dirty="0"/>
              <a:t>函数有输入和输出：</a:t>
            </a:r>
            <a:r>
              <a:rPr lang="zh-CN" altLang="en-US" sz="2000" dirty="0"/>
              <a:t>输入是传入到参数列表</a:t>
            </a:r>
            <a:r>
              <a:rPr lang="en-US" altLang="zh-CN" sz="2000" dirty="0" err="1"/>
              <a:t>argument_list</a:t>
            </a:r>
            <a:r>
              <a:rPr lang="zh-CN" altLang="en-US" sz="2000" dirty="0"/>
              <a:t>的值，输出是根据表达式</a:t>
            </a:r>
            <a:r>
              <a:rPr lang="en-US" altLang="zh-CN" sz="2000" dirty="0"/>
              <a:t>expression</a:t>
            </a:r>
            <a:r>
              <a:rPr lang="zh-CN" altLang="en-US" sz="2000" dirty="0"/>
              <a:t>计算得到的值。</a:t>
            </a:r>
            <a:endParaRPr lang="en-US" altLang="zh-CN" sz="2000" dirty="0"/>
          </a:p>
          <a:p>
            <a:r>
              <a:rPr lang="en-US" altLang="zh-CN" sz="2000" b="1" dirty="0"/>
              <a:t>lambda </a:t>
            </a:r>
            <a:r>
              <a:rPr lang="zh-CN" altLang="en-US" sz="2000" b="1" dirty="0"/>
              <a:t>函数拥有自己的命名空间：</a:t>
            </a:r>
            <a:r>
              <a:rPr lang="zh-CN" altLang="en-US" sz="2000" dirty="0"/>
              <a:t>不能访问自己参数列表之外或全局命名空间里的参数，只能完成非常简单的功能。常见的</a:t>
            </a:r>
            <a:r>
              <a:rPr lang="en-US" altLang="zh-CN" sz="2000" dirty="0"/>
              <a:t>lambda</a:t>
            </a:r>
            <a:r>
              <a:rPr lang="zh-CN" altLang="en-US" sz="2000" dirty="0"/>
              <a:t>函数示例：</a:t>
            </a:r>
          </a:p>
        </p:txBody>
      </p:sp>
      <p:sp>
        <p:nvSpPr>
          <p:cNvPr id="5" name="文本框 4">
            <a:extLst>
              <a:ext uri="{FF2B5EF4-FFF2-40B4-BE49-F238E27FC236}">
                <a16:creationId xmlns:a16="http://schemas.microsoft.com/office/drawing/2014/main" id="{4948F57B-E9E2-70C4-76FD-45A2F2D3D775}"/>
              </a:ext>
            </a:extLst>
          </p:cNvPr>
          <p:cNvSpPr txBox="1"/>
          <p:nvPr/>
        </p:nvSpPr>
        <p:spPr>
          <a:xfrm>
            <a:off x="8059479" y="6583007"/>
            <a:ext cx="413961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2F2F2F"/>
                </a:solidFill>
                <a:effectLst/>
                <a:uLnTx/>
                <a:uFillTx/>
                <a:latin typeface="思源黑体 CN Normal"/>
                <a:ea typeface="思源黑体 CN Normal"/>
                <a:cs typeface="+mn-cs"/>
              </a:rPr>
              <a:t>https://blog.csdn.net/PY0312/article/details/88956795</a:t>
            </a:r>
            <a:endParaRPr kumimoji="0" lang="zh-CN" altLang="en-US" sz="120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pic>
        <p:nvPicPr>
          <p:cNvPr id="7" name="图片 6">
            <a:extLst>
              <a:ext uri="{FF2B5EF4-FFF2-40B4-BE49-F238E27FC236}">
                <a16:creationId xmlns:a16="http://schemas.microsoft.com/office/drawing/2014/main" id="{D26A67F5-5B9B-E491-FD00-5CE07731B2C2}"/>
              </a:ext>
            </a:extLst>
          </p:cNvPr>
          <p:cNvPicPr>
            <a:picLocks noChangeAspect="1"/>
          </p:cNvPicPr>
          <p:nvPr/>
        </p:nvPicPr>
        <p:blipFill>
          <a:blip r:embed="rId2"/>
          <a:stretch>
            <a:fillRect/>
          </a:stretch>
        </p:blipFill>
        <p:spPr>
          <a:xfrm>
            <a:off x="912791" y="3771752"/>
            <a:ext cx="8877300" cy="1104900"/>
          </a:xfrm>
          <a:prstGeom prst="rect">
            <a:avLst/>
          </a:prstGeom>
        </p:spPr>
      </p:pic>
    </p:spTree>
    <p:extLst>
      <p:ext uri="{BB962C8B-B14F-4D97-AF65-F5344CB8AC3E}">
        <p14:creationId xmlns:p14="http://schemas.microsoft.com/office/powerpoint/2010/main" val="4044533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DFDD6-9AC9-07F9-7D80-E9EE30C47B36}"/>
              </a:ext>
            </a:extLst>
          </p:cNvPr>
          <p:cNvSpPr>
            <a:spLocks noGrp="1"/>
          </p:cNvSpPr>
          <p:nvPr>
            <p:ph type="title"/>
          </p:nvPr>
        </p:nvSpPr>
        <p:spPr/>
        <p:txBody>
          <a:bodyPr/>
          <a:lstStyle/>
          <a:p>
            <a:r>
              <a:rPr lang="en-US" altLang="zh-CN" dirty="0"/>
              <a:t>lambda </a:t>
            </a:r>
            <a:r>
              <a:rPr lang="zh-CN" altLang="en-US" dirty="0"/>
              <a:t>常见用法 </a:t>
            </a:r>
          </a:p>
        </p:txBody>
      </p:sp>
      <p:sp>
        <p:nvSpPr>
          <p:cNvPr id="3" name="内容占位符 2">
            <a:extLst>
              <a:ext uri="{FF2B5EF4-FFF2-40B4-BE49-F238E27FC236}">
                <a16:creationId xmlns:a16="http://schemas.microsoft.com/office/drawing/2014/main" id="{1037AE6E-973C-E536-A051-B4932637F8FB}"/>
              </a:ext>
            </a:extLst>
          </p:cNvPr>
          <p:cNvSpPr>
            <a:spLocks noGrp="1"/>
          </p:cNvSpPr>
          <p:nvPr>
            <p:ph idx="1"/>
          </p:nvPr>
        </p:nvSpPr>
        <p:spPr/>
        <p:txBody>
          <a:bodyPr>
            <a:normAutofit/>
          </a:bodyPr>
          <a:lstStyle/>
          <a:p>
            <a:r>
              <a:rPr lang="zh-CN" altLang="en-US" sz="2000" dirty="0"/>
              <a:t>由于</a:t>
            </a:r>
            <a:r>
              <a:rPr lang="en-US" altLang="zh-CN" sz="2000" dirty="0"/>
              <a:t>lambda</a:t>
            </a:r>
            <a:r>
              <a:rPr lang="zh-CN" altLang="en-US" sz="2000" dirty="0"/>
              <a:t>语法是固定的，其本质上只有一种用法，那就是定义一个</a:t>
            </a:r>
            <a:r>
              <a:rPr lang="en-US" altLang="zh-CN" sz="2000" dirty="0"/>
              <a:t>lambda</a:t>
            </a:r>
            <a:r>
              <a:rPr lang="zh-CN" altLang="en-US" sz="2000" dirty="0"/>
              <a:t>函数。</a:t>
            </a:r>
            <a:endParaRPr lang="en-US" altLang="zh-CN" sz="2000" dirty="0"/>
          </a:p>
          <a:p>
            <a:r>
              <a:rPr lang="zh-CN" altLang="en-US" sz="2000" dirty="0"/>
              <a:t>在实际中，根据这个</a:t>
            </a:r>
            <a:r>
              <a:rPr lang="en-US" altLang="zh-CN" sz="2000" dirty="0"/>
              <a:t>lambda</a:t>
            </a:r>
            <a:r>
              <a:rPr lang="zh-CN" altLang="en-US" sz="2000" dirty="0"/>
              <a:t>函数应用场景的不同，可以将</a:t>
            </a:r>
            <a:r>
              <a:rPr lang="en-US" altLang="zh-CN" sz="2000" dirty="0"/>
              <a:t>lambda</a:t>
            </a:r>
            <a:r>
              <a:rPr lang="zh-CN" altLang="en-US" sz="2000" dirty="0"/>
              <a:t>函数的用法扩展为以下几种：</a:t>
            </a:r>
            <a:endParaRPr lang="en-US" altLang="zh-CN" sz="2000" dirty="0"/>
          </a:p>
          <a:p>
            <a:r>
              <a:rPr lang="en-US" altLang="zh-CN" sz="2000" dirty="0"/>
              <a:t>1</a:t>
            </a:r>
            <a:r>
              <a:rPr lang="zh-CN" altLang="en-US" sz="2000" dirty="0"/>
              <a:t>、将</a:t>
            </a:r>
            <a:r>
              <a:rPr lang="en-US" altLang="zh-CN" sz="2000" dirty="0"/>
              <a:t>lambda</a:t>
            </a:r>
            <a:r>
              <a:rPr lang="zh-CN" altLang="en-US" sz="2000" dirty="0"/>
              <a:t>函数赋值给一个变量，通过这个变量间接调用该</a:t>
            </a:r>
            <a:r>
              <a:rPr lang="en-US" altLang="zh-CN" sz="2000" dirty="0"/>
              <a:t>lambda</a:t>
            </a:r>
            <a:r>
              <a:rPr lang="zh-CN" altLang="en-US" sz="2000" dirty="0"/>
              <a:t>函数。示例：</a:t>
            </a:r>
            <a:endParaRPr lang="en-US" altLang="zh-CN" sz="2000" dirty="0"/>
          </a:p>
          <a:p>
            <a:pPr lvl="1"/>
            <a:r>
              <a:rPr lang="en-US" altLang="zh-CN" sz="1600" dirty="0"/>
              <a:t>add = lambda x, y: </a:t>
            </a:r>
            <a:r>
              <a:rPr lang="en-US" altLang="zh-CN" sz="1600" dirty="0" err="1"/>
              <a:t>x+y</a:t>
            </a:r>
            <a:endParaRPr lang="en-US" altLang="zh-CN" sz="1600" dirty="0"/>
          </a:p>
          <a:p>
            <a:pPr lvl="1"/>
            <a:r>
              <a:rPr lang="zh-CN" altLang="en-US" sz="1600" dirty="0"/>
              <a:t>相当于定义了加法函数</a:t>
            </a:r>
            <a:r>
              <a:rPr lang="en-US" altLang="zh-CN" sz="1600" dirty="0"/>
              <a:t>lambda x, y: </a:t>
            </a:r>
            <a:r>
              <a:rPr lang="en-US" altLang="zh-CN" sz="1600" dirty="0" err="1"/>
              <a:t>x+y</a:t>
            </a:r>
            <a:r>
              <a:rPr lang="zh-CN" altLang="en-US" sz="1600" dirty="0"/>
              <a:t>，并将其赋值给变量</a:t>
            </a:r>
            <a:r>
              <a:rPr lang="en-US" altLang="zh-CN" sz="1600" dirty="0"/>
              <a:t>add</a:t>
            </a:r>
            <a:r>
              <a:rPr lang="zh-CN" altLang="en-US" sz="1600" dirty="0"/>
              <a:t>，这样变量</a:t>
            </a:r>
            <a:r>
              <a:rPr lang="en-US" altLang="zh-CN" sz="1600" dirty="0"/>
              <a:t>add</a:t>
            </a:r>
            <a:r>
              <a:rPr lang="zh-CN" altLang="en-US" sz="1600" dirty="0"/>
              <a:t>就指向了具有加法功能的函数。这时我们如果执行</a:t>
            </a:r>
            <a:r>
              <a:rPr lang="en-US" altLang="zh-CN" sz="1600" dirty="0"/>
              <a:t>add(1, 2)</a:t>
            </a:r>
            <a:r>
              <a:rPr lang="zh-CN" altLang="en-US" sz="1600" dirty="0"/>
              <a:t>，其输出结果就为 </a:t>
            </a:r>
            <a:r>
              <a:rPr lang="en-US" altLang="zh-CN" sz="1600" dirty="0"/>
              <a:t>3</a:t>
            </a:r>
            <a:r>
              <a:rPr lang="zh-CN" altLang="en-US" sz="1600" dirty="0"/>
              <a:t>。</a:t>
            </a:r>
            <a:endParaRPr lang="en-US" altLang="zh-CN" sz="1600" dirty="0"/>
          </a:p>
          <a:p>
            <a:r>
              <a:rPr lang="en-US" altLang="zh-CN" sz="2000" dirty="0"/>
              <a:t>2</a:t>
            </a:r>
            <a:r>
              <a:rPr lang="zh-CN" altLang="en-US" sz="2000" dirty="0"/>
              <a:t>、将</a:t>
            </a:r>
            <a:r>
              <a:rPr lang="en-US" altLang="zh-CN" sz="2000" dirty="0"/>
              <a:t>lambda</a:t>
            </a:r>
            <a:r>
              <a:rPr lang="zh-CN" altLang="en-US" sz="2000" dirty="0"/>
              <a:t>函数赋值给其他函数，从而将其他函数用该</a:t>
            </a:r>
            <a:r>
              <a:rPr lang="en-US" altLang="zh-CN" sz="2000" dirty="0"/>
              <a:t>lambda</a:t>
            </a:r>
            <a:r>
              <a:rPr lang="zh-CN" altLang="en-US" sz="2000" dirty="0"/>
              <a:t>函数替换。示例：</a:t>
            </a:r>
            <a:endParaRPr lang="en-US" altLang="zh-CN" sz="2000" dirty="0"/>
          </a:p>
          <a:p>
            <a:endParaRPr lang="en-US" altLang="zh-CN" sz="2000" dirty="0"/>
          </a:p>
          <a:p>
            <a:endParaRPr lang="en-US" altLang="zh-CN" sz="2000" dirty="0"/>
          </a:p>
          <a:p>
            <a:endParaRPr lang="en-US" altLang="zh-CN" sz="2000" dirty="0"/>
          </a:p>
          <a:p>
            <a:r>
              <a:rPr lang="en-US" altLang="zh-CN" sz="2000" dirty="0"/>
              <a:t>3</a:t>
            </a:r>
            <a:r>
              <a:rPr lang="zh-CN" altLang="en-US" sz="2000" dirty="0"/>
              <a:t>、将</a:t>
            </a:r>
            <a:r>
              <a:rPr lang="en-US" altLang="zh-CN" sz="2000" dirty="0"/>
              <a:t>lambda</a:t>
            </a:r>
            <a:r>
              <a:rPr lang="zh-CN" altLang="en-US" sz="2000" dirty="0"/>
              <a:t>函数作为参数传递给其他函数。</a:t>
            </a:r>
            <a:endParaRPr lang="en-US" altLang="zh-CN" sz="2000" dirty="0"/>
          </a:p>
          <a:p>
            <a:pPr lvl="1"/>
            <a:r>
              <a:rPr lang="zh-CN" altLang="en-US" sz="1600" dirty="0"/>
              <a:t>典型的用法就是下面我们常见的几种高阶函数。</a:t>
            </a:r>
          </a:p>
        </p:txBody>
      </p:sp>
      <p:pic>
        <p:nvPicPr>
          <p:cNvPr id="5" name="图片 4">
            <a:extLst>
              <a:ext uri="{FF2B5EF4-FFF2-40B4-BE49-F238E27FC236}">
                <a16:creationId xmlns:a16="http://schemas.microsoft.com/office/drawing/2014/main" id="{6FD656C4-D936-26CD-3880-17EEC795BE37}"/>
              </a:ext>
            </a:extLst>
          </p:cNvPr>
          <p:cNvPicPr>
            <a:picLocks noChangeAspect="1"/>
          </p:cNvPicPr>
          <p:nvPr/>
        </p:nvPicPr>
        <p:blipFill>
          <a:blip r:embed="rId2"/>
          <a:stretch>
            <a:fillRect/>
          </a:stretch>
        </p:blipFill>
        <p:spPr>
          <a:xfrm>
            <a:off x="1262313" y="3762625"/>
            <a:ext cx="7886700" cy="1209675"/>
          </a:xfrm>
          <a:prstGeom prst="rect">
            <a:avLst/>
          </a:prstGeom>
        </p:spPr>
      </p:pic>
      <p:sp>
        <p:nvSpPr>
          <p:cNvPr id="9" name="文本框 8">
            <a:extLst>
              <a:ext uri="{FF2B5EF4-FFF2-40B4-BE49-F238E27FC236}">
                <a16:creationId xmlns:a16="http://schemas.microsoft.com/office/drawing/2014/main" id="{175F9321-5538-B0BF-0F7A-312E5798066D}"/>
              </a:ext>
            </a:extLst>
          </p:cNvPr>
          <p:cNvSpPr txBox="1"/>
          <p:nvPr/>
        </p:nvSpPr>
        <p:spPr>
          <a:xfrm>
            <a:off x="1262313" y="5859944"/>
            <a:ext cx="610308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0000"/>
                </a:solidFill>
                <a:effectLst/>
                <a:uLnTx/>
                <a:uFillTx/>
                <a:latin typeface="思源黑体 CN Normal"/>
                <a:ea typeface="思源黑体 CN Normal"/>
                <a:cs typeface="+mn-cs"/>
              </a:rPr>
              <a:t>https://blog.csdn.net/PY0312/article/details/88956795</a:t>
            </a:r>
            <a:endParaRPr kumimoji="0" lang="zh-CN" altLang="en-US" sz="1200" b="0" i="0" u="none" strike="noStrike" kern="1200" cap="none" spc="0" normalizeH="0" baseline="0" noProof="0" dirty="0">
              <a:ln>
                <a:noFill/>
              </a:ln>
              <a:solidFill>
                <a:srgbClr val="FF0000"/>
              </a:solidFill>
              <a:effectLst/>
              <a:uLnTx/>
              <a:uFillTx/>
              <a:latin typeface="思源黑体 CN Normal"/>
              <a:ea typeface="思源黑体 CN Normal"/>
              <a:cs typeface="+mn-cs"/>
            </a:endParaRPr>
          </a:p>
        </p:txBody>
      </p:sp>
    </p:spTree>
    <p:extLst>
      <p:ext uri="{BB962C8B-B14F-4D97-AF65-F5344CB8AC3E}">
        <p14:creationId xmlns:p14="http://schemas.microsoft.com/office/powerpoint/2010/main" val="3105636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AC949-83C5-0806-528C-92913727644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77CB8E9-2F39-CAF1-F556-8F2BEA87CC2C}"/>
              </a:ext>
            </a:extLst>
          </p:cNvPr>
          <p:cNvSpPr>
            <a:spLocks noGrp="1"/>
          </p:cNvSpPr>
          <p:nvPr>
            <p:ph idx="1"/>
          </p:nvPr>
        </p:nvSpPr>
        <p:spPr/>
        <p:txBody>
          <a:bodyPr/>
          <a:lstStyle/>
          <a:p>
            <a:endParaRPr lang="zh-CN" altLang="en-US" dirty="0"/>
          </a:p>
        </p:txBody>
      </p:sp>
      <p:pic>
        <p:nvPicPr>
          <p:cNvPr id="28674" name="Picture 2">
            <a:extLst>
              <a:ext uri="{FF2B5EF4-FFF2-40B4-BE49-F238E27FC236}">
                <a16:creationId xmlns:a16="http://schemas.microsoft.com/office/drawing/2014/main" id="{01858983-F3FB-40BB-947D-CECA839C60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78" t="22791" r="12714" b="15194"/>
          <a:stretch/>
        </p:blipFill>
        <p:spPr bwMode="auto">
          <a:xfrm>
            <a:off x="2806996" y="1030117"/>
            <a:ext cx="5603358" cy="31702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E116B35C-A7FF-63CB-26BB-F90E0EC2E8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8" t="23101" r="3876" b="37674"/>
          <a:stretch/>
        </p:blipFill>
        <p:spPr bwMode="auto">
          <a:xfrm>
            <a:off x="2806996" y="4447525"/>
            <a:ext cx="5816011" cy="18913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994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B6C95-A95A-46F7-71CE-E2E55195503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E92445C-E9CB-AC52-EC02-6C0D9AF04356}"/>
              </a:ext>
            </a:extLst>
          </p:cNvPr>
          <p:cNvSpPr>
            <a:spLocks noGrp="1"/>
          </p:cNvSpPr>
          <p:nvPr>
            <p:ph idx="1"/>
          </p:nvPr>
        </p:nvSpPr>
        <p:spPr/>
        <p:txBody>
          <a:bodyPr/>
          <a:lstStyle/>
          <a:p>
            <a:endParaRPr lang="zh-CN" altLang="en-US"/>
          </a:p>
        </p:txBody>
      </p:sp>
      <p:pic>
        <p:nvPicPr>
          <p:cNvPr id="4" name="Picture 2">
            <a:extLst>
              <a:ext uri="{FF2B5EF4-FFF2-40B4-BE49-F238E27FC236}">
                <a16:creationId xmlns:a16="http://schemas.microsoft.com/office/drawing/2014/main" id="{5D2810CC-F46D-F72E-6406-7EAD943637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27" t="22791" r="7480" b="35969"/>
          <a:stretch/>
        </p:blipFill>
        <p:spPr bwMode="auto">
          <a:xfrm>
            <a:off x="1562986" y="1130300"/>
            <a:ext cx="7963786" cy="28282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B6FE61C-2EFD-C93C-93FB-1DEA496005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10" t="22481" r="7829" b="48062"/>
          <a:stretch/>
        </p:blipFill>
        <p:spPr bwMode="auto">
          <a:xfrm>
            <a:off x="1562986" y="4113913"/>
            <a:ext cx="7942522" cy="2020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3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96C1B6-03C2-28A9-F348-B4DC92F7DC5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7D5B157-26F9-93CC-0618-142799FBB659}"/>
              </a:ext>
            </a:extLst>
          </p:cNvPr>
          <p:cNvSpPr>
            <a:spLocks noGrp="1"/>
          </p:cNvSpPr>
          <p:nvPr>
            <p:ph idx="1"/>
          </p:nvPr>
        </p:nvSpPr>
        <p:spPr/>
        <p:txBody>
          <a:bodyPr/>
          <a:lstStyle/>
          <a:p>
            <a:endParaRPr lang="zh-CN" altLang="en-US" dirty="0"/>
          </a:p>
        </p:txBody>
      </p:sp>
      <p:pic>
        <p:nvPicPr>
          <p:cNvPr id="32770" name="Picture 2">
            <a:extLst>
              <a:ext uri="{FF2B5EF4-FFF2-40B4-BE49-F238E27FC236}">
                <a16:creationId xmlns:a16="http://schemas.microsoft.com/office/drawing/2014/main" id="{E876F513-ECCB-0369-2240-B60A745B00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94" t="23566" r="6899" b="21085"/>
          <a:stretch/>
        </p:blipFill>
        <p:spPr bwMode="auto">
          <a:xfrm>
            <a:off x="2389151" y="207763"/>
            <a:ext cx="7413698" cy="3500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488971A8-C49E-1223-B60A-29E892D2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8" t="23566" r="7946" b="33179"/>
          <a:stretch/>
        </p:blipFill>
        <p:spPr bwMode="auto">
          <a:xfrm>
            <a:off x="2389151" y="3955869"/>
            <a:ext cx="7337205" cy="27551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060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B6C541C-1831-78B5-F2A2-72E80CEBB60B}"/>
              </a:ext>
            </a:extLst>
          </p:cNvPr>
          <p:cNvSpPr>
            <a:spLocks noGrp="1"/>
          </p:cNvSpPr>
          <p:nvPr>
            <p:ph type="body" sz="quarter" idx="13"/>
          </p:nvPr>
        </p:nvSpPr>
        <p:spPr/>
        <p:txBody>
          <a:bodyPr>
            <a:normAutofit lnSpcReduction="10000"/>
          </a:bodyPr>
          <a:lstStyle/>
          <a:p>
            <a:r>
              <a:rPr lang="en-US" altLang="zh-CN" dirty="0"/>
              <a:t>THANK YOU !</a:t>
            </a:r>
            <a:endParaRPr lang="zh-CN" altLang="en-US" dirty="0"/>
          </a:p>
        </p:txBody>
      </p:sp>
    </p:spTree>
    <p:custDataLst>
      <p:tags r:id="rId1"/>
    </p:custDataLst>
    <p:extLst>
      <p:ext uri="{BB962C8B-B14F-4D97-AF65-F5344CB8AC3E}">
        <p14:creationId xmlns:p14="http://schemas.microsoft.com/office/powerpoint/2010/main" val="20384031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51PPT模板网">
  <a:themeElements>
    <a:clrScheme name="蓝色几何">
      <a:dk1>
        <a:srgbClr val="2F2F2F"/>
      </a:dk1>
      <a:lt1>
        <a:srgbClr val="FFFFFF"/>
      </a:lt1>
      <a:dk2>
        <a:srgbClr val="778495"/>
      </a:dk2>
      <a:lt2>
        <a:srgbClr val="F0F0F0"/>
      </a:lt2>
      <a:accent1>
        <a:srgbClr val="3848A8"/>
      </a:accent1>
      <a:accent2>
        <a:srgbClr val="DDDEE0"/>
      </a:accent2>
      <a:accent3>
        <a:srgbClr val="7A85B8"/>
      </a:accent3>
      <a:accent4>
        <a:srgbClr val="9CA3BD"/>
      </a:accent4>
      <a:accent5>
        <a:srgbClr val="242431"/>
      </a:accent5>
      <a:accent6>
        <a:srgbClr val="F4B919"/>
      </a:accent6>
      <a:hlink>
        <a:srgbClr val="F84D4D"/>
      </a:hlink>
      <a:folHlink>
        <a:srgbClr val="979797"/>
      </a:folHlink>
    </a:clrScheme>
    <a:fontScheme name="自定义 1">
      <a:majorFont>
        <a:latin typeface="思源黑体 CN Bold"/>
        <a:ea typeface="思源黑体 CN Bold"/>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3565</Words>
  <Application>Microsoft Office PowerPoint</Application>
  <PresentationFormat>宽屏</PresentationFormat>
  <Paragraphs>202</Paragraphs>
  <Slides>37</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PingFang SC</vt:lpstr>
      <vt:lpstr>等线</vt:lpstr>
      <vt:lpstr>思源黑体 CN Bold</vt:lpstr>
      <vt:lpstr>思源黑体 CN Normal</vt:lpstr>
      <vt:lpstr>宋体</vt:lpstr>
      <vt:lpstr>Arial</vt:lpstr>
      <vt:lpstr>Courier New</vt:lpstr>
      <vt:lpstr>51PPT模板网</vt:lpstr>
      <vt:lpstr>第7讲 函数概念&amp;应用</vt:lpstr>
      <vt:lpstr>函数的概念</vt:lpstr>
      <vt:lpstr>函数的概念</vt:lpstr>
      <vt:lpstr>函数的概念</vt:lpstr>
      <vt:lpstr>函数的概念</vt:lpstr>
      <vt:lpstr>函数的定义</vt:lpstr>
      <vt:lpstr>函数的定义</vt:lpstr>
      <vt:lpstr>函数的定义</vt:lpstr>
      <vt:lpstr>函数的定义</vt:lpstr>
      <vt:lpstr>函数的定义</vt:lpstr>
      <vt:lpstr>函数的定义</vt:lpstr>
      <vt:lpstr>函数的定义</vt:lpstr>
      <vt:lpstr>函数的定义</vt:lpstr>
      <vt:lpstr>PowerPoint 演示文稿</vt:lpstr>
      <vt:lpstr>参数类型</vt:lpstr>
      <vt:lpstr>默认值参数</vt:lpstr>
      <vt:lpstr>默认值参数</vt:lpstr>
      <vt:lpstr>PowerPoint 演示文稿</vt:lpstr>
      <vt:lpstr>PowerPoint 演示文稿</vt:lpstr>
      <vt:lpstr>关键字参数</vt:lpstr>
      <vt:lpstr>可变长度参数</vt:lpstr>
      <vt:lpstr>PowerPoint 演示文稿</vt:lpstr>
      <vt:lpstr>PowerPoint 演示文稿</vt:lpstr>
      <vt:lpstr>PowerPoint 演示文稿</vt:lpstr>
      <vt:lpstr>PowerPoint 演示文稿</vt:lpstr>
      <vt:lpstr>PowerPoint 演示文稿</vt:lpstr>
      <vt:lpstr>PowerPoint 演示文稿</vt:lpstr>
      <vt:lpstr>参数传递的序列解包</vt:lpstr>
      <vt:lpstr>参数传递的序列解包</vt:lpstr>
      <vt:lpstr>PowerPoint 演示文稿</vt:lpstr>
      <vt:lpstr>lambda表达式</vt:lpstr>
      <vt:lpstr>lambda 语法</vt:lpstr>
      <vt:lpstr>lambda 常见用法 </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第7讲 函数概念&amp;应用</dc:title>
  <dc:creator>rx zh</dc:creator>
  <cp:lastModifiedBy>rx zh</cp:lastModifiedBy>
  <cp:revision>1</cp:revision>
  <dcterms:created xsi:type="dcterms:W3CDTF">2023-10-26T07:17:51Z</dcterms:created>
  <dcterms:modified xsi:type="dcterms:W3CDTF">2023-10-26T07:18:41Z</dcterms:modified>
</cp:coreProperties>
</file>