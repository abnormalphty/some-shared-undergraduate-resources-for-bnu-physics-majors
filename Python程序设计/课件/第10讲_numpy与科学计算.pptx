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1" r:id="rId2"/>
  </p:sldMasterIdLst>
  <p:notesMasterIdLst>
    <p:notesMasterId r:id="rId27"/>
  </p:notesMasterIdLst>
  <p:sldIdLst>
    <p:sldId id="2007578604" r:id="rId3"/>
    <p:sldId id="2007579068" r:id="rId4"/>
    <p:sldId id="2007578605" r:id="rId5"/>
    <p:sldId id="2007578606" r:id="rId6"/>
    <p:sldId id="2007578607" r:id="rId7"/>
    <p:sldId id="2007579071" r:id="rId8"/>
    <p:sldId id="2007578608" r:id="rId9"/>
    <p:sldId id="2007578609" r:id="rId10"/>
    <p:sldId id="2007578610" r:id="rId11"/>
    <p:sldId id="1037" r:id="rId12"/>
    <p:sldId id="2007578611" r:id="rId13"/>
    <p:sldId id="2007578612" r:id="rId14"/>
    <p:sldId id="2007578613" r:id="rId15"/>
    <p:sldId id="311" r:id="rId16"/>
    <p:sldId id="2007579063" r:id="rId17"/>
    <p:sldId id="312" r:id="rId18"/>
    <p:sldId id="2007579069" r:id="rId19"/>
    <p:sldId id="334" r:id="rId20"/>
    <p:sldId id="314" r:id="rId21"/>
    <p:sldId id="2007578614" r:id="rId22"/>
    <p:sldId id="2007579064" r:id="rId23"/>
    <p:sldId id="2007579065" r:id="rId24"/>
    <p:sldId id="2007579067" r:id="rId25"/>
    <p:sldId id="2007578724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FE4F8-2D06-49AA-A849-C4C310747401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C7C8F-1732-42A2-A709-D332A1593F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615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20F7E6-B6AB-4685-9920-66673A4976C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679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数组是同种数据的集合，用下标来定位数</a:t>
            </a:r>
            <a:endParaRPr lang="en-US" altLang="zh-CN"/>
          </a:p>
          <a:p>
            <a:r>
              <a:rPr lang="zh-CN" altLang="en-US"/>
              <a:t>数组内部数据简单化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023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Pip3 </a:t>
            </a:r>
            <a:r>
              <a:rPr lang="zh-CN" altLang="en-US"/>
              <a:t>的版本要够高，不够的话要升级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796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20F7E6-B6AB-4685-9920-66673A4976C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336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逆矩阵：设</a:t>
            </a:r>
            <a:r>
              <a:rPr lang="en-US" altLang="zh-CN" b="1" i="1">
                <a:solidFill>
                  <a:srgbClr val="333333"/>
                </a:solidFill>
                <a:effectLst/>
                <a:latin typeface="Helvetica Neue"/>
              </a:rPr>
              <a:t>A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是一个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阶矩阵，若存在另一个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阶矩阵</a:t>
            </a:r>
            <a:r>
              <a:rPr lang="en-US" altLang="zh-CN" b="1" i="1">
                <a:solidFill>
                  <a:srgbClr val="333333"/>
                </a:solidFill>
                <a:effectLst/>
                <a:latin typeface="Helvetica Neue"/>
              </a:rPr>
              <a:t>B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，使得： </a:t>
            </a:r>
            <a:r>
              <a:rPr lang="en-US" altLang="zh-CN" b="1" i="1">
                <a:solidFill>
                  <a:srgbClr val="333333"/>
                </a:solidFill>
                <a:effectLst/>
                <a:latin typeface="Helvetica Neue"/>
              </a:rPr>
              <a:t>AB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=</a:t>
            </a:r>
            <a:r>
              <a:rPr lang="en-US" altLang="zh-CN" b="1" i="1">
                <a:solidFill>
                  <a:srgbClr val="333333"/>
                </a:solidFill>
                <a:effectLst/>
                <a:latin typeface="Helvetica Neue"/>
              </a:rPr>
              <a:t>BA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=</a:t>
            </a:r>
            <a:r>
              <a:rPr lang="en-US" altLang="zh-CN" b="1" i="1">
                <a:solidFill>
                  <a:srgbClr val="333333"/>
                </a:solidFill>
                <a:effectLst/>
                <a:latin typeface="Helvetica Neue"/>
              </a:rPr>
              <a:t>E 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，则称方阵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A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可逆，并称方阵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B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是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A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的逆矩阵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293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 flip="none" rotWithShape="1"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1990725"/>
            <a:ext cx="7965440" cy="1757362"/>
          </a:xfrm>
        </p:spPr>
        <p:txBody>
          <a:bodyPr vert="horz" lIns="91440" tIns="45720" rIns="91440" bIns="45720" rtlCol="0" anchor="b">
            <a:noAutofit/>
          </a:bodyPr>
          <a:lstStyle>
            <a:lvl1pPr algn="l">
              <a:defRPr lang="zh-CN" altLang="en-US" sz="6000" b="1" dirty="0">
                <a:solidFill>
                  <a:srgbClr val="FFFFFF"/>
                </a:solidFill>
              </a:defRPr>
            </a:lvl1pPr>
          </a:lstStyle>
          <a:p>
            <a:pPr lvl="0" defTabSz="914332"/>
            <a:r>
              <a:rPr lang="zh-CN" altLang="en-US" dirty="0"/>
              <a:t>商务几何扁平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8" name="Speaker Placeholder 3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3921193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CA939A61-406D-45DC-B757-059EFAA058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4326535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C150303-72BE-99D1-AED7-E4050488661E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424C7F08-71A0-00F5-EBBA-322ACAF13151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273E1D4D-50D8-6D9E-A448-01F5EC6C8A48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5140AED-15FA-1550-1408-ABCC3DA6258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D31BE62-CC50-6DDF-053D-8D4A349275AD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585819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AD982555-EA3F-4B74-7506-7B4EBD37E234}"/>
              </a:ext>
            </a:extLst>
          </p:cNvPr>
          <p:cNvSpPr/>
          <p:nvPr userDrawn="1"/>
        </p:nvSpPr>
        <p:spPr>
          <a:xfrm>
            <a:off x="1" y="0"/>
            <a:ext cx="42509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F03A82-401C-4A0E-BE21-BE588E874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1784096"/>
            <a:ext cx="3045372" cy="594626"/>
          </a:xfrm>
        </p:spPr>
        <p:txBody>
          <a:bodyPr anchor="ctr" anchorCtr="0">
            <a:noAutofit/>
          </a:bodyPr>
          <a:lstStyle>
            <a:lvl1pPr marL="0" indent="0" algn="ctr">
              <a:buFont typeface="+mj-lt"/>
              <a:buNone/>
              <a:defRPr sz="4000" b="1">
                <a:solidFill>
                  <a:srgbClr val="FFFFFF"/>
                </a:solidFill>
                <a:latin typeface="+mj-ea"/>
                <a:ea typeface="+mj-ea"/>
              </a:defRPr>
            </a:lvl1pPr>
            <a:lvl2pPr marL="457189" indent="0">
              <a:buFont typeface="+mj-ea"/>
              <a:buNone/>
              <a:defRPr/>
            </a:lvl2pPr>
            <a:lvl3pPr marL="1257269" indent="-342891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FDB9EF8-9BCC-B7E0-416E-F38D808442D6}"/>
              </a:ext>
            </a:extLst>
          </p:cNvPr>
          <p:cNvGrpSpPr/>
          <p:nvPr userDrawn="1"/>
        </p:nvGrpSpPr>
        <p:grpSpPr>
          <a:xfrm>
            <a:off x="409577" y="2622550"/>
            <a:ext cx="3762375" cy="3436252"/>
            <a:chOff x="4648426" y="84668"/>
            <a:chExt cx="7182311" cy="6773332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FC22150-351F-1D32-05AB-F7EA0286743B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1618A74-B359-D3CA-7690-4D04767D5E33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0CD826CB-6E0B-1B05-4FDD-2984599D3762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E5BD2CD-BEC8-A5D8-00BD-2A3A6C32C4A9}"/>
              </a:ext>
            </a:extLst>
          </p:cNvPr>
          <p:cNvSpPr/>
          <p:nvPr userDrawn="1"/>
        </p:nvSpPr>
        <p:spPr>
          <a:xfrm>
            <a:off x="2" y="3"/>
            <a:ext cx="1543049" cy="1580547"/>
          </a:xfrm>
          <a:custGeom>
            <a:avLst/>
            <a:gdLst>
              <a:gd name="connsiteX0" fmla="*/ 0 w 1543049"/>
              <a:gd name="connsiteY0" fmla="*/ 0 h 1580547"/>
              <a:gd name="connsiteX1" fmla="*/ 1389702 w 1543049"/>
              <a:gd name="connsiteY1" fmla="*/ 0 h 1580547"/>
              <a:gd name="connsiteX2" fmla="*/ 1464863 w 1543049"/>
              <a:gd name="connsiteY2" fmla="*/ 143926 h 1580547"/>
              <a:gd name="connsiteX3" fmla="*/ 1543049 w 1543049"/>
              <a:gd name="connsiteY3" fmla="*/ 546445 h 1580547"/>
              <a:gd name="connsiteX4" fmla="*/ 548121 w 1543049"/>
              <a:gd name="connsiteY4" fmla="*/ 1580547 h 1580547"/>
              <a:gd name="connsiteX5" fmla="*/ 73879 w 1543049"/>
              <a:gd name="connsiteY5" fmla="*/ 1455737 h 1580547"/>
              <a:gd name="connsiteX6" fmla="*/ 0 w 1543049"/>
              <a:gd name="connsiteY6" fmla="*/ 1409087 h 158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43049" h="1580547">
                <a:moveTo>
                  <a:pt x="0" y="0"/>
                </a:moveTo>
                <a:lnTo>
                  <a:pt x="1389702" y="0"/>
                </a:lnTo>
                <a:lnTo>
                  <a:pt x="1464863" y="143926"/>
                </a:lnTo>
                <a:cubicBezTo>
                  <a:pt x="1515209" y="267644"/>
                  <a:pt x="1543049" y="403665"/>
                  <a:pt x="1543049" y="546445"/>
                </a:cubicBezTo>
                <a:cubicBezTo>
                  <a:pt x="1543049" y="1117564"/>
                  <a:pt x="1097605" y="1580547"/>
                  <a:pt x="548121" y="1580547"/>
                </a:cubicBezTo>
                <a:cubicBezTo>
                  <a:pt x="376407" y="1580547"/>
                  <a:pt x="214854" y="1535334"/>
                  <a:pt x="73879" y="1455737"/>
                </a:cubicBezTo>
                <a:lnTo>
                  <a:pt x="0" y="1409087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36000"/>
                </a:schemeClr>
              </a:gs>
              <a:gs pos="100000">
                <a:schemeClr val="accent1">
                  <a:alpha val="5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DFBE58A-F4DC-EF1E-5D13-F8DFE171653F}"/>
              </a:ext>
            </a:extLst>
          </p:cNvPr>
          <p:cNvSpPr/>
          <p:nvPr userDrawn="1"/>
        </p:nvSpPr>
        <p:spPr>
          <a:xfrm>
            <a:off x="869210" y="2394698"/>
            <a:ext cx="2836561" cy="859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547461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3112284"/>
            <a:ext cx="7401560" cy="95105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>
                <a:solidFill>
                  <a:schemeClr val="tx1"/>
                </a:solidFill>
              </a:defRPr>
            </a:lvl1pPr>
          </a:lstStyle>
          <a:p>
            <a:pPr lvl="0" defTabSz="914332"/>
            <a:r>
              <a:rPr lang="zh-CN" altLang="en-US" dirty="0"/>
              <a:t>单击此处添加主标题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400" y="4111117"/>
            <a:ext cx="7401560" cy="440729"/>
          </a:xfrm>
        </p:spPr>
        <p:txBody>
          <a:bodyPr>
            <a:normAutofit/>
          </a:bodyPr>
          <a:lstStyle>
            <a:lvl1pPr marL="0" indent="0">
              <a:buNone/>
              <a:def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点击简单描述该章节的大概内容，阐述核心思想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9A950A1-B947-717D-E187-AD0063089D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113598"/>
            <a:ext cx="7401187" cy="950912"/>
          </a:xfrm>
        </p:spPr>
        <p:txBody>
          <a:bodyPr anchor="b">
            <a:noAutofit/>
          </a:bodyPr>
          <a:lstStyle>
            <a:lvl1pPr marL="0" indent="0">
              <a:buNone/>
              <a:defRPr sz="6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5D2D51EC-47FD-72C3-B4F8-45F79C45684E}"/>
              </a:ext>
            </a:extLst>
          </p:cNvPr>
          <p:cNvSpPr/>
          <p:nvPr userDrawn="1"/>
        </p:nvSpPr>
        <p:spPr>
          <a:xfrm>
            <a:off x="4907279" y="3"/>
            <a:ext cx="7284723" cy="6857999"/>
          </a:xfrm>
          <a:custGeom>
            <a:avLst/>
            <a:gdLst>
              <a:gd name="connsiteX0" fmla="*/ 1966125 w 7284723"/>
              <a:gd name="connsiteY0" fmla="*/ 0 h 6857999"/>
              <a:gd name="connsiteX1" fmla="*/ 7284723 w 7284723"/>
              <a:gd name="connsiteY1" fmla="*/ 0 h 6857999"/>
              <a:gd name="connsiteX2" fmla="*/ 7284723 w 7284723"/>
              <a:gd name="connsiteY2" fmla="*/ 6857999 h 6857999"/>
              <a:gd name="connsiteX3" fmla="*/ 1340755 w 7284723"/>
              <a:gd name="connsiteY3" fmla="*/ 6857999 h 6857999"/>
              <a:gd name="connsiteX4" fmla="*/ 1292639 w 7284723"/>
              <a:gd name="connsiteY4" fmla="*/ 6810960 h 6857999"/>
              <a:gd name="connsiteX5" fmla="*/ 0 w 7284723"/>
              <a:gd name="connsiteY5" fmla="*/ 3692584 h 6857999"/>
              <a:gd name="connsiteX6" fmla="*/ 1810751 w 7284723"/>
              <a:gd name="connsiteY6" fmla="*/ 11380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84723" h="6857999">
                <a:moveTo>
                  <a:pt x="1966125" y="0"/>
                </a:moveTo>
                <a:lnTo>
                  <a:pt x="7284723" y="0"/>
                </a:lnTo>
                <a:lnTo>
                  <a:pt x="7284723" y="6857999"/>
                </a:lnTo>
                <a:lnTo>
                  <a:pt x="1340755" y="6857999"/>
                </a:lnTo>
                <a:lnTo>
                  <a:pt x="1292639" y="6810960"/>
                </a:lnTo>
                <a:cubicBezTo>
                  <a:pt x="489500" y="5987340"/>
                  <a:pt x="0" y="4893243"/>
                  <a:pt x="0" y="3692584"/>
                </a:cubicBezTo>
                <a:cubicBezTo>
                  <a:pt x="0" y="2251793"/>
                  <a:pt x="704880" y="964452"/>
                  <a:pt x="1810751" y="113805"/>
                </a:cubicBezTo>
                <a:close/>
              </a:path>
            </a:pathLst>
          </a:custGeom>
          <a:gradFill flip="none" rotWithShape="1">
            <a:gsLst>
              <a:gs pos="0">
                <a:srgbClr val="6B78C4"/>
              </a:gs>
              <a:gs pos="32000">
                <a:schemeClr val="accent1">
                  <a:lumMod val="45000"/>
                  <a:lumOff val="55000"/>
                  <a:alpha val="46000"/>
                </a:schemeClr>
              </a:gs>
              <a:gs pos="84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C8B77142-FA8F-519E-7BBD-ABAE915BDE36}"/>
              </a:ext>
            </a:extLst>
          </p:cNvPr>
          <p:cNvSpPr/>
          <p:nvPr userDrawn="1"/>
        </p:nvSpPr>
        <p:spPr>
          <a:xfrm>
            <a:off x="7528557" y="1698"/>
            <a:ext cx="6891224" cy="9100292"/>
          </a:xfrm>
          <a:custGeom>
            <a:avLst/>
            <a:gdLst>
              <a:gd name="connsiteX0" fmla="*/ 3621363 w 6891224"/>
              <a:gd name="connsiteY0" fmla="*/ 0 h 9100292"/>
              <a:gd name="connsiteX1" fmla="*/ 4663443 w 6891224"/>
              <a:gd name="connsiteY1" fmla="*/ 0 h 9100292"/>
              <a:gd name="connsiteX2" fmla="*/ 4663443 w 6891224"/>
              <a:gd name="connsiteY2" fmla="*/ 8743717 h 9100292"/>
              <a:gd name="connsiteX3" fmla="*/ 6891224 w 6891224"/>
              <a:gd name="connsiteY3" fmla="*/ 8743717 h 9100292"/>
              <a:gd name="connsiteX4" fmla="*/ 6686729 w 6891224"/>
              <a:gd name="connsiteY4" fmla="*/ 8818869 h 9100292"/>
              <a:gd name="connsiteX5" fmla="*/ 4975861 w 6891224"/>
              <a:gd name="connsiteY5" fmla="*/ 9100292 h 9100292"/>
              <a:gd name="connsiteX6" fmla="*/ 0 w 6891224"/>
              <a:gd name="connsiteY6" fmla="*/ 4462457 h 9100292"/>
              <a:gd name="connsiteX7" fmla="*/ 3496192 w 6891224"/>
              <a:gd name="connsiteY7" fmla="*/ 33130 h 9100292"/>
              <a:gd name="connsiteX8" fmla="*/ 3621363 w 6891224"/>
              <a:gd name="connsiteY8" fmla="*/ 0 h 910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91224" h="9100292">
                <a:moveTo>
                  <a:pt x="3621363" y="0"/>
                </a:moveTo>
                <a:lnTo>
                  <a:pt x="4663443" y="0"/>
                </a:lnTo>
                <a:lnTo>
                  <a:pt x="4663443" y="8743717"/>
                </a:lnTo>
                <a:lnTo>
                  <a:pt x="6891224" y="8743717"/>
                </a:lnTo>
                <a:lnTo>
                  <a:pt x="6686729" y="8818869"/>
                </a:lnTo>
                <a:cubicBezTo>
                  <a:pt x="6153253" y="9000932"/>
                  <a:pt x="5577006" y="9100292"/>
                  <a:pt x="4975861" y="9100292"/>
                </a:cubicBezTo>
                <a:cubicBezTo>
                  <a:pt x="2227769" y="9100292"/>
                  <a:pt x="0" y="7023863"/>
                  <a:pt x="0" y="4462457"/>
                </a:cubicBezTo>
                <a:cubicBezTo>
                  <a:pt x="0" y="2381315"/>
                  <a:pt x="1470676" y="620333"/>
                  <a:pt x="3496192" y="33130"/>
                </a:cubicBezTo>
                <a:lnTo>
                  <a:pt x="3621363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45000"/>
                  <a:lumOff val="55000"/>
                  <a:alpha val="45000"/>
                </a:schemeClr>
              </a:gs>
              <a:gs pos="50000">
                <a:schemeClr val="accent1">
                  <a:alpha val="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49B6B922-9FE0-ACC0-2856-83979932223A}"/>
              </a:ext>
            </a:extLst>
          </p:cNvPr>
          <p:cNvSpPr/>
          <p:nvPr userDrawn="1"/>
        </p:nvSpPr>
        <p:spPr>
          <a:xfrm>
            <a:off x="6242193" y="3655434"/>
            <a:ext cx="5949809" cy="3202566"/>
          </a:xfrm>
          <a:custGeom>
            <a:avLst/>
            <a:gdLst>
              <a:gd name="connsiteX0" fmla="*/ 4151489 w 5949809"/>
              <a:gd name="connsiteY0" fmla="*/ 0 h 3202566"/>
              <a:gd name="connsiteX1" fmla="*/ 5824340 w 5949809"/>
              <a:gd name="connsiteY1" fmla="*/ 337733 h 3202566"/>
              <a:gd name="connsiteX2" fmla="*/ 5949809 w 5949809"/>
              <a:gd name="connsiteY2" fmla="*/ 394457 h 3202566"/>
              <a:gd name="connsiteX3" fmla="*/ 5949809 w 5949809"/>
              <a:gd name="connsiteY3" fmla="*/ 3202566 h 3202566"/>
              <a:gd name="connsiteX4" fmla="*/ 0 w 5949809"/>
              <a:gd name="connsiteY4" fmla="*/ 3202566 h 3202566"/>
              <a:gd name="connsiteX5" fmla="*/ 47025 w 5949809"/>
              <a:gd name="connsiteY5" fmla="*/ 3019682 h 3202566"/>
              <a:gd name="connsiteX6" fmla="*/ 4151489 w 5949809"/>
              <a:gd name="connsiteY6" fmla="*/ 0 h 320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9809" h="3202566">
                <a:moveTo>
                  <a:pt x="4151489" y="0"/>
                </a:moveTo>
                <a:cubicBezTo>
                  <a:pt x="4744875" y="0"/>
                  <a:pt x="5310173" y="120259"/>
                  <a:pt x="5824340" y="337733"/>
                </a:cubicBezTo>
                <a:lnTo>
                  <a:pt x="5949809" y="394457"/>
                </a:lnTo>
                <a:lnTo>
                  <a:pt x="5949809" y="3202566"/>
                </a:lnTo>
                <a:lnTo>
                  <a:pt x="0" y="3202566"/>
                </a:lnTo>
                <a:lnTo>
                  <a:pt x="47025" y="3019682"/>
                </a:lnTo>
                <a:cubicBezTo>
                  <a:pt x="591160" y="1270231"/>
                  <a:pt x="2222986" y="0"/>
                  <a:pt x="415148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48703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33861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A9F09-7DDC-32D6-81D8-6D33FC493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10858500" cy="50038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600"/>
              </a:spcBef>
              <a:defRPr sz="24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00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180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9677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6DA8-D137-41D2-A934-63CB8FFB8B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B63B05-F6A0-3D6F-F801-8D11984D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2023/11/16</a:t>
            </a:fld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7CA976-277E-412D-DEC7-ABBF4B1C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518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34B5E9-7F1A-757A-6933-C2854022C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2023/11/16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D42E90-FD3D-CF04-A89E-B408C659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商务</a:t>
            </a:r>
            <a:r>
              <a:rPr lang="en-US" altLang="zh-CN"/>
              <a:t>PPT</a:t>
            </a:r>
            <a:r>
              <a:rPr lang="zh-CN" altLang="en-US"/>
              <a:t>模板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451E9D-D337-3CDB-5813-83070E69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383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AA98E5A-3A9B-76BC-8AC3-016C59AA4760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43180D6-55C2-456A-876B-6DFD6FED559E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CCE37F71-F955-2E51-24EA-BAE38D51B2AA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863C955-22E4-E129-BD9B-0A61289448A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BF1409B-5AAA-AD35-F9DB-81783BA40697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0" name="Speaker Placeholder 3">
            <a:extLst>
              <a:ext uri="{FF2B5EF4-FFF2-40B4-BE49-F238E27FC236}">
                <a16:creationId xmlns:a16="http://schemas.microsoft.com/office/drawing/2014/main" id="{393CF57B-4E6D-EC77-AFD7-10BC4CE1EE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3769098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0491E251-5B90-7136-462F-BC5F844245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1" y="4174440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2753098"/>
            <a:ext cx="10858500" cy="885891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buNone/>
              <a:defRPr lang="en-US" altLang="zh-CN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189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594" lvl="0" indent="-228594" defTabSz="914332">
              <a:spcBef>
                <a:spcPct val="0"/>
              </a:spcBef>
            </a:pPr>
            <a:r>
              <a:rPr lang="en-US" altLang="zh-CN" dirty="0"/>
              <a:t>THANK YOU</a:t>
            </a:r>
            <a:r>
              <a:rPr lang="zh-CN" altLang="en-US" dirty="0"/>
              <a:t>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803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55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959961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17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97756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18363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44671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21009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06950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866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027962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65594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36698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36567" y="222253"/>
            <a:ext cx="2880784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94219" y="222253"/>
            <a:ext cx="8439149" cy="59039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1832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A54C05-12C6-4ED5-8C42-25DA65BDDB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54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332"/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1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16C00-AE39-4635-9F10-B7233D2A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商务</a:t>
            </a:r>
            <a:r>
              <a:rPr lang="en-US" altLang="zh-CN"/>
              <a:t>PPT</a:t>
            </a:r>
            <a:r>
              <a:rPr lang="zh-CN" altLang="en-US"/>
              <a:t>模板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D871-753D-4991-B44B-EFAE9F868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4657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581C77-C049-4AAA-A3C8-544909BBB11E}" type="datetime1">
              <a:rPr lang="zh-CN" altLang="en-US" smtClean="0"/>
              <a:t>2023/11/16</a:t>
            </a:fld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2244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 userDrawn="1"/>
        </p:nvSpPr>
        <p:spPr bwMode="auto">
          <a:xfrm>
            <a:off x="0" y="1000125"/>
            <a:ext cx="646113" cy="261938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10"/>
          <p:cNvSpPr>
            <a:spLocks noChangeArrowheads="1"/>
          </p:cNvSpPr>
          <p:nvPr userDrawn="1"/>
        </p:nvSpPr>
        <p:spPr bwMode="auto">
          <a:xfrm>
            <a:off x="703263" y="996950"/>
            <a:ext cx="11488737" cy="26193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261938" y="963613"/>
            <a:ext cx="4032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679EA1FA-98DD-462E-800D-6ADA9E20B4EE}" type="slidenum">
              <a:rPr lang="en-US" altLang="zh-CN" sz="1400" b="1" smtClean="0">
                <a:solidFill>
                  <a:schemeClr val="bg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93688" y="222250"/>
            <a:ext cx="1152366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5491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1630" indent="-34163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1680" indent="-28448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1730" indent="-22733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98930" indent="-2273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6130" indent="-22733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400"/>
              <a:t>第</a:t>
            </a:r>
            <a:r>
              <a:rPr lang="en-US" altLang="zh-CN" sz="4400"/>
              <a:t>10</a:t>
            </a:r>
            <a:r>
              <a:rPr lang="zh-CN" altLang="en-US" sz="4400"/>
              <a:t>讲 </a:t>
            </a:r>
            <a:r>
              <a:rPr lang="en-US" altLang="zh-CN" sz="4400"/>
              <a:t>numpy</a:t>
            </a:r>
            <a:r>
              <a:rPr lang="zh-CN" altLang="en-US" sz="4400"/>
              <a:t>与科学计算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B6E2A4-2611-7CF4-1FB8-BEC31D9A1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161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907D0760-CDA1-47D8-8A8A-0EE6CBE05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235898"/>
            <a:ext cx="7406588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Bold"/>
              <a:ea typeface="思源黑体 CN Bold"/>
              <a:cs typeface="+mj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5AAB0D-4BFE-4F98-B6F9-34DC9D62F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964" y="5446069"/>
            <a:ext cx="2768457" cy="109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A1F23D7F-6689-E8BB-9294-3CB27701A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90327"/>
            <a:ext cx="10858500" cy="792781"/>
          </a:xfrm>
        </p:spPr>
        <p:txBody>
          <a:bodyPr>
            <a:normAutofit/>
          </a:bodyPr>
          <a:lstStyle/>
          <a:p>
            <a:r>
              <a:rPr lang="en-US" altLang="zh-CN"/>
              <a:t>NumPy</a:t>
            </a:r>
            <a:r>
              <a:rPr lang="zh-CN" altLang="en-US"/>
              <a:t>是什么？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1704FB5-C87F-F252-3A83-1D2D85644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10858500" cy="5003800"/>
          </a:xfrm>
        </p:spPr>
        <p:txBody>
          <a:bodyPr>
            <a:normAutofit/>
          </a:bodyPr>
          <a:lstStyle/>
          <a:p>
            <a:r>
              <a:rPr lang="zh-CN" altLang="en-US" sz="2000"/>
              <a:t>标准的</a:t>
            </a:r>
            <a:r>
              <a:rPr lang="en-US" altLang="zh-CN" sz="2000" b="1"/>
              <a:t>Python</a:t>
            </a:r>
            <a:r>
              <a:rPr lang="zh-CN" altLang="en-US" sz="2000"/>
              <a:t>中用</a:t>
            </a:r>
            <a:r>
              <a:rPr lang="en-US" altLang="zh-CN" sz="2000" b="1"/>
              <a:t>list</a:t>
            </a:r>
            <a:r>
              <a:rPr lang="zh-CN" altLang="en-US" sz="2000"/>
              <a:t>（列表）保存值，可以当做数组使用，但因为列表中的元素可以是任何对象，所以浪费了</a:t>
            </a:r>
            <a:r>
              <a:rPr lang="en-US" altLang="zh-CN" sz="2000"/>
              <a:t>CPU</a:t>
            </a:r>
            <a:r>
              <a:rPr lang="zh-CN" altLang="en-US" sz="2000"/>
              <a:t>运算时间和内存。</a:t>
            </a:r>
            <a:endParaRPr lang="en-US" altLang="zh-CN" sz="2000"/>
          </a:p>
          <a:p>
            <a:r>
              <a:rPr lang="en-US" altLang="zh-CN" sz="2000" b="1"/>
              <a:t>NumPy</a:t>
            </a:r>
            <a:r>
              <a:rPr lang="zh-CN" altLang="en-US" sz="2000"/>
              <a:t>诞生为了弥补这些缺陷。它提供了两种基本的对象：</a:t>
            </a:r>
            <a:endParaRPr lang="en-US" altLang="zh-CN" sz="2000"/>
          </a:p>
          <a:p>
            <a:r>
              <a:rPr lang="en-US" altLang="zh-CN" sz="2000" b="1"/>
              <a:t>ndarray</a:t>
            </a:r>
            <a:r>
              <a:rPr lang="zh-CN" altLang="en-US" sz="2000"/>
              <a:t>：全称（</a:t>
            </a:r>
            <a:r>
              <a:rPr lang="en-US" altLang="zh-CN" sz="2000"/>
              <a:t>n-dimensional array object</a:t>
            </a:r>
            <a:r>
              <a:rPr lang="zh-CN" altLang="en-US" sz="2000"/>
              <a:t>）是储存单一数据类型的多维数组。</a:t>
            </a:r>
            <a:endParaRPr lang="en-US" altLang="zh-CN" sz="2000"/>
          </a:p>
          <a:p>
            <a:r>
              <a:rPr lang="en-US" altLang="zh-CN" sz="2000" b="1"/>
              <a:t>ufunc</a:t>
            </a:r>
            <a:r>
              <a:rPr lang="zh-CN" altLang="en-US" sz="2000"/>
              <a:t>：全称（</a:t>
            </a:r>
            <a:r>
              <a:rPr lang="en-US" altLang="zh-CN" sz="2000"/>
              <a:t>universal function object</a:t>
            </a:r>
            <a:r>
              <a:rPr lang="zh-CN" altLang="en-US" sz="2000"/>
              <a:t>）它是一种能够对数组进行处理的函数。</a:t>
            </a:r>
            <a:endParaRPr lang="en-US" altLang="zh-CN" sz="2000"/>
          </a:p>
          <a:p>
            <a:r>
              <a:rPr lang="en-US" altLang="zh-CN" sz="2000"/>
              <a:t>NumPy</a:t>
            </a:r>
            <a:r>
              <a:rPr lang="zh-CN" altLang="en-US" sz="2000"/>
              <a:t>的官方文档：</a:t>
            </a:r>
            <a:r>
              <a:rPr lang="en-US" altLang="zh-CN" sz="2000"/>
              <a:t>https://docs.scipy.org/doc/numpy/reference/</a:t>
            </a:r>
          </a:p>
        </p:txBody>
      </p:sp>
    </p:spTree>
    <p:extLst>
      <p:ext uri="{BB962C8B-B14F-4D97-AF65-F5344CB8AC3E}">
        <p14:creationId xmlns:p14="http://schemas.microsoft.com/office/powerpoint/2010/main" val="117732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280" y="982018"/>
            <a:ext cx="12043719" cy="5875982"/>
          </a:xfrm>
        </p:spPr>
        <p:txBody>
          <a:bodyPr>
            <a:noAutofit/>
          </a:bodyPr>
          <a:lstStyle/>
          <a:p>
            <a:pPr>
              <a:lnSpc>
                <a:spcPct val="124000"/>
              </a:lnSpc>
            </a:pPr>
            <a:r>
              <a:rPr lang="zh-CN" altLang="en-US" sz="1700" b="1"/>
              <a:t>一、</a:t>
            </a:r>
            <a:r>
              <a:rPr lang="en-US" altLang="zh-CN" sz="1700" b="1"/>
              <a:t>numpy</a:t>
            </a:r>
            <a:r>
              <a:rPr lang="zh-CN" altLang="en-US" sz="1700" b="1"/>
              <a:t>等简介</a:t>
            </a:r>
          </a:p>
          <a:p>
            <a:pPr lvl="1">
              <a:lnSpc>
                <a:spcPct val="124000"/>
              </a:lnSpc>
            </a:pPr>
            <a:r>
              <a:rPr lang="en-US" altLang="zh-CN" sz="1700" b="1"/>
              <a:t>(1) </a:t>
            </a:r>
            <a:r>
              <a:rPr lang="zh-CN" altLang="en-US" sz="1700" b="1"/>
              <a:t>什么是</a:t>
            </a:r>
            <a:r>
              <a:rPr lang="en-US" altLang="zh-CN" sz="1700" b="1"/>
              <a:t>numpy</a:t>
            </a:r>
            <a:r>
              <a:rPr lang="zh-CN" altLang="en-US" sz="1700" b="1"/>
              <a:t>？</a:t>
            </a:r>
          </a:p>
          <a:p>
            <a:pPr lvl="2">
              <a:lnSpc>
                <a:spcPct val="124000"/>
              </a:lnSpc>
            </a:pPr>
            <a:r>
              <a:rPr lang="en-US" altLang="zh-CN" sz="1700"/>
              <a:t>NumPy(Numerical Python) </a:t>
            </a:r>
            <a:r>
              <a:rPr lang="zh-CN" altLang="en-US" sz="1700"/>
              <a:t>是 </a:t>
            </a:r>
            <a:r>
              <a:rPr lang="en-US" altLang="zh-CN" sz="1700"/>
              <a:t>Python </a:t>
            </a:r>
            <a:r>
              <a:rPr lang="zh-CN" altLang="en-US" sz="1700"/>
              <a:t>语言的一个扩展程序库，支持大量的维度</a:t>
            </a:r>
            <a:r>
              <a:rPr lang="zh-CN" altLang="en-US" sz="1700">
                <a:solidFill>
                  <a:srgbClr val="FF0000"/>
                </a:solidFill>
              </a:rPr>
              <a:t>数组</a:t>
            </a:r>
            <a:r>
              <a:rPr lang="zh-CN" altLang="en-US" sz="1700"/>
              <a:t>与矩阵运算，</a:t>
            </a:r>
            <a:endParaRPr lang="en-US" altLang="zh-CN" sz="1700"/>
          </a:p>
          <a:p>
            <a:pPr lvl="2">
              <a:lnSpc>
                <a:spcPct val="124000"/>
              </a:lnSpc>
            </a:pPr>
            <a:r>
              <a:rPr lang="zh-CN" altLang="en-US" sz="1700"/>
              <a:t>此外也针对数组运算提供大量的数学函数库，服务于复杂的线性代数运算。</a:t>
            </a:r>
          </a:p>
          <a:p>
            <a:pPr lvl="1">
              <a:lnSpc>
                <a:spcPct val="124000"/>
              </a:lnSpc>
            </a:pPr>
            <a:r>
              <a:rPr lang="en-US" altLang="zh-CN" sz="1700" b="1"/>
              <a:t>(2) numpy</a:t>
            </a:r>
            <a:r>
              <a:rPr lang="zh-CN" altLang="en-US" sz="1700" b="1"/>
              <a:t> </a:t>
            </a:r>
            <a:r>
              <a:rPr lang="en-US" altLang="zh-CN" sz="1700" b="1"/>
              <a:t>&amp; scipy</a:t>
            </a:r>
            <a:endParaRPr lang="zh-CN" altLang="en-US" sz="1700" b="1"/>
          </a:p>
          <a:p>
            <a:pPr lvl="2">
              <a:lnSpc>
                <a:spcPct val="124000"/>
              </a:lnSpc>
            </a:pPr>
            <a:r>
              <a:rPr lang="en-US" altLang="zh-CN" sz="1700">
                <a:solidFill>
                  <a:srgbClr val="FF0000"/>
                </a:solidFill>
              </a:rPr>
              <a:t>SciPy </a:t>
            </a:r>
            <a:r>
              <a:rPr lang="zh-CN" altLang="en-US" sz="1700">
                <a:solidFill>
                  <a:srgbClr val="FF0000"/>
                </a:solidFill>
              </a:rPr>
              <a:t>是一个开源的 </a:t>
            </a:r>
            <a:r>
              <a:rPr lang="en-US" altLang="zh-CN" sz="1700">
                <a:solidFill>
                  <a:srgbClr val="FF0000"/>
                </a:solidFill>
              </a:rPr>
              <a:t>Python </a:t>
            </a:r>
            <a:r>
              <a:rPr lang="zh-CN" altLang="en-US" sz="1700">
                <a:solidFill>
                  <a:srgbClr val="FF0000"/>
                </a:solidFill>
              </a:rPr>
              <a:t>算法库和数学工具包。</a:t>
            </a:r>
          </a:p>
          <a:p>
            <a:pPr lvl="2">
              <a:lnSpc>
                <a:spcPct val="124000"/>
              </a:lnSpc>
            </a:pPr>
            <a:r>
              <a:rPr lang="en-US" altLang="zh-CN" sz="1700"/>
              <a:t>SciPy</a:t>
            </a:r>
            <a:r>
              <a:rPr lang="zh-CN" altLang="en-US" sz="1700"/>
              <a:t>包含的模块有最优化、线性代数、积分、插值、特殊函数、快速傅里叶变换、信号处理和图像处理、常微分方程求解和其他科学与工程中常用的计算。</a:t>
            </a:r>
            <a:endParaRPr lang="en-US" altLang="zh-CN" sz="1700"/>
          </a:p>
          <a:p>
            <a:pPr lvl="2">
              <a:lnSpc>
                <a:spcPct val="124000"/>
              </a:lnSpc>
            </a:pPr>
            <a:r>
              <a:rPr lang="en-US" altLang="zh-CN" sz="1700">
                <a:solidFill>
                  <a:srgbClr val="FF0000"/>
                </a:solidFill>
              </a:rPr>
              <a:t>NumPy </a:t>
            </a:r>
            <a:r>
              <a:rPr lang="zh-CN" altLang="en-US" sz="1700">
                <a:solidFill>
                  <a:srgbClr val="FF0000"/>
                </a:solidFill>
              </a:rPr>
              <a:t>通常与 </a:t>
            </a:r>
            <a:r>
              <a:rPr lang="en-US" altLang="zh-CN" sz="1700">
                <a:solidFill>
                  <a:srgbClr val="FF0000"/>
                </a:solidFill>
              </a:rPr>
              <a:t>SciPy</a:t>
            </a:r>
            <a:r>
              <a:rPr lang="zh-CN" altLang="en-US" sz="1700">
                <a:solidFill>
                  <a:srgbClr val="FF0000"/>
                </a:solidFill>
              </a:rPr>
              <a:t>（</a:t>
            </a:r>
            <a:r>
              <a:rPr lang="en-US" altLang="zh-CN" sz="1700">
                <a:solidFill>
                  <a:srgbClr val="FF0000"/>
                </a:solidFill>
              </a:rPr>
              <a:t>Scientific Python</a:t>
            </a:r>
            <a:r>
              <a:rPr lang="zh-CN" altLang="en-US" sz="1700">
                <a:solidFill>
                  <a:srgbClr val="FF0000"/>
                </a:solidFill>
              </a:rPr>
              <a:t>）和 </a:t>
            </a:r>
            <a:r>
              <a:rPr lang="en-US" altLang="zh-CN" sz="1700">
                <a:solidFill>
                  <a:srgbClr val="FF0000"/>
                </a:solidFill>
              </a:rPr>
              <a:t>Matplotlib</a:t>
            </a:r>
            <a:r>
              <a:rPr lang="zh-CN" altLang="en-US" sz="1700">
                <a:solidFill>
                  <a:srgbClr val="FF0000"/>
                </a:solidFill>
              </a:rPr>
              <a:t>（绘图库）一起使用</a:t>
            </a:r>
            <a:r>
              <a:rPr lang="zh-CN" altLang="en-US" sz="1700"/>
              <a:t>，是一个强大的科学计算环境，有助于通过 </a:t>
            </a:r>
            <a:r>
              <a:rPr lang="en-US" altLang="zh-CN" sz="1700"/>
              <a:t>Python </a:t>
            </a:r>
            <a:r>
              <a:rPr lang="zh-CN" altLang="en-US" sz="1700"/>
              <a:t>学习数据科学或者机器学习。</a:t>
            </a:r>
          </a:p>
          <a:p>
            <a:pPr lvl="2">
              <a:lnSpc>
                <a:spcPct val="124000"/>
              </a:lnSpc>
            </a:pPr>
            <a:r>
              <a:rPr lang="en-US" altLang="zh-CN" sz="1700"/>
              <a:t>Matplotlib </a:t>
            </a:r>
            <a:r>
              <a:rPr lang="zh-CN" altLang="en-US" sz="1700"/>
              <a:t>是 </a:t>
            </a:r>
            <a:r>
              <a:rPr lang="en-US" altLang="zh-CN" sz="1700"/>
              <a:t>Python </a:t>
            </a:r>
            <a:r>
              <a:rPr lang="zh-CN" altLang="en-US" sz="1700"/>
              <a:t>编程语言及其数值数学扩展包 </a:t>
            </a:r>
            <a:r>
              <a:rPr lang="en-US" altLang="zh-CN" sz="1700"/>
              <a:t>NumPy </a:t>
            </a:r>
            <a:r>
              <a:rPr lang="zh-CN" altLang="en-US" sz="1700"/>
              <a:t>的可视化操作界面。它为利用通用的图形用户界面工具包，如 </a:t>
            </a:r>
            <a:r>
              <a:rPr lang="en-US" altLang="zh-CN" sz="1700"/>
              <a:t>Tkinter, wxPython, Qt </a:t>
            </a:r>
            <a:r>
              <a:rPr lang="zh-CN" altLang="en-US" sz="1700"/>
              <a:t>或 </a:t>
            </a:r>
            <a:r>
              <a:rPr lang="en-US" altLang="zh-CN" sz="1700"/>
              <a:t>GTK+ </a:t>
            </a:r>
            <a:r>
              <a:rPr lang="zh-CN" altLang="en-US" sz="1700"/>
              <a:t>向应用程序嵌入式绘图提供了应用程序接口（</a:t>
            </a:r>
            <a:r>
              <a:rPr lang="en-US" altLang="zh-CN" sz="1700"/>
              <a:t>API</a:t>
            </a:r>
            <a:r>
              <a:rPr lang="zh-CN" altLang="en-US" sz="1700"/>
              <a:t>）。在计算机中，从文档的可识别性来看，文件可以被分为两大类，一类是由纯粹文本（全部为可打印字符）构成的文件；另一类为二进制码构成的文档。</a:t>
            </a:r>
          </a:p>
          <a:p>
            <a:pPr lvl="2">
              <a:lnSpc>
                <a:spcPct val="124000"/>
              </a:lnSpc>
            </a:pPr>
            <a:r>
              <a:rPr lang="zh-CN" altLang="en-US" sz="1700"/>
              <a:t>对于纯文本文档，通常可直接打开并被用户阅读；而程序代码、图像、音频等都是二进制文档，这种文档不能直接被人们阅读，但可以通过软件读取并进行处理。</a:t>
            </a:r>
          </a:p>
        </p:txBody>
      </p:sp>
    </p:spTree>
    <p:extLst>
      <p:ext uri="{BB962C8B-B14F-4D97-AF65-F5344CB8AC3E}">
        <p14:creationId xmlns:p14="http://schemas.microsoft.com/office/powerpoint/2010/main" val="63673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一、</a:t>
            </a:r>
            <a:r>
              <a:rPr lang="en-US" altLang="zh-CN" b="1"/>
              <a:t>numpy</a:t>
            </a:r>
            <a:r>
              <a:rPr lang="zh-CN" altLang="en-US" b="1"/>
              <a:t>等简介</a:t>
            </a:r>
          </a:p>
          <a:p>
            <a:pPr lvl="1">
              <a:spcBef>
                <a:spcPts val="1200"/>
              </a:spcBef>
            </a:pPr>
            <a:r>
              <a:rPr lang="en-US" altLang="zh-CN" b="1"/>
              <a:t>(3) </a:t>
            </a:r>
            <a:r>
              <a:rPr lang="zh-CN" altLang="en-US" b="1"/>
              <a:t>什么是</a:t>
            </a:r>
            <a:r>
              <a:rPr lang="en-US" altLang="zh-CN" b="1"/>
              <a:t>matPlotLib</a:t>
            </a:r>
            <a:r>
              <a:rPr lang="zh-CN" altLang="en-US" b="1"/>
              <a:t>？</a:t>
            </a:r>
          </a:p>
          <a:p>
            <a:pPr lvl="2" algn="just">
              <a:spcBef>
                <a:spcPts val="1200"/>
              </a:spcBef>
            </a:pPr>
            <a:r>
              <a:rPr lang="en-US" altLang="zh-CN"/>
              <a:t>Matplotlib </a:t>
            </a:r>
            <a:r>
              <a:rPr lang="zh-CN" altLang="en-US"/>
              <a:t>是 </a:t>
            </a:r>
            <a:r>
              <a:rPr lang="en-US" altLang="zh-CN"/>
              <a:t>Python </a:t>
            </a:r>
            <a:r>
              <a:rPr lang="zh-CN" altLang="en-US"/>
              <a:t>编程语言及其数值、数学扩展包 </a:t>
            </a:r>
            <a:r>
              <a:rPr lang="en-US" altLang="zh-CN"/>
              <a:t>NumPy </a:t>
            </a:r>
            <a:r>
              <a:rPr lang="zh-CN" altLang="en-US"/>
              <a:t>的可视化操作界面，它为通用的图形用户界面工具包。</a:t>
            </a:r>
            <a:endParaRPr lang="en-US" altLang="zh-CN"/>
          </a:p>
          <a:p>
            <a:pPr lvl="2" algn="just">
              <a:spcBef>
                <a:spcPts val="1200"/>
              </a:spcBef>
            </a:pPr>
            <a:r>
              <a:rPr lang="zh-CN" altLang="en-US"/>
              <a:t>基于</a:t>
            </a:r>
            <a:r>
              <a:rPr lang="en-US" altLang="zh-CN"/>
              <a:t>matPlotLib</a:t>
            </a:r>
            <a:r>
              <a:rPr lang="zh-CN" altLang="en-US"/>
              <a:t>，构建了一个平面直角坐标系，能够基于用户提供的数据序列便捷地绘制出各种统计图形。</a:t>
            </a:r>
            <a:endParaRPr lang="en-US" altLang="zh-CN"/>
          </a:p>
          <a:p>
            <a:pPr lvl="2" algn="just">
              <a:spcBef>
                <a:spcPts val="1200"/>
              </a:spcBef>
            </a:pPr>
            <a:r>
              <a:rPr lang="en-US" altLang="zh-CN"/>
              <a:t>matPlotLib</a:t>
            </a:r>
            <a:r>
              <a:rPr lang="zh-CN" altLang="en-US"/>
              <a:t>是实现</a:t>
            </a:r>
            <a:r>
              <a:rPr lang="en-US" altLang="zh-CN"/>
              <a:t>Python</a:t>
            </a:r>
            <a:r>
              <a:rPr lang="zh-CN" altLang="en-US"/>
              <a:t>信息可视化（数据可视化）的重要工具。</a:t>
            </a:r>
          </a:p>
        </p:txBody>
      </p:sp>
    </p:spTree>
    <p:extLst>
      <p:ext uri="{BB962C8B-B14F-4D97-AF65-F5344CB8AC3E}">
        <p14:creationId xmlns:p14="http://schemas.microsoft.com/office/powerpoint/2010/main" val="1835700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二、安装</a:t>
            </a:r>
            <a:r>
              <a:rPr lang="en-US" altLang="zh-CN" b="1"/>
              <a:t>numpy</a:t>
            </a:r>
            <a:r>
              <a:rPr lang="zh-CN" altLang="en-US" b="1"/>
              <a:t>等软件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(1) </a:t>
            </a:r>
            <a:r>
              <a:rPr lang="zh-CN" altLang="en-US"/>
              <a:t>检测</a:t>
            </a:r>
            <a:r>
              <a:rPr lang="en-US" altLang="zh-CN"/>
              <a:t>pip3</a:t>
            </a:r>
            <a:r>
              <a:rPr lang="zh-CN" altLang="en-US"/>
              <a:t>的版本号</a:t>
            </a: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zh-CN" altLang="en-US"/>
          </a:p>
        </p:txBody>
      </p:sp>
      <p:pic>
        <p:nvPicPr>
          <p:cNvPr id="1026" name="Picture 2" descr="http://cen.bnu.edu.cn/commit/courses/CCPPY/jiaoan/prog/c0901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99" y="2344259"/>
            <a:ext cx="11346455" cy="272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73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三、</a:t>
            </a:r>
            <a:r>
              <a:rPr lang="en-US" altLang="zh-CN"/>
              <a:t>Python</a:t>
            </a:r>
            <a:r>
              <a:rPr lang="zh-CN" altLang="en-US"/>
              <a:t>的常见类库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3. </a:t>
            </a:r>
            <a:r>
              <a:rPr lang="zh-CN" altLang="en-US"/>
              <a:t>安装所需的外部库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(1)</a:t>
            </a:r>
            <a:r>
              <a:rPr lang="zh-CN" altLang="en-US"/>
              <a:t>检查</a:t>
            </a:r>
            <a:r>
              <a:rPr lang="en-US" altLang="zh-CN"/>
              <a:t>pip3</a:t>
            </a:r>
            <a:r>
              <a:rPr lang="zh-CN" altLang="en-US"/>
              <a:t>的版本号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 b="0"/>
              <a:t>检查版本号</a:t>
            </a:r>
            <a:endParaRPr lang="en-US" altLang="zh-CN" b="0"/>
          </a:p>
          <a:p>
            <a:pPr lvl="3">
              <a:spcBef>
                <a:spcPts val="1200"/>
              </a:spcBef>
            </a:pPr>
            <a:r>
              <a:rPr lang="en-US" altLang="zh-CN" b="0"/>
              <a:t>pip3   -V      #</a:t>
            </a:r>
            <a:r>
              <a:rPr lang="zh-CN" altLang="en-US" b="0">
                <a:solidFill>
                  <a:srgbClr val="FF0000"/>
                </a:solidFill>
              </a:rPr>
              <a:t>注意</a:t>
            </a:r>
            <a:r>
              <a:rPr lang="en-US" altLang="zh-CN" b="0">
                <a:solidFill>
                  <a:srgbClr val="FF0000"/>
                </a:solidFill>
              </a:rPr>
              <a:t>V</a:t>
            </a:r>
            <a:r>
              <a:rPr lang="zh-CN" altLang="en-US" b="0">
                <a:solidFill>
                  <a:srgbClr val="FF0000"/>
                </a:solidFill>
              </a:rPr>
              <a:t>大写</a:t>
            </a:r>
            <a:endParaRPr lang="en-US" altLang="zh-CN" b="0">
              <a:solidFill>
                <a:srgbClr val="FF0000"/>
              </a:solidFill>
            </a:endParaRPr>
          </a:p>
          <a:p>
            <a:pPr lvl="2">
              <a:spcBef>
                <a:spcPts val="1200"/>
              </a:spcBef>
            </a:pPr>
            <a:r>
              <a:rPr lang="zh-CN" altLang="en-US" b="0"/>
              <a:t>升级</a:t>
            </a:r>
            <a:r>
              <a:rPr lang="en-US" altLang="zh-CN" b="0"/>
              <a:t>pip3</a:t>
            </a:r>
            <a:r>
              <a:rPr lang="zh-CN" altLang="en-US" b="0"/>
              <a:t>的版本号</a:t>
            </a:r>
            <a:endParaRPr lang="en-US" altLang="zh-CN" b="0"/>
          </a:p>
          <a:p>
            <a:pPr lvl="3">
              <a:spcBef>
                <a:spcPts val="1200"/>
              </a:spcBef>
            </a:pPr>
            <a:r>
              <a:rPr lang="en-US" altLang="zh-CN" b="0"/>
              <a:t>pip3 install --upgrade pip       #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注意：要有两个短线。</a:t>
            </a:r>
            <a:endParaRPr lang="en-US" altLang="zh-CN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1200"/>
              </a:spcBef>
            </a:pPr>
            <a:r>
              <a:rPr lang="en-US" altLang="zh-CN" b="0"/>
              <a:t>(2)</a:t>
            </a:r>
            <a:r>
              <a:rPr lang="zh-CN" altLang="en-US" b="0"/>
              <a:t>安装外部类库</a:t>
            </a:r>
            <a:endParaRPr lang="en-US" altLang="zh-CN" b="0"/>
          </a:p>
          <a:p>
            <a:pPr lvl="2">
              <a:spcBef>
                <a:spcPts val="1200"/>
              </a:spcBef>
            </a:pPr>
            <a:r>
              <a:rPr lang="en-US" altLang="zh-CN" b="0"/>
              <a:t>pip3 install &lt;</a:t>
            </a:r>
            <a:r>
              <a:rPr lang="zh-CN" altLang="en-US" b="0"/>
              <a:t>外部库名</a:t>
            </a:r>
            <a:r>
              <a:rPr lang="en-US" altLang="zh-CN" b="0"/>
              <a:t>&gt;        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注意：自动连接远程库</a:t>
            </a:r>
            <a:endParaRPr lang="en-US" altLang="zh-CN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3">
              <a:spcBef>
                <a:spcPts val="1200"/>
              </a:spcBef>
            </a:pPr>
            <a:r>
              <a:rPr lang="en-US" altLang="zh-CN" b="0"/>
              <a:t>pip3 install </a:t>
            </a:r>
            <a:r>
              <a:rPr lang="en-US" altLang="zh-CN" b="0" err="1"/>
              <a:t>numpy</a:t>
            </a:r>
            <a:endParaRPr lang="en-US" altLang="zh-CN" b="0"/>
          </a:p>
          <a:p>
            <a:pPr lvl="2">
              <a:spcBef>
                <a:spcPts val="1200"/>
              </a:spcBef>
            </a:pPr>
            <a:r>
              <a:rPr lang="en-US" altLang="zh-CN" b="0"/>
              <a:t>pip3 install &lt;</a:t>
            </a:r>
            <a:r>
              <a:rPr lang="zh-CN" altLang="en-US" b="0"/>
              <a:t>外部库的文件名</a:t>
            </a:r>
            <a:r>
              <a:rPr lang="en-US" altLang="zh-CN" b="0"/>
              <a:t>&gt;</a:t>
            </a:r>
          </a:p>
          <a:p>
            <a:pPr lvl="3">
              <a:spcBef>
                <a:spcPts val="1200"/>
              </a:spcBef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#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注意：已经下载好的库文件，通常为</a:t>
            </a:r>
            <a:r>
              <a:rPr lang="en-US" altLang="zh-CN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whl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文档</a:t>
            </a:r>
            <a:endParaRPr lang="en-US" altLang="zh-CN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3">
              <a:spcBef>
                <a:spcPts val="1200"/>
              </a:spcBef>
            </a:pPr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50E1F6-B55D-0720-8844-E818049C2E30}"/>
              </a:ext>
            </a:extLst>
          </p:cNvPr>
          <p:cNvSpPr txBox="1"/>
          <p:nvPr/>
        </p:nvSpPr>
        <p:spPr>
          <a:xfrm>
            <a:off x="1446028" y="6256771"/>
            <a:ext cx="10451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whl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类的文件，可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CMD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命令行到相应的目录下，执行：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pip install * (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例如：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pip install Django-1.11.11-py2-py3-none-any.whl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2501DF-489D-BAE2-1C95-9057825CF8E8}"/>
              </a:ext>
            </a:extLst>
          </p:cNvPr>
          <p:cNvSpPr txBox="1"/>
          <p:nvPr/>
        </p:nvSpPr>
        <p:spPr>
          <a:xfrm>
            <a:off x="4882266" y="1819949"/>
            <a:ext cx="7143158" cy="1530278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设为全局默认：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#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设置清华源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pip config set </a:t>
            </a:r>
            <a:r>
              <a:rPr kumimoji="0" lang="en-US" altLang="zh-CN" sz="140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global.index-url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https://pypi.tuna.tsinghua.edu.cn/simple 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pip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临时使用国内镜像源：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可以直接在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pip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命令中使用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-</a:t>
            </a:r>
            <a:r>
              <a:rPr kumimoji="0" lang="en-US" altLang="zh-CN" sz="140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参数来指定镜像地址，例如：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pip3 install </a:t>
            </a:r>
            <a:r>
              <a:rPr kumimoji="0" lang="en-US" altLang="zh-CN" sz="140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numpy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-</a:t>
            </a:r>
            <a:r>
              <a:rPr kumimoji="0" lang="en-US" altLang="zh-CN" sz="140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https://pypi.tuna.tsinghua.edu.cn/simple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CDA0C4-A54B-3C3E-9FFC-C42B91E21468}"/>
              </a:ext>
            </a:extLst>
          </p:cNvPr>
          <p:cNvSpPr txBox="1"/>
          <p:nvPr/>
        </p:nvSpPr>
        <p:spPr>
          <a:xfrm>
            <a:off x="4882266" y="927929"/>
            <a:ext cx="7143158" cy="817245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清华：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Code Pro" panose="020B0509030403020204" pitchFamily="49" charset="0"/>
                <a:ea typeface="思源黑体 CN Normal"/>
                <a:cs typeface="+mn-cs"/>
              </a:rPr>
              <a:t> https://pypi.tuna.tsinghua.edu.cn/simple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豆瓣：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-</a:t>
            </a:r>
            <a:r>
              <a:rPr kumimoji="0" lang="en-US" altLang="zh-CN" sz="140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http://pypi.douban.com/simple/  --trusted-host pypi.douban.com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阿里云：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-</a:t>
            </a:r>
            <a:r>
              <a:rPr kumimoji="0" lang="en-US" altLang="zh-CN" sz="1400" b="0" i="0" u="none" strike="noStrike" kern="1200" cap="none" spc="0" normalizeH="0" baseline="0" noProof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i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http://mirrors.aliyun.com/pypi/simple/ --trusted-host mirrors.aliyun.com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6F2DC8-28A9-E0FA-8CF8-E4776D306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681" y="3597419"/>
            <a:ext cx="3851481" cy="225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16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二、安装</a:t>
            </a:r>
            <a:r>
              <a:rPr lang="en-US" altLang="zh-CN" b="1"/>
              <a:t>numpy</a:t>
            </a:r>
            <a:r>
              <a:rPr lang="zh-CN" altLang="en-US" b="1"/>
              <a:t>等软件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(2) </a:t>
            </a:r>
            <a:r>
              <a:rPr lang="zh-CN" altLang="en-US"/>
              <a:t>安装</a:t>
            </a:r>
            <a:r>
              <a:rPr lang="en-US" altLang="zh-CN"/>
              <a:t>numpy</a:t>
            </a:r>
            <a:r>
              <a:rPr lang="zh-CN" altLang="en-US"/>
              <a:t>外部库</a:t>
            </a: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zh-CN" altLang="en-US"/>
          </a:p>
        </p:txBody>
      </p:sp>
      <p:pic>
        <p:nvPicPr>
          <p:cNvPr id="2050" name="Picture 2" descr="http://cen.bnu.edu.cn/commit/courses/CCPPY/jiaoan/prog/c0901_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028" y="2340275"/>
            <a:ext cx="7977136" cy="4273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905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二、安装</a:t>
            </a:r>
            <a:r>
              <a:rPr lang="en-US" altLang="zh-CN" b="1"/>
              <a:t>numpy</a:t>
            </a:r>
            <a:r>
              <a:rPr lang="zh-CN" altLang="en-US" b="1"/>
              <a:t>等软件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(3) </a:t>
            </a:r>
            <a:r>
              <a:rPr lang="zh-CN" altLang="en-US"/>
              <a:t>安装</a:t>
            </a:r>
            <a:r>
              <a:rPr lang="en-US" altLang="zh-CN"/>
              <a:t>scipy</a:t>
            </a:r>
            <a:r>
              <a:rPr lang="zh-CN" altLang="en-US"/>
              <a:t>外部库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与安装</a:t>
            </a:r>
            <a:r>
              <a:rPr lang="en-US" altLang="zh-CN"/>
              <a:t>numpy</a:t>
            </a:r>
            <a:r>
              <a:rPr lang="zh-CN" altLang="en-US"/>
              <a:t>相似，使用如下命令：</a:t>
            </a:r>
            <a:endParaRPr lang="en-US" altLang="zh-CN"/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2">
              <a:spcBef>
                <a:spcPts val="1200"/>
              </a:spcBef>
            </a:pPr>
            <a:r>
              <a:rPr lang="en-US" altLang="zh-CN"/>
              <a:t>pip3  install  scipy</a:t>
            </a:r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833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一、基于</a:t>
            </a:r>
            <a:r>
              <a:rPr lang="en-US" altLang="zh-CN" b="1"/>
              <a:t>numpy</a:t>
            </a:r>
            <a:r>
              <a:rPr lang="zh-CN" altLang="en-US" b="1"/>
              <a:t>的数组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(1) </a:t>
            </a:r>
            <a:r>
              <a:rPr lang="zh-CN" altLang="en-US"/>
              <a:t>引入</a:t>
            </a:r>
            <a:r>
              <a:rPr lang="en-US" altLang="zh-CN"/>
              <a:t>numpy</a:t>
            </a:r>
            <a:r>
              <a:rPr lang="zh-CN" altLang="en-US"/>
              <a:t>外部库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en-US" altLang="zh-CN">
                <a:solidFill>
                  <a:srgbClr val="FF0000"/>
                </a:solidFill>
              </a:rPr>
              <a:t>import numpy as np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(2) </a:t>
            </a:r>
            <a:r>
              <a:rPr lang="zh-CN" altLang="en-US"/>
              <a:t>数组的概念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>
                <a:solidFill>
                  <a:srgbClr val="FF0000"/>
                </a:solidFill>
              </a:rPr>
              <a:t>数组是同种类型的若干数据的集中存放</a:t>
            </a:r>
            <a:r>
              <a:rPr lang="zh-CN" altLang="en-US"/>
              <a:t>；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数组的结构比</a:t>
            </a:r>
            <a:r>
              <a:rPr lang="en-US" altLang="zh-CN"/>
              <a:t>list</a:t>
            </a:r>
            <a:r>
              <a:rPr lang="zh-CN" altLang="en-US"/>
              <a:t>简单，主要通过下标实施定位和操作；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与</a:t>
            </a:r>
            <a:r>
              <a:rPr lang="en-US" altLang="zh-CN"/>
              <a:t>list</a:t>
            </a:r>
            <a:r>
              <a:rPr lang="zh-CN" altLang="en-US"/>
              <a:t>的</a:t>
            </a:r>
            <a:r>
              <a:rPr lang="en-US" altLang="zh-CN"/>
              <a:t>【</a:t>
            </a:r>
            <a:r>
              <a:rPr lang="zh-CN" altLang="en-US"/>
              <a:t>各元素的结构可能不同</a:t>
            </a:r>
            <a:r>
              <a:rPr lang="en-US" altLang="zh-CN"/>
              <a:t>】</a:t>
            </a:r>
            <a:r>
              <a:rPr lang="zh-CN" altLang="en-US"/>
              <a:t>不一样，数组要求各元素的结构必须完全相同；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数组的处理效率远高于</a:t>
            </a:r>
            <a:r>
              <a:rPr lang="en-US" altLang="zh-CN"/>
              <a:t>List</a:t>
            </a:r>
            <a:r>
              <a:rPr lang="zh-CN" altLang="en-US"/>
              <a:t>。</a:t>
            </a: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802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在这里插入图片描述">
            <a:extLst>
              <a:ext uri="{FF2B5EF4-FFF2-40B4-BE49-F238E27FC236}">
                <a16:creationId xmlns:a16="http://schemas.microsoft.com/office/drawing/2014/main" id="{A1571F8C-9EF5-4B63-9D2A-4D095E6BCE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81"/>
          <a:stretch/>
        </p:blipFill>
        <p:spPr bwMode="auto">
          <a:xfrm>
            <a:off x="1910992" y="1675573"/>
            <a:ext cx="8452207" cy="442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80D29DF-FF47-492F-B07B-87F0254C458B}"/>
              </a:ext>
            </a:extLst>
          </p:cNvPr>
          <p:cNvSpPr txBox="1"/>
          <p:nvPr/>
        </p:nvSpPr>
        <p:spPr>
          <a:xfrm>
            <a:off x="2332234" y="6097712"/>
            <a:ext cx="1659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shape(4,)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C6EE83-4732-49D3-B9DB-A0BA0F270AF7}"/>
              </a:ext>
            </a:extLst>
          </p:cNvPr>
          <p:cNvSpPr txBox="1"/>
          <p:nvPr/>
        </p:nvSpPr>
        <p:spPr>
          <a:xfrm>
            <a:off x="8154256" y="6097713"/>
            <a:ext cx="2304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shape(4,3,2)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752911-3F47-4F90-A498-99F3BE61F335}"/>
              </a:ext>
            </a:extLst>
          </p:cNvPr>
          <p:cNvSpPr txBox="1"/>
          <p:nvPr/>
        </p:nvSpPr>
        <p:spPr>
          <a:xfrm>
            <a:off x="5210710" y="6097712"/>
            <a:ext cx="1659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shape(2,3)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FC92E6B-3F81-0B84-289E-E5471DF1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NumPy </a:t>
            </a:r>
            <a:r>
              <a:rPr lang="zh-CN" altLang="en-US"/>
              <a:t>数组对象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6E3D05-9BF8-2011-CE25-97916CC1D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10858500" cy="5003800"/>
          </a:xfrm>
        </p:spPr>
        <p:txBody>
          <a:bodyPr/>
          <a:lstStyle/>
          <a:p>
            <a:r>
              <a:rPr lang="en-US" altLang="zh-CN"/>
              <a:t>NumPy </a:t>
            </a:r>
            <a:r>
              <a:rPr lang="zh-CN" altLang="en-US"/>
              <a:t>数组图示</a:t>
            </a:r>
          </a:p>
        </p:txBody>
      </p:sp>
    </p:spTree>
    <p:extLst>
      <p:ext uri="{BB962C8B-B14F-4D97-AF65-F5344CB8AC3E}">
        <p14:creationId xmlns:p14="http://schemas.microsoft.com/office/powerpoint/2010/main" val="122062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二、基于数组的操作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(1) </a:t>
            </a:r>
            <a:r>
              <a:rPr lang="zh-CN" altLang="en-US"/>
              <a:t>数组的定义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创建数组</a:t>
            </a:r>
            <a:endParaRPr lang="en-US" altLang="zh-CN"/>
          </a:p>
          <a:p>
            <a:pPr lvl="3"/>
            <a:r>
              <a:rPr lang="zh-CN" altLang="en-US" sz="1800" b="0"/>
              <a:t>创建一维数组：</a:t>
            </a:r>
            <a:r>
              <a:rPr lang="en-US" altLang="zh-CN" sz="1800" b="0"/>
              <a:t>xx=np.array([1,2,3,4,5])</a:t>
            </a:r>
          </a:p>
          <a:p>
            <a:pPr lvl="3"/>
            <a:r>
              <a:rPr lang="zh-CN" altLang="en-US" sz="1800" b="0"/>
              <a:t>创建二维数组：</a:t>
            </a:r>
            <a:r>
              <a:rPr lang="en-US" altLang="zh-CN" sz="1800" b="0"/>
              <a:t>yy=np.array([[1,2,3],[4,5,6]])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把</a:t>
            </a:r>
            <a:r>
              <a:rPr lang="en-US" altLang="zh-CN"/>
              <a:t>list</a:t>
            </a:r>
            <a:r>
              <a:rPr lang="zh-CN" altLang="en-US"/>
              <a:t>转化为数组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en-US" altLang="zh-CN" sz="1800" b="1">
                <a:solidFill>
                  <a:srgbClr val="FF0000"/>
                </a:solidFill>
              </a:rPr>
              <a:t>mm=np.array(</a:t>
            </a:r>
            <a:r>
              <a:rPr lang="zh-CN" altLang="en-US" sz="1800" b="1">
                <a:solidFill>
                  <a:srgbClr val="FF0000"/>
                </a:solidFill>
              </a:rPr>
              <a:t>某个</a:t>
            </a:r>
            <a:r>
              <a:rPr lang="en-US" altLang="zh-CN" sz="1800" b="1">
                <a:solidFill>
                  <a:srgbClr val="FF0000"/>
                </a:solidFill>
              </a:rPr>
              <a:t>list)</a:t>
            </a: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364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二、基于数组的操作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(2) numpy</a:t>
            </a:r>
            <a:r>
              <a:rPr lang="zh-CN" altLang="en-US"/>
              <a:t>的矩阵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借助于</a:t>
            </a:r>
            <a:r>
              <a:rPr lang="en-US" altLang="zh-CN">
                <a:solidFill>
                  <a:srgbClr val="FF0000"/>
                </a:solidFill>
              </a:rPr>
              <a:t>np.matrix(</a:t>
            </a:r>
            <a:r>
              <a:rPr lang="zh-CN" altLang="en-US">
                <a:solidFill>
                  <a:srgbClr val="FF0000"/>
                </a:solidFill>
              </a:rPr>
              <a:t>二维数组类型）</a:t>
            </a:r>
            <a:r>
              <a:rPr lang="zh-CN" altLang="en-US"/>
              <a:t>或</a:t>
            </a:r>
            <a:r>
              <a:rPr lang="en-US" altLang="zh-CN">
                <a:solidFill>
                  <a:srgbClr val="FF0000"/>
                </a:solidFill>
              </a:rPr>
              <a:t>np.mat(</a:t>
            </a:r>
            <a:r>
              <a:rPr lang="zh-CN" altLang="en-US">
                <a:solidFill>
                  <a:srgbClr val="FF0000"/>
                </a:solidFill>
              </a:rPr>
              <a:t>二维数组类型）</a:t>
            </a:r>
            <a:r>
              <a:rPr lang="zh-CN" altLang="en-US"/>
              <a:t>即可把二维数组转化为矩阵。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当二维数组转化为矩阵之后，相应的运算符操作就转化为矩阵运算方式了。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 b="0"/>
              <a:t>矩阵概念的引入，对于以</a:t>
            </a:r>
            <a:r>
              <a:rPr lang="en-US" altLang="zh-CN" b="0"/>
              <a:t>numpy</a:t>
            </a:r>
            <a:r>
              <a:rPr lang="zh-CN" altLang="en-US" b="0"/>
              <a:t>解决数学中的“线性代数”问题就变得非常便捷。</a:t>
            </a: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526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1" y="1130300"/>
            <a:ext cx="5435599" cy="5003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三、基于数组的案例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(1) </a:t>
            </a:r>
            <a:r>
              <a:rPr lang="zh-CN" altLang="en-US"/>
              <a:t>定义数组</a:t>
            </a:r>
            <a:r>
              <a:rPr lang="zh-CN" altLang="en-US" sz="1800"/>
              <a:t>（</a:t>
            </a:r>
            <a:r>
              <a:rPr lang="en-US" altLang="zh-CN" sz="1800"/>
              <a:t>8_01</a:t>
            </a:r>
            <a:r>
              <a:rPr lang="zh-CN" altLang="en-US" sz="1800"/>
              <a:t>）</a:t>
            </a:r>
            <a:endParaRPr lang="en-US" altLang="zh-CN" sz="18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lvl="2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9D1ED7-8705-4332-3C9C-2BEE0D629BFF}"/>
              </a:ext>
            </a:extLst>
          </p:cNvPr>
          <p:cNvSpPr txBox="1"/>
          <p:nvPr/>
        </p:nvSpPr>
        <p:spPr>
          <a:xfrm>
            <a:off x="6096001" y="95697"/>
            <a:ext cx="6103088" cy="669414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直接定义一维数组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#print("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一维数组：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\n",aa)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直接定义二维数组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([[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],[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9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二维数组：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把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LISt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转化为数组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cc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9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11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cc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cc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"list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转数组：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cc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创建值为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的数组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dd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zeros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          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创建三行两列的值为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的数组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值为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的数组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dd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创建值为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的数组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ee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ones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值为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的数组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ee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创建值为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的数组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ff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full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ff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创建对角线值为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的数组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gg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eye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gg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显示数组的属性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数组的行数和列数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shape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数组的类型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dtype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数组的维数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ndim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数组的元素个数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size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对数组进行转置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对数组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进行转置：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5966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三、基于数组的案例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(2) </a:t>
            </a:r>
            <a:r>
              <a:rPr lang="zh-CN" altLang="en-US"/>
              <a:t>数组的切片与提取（</a:t>
            </a:r>
            <a:r>
              <a:rPr lang="en-US" altLang="zh-CN"/>
              <a:t>8_02</a:t>
            </a:r>
            <a:r>
              <a:rPr lang="zh-CN" altLang="en-US"/>
              <a:t>）</a:t>
            </a: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1F359C-BF1A-0068-483B-780E9F108763}"/>
              </a:ext>
            </a:extLst>
          </p:cNvPr>
          <p:cNvSpPr txBox="1"/>
          <p:nvPr/>
        </p:nvSpPr>
        <p:spPr>
          <a:xfrm>
            <a:off x="6098009" y="723711"/>
            <a:ext cx="6101080" cy="581697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numpy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定义二维数组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2*3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aa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array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([[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 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 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29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28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27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]])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array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([np.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arange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)])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(aa)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定义一个复数形式的数组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yy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array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([[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 [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 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]],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dtype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complex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输出数组的结果：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yy)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基于数组的切片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bb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aa[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提取数组中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行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列的数，即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3.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输出单个元素：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bb)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bb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aa[[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 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]]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提取数组里位于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[0,1][2,2][1,3]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的数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输出三个元素：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bb)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按照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ti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从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aa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中逐行提取数据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ti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array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cc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aa[np.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arange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), ti]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逐行输出元素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(0,2,1)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cc)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从数组中提取部分数据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dd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aa[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提取数组左上角的数据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dd)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输出数组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的值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(zz)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reshape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把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转化维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行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列的数组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输出改变行列的数组：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zz)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3F2E27-81D1-CB06-BBB6-ADE6E8AAD4A0}"/>
              </a:ext>
            </a:extLst>
          </p:cNvPr>
          <p:cNvSpPr txBox="1"/>
          <p:nvPr/>
        </p:nvSpPr>
        <p:spPr>
          <a:xfrm>
            <a:off x="6096001" y="212032"/>
            <a:ext cx="6103088" cy="6555641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定义二维数组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2*3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 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 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29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28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27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arange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定义一个复数形式的数组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 [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 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9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]],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dtype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complex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输出数组的结果：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基于数组的切片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提取数组中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列的数，即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3.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输出单个元素：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 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提取数组里位于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[0,1][2,2][1,3]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的数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输出三个元素：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bb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按照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ti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中逐行提取数据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ti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cc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arange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ti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逐行输出元素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(0,2,1)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cc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从数组中提取部分数据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[: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,: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提取数组左上角的数据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dd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将原数组转化为新的行列数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reshape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转化维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列的数组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输出改变行列的数组：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reshape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7242AB-B963-570B-1BBE-9CA96D63ADAA}"/>
              </a:ext>
            </a:extLst>
          </p:cNvPr>
          <p:cNvSpPr txBox="1"/>
          <p:nvPr/>
        </p:nvSpPr>
        <p:spPr>
          <a:xfrm>
            <a:off x="180754" y="2092764"/>
            <a:ext cx="5635256" cy="2031325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将原数组转化为新的行列数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arange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zz: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zzz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reshape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reshape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把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转化维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列的数组，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原数组不变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"zz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改变行列后的新数组：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zzz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reshape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改变行列后的数组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resize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resize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把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转化维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列的数组，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原数组改变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resize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改变行列的数组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814DED-C4EB-ECF8-DC0C-166B2C3ADB44}"/>
              </a:ext>
            </a:extLst>
          </p:cNvPr>
          <p:cNvSpPr txBox="1"/>
          <p:nvPr/>
        </p:nvSpPr>
        <p:spPr>
          <a:xfrm>
            <a:off x="180754" y="4203510"/>
            <a:ext cx="61243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[[ 0 1 2 3 4 5 6 7 8 9 10 11]]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改变行列后的新数组：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[[ 0 1 2 3]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[ 4 5 6 7]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[ 8 9 10 11]]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reshape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改变行列后的数组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：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[[ 0 1 2 3 4 5 6 7 8 9 10 11]]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resize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改变行列的数组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：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[[ 0 1 2 3]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[ 4 5 6 7]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[ 8 9 10 11]]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3999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C56EA-D36D-03D5-3439-DE1A8924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np.arange()    np.array([np.arange(x)])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E5FD3F-9791-6E32-671D-1DC860C20184}"/>
              </a:ext>
            </a:extLst>
          </p:cNvPr>
          <p:cNvSpPr txBox="1"/>
          <p:nvPr/>
        </p:nvSpPr>
        <p:spPr>
          <a:xfrm>
            <a:off x="660401" y="1110918"/>
            <a:ext cx="10738884" cy="5262979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利用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np.arange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自动生成数据，注意生成数据的类型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arange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 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利用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np.arange(12)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创建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0~11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的数据序列，生成的是一维数组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'yy:'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type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的行数和列数：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shape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的维数：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ndim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输出为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yy: &lt;class 'numpy.ndarray'&gt; [ 0  1  2  3  4  5  6  7  8  9 10 11]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的行数和列数：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(12,)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的维数：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#print(yy[0,0]) #too many indices for array: array is 1-dimensional, but 2 were indexed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arange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)])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利用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np.arange(12)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创建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0~11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的数据序列，再利用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np.array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生成的是二维数组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"zz:"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type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的行数和列数：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shape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的维数：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ndim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输出为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zz: &lt;class 'numpy.ndarray'&gt; [[ 0  1  2  3  4  5  6  7  8  9 10 11]]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的行数和列数：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(1, 12)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的维数：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589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三、基于数组的案例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(3) </a:t>
            </a:r>
            <a:r>
              <a:rPr lang="zh-CN" altLang="en-US"/>
              <a:t>基于数组的运算（</a:t>
            </a:r>
            <a:r>
              <a:rPr lang="en-US" altLang="zh-CN"/>
              <a:t>8_03</a:t>
            </a:r>
            <a:r>
              <a:rPr lang="zh-CN" altLang="en-US"/>
              <a:t>）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>
                <a:solidFill>
                  <a:srgbClr val="FF0000"/>
                </a:solidFill>
              </a:rPr>
              <a:t>元素级运算</a:t>
            </a:r>
            <a:endParaRPr lang="en-US" altLang="zh-CN">
              <a:solidFill>
                <a:srgbClr val="FF0000"/>
              </a:solidFill>
            </a:endParaRPr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7D74B7-F0B7-4E52-DBE6-DDA35CAA8D21}"/>
              </a:ext>
            </a:extLst>
          </p:cNvPr>
          <p:cNvSpPr txBox="1"/>
          <p:nvPr/>
        </p:nvSpPr>
        <p:spPr>
          <a:xfrm>
            <a:off x="6015725" y="2323704"/>
            <a:ext cx="6101080" cy="347787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1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numpy </a:t>
            </a:r>
            <a:r>
              <a:rPr kumimoji="0" lang="zh-CN" altLang="zh-CN" sz="11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定义二维数组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2*3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aa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array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([[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 [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 [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29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28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27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22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]])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array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([np.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arange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)])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zz.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reshape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把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转化维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行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列的数组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输出原数组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AA: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,aa)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输出原数组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ZZ: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,zz)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"================================="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输出相加之后的结果：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aa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+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输出相减之后的结果：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aa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数组相乘之后的结果（对应位置乘法）：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aa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数组相除之后的结果（对应位置除法）：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zz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/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aa)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xx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aa.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reshape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输出新数组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XX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：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xx)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输出相加之后的结果（对应位置加法）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xx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+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输出相乘之后的结果（对应位置乘法）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xx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输出相除之后的结果（对应位置除法）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xx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/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endParaRPr kumimoji="0" lang="zh-CN" altLang="zh-CN" sz="16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905254" y="2139043"/>
            <a:ext cx="1861458" cy="25799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对应位置直接做算术运算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006ADF-A367-2455-2EDE-8D03448869B3}"/>
              </a:ext>
            </a:extLst>
          </p:cNvPr>
          <p:cNvSpPr txBox="1"/>
          <p:nvPr/>
        </p:nvSpPr>
        <p:spPr>
          <a:xfrm>
            <a:off x="6013717" y="295459"/>
            <a:ext cx="6103088" cy="6494085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定义二维数组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2*3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 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 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29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28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27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22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arange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reshape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把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转化维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行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列的数组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AA: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ZZ: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"================================="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输出相加之后的结果：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+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输出相减之后的结果：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-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数组相乘之后的结果（对应位置乘法）：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数组相除之后的结果（对应位置除法）：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/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"================================="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reshape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输出新数组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输出相加之后的结果（对应位置加法）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+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输出相乘之后的结果（对应位置乘法）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输出相除之后的结果（对应位置除法）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/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‘Ma’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)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列表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*3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和数组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*3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不一样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输入列表乘以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之后的结果：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5024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32135" y="207642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广播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(broadcasting)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2135" y="1309413"/>
            <a:ext cx="10345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ufunc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对两个数组进行运算时，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ufunc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函数会对两个数组的对应元素进行运算。如果数组的形状不相同，就会进行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下广播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处理。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简而言之，就是向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两个数组每一维度上的最大值靠齐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509742"/>
            <a:ext cx="6696743" cy="425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41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26396" y="269287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广播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(broadcasting)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28" y="1373497"/>
            <a:ext cx="7237326" cy="542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50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三、基于数组的案例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(3) </a:t>
            </a:r>
            <a:r>
              <a:rPr lang="zh-CN" altLang="en-US"/>
              <a:t>基于数组的运算</a:t>
            </a: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899831" y="2429325"/>
            <a:ext cx="2020757" cy="25799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dot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（点积方法）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相当于矩阵乘法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3E7564-4175-5DB1-8B28-272574037409}"/>
              </a:ext>
            </a:extLst>
          </p:cNvPr>
          <p:cNvSpPr txBox="1"/>
          <p:nvPr/>
        </p:nvSpPr>
        <p:spPr>
          <a:xfrm>
            <a:off x="6779261" y="2616537"/>
            <a:ext cx="3553459" cy="203132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numpy </a:t>
            </a:r>
            <a:r>
              <a:rPr kumimoji="0" lang="zh-CN" altLang="zh-CN" sz="14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xx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[[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],[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]]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yy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[[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],[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],[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]]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xa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array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(xx)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xb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array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(yy)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cc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dot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(xa,xb)</a:t>
            </a: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(cc)</a:t>
            </a:r>
            <a:endParaRPr kumimoji="0" lang="zh-CN" altLang="zh-CN" sz="20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FD0582-C46B-E9D6-0AFC-7A05800590CD}"/>
              </a:ext>
            </a:extLst>
          </p:cNvPr>
          <p:cNvSpPr txBox="1"/>
          <p:nvPr/>
        </p:nvSpPr>
        <p:spPr>
          <a:xfrm>
            <a:off x="6779261" y="4895054"/>
            <a:ext cx="1525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[[ 29 24]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[113 96]]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2FA2D1-7382-F40C-04C0-E69CFEB86A9E}"/>
              </a:ext>
            </a:extLst>
          </p:cNvPr>
          <p:cNvSpPr txBox="1"/>
          <p:nvPr/>
        </p:nvSpPr>
        <p:spPr>
          <a:xfrm>
            <a:off x="6779261" y="2062539"/>
            <a:ext cx="3789502" cy="2585323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[[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],[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9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[[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],[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7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],[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xa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xb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cc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dot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xa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xb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cc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3086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numpy&amp;scipy</a:t>
            </a:r>
            <a:r>
              <a:rPr lang="zh-CN" altLang="en-US"/>
              <a:t>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CN" altLang="en-US" b="1"/>
              <a:t>四、基于矩阵的案例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(1) </a:t>
            </a:r>
            <a:r>
              <a:rPr lang="zh-CN" altLang="en-US"/>
              <a:t>基于矩阵的运算（</a:t>
            </a:r>
            <a:r>
              <a:rPr lang="en-US" altLang="zh-CN"/>
              <a:t>8_04</a:t>
            </a:r>
            <a:r>
              <a:rPr lang="zh-CN" altLang="en-US"/>
              <a:t>）</a:t>
            </a: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505165" y="2769327"/>
            <a:ext cx="2147348" cy="257991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按矩阵规则做运算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3724CD-0955-B564-55E6-F335447DB774}"/>
              </a:ext>
            </a:extLst>
          </p:cNvPr>
          <p:cNvSpPr txBox="1"/>
          <p:nvPr/>
        </p:nvSpPr>
        <p:spPr>
          <a:xfrm>
            <a:off x="5267960" y="151179"/>
            <a:ext cx="6390640" cy="6555641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import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numpy </a:t>
            </a:r>
            <a:r>
              <a:rPr kumimoji="0" lang="zh-CN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定义二维数组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2*3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aa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array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([[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],[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29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28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27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]])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array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([np.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arange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)])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reshape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  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把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zz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转化维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行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列的数组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矩阵的处理和应用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pp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matrix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5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利用数组转化为矩阵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(aa)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nn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(zz)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输出原矩阵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mm: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,mm)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输出原矩阵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nn: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,nn)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输出原矩阵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的转置矩阵：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mm.T)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输出原矩阵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的逆矩阵：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mm.I)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"============================================"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输出相加之后的结果：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+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nn)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输出相减之后的结果：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nn)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矩阵乘以固定数值：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注意矩阵相乘的原则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xx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nn.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reshape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矩阵相乘职后的结果：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xx)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"=====================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求和操作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======================"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输出原矩阵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（列和）：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mm.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sum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axis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输出原矩阵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（行和）：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mm.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sum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axis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输出原矩阵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（第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行所有列之和）：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sum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(mm[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]))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"=====================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求最大值操作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=========================="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输出原矩阵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的最大值：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mm.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max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())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输出原矩阵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中第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行的最大值：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max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(mm[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]))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输出原矩阵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中所有列的最大值：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max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(mm,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))</a:t>
            </a:r>
            <a:b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输出原矩阵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mm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中所有列的最小值：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\n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np.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min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(mm,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0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))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42AA93-6BC2-78C4-3186-B88A48FC4AC6}"/>
              </a:ext>
            </a:extLst>
          </p:cNvPr>
          <p:cNvSpPr txBox="1"/>
          <p:nvPr/>
        </p:nvSpPr>
        <p:spPr>
          <a:xfrm>
            <a:off x="5267959" y="151179"/>
            <a:ext cx="6491649" cy="6555641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定义二维数组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2*3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6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],[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29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28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27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array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arange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reshape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转化维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列的数组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矩阵的处理和应用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matrix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5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利用数组转化为矩阵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aa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zz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输出原矩阵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mm: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输出原矩阵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nn: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输出原矩阵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的转置矩阵：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输出原矩阵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的逆矩阵：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"============================================"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输出相加之后的结果：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+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输出相减之后的结果：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-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矩阵乘以固定数值：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注意矩阵相乘的原则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.reshape(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4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矩阵相乘之后的结果：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"=====================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求和操作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======================"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输出原矩阵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（列和）：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.sum(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axis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输出原矩阵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（行和）：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.sum(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axis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输出原矩阵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（第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行所有列之和）：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sum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,:]))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"=====================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求最大值操作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=========================="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输出原矩阵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的最大值：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.max())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输出原矩阵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中第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行的最大值：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max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,:]))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输出原矩阵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中所有列的最大值：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max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输出原矩阵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中所有列的最小值：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min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mm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D6DB1A-6FE8-C66E-2C1F-FF5220E34E90}"/>
              </a:ext>
            </a:extLst>
          </p:cNvPr>
          <p:cNvSpPr txBox="1"/>
          <p:nvPr/>
        </p:nvSpPr>
        <p:spPr>
          <a:xfrm>
            <a:off x="2775098" y="6468204"/>
            <a:ext cx="2317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代码黄色部分书上有误</a:t>
            </a:r>
          </a:p>
        </p:txBody>
      </p:sp>
    </p:spTree>
    <p:extLst>
      <p:ext uri="{BB962C8B-B14F-4D97-AF65-F5344CB8AC3E}">
        <p14:creationId xmlns:p14="http://schemas.microsoft.com/office/powerpoint/2010/main" val="1636169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BECA0-067D-885C-3AD0-5BF78349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</a:t>
            </a:r>
            <a:r>
              <a:rPr lang="en-US" altLang="zh-CN"/>
              <a:t>scipy</a:t>
            </a:r>
            <a:r>
              <a:rPr lang="zh-CN" altLang="en-US"/>
              <a:t>的复杂方程求解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43541C-6710-6AB5-0798-2CFDEDC60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5000"/>
              </a:lnSpc>
            </a:pPr>
            <a:r>
              <a:rPr lang="en-US" altLang="zh-CN" sz="2000" b="1"/>
              <a:t>Scipy</a:t>
            </a:r>
            <a:r>
              <a:rPr lang="zh-CN" altLang="en-US" sz="2000"/>
              <a:t>是一个开源的</a:t>
            </a:r>
            <a:r>
              <a:rPr lang="en-US" altLang="zh-CN" sz="2000"/>
              <a:t>python</a:t>
            </a:r>
            <a:r>
              <a:rPr lang="zh-CN" altLang="en-US" sz="2000"/>
              <a:t>数学计算库，主要用于数学、科学及工程领域，主要包括统计学、最优化、线性代数、积分、傅里叶变换、信号处理和图像处理，以及常微分方程的求解和其他科学工程中所用到的计算。</a:t>
            </a:r>
            <a:endParaRPr lang="en-US" altLang="zh-CN" sz="2000"/>
          </a:p>
          <a:p>
            <a:pPr>
              <a:lnSpc>
                <a:spcPct val="125000"/>
              </a:lnSpc>
            </a:pPr>
            <a:r>
              <a:rPr lang="zh-CN" altLang="en-US" sz="2000"/>
              <a:t>对复杂方程（非线性方程）的求解，在</a:t>
            </a:r>
            <a:r>
              <a:rPr lang="en-US" altLang="zh-CN" sz="2000"/>
              <a:t>scipy</a:t>
            </a:r>
            <a:r>
              <a:rPr lang="zh-CN" altLang="en-US" sz="2000"/>
              <a:t>的</a:t>
            </a:r>
            <a:r>
              <a:rPr lang="en-US" altLang="zh-CN" sz="2000"/>
              <a:t>optimize</a:t>
            </a:r>
            <a:r>
              <a:rPr lang="zh-CN" altLang="en-US" sz="2000"/>
              <a:t>模块中，主要两个函数</a:t>
            </a:r>
            <a:r>
              <a:rPr lang="en-US" altLang="zh-CN" sz="2000"/>
              <a:t>fsolve()</a:t>
            </a:r>
            <a:r>
              <a:rPr lang="zh-CN" altLang="en-US" sz="2000"/>
              <a:t>和</a:t>
            </a:r>
            <a:r>
              <a:rPr lang="en-US" altLang="zh-CN" sz="2000"/>
              <a:t>root()</a:t>
            </a:r>
            <a:r>
              <a:rPr lang="zh-CN" altLang="en-US" sz="2000"/>
              <a:t>。</a:t>
            </a:r>
            <a:endParaRPr lang="en-US" altLang="zh-CN" sz="2000"/>
          </a:p>
          <a:p>
            <a:pPr>
              <a:lnSpc>
                <a:spcPct val="125000"/>
              </a:lnSpc>
            </a:pPr>
            <a:r>
              <a:rPr lang="zh-CN" altLang="en-US" sz="2000" b="1"/>
              <a:t>实现复杂方程求解的基本思路：</a:t>
            </a:r>
            <a:endParaRPr lang="en-US" altLang="zh-CN" sz="2000" b="1"/>
          </a:p>
          <a:p>
            <a:pPr lvl="1">
              <a:lnSpc>
                <a:spcPct val="125000"/>
              </a:lnSpc>
            </a:pPr>
            <a:r>
              <a:rPr lang="zh-CN" altLang="en-US" sz="1800"/>
              <a:t>整理方程式，使未知数均放在方程式的左侧，常数项均放在方程式的右侧</a:t>
            </a:r>
            <a:endParaRPr lang="en-US" altLang="zh-CN" sz="1800"/>
          </a:p>
          <a:p>
            <a:pPr lvl="1">
              <a:lnSpc>
                <a:spcPct val="125000"/>
              </a:lnSpc>
            </a:pPr>
            <a:r>
              <a:rPr lang="zh-CN" altLang="en-US" sz="1800"/>
              <a:t>由用户自定义函数</a:t>
            </a:r>
            <a:r>
              <a:rPr lang="en-US" altLang="zh-CN" sz="1800"/>
              <a:t>func(x)</a:t>
            </a:r>
            <a:r>
              <a:rPr lang="zh-CN" altLang="en-US" sz="1800"/>
              <a:t>，以</a:t>
            </a:r>
            <a:r>
              <a:rPr lang="en-US" altLang="zh-CN" sz="1800">
                <a:solidFill>
                  <a:srgbClr val="FF0000"/>
                </a:solidFill>
              </a:rPr>
              <a:t>func(x)</a:t>
            </a:r>
            <a:r>
              <a:rPr lang="zh-CN" altLang="en-US" sz="1800"/>
              <a:t>准确地描述函数式（方程式中等号左边的信息）</a:t>
            </a:r>
            <a:endParaRPr lang="en-US" altLang="zh-CN" sz="1800"/>
          </a:p>
          <a:p>
            <a:pPr lvl="1">
              <a:lnSpc>
                <a:spcPct val="125000"/>
              </a:lnSpc>
            </a:pPr>
            <a:r>
              <a:rPr lang="zh-CN" altLang="en-US" sz="1800"/>
              <a:t>调用</a:t>
            </a:r>
            <a:r>
              <a:rPr lang="en-US" altLang="zh-CN" sz="1800"/>
              <a:t>scipy</a:t>
            </a:r>
            <a:r>
              <a:rPr lang="zh-CN" altLang="en-US" sz="1800"/>
              <a:t>自带的</a:t>
            </a:r>
            <a:r>
              <a:rPr lang="en-US" altLang="zh-CN" sz="1800"/>
              <a:t>fsolve</a:t>
            </a:r>
            <a:r>
              <a:rPr lang="zh-CN" altLang="en-US" sz="1800"/>
              <a:t>或</a:t>
            </a:r>
            <a:r>
              <a:rPr lang="en-US" altLang="zh-CN" sz="1800"/>
              <a:t>root</a:t>
            </a:r>
            <a:r>
              <a:rPr lang="zh-CN" altLang="en-US" sz="1800"/>
              <a:t>功能，以“</a:t>
            </a:r>
            <a:r>
              <a:rPr lang="en-US" altLang="zh-CN" sz="1800">
                <a:solidFill>
                  <a:srgbClr val="FF0000"/>
                </a:solidFill>
              </a:rPr>
              <a:t>result=root(func,</a:t>
            </a:r>
            <a:r>
              <a:rPr lang="zh-CN" altLang="en-US" sz="1800">
                <a:solidFill>
                  <a:srgbClr val="FF0000"/>
                </a:solidFill>
              </a:rPr>
              <a:t>常数项</a:t>
            </a:r>
            <a:r>
              <a:rPr lang="en-US" altLang="zh-CN" sz="1800">
                <a:solidFill>
                  <a:srgbClr val="FF0000"/>
                </a:solidFill>
              </a:rPr>
              <a:t>)</a:t>
            </a:r>
            <a:r>
              <a:rPr lang="zh-CN" altLang="en-US" sz="1800"/>
              <a:t>”或“</a:t>
            </a:r>
            <a:r>
              <a:rPr lang="en-US" altLang="zh-CN" sz="1800">
                <a:solidFill>
                  <a:srgbClr val="FF0000"/>
                </a:solidFill>
              </a:rPr>
              <a:t>result=fsolve(func,</a:t>
            </a:r>
            <a:r>
              <a:rPr lang="zh-CN" altLang="en-US" sz="1800">
                <a:solidFill>
                  <a:srgbClr val="FF0000"/>
                </a:solidFill>
              </a:rPr>
              <a:t>常数项</a:t>
            </a:r>
            <a:r>
              <a:rPr lang="en-US" altLang="zh-CN" sz="1800">
                <a:solidFill>
                  <a:srgbClr val="FF0000"/>
                </a:solidFill>
              </a:rPr>
              <a:t>)</a:t>
            </a:r>
            <a:r>
              <a:rPr lang="zh-CN" altLang="en-US" sz="1800"/>
              <a:t>”描述所需的计算。</a:t>
            </a:r>
            <a:endParaRPr lang="en-US" altLang="zh-CN" sz="1800"/>
          </a:p>
          <a:p>
            <a:pPr lvl="1">
              <a:lnSpc>
                <a:spcPct val="125000"/>
              </a:lnSpc>
            </a:pPr>
            <a:r>
              <a:rPr lang="zh-CN" altLang="en-US" sz="1800"/>
              <a:t>在职描述中，</a:t>
            </a:r>
            <a:r>
              <a:rPr lang="en-US" altLang="zh-CN" sz="1800"/>
              <a:t>func()</a:t>
            </a:r>
            <a:r>
              <a:rPr lang="zh-CN" altLang="en-US" sz="1800"/>
              <a:t>代表原函数，二常数项是方程式右侧的值，通常为</a:t>
            </a:r>
            <a:r>
              <a:rPr lang="en-US" altLang="zh-CN" sz="1800"/>
              <a:t>0</a:t>
            </a:r>
            <a:r>
              <a:rPr lang="zh-CN" altLang="en-US" sz="1800"/>
              <a:t>。</a:t>
            </a:r>
            <a:endParaRPr lang="en-US" altLang="zh-CN" sz="1800"/>
          </a:p>
          <a:p>
            <a:pPr>
              <a:lnSpc>
                <a:spcPct val="125000"/>
              </a:lnSpc>
            </a:pPr>
            <a:r>
              <a:rPr lang="zh-CN" altLang="en-US" sz="2000"/>
              <a:t>对于多元方程式，在用户自定义函数时可以用列表变量作为自变量</a:t>
            </a:r>
            <a:r>
              <a:rPr lang="en-US" altLang="zh-CN" sz="2000"/>
              <a:t>x,</a:t>
            </a:r>
            <a:r>
              <a:rPr lang="zh-CN" altLang="en-US" sz="2000"/>
              <a:t>即由列表中的每一项代表一个自变量。这时常数项也有多个，需统一放置于特定的列表中，执行语句为“</a:t>
            </a:r>
            <a:r>
              <a:rPr lang="en-US" altLang="zh-CN" sz="2000">
                <a:solidFill>
                  <a:srgbClr val="FF0000"/>
                </a:solidFill>
              </a:rPr>
              <a:t>result=root(func,</a:t>
            </a:r>
            <a:r>
              <a:rPr lang="zh-CN" altLang="en-US" sz="2000">
                <a:solidFill>
                  <a:srgbClr val="FF0000"/>
                </a:solidFill>
              </a:rPr>
              <a:t>常数项列表</a:t>
            </a:r>
            <a:r>
              <a:rPr lang="en-US" altLang="zh-CN" sz="2000">
                <a:solidFill>
                  <a:srgbClr val="FF0000"/>
                </a:solidFill>
              </a:rPr>
              <a:t>)</a:t>
            </a:r>
            <a:r>
              <a:rPr lang="zh-CN" altLang="en-US" sz="200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5485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130A9-5BD4-3C82-09A2-4D03C916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利用</a:t>
            </a:r>
            <a:r>
              <a:rPr lang="en-US" altLang="zh-CN"/>
              <a:t>scipy</a:t>
            </a:r>
            <a:r>
              <a:rPr lang="zh-CN" altLang="en-US"/>
              <a:t>求解简单一元方程式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4136A7-F251-C564-5697-F21E5AC32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5251301" cy="5003800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/>
              <a:t>利用</a:t>
            </a:r>
            <a:r>
              <a:rPr lang="en-US" altLang="zh-CN" sz="2000"/>
              <a:t>scipy</a:t>
            </a:r>
            <a:r>
              <a:rPr lang="zh-CN" altLang="en-US" sz="2000"/>
              <a:t>的内置功能，求取方程</a:t>
            </a:r>
            <a:br>
              <a:rPr lang="en-US" altLang="zh-CN" sz="2000"/>
            </a:br>
            <a:r>
              <a:rPr lang="en-US" altLang="zh-CN" sz="2000">
                <a:solidFill>
                  <a:srgbClr val="FF0000"/>
                </a:solidFill>
              </a:rPr>
              <a:t>x</a:t>
            </a:r>
            <a:r>
              <a:rPr lang="en-US" altLang="zh-CN" sz="2000" baseline="30000">
                <a:solidFill>
                  <a:srgbClr val="FF0000"/>
                </a:solidFill>
              </a:rPr>
              <a:t>2</a:t>
            </a:r>
            <a:r>
              <a:rPr lang="en-US" altLang="zh-CN" sz="2000">
                <a:solidFill>
                  <a:srgbClr val="FF0000"/>
                </a:solidFill>
              </a:rPr>
              <a:t>-8x+15=0</a:t>
            </a:r>
            <a:r>
              <a:rPr lang="zh-CN" altLang="en-US" sz="2000"/>
              <a:t>的根</a:t>
            </a:r>
            <a:endParaRPr lang="en-US" altLang="zh-CN" sz="2000"/>
          </a:p>
          <a:p>
            <a:pPr>
              <a:lnSpc>
                <a:spcPct val="125000"/>
              </a:lnSpc>
            </a:pPr>
            <a:r>
              <a:rPr lang="zh-CN" altLang="en-US" sz="2000"/>
              <a:t>先引用必要的包，然后定义</a:t>
            </a:r>
            <a:r>
              <a:rPr lang="en-US" altLang="zh-CN" sz="2000"/>
              <a:t>func(x)</a:t>
            </a:r>
            <a:r>
              <a:rPr lang="zh-CN" altLang="en-US" sz="2000"/>
              <a:t>，把命令提交给</a:t>
            </a:r>
            <a:r>
              <a:rPr lang="en-US" altLang="zh-CN" sz="2000"/>
              <a:t>root()</a:t>
            </a:r>
            <a:r>
              <a:rPr lang="zh-CN" altLang="en-US" sz="2000"/>
              <a:t>或</a:t>
            </a:r>
            <a:r>
              <a:rPr lang="en-US" altLang="zh-CN" sz="2000"/>
              <a:t>fsolve()</a:t>
            </a:r>
            <a:r>
              <a:rPr lang="zh-CN" altLang="en-US" sz="2000"/>
              <a:t>函数，以获取</a:t>
            </a:r>
            <a:r>
              <a:rPr lang="en-US" altLang="zh-CN" sz="2000"/>
              <a:t>result</a:t>
            </a:r>
            <a:r>
              <a:rPr lang="zh-CN" altLang="en-US" sz="2000"/>
              <a:t>值，最后输出</a:t>
            </a:r>
            <a:r>
              <a:rPr lang="en-US" altLang="zh-CN" sz="2000"/>
              <a:t>result</a:t>
            </a:r>
            <a:r>
              <a:rPr lang="zh-CN" altLang="en-US" sz="2000"/>
              <a:t>。</a:t>
            </a:r>
            <a:endParaRPr lang="en-US" altLang="zh-CN" sz="2000"/>
          </a:p>
          <a:p>
            <a:pPr>
              <a:lnSpc>
                <a:spcPct val="125000"/>
              </a:lnSpc>
            </a:pPr>
            <a:r>
              <a:rPr lang="zh-CN" altLang="en-US" sz="2000"/>
              <a:t>注意：本质上是一种基于迭代方法的求解，并未能求出全部解。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F44981-FBE8-1B50-0DC0-AF9ABE065EE2}"/>
              </a:ext>
            </a:extLst>
          </p:cNvPr>
          <p:cNvSpPr txBox="1"/>
          <p:nvPr/>
        </p:nvSpPr>
        <p:spPr>
          <a:xfrm>
            <a:off x="6177516" y="1333756"/>
            <a:ext cx="578411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from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scipy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optimize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op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def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func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):            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定义函数式，以表示方程式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return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-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+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15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fsolve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func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      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执行求根操作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fsolve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求解方程式的计算结果是：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======================================================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fsolve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求解方程式的计算结果是：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[3.]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op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root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func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root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求解方程式的计算结果是：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======================================================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root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求解方程式的计算结果是：  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fjac: array([[-1.]])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   fun: array([0.])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message: 'The solution converged.'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  nfev: 11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   qtf: array([-2.51532128e-12])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     r: array([2.00000004])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status: 1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success: True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     x: array([3.])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097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130A9-5BD4-3C82-09A2-4D03C916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利用</a:t>
            </a:r>
            <a:r>
              <a:rPr lang="en-US" altLang="zh-CN"/>
              <a:t>scipy</a:t>
            </a:r>
            <a:r>
              <a:rPr lang="zh-CN" altLang="en-US"/>
              <a:t>求解二元方程式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4136A7-F251-C564-5697-F21E5AC32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2" y="1130300"/>
            <a:ext cx="5102446" cy="5003800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1800"/>
              <a:t>利用</a:t>
            </a:r>
            <a:r>
              <a:rPr lang="en-US" altLang="zh-CN" sz="1800"/>
              <a:t>scipy</a:t>
            </a:r>
            <a:r>
              <a:rPr lang="zh-CN" altLang="en-US" sz="1800"/>
              <a:t>的内置功能，求取方程组</a:t>
            </a:r>
            <a:br>
              <a:rPr lang="en-US" altLang="zh-CN" sz="1800"/>
            </a:br>
            <a:r>
              <a:rPr lang="en-US" altLang="zh-CN" sz="1800">
                <a:solidFill>
                  <a:srgbClr val="FF0000"/>
                </a:solidFill>
              </a:rPr>
              <a:t>x</a:t>
            </a:r>
            <a:r>
              <a:rPr lang="en-US" altLang="zh-CN" sz="1800" baseline="30000">
                <a:solidFill>
                  <a:srgbClr val="FF0000"/>
                </a:solidFill>
              </a:rPr>
              <a:t>2</a:t>
            </a:r>
            <a:r>
              <a:rPr lang="en-US" altLang="zh-CN" sz="1800">
                <a:solidFill>
                  <a:srgbClr val="FF0000"/>
                </a:solidFill>
              </a:rPr>
              <a:t> + 8x+y</a:t>
            </a:r>
            <a:r>
              <a:rPr lang="en-US" altLang="zh-CN" sz="1800" baseline="30000">
                <a:solidFill>
                  <a:srgbClr val="FF0000"/>
                </a:solidFill>
              </a:rPr>
              <a:t>3</a:t>
            </a:r>
            <a:r>
              <a:rPr lang="en-US" altLang="zh-CN" sz="1800">
                <a:solidFill>
                  <a:srgbClr val="FF0000"/>
                </a:solidFill>
              </a:rPr>
              <a:t>=15,y</a:t>
            </a:r>
            <a:r>
              <a:rPr lang="en-US" altLang="zh-CN" sz="1800" baseline="30000">
                <a:solidFill>
                  <a:srgbClr val="FF0000"/>
                </a:solidFill>
              </a:rPr>
              <a:t>2</a:t>
            </a:r>
            <a:r>
              <a:rPr lang="en-US" altLang="zh-CN" sz="1800">
                <a:solidFill>
                  <a:srgbClr val="FF0000"/>
                </a:solidFill>
              </a:rPr>
              <a:t>-x-21=0</a:t>
            </a:r>
            <a:r>
              <a:rPr lang="zh-CN" altLang="en-US" sz="1800"/>
              <a:t>的根</a:t>
            </a:r>
            <a:endParaRPr lang="en-US" altLang="zh-CN" sz="1800"/>
          </a:p>
          <a:p>
            <a:pPr>
              <a:lnSpc>
                <a:spcPct val="125000"/>
              </a:lnSpc>
            </a:pPr>
            <a:r>
              <a:rPr lang="zh-CN" altLang="en-US" sz="1800"/>
              <a:t>先引用必要的包，然后定义</a:t>
            </a:r>
            <a:r>
              <a:rPr lang="en-US" altLang="zh-CN" sz="1800"/>
              <a:t>func(x)</a:t>
            </a:r>
            <a:r>
              <a:rPr lang="zh-CN" altLang="en-US" sz="1800"/>
              <a:t>，把命令提交给</a:t>
            </a:r>
            <a:r>
              <a:rPr lang="en-US" altLang="zh-CN" sz="1800"/>
              <a:t>root()</a:t>
            </a:r>
            <a:r>
              <a:rPr lang="zh-CN" altLang="en-US" sz="1800"/>
              <a:t>或</a:t>
            </a:r>
            <a:r>
              <a:rPr lang="en-US" altLang="zh-CN" sz="1800"/>
              <a:t>fsolve()</a:t>
            </a:r>
            <a:r>
              <a:rPr lang="zh-CN" altLang="en-US" sz="1800"/>
              <a:t>函数，以获取</a:t>
            </a:r>
            <a:r>
              <a:rPr lang="en-US" altLang="zh-CN" sz="1800"/>
              <a:t>result</a:t>
            </a:r>
            <a:r>
              <a:rPr lang="zh-CN" altLang="en-US" sz="1800"/>
              <a:t>值，最后输出</a:t>
            </a:r>
            <a:r>
              <a:rPr lang="en-US" altLang="zh-CN" sz="1800"/>
              <a:t>result</a:t>
            </a:r>
            <a:r>
              <a:rPr lang="zh-CN" altLang="en-US" sz="1800"/>
              <a:t>。</a:t>
            </a:r>
            <a:endParaRPr lang="en-US" altLang="zh-CN" sz="1800"/>
          </a:p>
          <a:p>
            <a:pPr>
              <a:lnSpc>
                <a:spcPct val="125000"/>
              </a:lnSpc>
            </a:pPr>
            <a:r>
              <a:rPr lang="zh-CN" altLang="en-US" sz="1800"/>
              <a:t>由于是二元方程式，需要把自变量定义为列表</a:t>
            </a:r>
            <a:r>
              <a:rPr lang="en-US" altLang="zh-CN" sz="1800"/>
              <a:t>xx,</a:t>
            </a:r>
            <a:r>
              <a:rPr lang="zh-CN" altLang="en-US" sz="1800"/>
              <a:t>把常数项定义为列表</a:t>
            </a:r>
            <a:r>
              <a:rPr lang="en-US" altLang="zh-CN" sz="1800"/>
              <a:t>[15,0]</a:t>
            </a:r>
          </a:p>
          <a:p>
            <a:pPr>
              <a:lnSpc>
                <a:spcPct val="125000"/>
              </a:lnSpc>
            </a:pPr>
            <a:r>
              <a:rPr lang="zh-CN" altLang="en-US" sz="1800"/>
              <a:t>注意：本质上是一种基于迭代方法的求解，并未能求出全部解。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865983-7D6B-CA98-5D21-7085B6315A2B}"/>
              </a:ext>
            </a:extLst>
          </p:cNvPr>
          <p:cNvSpPr txBox="1"/>
          <p:nvPr/>
        </p:nvSpPr>
        <p:spPr>
          <a:xfrm>
            <a:off x="5901069" y="733246"/>
            <a:ext cx="6103088" cy="6124754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numpy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np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from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scipy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import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optimize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as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op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def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func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):            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定义函数式，以表示方程式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             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第一自变量来自于列表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              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第二自变量来自于列表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return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[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+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8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+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**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3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*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-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-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21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op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fsolve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func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,[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15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  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执行求根操作，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[15,0]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是常数项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用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fsolve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求解方程式的计算结果是：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fsolve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求解方程式的计算结果是：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[ 9.61643095 -5.53321163]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"============================================"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op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root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func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,[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15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用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root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求解方程式的计算结果是：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res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root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求解方程式的计算结果是：    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fjac: array([[-0.99932349,  0.0367772 ],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     [-0.0367772 , -0.99932349]])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   fun: array([ 8.31903435e-11, -3.93285404e-12])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message: 'The solution converged.'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  nfev: 32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   qtf: array([ 8.62537133e-08, -9.90493288e-10])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     r: array([-27.46466427, -87.06741828,   7.62754192])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status: 1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success: True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        x: array([ 9.61643095, -5.53321163])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050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B6C541C-1831-78B5-F2A2-72E80CEBB6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THANK YOU !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26823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51PPT模板网">
  <a:themeElements>
    <a:clrScheme name="蓝色几何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848A8"/>
      </a:accent1>
      <a:accent2>
        <a:srgbClr val="DDDEE0"/>
      </a:accent2>
      <a:accent3>
        <a:srgbClr val="7A85B8"/>
      </a:accent3>
      <a:accent4>
        <a:srgbClr val="9CA3BD"/>
      </a:accent4>
      <a:accent5>
        <a:srgbClr val="242431"/>
      </a:accent5>
      <a:accent6>
        <a:srgbClr val="F4B919"/>
      </a:accent6>
      <a:hlink>
        <a:srgbClr val="F84D4D"/>
      </a:hlink>
      <a:folHlink>
        <a:srgbClr val="979797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5107</Words>
  <Application>Microsoft Office PowerPoint</Application>
  <PresentationFormat>宽屏</PresentationFormat>
  <Paragraphs>359</Paragraphs>
  <Slides>24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Helvetica Neue</vt:lpstr>
      <vt:lpstr>等线</vt:lpstr>
      <vt:lpstr>思源黑体 CN Bold</vt:lpstr>
      <vt:lpstr>思源黑体 CN Normal</vt:lpstr>
      <vt:lpstr>宋体</vt:lpstr>
      <vt:lpstr>微软雅黑</vt:lpstr>
      <vt:lpstr>Arial</vt:lpstr>
      <vt:lpstr>Consolas</vt:lpstr>
      <vt:lpstr>Courier New</vt:lpstr>
      <vt:lpstr>Source Code Pro</vt:lpstr>
      <vt:lpstr>51PPT模板网</vt:lpstr>
      <vt:lpstr>默认设计模板</vt:lpstr>
      <vt:lpstr>第10讲 numpy与科学计算</vt:lpstr>
      <vt:lpstr>NumPy是什么？</vt:lpstr>
      <vt:lpstr>numpy&amp;scipy简介</vt:lpstr>
      <vt:lpstr>numpy&amp;scipy简介</vt:lpstr>
      <vt:lpstr>numpy&amp;scipy简介</vt:lpstr>
      <vt:lpstr>三、Python的常见类库</vt:lpstr>
      <vt:lpstr>numpy&amp;scipy简介</vt:lpstr>
      <vt:lpstr>numpy&amp;scipy简介</vt:lpstr>
      <vt:lpstr>numpy&amp;scipy的应用</vt:lpstr>
      <vt:lpstr>NumPy 数组对象</vt:lpstr>
      <vt:lpstr>numpy&amp;scipy的应用</vt:lpstr>
      <vt:lpstr>numpy&amp;scipy的应用</vt:lpstr>
      <vt:lpstr>numpy&amp;scipy的应用</vt:lpstr>
      <vt:lpstr>numpy&amp;scipy的应用</vt:lpstr>
      <vt:lpstr>np.arange()    np.array([np.arange(x)])</vt:lpstr>
      <vt:lpstr>numpy&amp;scipy的应用</vt:lpstr>
      <vt:lpstr>PowerPoint 演示文稿</vt:lpstr>
      <vt:lpstr>PowerPoint 演示文稿</vt:lpstr>
      <vt:lpstr>numpy&amp;scipy的应用</vt:lpstr>
      <vt:lpstr>numpy&amp;scipy的应用</vt:lpstr>
      <vt:lpstr>基于scipy的复杂方程求解</vt:lpstr>
      <vt:lpstr>利用scipy求解简单一元方程式</vt:lpstr>
      <vt:lpstr>利用scipy求解二元方程式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第10讲 numpy与科学计算</dc:title>
  <dc:creator>rx zh</dc:creator>
  <cp:lastModifiedBy>rx zh</cp:lastModifiedBy>
  <cp:revision>1</cp:revision>
  <dcterms:created xsi:type="dcterms:W3CDTF">2023-11-16T13:33:50Z</dcterms:created>
  <dcterms:modified xsi:type="dcterms:W3CDTF">2023-11-16T13:34:39Z</dcterms:modified>
</cp:coreProperties>
</file>