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tags/tag1.xml" ContentType="application/vnd.openxmlformats-officedocument.presentationml.tag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13"/>
  </p:notesMasterIdLst>
  <p:sldIdLst>
    <p:sldId id="2007578524" r:id="rId2"/>
    <p:sldId id="2007578525" r:id="rId3"/>
    <p:sldId id="288" r:id="rId4"/>
    <p:sldId id="2007578526" r:id="rId5"/>
    <p:sldId id="289" r:id="rId6"/>
    <p:sldId id="291" r:id="rId7"/>
    <p:sldId id="292" r:id="rId8"/>
    <p:sldId id="293" r:id="rId9"/>
    <p:sldId id="295" r:id="rId10"/>
    <p:sldId id="296" r:id="rId11"/>
    <p:sldId id="2007578717" r:id="rId12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8003" autoAdjust="0"/>
    <p:restoredTop sz="94660"/>
  </p:normalViewPr>
  <p:slideViewPr>
    <p:cSldViewPr snapToGrid="0">
      <p:cViewPr varScale="1">
        <p:scale>
          <a:sx n="111" d="100"/>
          <a:sy n="111" d="100"/>
        </p:scale>
        <p:origin x="336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476A12C-9F24-4E90-905D-22921CE99306}" type="datetimeFigureOut">
              <a:rPr lang="zh-CN" altLang="en-US" smtClean="0"/>
              <a:t>2023/9/28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E0DC5C8-51D5-453A-A45A-4368B75A614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6282435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dirty="0"/>
              <a:t>https://pythontutor.com/python-debugger.html#mode=edit</a:t>
            </a:r>
            <a:endParaRPr lang="zh-CN" altLang="en-US" dirty="0"/>
          </a:p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A3ED8765-8EF3-408C-9341-152904E414ED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69565257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/>
              <a:t>https://blog.csdn.net/AN_drew/article/details/80800258</a:t>
            </a:r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A3ED8765-8EF3-408C-9341-152904E414ED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9887088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https://blog.csdn.net/AN_drew/article/details/80800258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A3ED8765-8EF3-408C-9341-152904E414ED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96632706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对数据框中的每个记录都进行处理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A3ED8765-8EF3-408C-9341-152904E414ED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06902512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所有</a:t>
            </a:r>
            <a:r>
              <a:rPr lang="en-US" altLang="zh-CN" dirty="0"/>
              <a:t>for</a:t>
            </a:r>
            <a:r>
              <a:rPr lang="zh-CN" altLang="en-US" dirty="0"/>
              <a:t>语句都可以改写为</a:t>
            </a:r>
            <a:r>
              <a:rPr lang="en-US" altLang="zh-CN" dirty="0"/>
              <a:t>while</a:t>
            </a:r>
            <a:r>
              <a:rPr lang="zh-CN" altLang="en-US" dirty="0"/>
              <a:t>语句，但只有部分</a:t>
            </a:r>
            <a:r>
              <a:rPr lang="en-US" altLang="zh-CN" dirty="0"/>
              <a:t>while</a:t>
            </a:r>
            <a:r>
              <a:rPr lang="zh-CN" altLang="en-US" dirty="0"/>
              <a:t>可以改为</a:t>
            </a:r>
            <a:r>
              <a:rPr lang="en-US" altLang="zh-CN" dirty="0"/>
              <a:t>for</a:t>
            </a:r>
          </a:p>
          <a:p>
            <a:r>
              <a:rPr lang="zh-CN" altLang="en-US" dirty="0"/>
              <a:t>一些复杂的</a:t>
            </a:r>
            <a:r>
              <a:rPr lang="en-US" altLang="zh-CN" dirty="0"/>
              <a:t>while</a:t>
            </a:r>
            <a:r>
              <a:rPr lang="zh-CN" altLang="en-US" dirty="0"/>
              <a:t>不能改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A3ED8765-8EF3-408C-9341-152904E414ED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20815283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/>
            <a:r>
              <a:rPr lang="zh-CN" altLang="en-US" b="0" i="0" dirty="0">
                <a:solidFill>
                  <a:srgbClr val="121212"/>
                </a:solidFill>
                <a:effectLst/>
                <a:latin typeface="-apple-system"/>
              </a:rPr>
              <a:t>程序分析：斐波那契数列（</a:t>
            </a:r>
            <a:r>
              <a:rPr lang="en-US" altLang="zh-CN" b="0" i="0" dirty="0">
                <a:solidFill>
                  <a:srgbClr val="121212"/>
                </a:solidFill>
                <a:effectLst/>
                <a:latin typeface="-apple-system"/>
              </a:rPr>
              <a:t>Fibonacci sequence</a:t>
            </a:r>
            <a:r>
              <a:rPr lang="zh-CN" altLang="en-US" b="0" i="0" dirty="0">
                <a:solidFill>
                  <a:srgbClr val="121212"/>
                </a:solidFill>
                <a:effectLst/>
                <a:latin typeface="-apple-system"/>
              </a:rPr>
              <a:t>），又称黄金分割数列，指的是这样一个数列：</a:t>
            </a:r>
            <a:r>
              <a:rPr lang="en-US" altLang="zh-CN" b="0" i="0" dirty="0">
                <a:solidFill>
                  <a:srgbClr val="121212"/>
                </a:solidFill>
                <a:effectLst/>
                <a:latin typeface="-apple-system"/>
              </a:rPr>
              <a:t>0</a:t>
            </a:r>
            <a:r>
              <a:rPr lang="zh-CN" altLang="en-US" b="0" i="0" dirty="0">
                <a:solidFill>
                  <a:srgbClr val="121212"/>
                </a:solidFill>
                <a:effectLst/>
                <a:latin typeface="-apple-system"/>
              </a:rPr>
              <a:t>、</a:t>
            </a:r>
            <a:r>
              <a:rPr lang="en-US" altLang="zh-CN" b="0" i="0" dirty="0">
                <a:solidFill>
                  <a:srgbClr val="121212"/>
                </a:solidFill>
                <a:effectLst/>
                <a:latin typeface="-apple-system"/>
              </a:rPr>
              <a:t>1</a:t>
            </a:r>
            <a:r>
              <a:rPr lang="zh-CN" altLang="en-US" b="0" i="0" dirty="0">
                <a:solidFill>
                  <a:srgbClr val="121212"/>
                </a:solidFill>
                <a:effectLst/>
                <a:latin typeface="-apple-system"/>
              </a:rPr>
              <a:t>、</a:t>
            </a:r>
            <a:r>
              <a:rPr lang="en-US" altLang="zh-CN" b="0" i="0" dirty="0">
                <a:solidFill>
                  <a:srgbClr val="121212"/>
                </a:solidFill>
                <a:effectLst/>
                <a:latin typeface="-apple-system"/>
              </a:rPr>
              <a:t>1</a:t>
            </a:r>
            <a:r>
              <a:rPr lang="zh-CN" altLang="en-US" b="0" i="0" dirty="0">
                <a:solidFill>
                  <a:srgbClr val="121212"/>
                </a:solidFill>
                <a:effectLst/>
                <a:latin typeface="-apple-system"/>
              </a:rPr>
              <a:t>、</a:t>
            </a:r>
            <a:r>
              <a:rPr lang="en-US" altLang="zh-CN" b="0" i="0" dirty="0">
                <a:solidFill>
                  <a:srgbClr val="121212"/>
                </a:solidFill>
                <a:effectLst/>
                <a:latin typeface="-apple-system"/>
              </a:rPr>
              <a:t>2</a:t>
            </a:r>
            <a:r>
              <a:rPr lang="zh-CN" altLang="en-US" b="0" i="0" dirty="0">
                <a:solidFill>
                  <a:srgbClr val="121212"/>
                </a:solidFill>
                <a:effectLst/>
                <a:latin typeface="-apple-system"/>
              </a:rPr>
              <a:t>、</a:t>
            </a:r>
            <a:r>
              <a:rPr lang="en-US" altLang="zh-CN" b="0" i="0" dirty="0">
                <a:solidFill>
                  <a:srgbClr val="121212"/>
                </a:solidFill>
                <a:effectLst/>
                <a:latin typeface="-apple-system"/>
              </a:rPr>
              <a:t>3</a:t>
            </a:r>
            <a:r>
              <a:rPr lang="zh-CN" altLang="en-US" b="0" i="0" dirty="0">
                <a:solidFill>
                  <a:srgbClr val="121212"/>
                </a:solidFill>
                <a:effectLst/>
                <a:latin typeface="-apple-system"/>
              </a:rPr>
              <a:t>、</a:t>
            </a:r>
            <a:r>
              <a:rPr lang="en-US" altLang="zh-CN" b="0" i="0" dirty="0">
                <a:solidFill>
                  <a:srgbClr val="121212"/>
                </a:solidFill>
                <a:effectLst/>
                <a:latin typeface="-apple-system"/>
              </a:rPr>
              <a:t>5</a:t>
            </a:r>
            <a:r>
              <a:rPr lang="zh-CN" altLang="en-US" b="0" i="0" dirty="0">
                <a:solidFill>
                  <a:srgbClr val="121212"/>
                </a:solidFill>
                <a:effectLst/>
                <a:latin typeface="-apple-system"/>
              </a:rPr>
              <a:t>、</a:t>
            </a:r>
            <a:r>
              <a:rPr lang="en-US" altLang="zh-CN" b="0" i="0" dirty="0">
                <a:solidFill>
                  <a:srgbClr val="121212"/>
                </a:solidFill>
                <a:effectLst/>
                <a:latin typeface="-apple-system"/>
              </a:rPr>
              <a:t>8</a:t>
            </a:r>
            <a:r>
              <a:rPr lang="zh-CN" altLang="en-US" b="0" i="0" dirty="0">
                <a:solidFill>
                  <a:srgbClr val="121212"/>
                </a:solidFill>
                <a:effectLst/>
                <a:latin typeface="-apple-system"/>
              </a:rPr>
              <a:t>、</a:t>
            </a:r>
            <a:r>
              <a:rPr lang="en-US" altLang="zh-CN" b="0" i="0" dirty="0">
                <a:solidFill>
                  <a:srgbClr val="121212"/>
                </a:solidFill>
                <a:effectLst/>
                <a:latin typeface="-apple-system"/>
              </a:rPr>
              <a:t>13</a:t>
            </a:r>
            <a:r>
              <a:rPr lang="zh-CN" altLang="en-US" b="0" i="0" dirty="0">
                <a:solidFill>
                  <a:srgbClr val="121212"/>
                </a:solidFill>
                <a:effectLst/>
                <a:latin typeface="-apple-system"/>
              </a:rPr>
              <a:t>、</a:t>
            </a:r>
            <a:r>
              <a:rPr lang="en-US" altLang="zh-CN" b="0" i="0" dirty="0">
                <a:solidFill>
                  <a:srgbClr val="121212"/>
                </a:solidFill>
                <a:effectLst/>
                <a:latin typeface="-apple-system"/>
              </a:rPr>
              <a:t>21</a:t>
            </a:r>
            <a:r>
              <a:rPr lang="zh-CN" altLang="en-US" b="0" i="0" dirty="0">
                <a:solidFill>
                  <a:srgbClr val="121212"/>
                </a:solidFill>
                <a:effectLst/>
                <a:latin typeface="-apple-system"/>
              </a:rPr>
              <a:t>、</a:t>
            </a:r>
            <a:r>
              <a:rPr lang="en-US" altLang="zh-CN" b="0" i="0" dirty="0">
                <a:solidFill>
                  <a:srgbClr val="121212"/>
                </a:solidFill>
                <a:effectLst/>
                <a:latin typeface="-apple-system"/>
              </a:rPr>
              <a:t>34</a:t>
            </a:r>
            <a:r>
              <a:rPr lang="zh-CN" altLang="en-US" b="0" i="0" dirty="0">
                <a:solidFill>
                  <a:srgbClr val="121212"/>
                </a:solidFill>
                <a:effectLst/>
                <a:latin typeface="-apple-system"/>
              </a:rPr>
              <a:t>、</a:t>
            </a:r>
            <a:r>
              <a:rPr lang="en-US" altLang="zh-CN" b="0" i="0" dirty="0">
                <a:solidFill>
                  <a:srgbClr val="121212"/>
                </a:solidFill>
                <a:effectLst/>
                <a:latin typeface="-apple-system"/>
              </a:rPr>
              <a:t>……</a:t>
            </a:r>
          </a:p>
          <a:p>
            <a:pPr algn="l"/>
            <a:r>
              <a:rPr lang="zh-CN" altLang="en-US" b="0" i="0" dirty="0">
                <a:solidFill>
                  <a:srgbClr val="121212"/>
                </a:solidFill>
                <a:effectLst/>
                <a:latin typeface="-apple-system"/>
              </a:rPr>
              <a:t>在数学上，费波那契数列是以递归的方法来定义：</a:t>
            </a:r>
          </a:p>
          <a:p>
            <a:pPr algn="l"/>
            <a:r>
              <a:rPr lang="en-US" altLang="zh-CN" b="0" i="0" dirty="0">
                <a:solidFill>
                  <a:srgbClr val="121212"/>
                </a:solidFill>
                <a:effectLst/>
                <a:latin typeface="-apple-system"/>
              </a:rPr>
              <a:t>F0 = 0 (n=0)</a:t>
            </a:r>
          </a:p>
          <a:p>
            <a:pPr algn="l"/>
            <a:r>
              <a:rPr lang="en-US" altLang="zh-CN" b="0" i="0" dirty="0">
                <a:solidFill>
                  <a:srgbClr val="121212"/>
                </a:solidFill>
                <a:effectLst/>
                <a:latin typeface="-apple-system"/>
              </a:rPr>
              <a:t>F1 = 1 (n=1)</a:t>
            </a:r>
          </a:p>
          <a:p>
            <a:pPr algn="l"/>
            <a:r>
              <a:rPr lang="en-US" altLang="zh-CN" b="0" i="0" dirty="0" err="1">
                <a:solidFill>
                  <a:srgbClr val="121212"/>
                </a:solidFill>
                <a:effectLst/>
                <a:latin typeface="-apple-system"/>
              </a:rPr>
              <a:t>Fn</a:t>
            </a:r>
            <a:r>
              <a:rPr lang="en-US" altLang="zh-CN" b="0" i="0" dirty="0">
                <a:solidFill>
                  <a:srgbClr val="121212"/>
                </a:solidFill>
                <a:effectLst/>
                <a:latin typeface="-apple-system"/>
              </a:rPr>
              <a:t> = F[n-1]+ F[n-2](n=&gt;2)</a:t>
            </a:r>
          </a:p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A3ED8765-8EF3-408C-9341-152904E414ED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8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59018296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幻灯片">
    <p:bg>
      <p:bgPr>
        <a:gradFill flip="none" rotWithShape="1">
          <a:gsLst>
            <a:gs pos="41000">
              <a:schemeClr val="accent1"/>
            </a:gs>
            <a:gs pos="100000">
              <a:schemeClr val="accent1">
                <a:alpha val="90000"/>
              </a:schemeClr>
            </a:gs>
          </a:gsLst>
          <a:path path="circle">
            <a:fillToRect r="100000" b="100000"/>
          </a:path>
          <a:tileRect l="-100000" t="-1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45B57F-7D9D-4AD8-9FE4-E5267D65BB87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60400" y="1990725"/>
            <a:ext cx="7965440" cy="1757362"/>
          </a:xfrm>
        </p:spPr>
        <p:txBody>
          <a:bodyPr vert="horz" lIns="91440" tIns="45720" rIns="91440" bIns="45720" rtlCol="0" anchor="b">
            <a:noAutofit/>
          </a:bodyPr>
          <a:lstStyle>
            <a:lvl1pPr algn="l">
              <a:defRPr lang="zh-CN" altLang="en-US" sz="6000" b="1" dirty="0">
                <a:solidFill>
                  <a:srgbClr val="FFFFFF"/>
                </a:solidFill>
              </a:defRPr>
            </a:lvl1pPr>
          </a:lstStyle>
          <a:p>
            <a:pPr lvl="0" defTabSz="914332"/>
            <a:r>
              <a:rPr lang="zh-CN" altLang="en-US" dirty="0"/>
              <a:t>商务几何扁平</a:t>
            </a:r>
            <a:r>
              <a:rPr lang="en-US" altLang="zh-CN" dirty="0"/>
              <a:t>PPT</a:t>
            </a:r>
            <a:r>
              <a:rPr lang="zh-CN" altLang="en-US" dirty="0"/>
              <a:t>模板</a:t>
            </a:r>
          </a:p>
        </p:txBody>
      </p:sp>
      <p:sp>
        <p:nvSpPr>
          <p:cNvPr id="8" name="Speaker Placeholder 3">
            <a:extLst>
              <a:ext uri="{FF2B5EF4-FFF2-40B4-BE49-F238E27FC236}">
                <a16:creationId xmlns:a16="http://schemas.microsoft.com/office/drawing/2014/main" id="{44C4A721-803B-47CB-B99E-1D01E8E0169F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60401" y="3921193"/>
            <a:ext cx="5568951" cy="296271"/>
          </a:xfrm>
        </p:spPr>
        <p:txBody>
          <a:bodyPr vert="horz" lIns="91440" tIns="45720" rIns="91440" bIns="45720" rtlCol="0" anchor="ctr">
            <a:noAutofit/>
          </a:bodyPr>
          <a:lstStyle>
            <a:lvl1pPr marL="0" indent="0" algn="l">
              <a:buNone/>
              <a:defRPr lang="en-US" altLang="zh-CN" sz="2000" b="0" smtClean="0">
                <a:solidFill>
                  <a:srgbClr val="FFFFFF"/>
                </a:solidFill>
              </a:defRPr>
            </a:lvl1pPr>
            <a:lvl2pPr>
              <a:defRPr lang="en-US" altLang="zh-CN" sz="1600" smtClean="0"/>
            </a:lvl2pPr>
            <a:lvl3pPr>
              <a:defRPr lang="en-US" altLang="zh-CN" sz="1400" smtClean="0"/>
            </a:lvl3pPr>
            <a:lvl4pPr>
              <a:defRPr lang="en-US" altLang="zh-CN" sz="1200" smtClean="0"/>
            </a:lvl4pPr>
            <a:lvl5pPr>
              <a:defRPr lang="zh-CN" altLang="en-US" sz="1200"/>
            </a:lvl5pPr>
          </a:lstStyle>
          <a:p>
            <a:r>
              <a:rPr lang="zh-CN" altLang="en-US" dirty="0"/>
              <a:t>汇报人：</a:t>
            </a:r>
            <a:r>
              <a:rPr lang="en-US" altLang="zh-CN" dirty="0"/>
              <a:t>XXX</a:t>
            </a:r>
          </a:p>
        </p:txBody>
      </p:sp>
      <p:sp>
        <p:nvSpPr>
          <p:cNvPr id="9" name="Date Placeholder 4">
            <a:extLst>
              <a:ext uri="{FF2B5EF4-FFF2-40B4-BE49-F238E27FC236}">
                <a16:creationId xmlns:a16="http://schemas.microsoft.com/office/drawing/2014/main" id="{CA939A61-406D-45DC-B757-059EFAA05866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660401" y="4326535"/>
            <a:ext cx="5568951" cy="335488"/>
          </a:xfrm>
        </p:spPr>
        <p:txBody>
          <a:bodyPr vert="horz" lIns="91440" tIns="45720" rIns="91440" bIns="45720" rtlCol="0" anchor="ctr">
            <a:noAutofit/>
          </a:bodyPr>
          <a:lstStyle>
            <a:lvl1pPr marL="0" indent="0" algn="l">
              <a:buNone/>
              <a:defRPr lang="en-US" altLang="zh-CN" sz="2000" b="0" smtClean="0">
                <a:solidFill>
                  <a:srgbClr val="FFFFFF"/>
                </a:solidFill>
              </a:defRPr>
            </a:lvl1pPr>
            <a:lvl2pPr>
              <a:defRPr lang="en-US" altLang="zh-CN" sz="1600" smtClean="0"/>
            </a:lvl2pPr>
            <a:lvl3pPr>
              <a:defRPr lang="en-US" altLang="zh-CN" sz="1400" smtClean="0"/>
            </a:lvl3pPr>
            <a:lvl4pPr>
              <a:defRPr lang="en-US" altLang="zh-CN" sz="1200" smtClean="0"/>
            </a:lvl4pPr>
            <a:lvl5pPr>
              <a:defRPr lang="zh-CN" altLang="en-US" sz="1200"/>
            </a:lvl5pPr>
          </a:lstStyle>
          <a:p>
            <a:r>
              <a:rPr lang="zh-CN" altLang="en-US" dirty="0"/>
              <a:t>日期：</a:t>
            </a:r>
            <a:r>
              <a:rPr lang="en-US" altLang="zh-CN" dirty="0"/>
              <a:t>20XX</a:t>
            </a:r>
            <a:r>
              <a:rPr lang="zh-CN" altLang="en-US" dirty="0"/>
              <a:t>年</a:t>
            </a:r>
            <a:r>
              <a:rPr lang="en-US" altLang="zh-CN" dirty="0"/>
              <a:t>XX</a:t>
            </a:r>
            <a:r>
              <a:rPr lang="zh-CN" altLang="en-US" dirty="0"/>
              <a:t>月</a:t>
            </a:r>
            <a:r>
              <a:rPr lang="en-US" altLang="zh-CN" dirty="0"/>
              <a:t>XX</a:t>
            </a:r>
            <a:r>
              <a:rPr lang="zh-CN" altLang="en-US" dirty="0"/>
              <a:t>日</a:t>
            </a:r>
            <a:endParaRPr lang="en-US" altLang="en-US" dirty="0"/>
          </a:p>
        </p:txBody>
      </p:sp>
      <p:grpSp>
        <p:nvGrpSpPr>
          <p:cNvPr id="37" name="组合 36">
            <a:extLst>
              <a:ext uri="{FF2B5EF4-FFF2-40B4-BE49-F238E27FC236}">
                <a16:creationId xmlns:a16="http://schemas.microsoft.com/office/drawing/2014/main" id="{EC150303-72BE-99D1-AED7-E4050488661E}"/>
              </a:ext>
            </a:extLst>
          </p:cNvPr>
          <p:cNvGrpSpPr/>
          <p:nvPr userDrawn="1"/>
        </p:nvGrpSpPr>
        <p:grpSpPr>
          <a:xfrm>
            <a:off x="4643122" y="42334"/>
            <a:ext cx="7182311" cy="6773332"/>
            <a:chOff x="4648426" y="84668"/>
            <a:chExt cx="7182311" cy="6773332"/>
          </a:xfrm>
        </p:grpSpPr>
        <p:sp>
          <p:nvSpPr>
            <p:cNvPr id="34" name="椭圆 33">
              <a:extLst>
                <a:ext uri="{FF2B5EF4-FFF2-40B4-BE49-F238E27FC236}">
                  <a16:creationId xmlns:a16="http://schemas.microsoft.com/office/drawing/2014/main" id="{424C7F08-71A0-00F5-EBBA-322ACAF13151}"/>
                </a:ext>
              </a:extLst>
            </p:cNvPr>
            <p:cNvSpPr/>
            <p:nvPr userDrawn="1"/>
          </p:nvSpPr>
          <p:spPr>
            <a:xfrm>
              <a:off x="4792887" y="84668"/>
              <a:ext cx="7037850" cy="6773332"/>
            </a:xfrm>
            <a:prstGeom prst="ellipse">
              <a:avLst/>
            </a:prstGeom>
            <a:gradFill flip="none" rotWithShape="1">
              <a:gsLst>
                <a:gs pos="25000">
                  <a:schemeClr val="accent1">
                    <a:lumMod val="45000"/>
                    <a:lumOff val="55000"/>
                    <a:alpha val="45000"/>
                  </a:schemeClr>
                </a:gs>
                <a:gs pos="83000">
                  <a:schemeClr val="accent1">
                    <a:alpha val="0"/>
                  </a:schemeClr>
                </a:gs>
                <a:gs pos="100000">
                  <a:schemeClr val="accent1">
                    <a:alpha val="0"/>
                  </a:schemeClr>
                </a:gs>
              </a:gsLst>
              <a:path path="circle">
                <a:fillToRect l="100000" t="100000"/>
              </a:path>
              <a:tileRect r="-100000" b="-10000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/>
            </a:p>
          </p:txBody>
        </p:sp>
        <p:sp>
          <p:nvSpPr>
            <p:cNvPr id="35" name="椭圆 34">
              <a:extLst>
                <a:ext uri="{FF2B5EF4-FFF2-40B4-BE49-F238E27FC236}">
                  <a16:creationId xmlns:a16="http://schemas.microsoft.com/office/drawing/2014/main" id="{273E1D4D-50D8-6D9E-A448-01F5EC6C8A48}"/>
                </a:ext>
              </a:extLst>
            </p:cNvPr>
            <p:cNvSpPr/>
            <p:nvPr userDrawn="1"/>
          </p:nvSpPr>
          <p:spPr>
            <a:xfrm>
              <a:off x="7949862" y="3285063"/>
              <a:ext cx="2838859" cy="2950637"/>
            </a:xfrm>
            <a:prstGeom prst="ellipse">
              <a:avLst/>
            </a:prstGeom>
            <a:gradFill flip="none" rotWithShape="1">
              <a:gsLst>
                <a:gs pos="11000">
                  <a:srgbClr val="B1B6D1">
                    <a:alpha val="0"/>
                  </a:srgbClr>
                </a:gs>
                <a:gs pos="44000">
                  <a:srgbClr val="8B93C4">
                    <a:alpha val="42000"/>
                  </a:srgbClr>
                </a:gs>
                <a:gs pos="74000">
                  <a:schemeClr val="accent1"/>
                </a:gs>
              </a:gsLst>
              <a:lin ang="2700000" scaled="1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/>
            </a:p>
          </p:txBody>
        </p:sp>
        <p:sp>
          <p:nvSpPr>
            <p:cNvPr id="36" name="椭圆 35">
              <a:extLst>
                <a:ext uri="{FF2B5EF4-FFF2-40B4-BE49-F238E27FC236}">
                  <a16:creationId xmlns:a16="http://schemas.microsoft.com/office/drawing/2014/main" id="{E5140AED-15FA-1550-1408-ABCC3DA6258A}"/>
                </a:ext>
              </a:extLst>
            </p:cNvPr>
            <p:cNvSpPr/>
            <p:nvPr userDrawn="1"/>
          </p:nvSpPr>
          <p:spPr>
            <a:xfrm>
              <a:off x="4648426" y="897517"/>
              <a:ext cx="1312288" cy="1363958"/>
            </a:xfrm>
            <a:prstGeom prst="ellipse">
              <a:avLst/>
            </a:prstGeom>
            <a:gradFill flip="none" rotWithShape="1">
              <a:gsLst>
                <a:gs pos="20000">
                  <a:schemeClr val="accent2">
                    <a:alpha val="36000"/>
                  </a:schemeClr>
                </a:gs>
                <a:gs pos="100000">
                  <a:schemeClr val="accent1">
                    <a:alpha val="55000"/>
                  </a:schemeClr>
                </a:gs>
              </a:gsLst>
              <a:lin ang="2700000" scaled="1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/>
            </a:p>
          </p:txBody>
        </p:sp>
      </p:grpSp>
      <p:sp>
        <p:nvSpPr>
          <p:cNvPr id="42" name="任意多边形: 形状 41">
            <a:extLst>
              <a:ext uri="{FF2B5EF4-FFF2-40B4-BE49-F238E27FC236}">
                <a16:creationId xmlns:a16="http://schemas.microsoft.com/office/drawing/2014/main" id="{3D31BE62-CC50-6DDF-053D-8D4A349275AD}"/>
              </a:ext>
            </a:extLst>
          </p:cNvPr>
          <p:cNvSpPr/>
          <p:nvPr userDrawn="1"/>
        </p:nvSpPr>
        <p:spPr>
          <a:xfrm>
            <a:off x="1" y="2"/>
            <a:ext cx="2712356" cy="2713385"/>
          </a:xfrm>
          <a:custGeom>
            <a:avLst/>
            <a:gdLst>
              <a:gd name="connsiteX0" fmla="*/ 0 w 2712356"/>
              <a:gd name="connsiteY0" fmla="*/ 0 h 2713385"/>
              <a:gd name="connsiteX1" fmla="*/ 2635987 w 2712356"/>
              <a:gd name="connsiteY1" fmla="*/ 0 h 2713385"/>
              <a:gd name="connsiteX2" fmla="*/ 2670483 w 2712356"/>
              <a:gd name="connsiteY2" fmla="*/ 139441 h 2713385"/>
              <a:gd name="connsiteX3" fmla="*/ 2712356 w 2712356"/>
              <a:gd name="connsiteY3" fmla="*/ 571172 h 2713385"/>
              <a:gd name="connsiteX4" fmla="*/ 651295 w 2712356"/>
              <a:gd name="connsiteY4" fmla="*/ 2713385 h 2713385"/>
              <a:gd name="connsiteX5" fmla="*/ 38398 w 2712356"/>
              <a:gd name="connsiteY5" fmla="*/ 2617075 h 2713385"/>
              <a:gd name="connsiteX6" fmla="*/ 0 w 2712356"/>
              <a:gd name="connsiteY6" fmla="*/ 2602468 h 2713385"/>
              <a:gd name="connsiteX7" fmla="*/ 0 w 2712356"/>
              <a:gd name="connsiteY7" fmla="*/ 0 h 27133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2712356" h="2713385">
                <a:moveTo>
                  <a:pt x="0" y="0"/>
                </a:moveTo>
                <a:lnTo>
                  <a:pt x="2635987" y="0"/>
                </a:lnTo>
                <a:lnTo>
                  <a:pt x="2670483" y="139441"/>
                </a:lnTo>
                <a:cubicBezTo>
                  <a:pt x="2697938" y="278894"/>
                  <a:pt x="2712356" y="423283"/>
                  <a:pt x="2712356" y="571172"/>
                </a:cubicBezTo>
                <a:cubicBezTo>
                  <a:pt x="2712356" y="1754284"/>
                  <a:pt x="1789588" y="2713385"/>
                  <a:pt x="651295" y="2713385"/>
                </a:cubicBezTo>
                <a:cubicBezTo>
                  <a:pt x="437865" y="2713385"/>
                  <a:pt x="232012" y="2679667"/>
                  <a:pt x="38398" y="2617075"/>
                </a:cubicBezTo>
                <a:lnTo>
                  <a:pt x="0" y="2602468"/>
                </a:lnTo>
                <a:lnTo>
                  <a:pt x="0" y="0"/>
                </a:lnTo>
                <a:close/>
              </a:path>
            </a:pathLst>
          </a:custGeom>
          <a:gradFill flip="none" rotWithShape="1">
            <a:gsLst>
              <a:gs pos="86000">
                <a:srgbClr val="B1B6D1">
                  <a:alpha val="0"/>
                </a:srgbClr>
              </a:gs>
              <a:gs pos="34000">
                <a:srgbClr val="8B93C4">
                  <a:alpha val="42000"/>
                </a:srgbClr>
              </a:gs>
              <a:gs pos="79000">
                <a:schemeClr val="accent1">
                  <a:alpha val="40000"/>
                </a:schemeClr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/>
          </a:p>
        </p:txBody>
      </p:sp>
    </p:spTree>
    <p:extLst>
      <p:ext uri="{BB962C8B-B14F-4D97-AF65-F5344CB8AC3E}">
        <p14:creationId xmlns:p14="http://schemas.microsoft.com/office/powerpoint/2010/main" val="275309414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目录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矩形 29">
            <a:extLst>
              <a:ext uri="{FF2B5EF4-FFF2-40B4-BE49-F238E27FC236}">
                <a16:creationId xmlns:a16="http://schemas.microsoft.com/office/drawing/2014/main" id="{AD982555-EA3F-4B74-7506-7B4EBD37E234}"/>
              </a:ext>
            </a:extLst>
          </p:cNvPr>
          <p:cNvSpPr/>
          <p:nvPr userDrawn="1"/>
        </p:nvSpPr>
        <p:spPr>
          <a:xfrm>
            <a:off x="1" y="0"/>
            <a:ext cx="4250991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800"/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FDF03A82-401C-4A0E-BE21-BE588E874141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660401" y="1784096"/>
            <a:ext cx="3045372" cy="594626"/>
          </a:xfrm>
        </p:spPr>
        <p:txBody>
          <a:bodyPr anchor="ctr" anchorCtr="0">
            <a:noAutofit/>
          </a:bodyPr>
          <a:lstStyle>
            <a:lvl1pPr marL="0" indent="0" algn="ctr">
              <a:buFont typeface="+mj-lt"/>
              <a:buNone/>
              <a:defRPr sz="4000" b="1">
                <a:solidFill>
                  <a:srgbClr val="FFFFFF"/>
                </a:solidFill>
                <a:latin typeface="+mj-ea"/>
                <a:ea typeface="+mj-ea"/>
              </a:defRPr>
            </a:lvl1pPr>
            <a:lvl2pPr marL="457189" indent="0">
              <a:buFont typeface="+mj-ea"/>
              <a:buNone/>
              <a:defRPr/>
            </a:lvl2pPr>
            <a:lvl3pPr marL="1257269" indent="-342891">
              <a:buFont typeface="+mj-lt"/>
              <a:buAutoNum type="alphaLcParenR"/>
              <a:defRPr/>
            </a:lvl3pPr>
          </a:lstStyle>
          <a:p>
            <a:pPr lvl="0"/>
            <a:r>
              <a:rPr lang="en-US" altLang="zh-CN" dirty="0"/>
              <a:t>Contents</a:t>
            </a:r>
            <a:endParaRPr lang="zh-CN" altLang="en-US" dirty="0"/>
          </a:p>
        </p:txBody>
      </p:sp>
      <p:grpSp>
        <p:nvGrpSpPr>
          <p:cNvPr id="34" name="组合 33">
            <a:extLst>
              <a:ext uri="{FF2B5EF4-FFF2-40B4-BE49-F238E27FC236}">
                <a16:creationId xmlns:a16="http://schemas.microsoft.com/office/drawing/2014/main" id="{EFDB9EF8-9BCC-B7E0-416E-F38D808442D6}"/>
              </a:ext>
            </a:extLst>
          </p:cNvPr>
          <p:cNvGrpSpPr/>
          <p:nvPr userDrawn="1"/>
        </p:nvGrpSpPr>
        <p:grpSpPr>
          <a:xfrm>
            <a:off x="409577" y="2622550"/>
            <a:ext cx="3762375" cy="3436252"/>
            <a:chOff x="4648426" y="84668"/>
            <a:chExt cx="7182311" cy="6773332"/>
          </a:xfrm>
        </p:grpSpPr>
        <p:sp>
          <p:nvSpPr>
            <p:cNvPr id="35" name="椭圆 34">
              <a:extLst>
                <a:ext uri="{FF2B5EF4-FFF2-40B4-BE49-F238E27FC236}">
                  <a16:creationId xmlns:a16="http://schemas.microsoft.com/office/drawing/2014/main" id="{4FC22150-351F-1D32-05AB-F7EA0286743B}"/>
                </a:ext>
              </a:extLst>
            </p:cNvPr>
            <p:cNvSpPr/>
            <p:nvPr userDrawn="1"/>
          </p:nvSpPr>
          <p:spPr>
            <a:xfrm>
              <a:off x="4792887" y="84668"/>
              <a:ext cx="7037850" cy="6773332"/>
            </a:xfrm>
            <a:prstGeom prst="ellipse">
              <a:avLst/>
            </a:prstGeom>
            <a:gradFill flip="none" rotWithShape="1">
              <a:gsLst>
                <a:gs pos="25000">
                  <a:schemeClr val="accent1">
                    <a:lumMod val="45000"/>
                    <a:lumOff val="55000"/>
                    <a:alpha val="45000"/>
                  </a:schemeClr>
                </a:gs>
                <a:gs pos="83000">
                  <a:schemeClr val="accent1">
                    <a:alpha val="0"/>
                  </a:schemeClr>
                </a:gs>
                <a:gs pos="100000">
                  <a:schemeClr val="accent1">
                    <a:alpha val="0"/>
                  </a:schemeClr>
                </a:gs>
              </a:gsLst>
              <a:path path="circle">
                <a:fillToRect l="100000" t="100000"/>
              </a:path>
              <a:tileRect r="-100000" b="-10000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/>
            </a:p>
          </p:txBody>
        </p:sp>
        <p:sp>
          <p:nvSpPr>
            <p:cNvPr id="36" name="椭圆 35">
              <a:extLst>
                <a:ext uri="{FF2B5EF4-FFF2-40B4-BE49-F238E27FC236}">
                  <a16:creationId xmlns:a16="http://schemas.microsoft.com/office/drawing/2014/main" id="{E1618A74-B359-D3CA-7690-4D04767D5E33}"/>
                </a:ext>
              </a:extLst>
            </p:cNvPr>
            <p:cNvSpPr/>
            <p:nvPr userDrawn="1"/>
          </p:nvSpPr>
          <p:spPr>
            <a:xfrm>
              <a:off x="7949862" y="3285063"/>
              <a:ext cx="2838859" cy="2950637"/>
            </a:xfrm>
            <a:prstGeom prst="ellipse">
              <a:avLst/>
            </a:prstGeom>
            <a:gradFill flip="none" rotWithShape="1">
              <a:gsLst>
                <a:gs pos="34000">
                  <a:schemeClr val="accent2">
                    <a:alpha val="34000"/>
                  </a:schemeClr>
                </a:gs>
                <a:gs pos="74000">
                  <a:schemeClr val="accent1"/>
                </a:gs>
              </a:gsLst>
              <a:lin ang="2700000" scaled="1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/>
            </a:p>
          </p:txBody>
        </p:sp>
        <p:sp>
          <p:nvSpPr>
            <p:cNvPr id="37" name="椭圆 36">
              <a:extLst>
                <a:ext uri="{FF2B5EF4-FFF2-40B4-BE49-F238E27FC236}">
                  <a16:creationId xmlns:a16="http://schemas.microsoft.com/office/drawing/2014/main" id="{0CD826CB-6E0B-1B05-4FDD-2984599D3762}"/>
                </a:ext>
              </a:extLst>
            </p:cNvPr>
            <p:cNvSpPr/>
            <p:nvPr userDrawn="1"/>
          </p:nvSpPr>
          <p:spPr>
            <a:xfrm>
              <a:off x="4648426" y="897517"/>
              <a:ext cx="1312288" cy="1363958"/>
            </a:xfrm>
            <a:prstGeom prst="ellipse">
              <a:avLst/>
            </a:prstGeom>
            <a:gradFill flip="none" rotWithShape="1">
              <a:gsLst>
                <a:gs pos="20000">
                  <a:schemeClr val="accent2">
                    <a:alpha val="36000"/>
                  </a:schemeClr>
                </a:gs>
                <a:gs pos="100000">
                  <a:schemeClr val="accent1">
                    <a:alpha val="55000"/>
                  </a:schemeClr>
                </a:gs>
              </a:gsLst>
              <a:lin ang="2700000" scaled="1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/>
            </a:p>
          </p:txBody>
        </p:sp>
      </p:grpSp>
      <p:sp>
        <p:nvSpPr>
          <p:cNvPr id="8" name="任意多边形: 形状 7">
            <a:extLst>
              <a:ext uri="{FF2B5EF4-FFF2-40B4-BE49-F238E27FC236}">
                <a16:creationId xmlns:a16="http://schemas.microsoft.com/office/drawing/2014/main" id="{9E5BD2CD-BEC8-A5D8-00BD-2A3A6C32C4A9}"/>
              </a:ext>
            </a:extLst>
          </p:cNvPr>
          <p:cNvSpPr/>
          <p:nvPr userDrawn="1"/>
        </p:nvSpPr>
        <p:spPr>
          <a:xfrm>
            <a:off x="2" y="3"/>
            <a:ext cx="1543049" cy="1580547"/>
          </a:xfrm>
          <a:custGeom>
            <a:avLst/>
            <a:gdLst>
              <a:gd name="connsiteX0" fmla="*/ 0 w 1543049"/>
              <a:gd name="connsiteY0" fmla="*/ 0 h 1580547"/>
              <a:gd name="connsiteX1" fmla="*/ 1389702 w 1543049"/>
              <a:gd name="connsiteY1" fmla="*/ 0 h 1580547"/>
              <a:gd name="connsiteX2" fmla="*/ 1464863 w 1543049"/>
              <a:gd name="connsiteY2" fmla="*/ 143926 h 1580547"/>
              <a:gd name="connsiteX3" fmla="*/ 1543049 w 1543049"/>
              <a:gd name="connsiteY3" fmla="*/ 546445 h 1580547"/>
              <a:gd name="connsiteX4" fmla="*/ 548121 w 1543049"/>
              <a:gd name="connsiteY4" fmla="*/ 1580547 h 1580547"/>
              <a:gd name="connsiteX5" fmla="*/ 73879 w 1543049"/>
              <a:gd name="connsiteY5" fmla="*/ 1455737 h 1580547"/>
              <a:gd name="connsiteX6" fmla="*/ 0 w 1543049"/>
              <a:gd name="connsiteY6" fmla="*/ 1409087 h 158054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543049" h="1580547">
                <a:moveTo>
                  <a:pt x="0" y="0"/>
                </a:moveTo>
                <a:lnTo>
                  <a:pt x="1389702" y="0"/>
                </a:lnTo>
                <a:lnTo>
                  <a:pt x="1464863" y="143926"/>
                </a:lnTo>
                <a:cubicBezTo>
                  <a:pt x="1515209" y="267644"/>
                  <a:pt x="1543049" y="403665"/>
                  <a:pt x="1543049" y="546445"/>
                </a:cubicBezTo>
                <a:cubicBezTo>
                  <a:pt x="1543049" y="1117564"/>
                  <a:pt x="1097605" y="1580547"/>
                  <a:pt x="548121" y="1580547"/>
                </a:cubicBezTo>
                <a:cubicBezTo>
                  <a:pt x="376407" y="1580547"/>
                  <a:pt x="214854" y="1535334"/>
                  <a:pt x="73879" y="1455737"/>
                </a:cubicBezTo>
                <a:lnTo>
                  <a:pt x="0" y="1409087"/>
                </a:lnTo>
                <a:close/>
              </a:path>
            </a:pathLst>
          </a:custGeom>
          <a:gradFill flip="none" rotWithShape="1">
            <a:gsLst>
              <a:gs pos="20000">
                <a:schemeClr val="accent2">
                  <a:alpha val="36000"/>
                </a:schemeClr>
              </a:gs>
              <a:gs pos="100000">
                <a:schemeClr val="accent1">
                  <a:alpha val="55000"/>
                </a:schemeClr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 sz="1800" dirty="0"/>
          </a:p>
        </p:txBody>
      </p:sp>
      <p:sp>
        <p:nvSpPr>
          <p:cNvPr id="39" name="矩形: 圆角 38">
            <a:extLst>
              <a:ext uri="{FF2B5EF4-FFF2-40B4-BE49-F238E27FC236}">
                <a16:creationId xmlns:a16="http://schemas.microsoft.com/office/drawing/2014/main" id="{FDFBE58A-F4DC-EF1E-5D13-F8DFE171653F}"/>
              </a:ext>
            </a:extLst>
          </p:cNvPr>
          <p:cNvSpPr/>
          <p:nvPr userDrawn="1"/>
        </p:nvSpPr>
        <p:spPr>
          <a:xfrm>
            <a:off x="869210" y="2394698"/>
            <a:ext cx="2836561" cy="85975"/>
          </a:xfrm>
          <a:prstGeom prst="round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800" dirty="0"/>
          </a:p>
        </p:txBody>
      </p:sp>
    </p:spTree>
    <p:extLst>
      <p:ext uri="{BB962C8B-B14F-4D97-AF65-F5344CB8AC3E}">
        <p14:creationId xmlns:p14="http://schemas.microsoft.com/office/powerpoint/2010/main" val="323477187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0C7662-4F6D-4B06-BB36-235FC06BF81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60400" y="3112284"/>
            <a:ext cx="7401560" cy="951057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defRPr lang="zh-CN" altLang="en-US" sz="4800">
                <a:solidFill>
                  <a:schemeClr val="tx1"/>
                </a:solidFill>
              </a:defRPr>
            </a:lvl1pPr>
          </a:lstStyle>
          <a:p>
            <a:pPr lvl="0" defTabSz="914332"/>
            <a:r>
              <a:rPr lang="zh-CN" altLang="en-US" dirty="0"/>
              <a:t>单击此处添加主标题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FF9930E-40DF-417D-8161-BD38EB172DC1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660400" y="4111117"/>
            <a:ext cx="7401560" cy="440729"/>
          </a:xfrm>
        </p:spPr>
        <p:txBody>
          <a:bodyPr>
            <a:normAutofit/>
          </a:bodyPr>
          <a:lstStyle>
            <a:lvl1pPr marL="0" indent="0">
              <a:buNone/>
              <a:defRPr lang="en-US" altLang="zh-CN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189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377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566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754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5943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131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32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509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/>
              <a:t>点击简单描述该章节的大概内容，阐述核心思想</a:t>
            </a:r>
          </a:p>
        </p:txBody>
      </p:sp>
      <p:sp>
        <p:nvSpPr>
          <p:cNvPr id="8" name="文本占位符 7">
            <a:extLst>
              <a:ext uri="{FF2B5EF4-FFF2-40B4-BE49-F238E27FC236}">
                <a16:creationId xmlns:a16="http://schemas.microsoft.com/office/drawing/2014/main" id="{49A950A1-B947-717D-E187-AD0063089D78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60400" y="2113598"/>
            <a:ext cx="7401187" cy="950912"/>
          </a:xfrm>
        </p:spPr>
        <p:txBody>
          <a:bodyPr anchor="b">
            <a:noAutofit/>
          </a:bodyPr>
          <a:lstStyle>
            <a:lvl1pPr marL="0" indent="0">
              <a:buNone/>
              <a:defRPr sz="66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 altLang="zh-CN" dirty="0"/>
              <a:t>01</a:t>
            </a:r>
            <a:endParaRPr lang="zh-CN" altLang="en-US" dirty="0"/>
          </a:p>
        </p:txBody>
      </p:sp>
      <p:sp>
        <p:nvSpPr>
          <p:cNvPr id="43" name="任意多边形: 形状 42">
            <a:extLst>
              <a:ext uri="{FF2B5EF4-FFF2-40B4-BE49-F238E27FC236}">
                <a16:creationId xmlns:a16="http://schemas.microsoft.com/office/drawing/2014/main" id="{5D2D51EC-47FD-72C3-B4F8-45F79C45684E}"/>
              </a:ext>
            </a:extLst>
          </p:cNvPr>
          <p:cNvSpPr/>
          <p:nvPr userDrawn="1"/>
        </p:nvSpPr>
        <p:spPr>
          <a:xfrm>
            <a:off x="4907279" y="3"/>
            <a:ext cx="7284723" cy="6857999"/>
          </a:xfrm>
          <a:custGeom>
            <a:avLst/>
            <a:gdLst>
              <a:gd name="connsiteX0" fmla="*/ 1966125 w 7284723"/>
              <a:gd name="connsiteY0" fmla="*/ 0 h 6857999"/>
              <a:gd name="connsiteX1" fmla="*/ 7284723 w 7284723"/>
              <a:gd name="connsiteY1" fmla="*/ 0 h 6857999"/>
              <a:gd name="connsiteX2" fmla="*/ 7284723 w 7284723"/>
              <a:gd name="connsiteY2" fmla="*/ 6857999 h 6857999"/>
              <a:gd name="connsiteX3" fmla="*/ 1340755 w 7284723"/>
              <a:gd name="connsiteY3" fmla="*/ 6857999 h 6857999"/>
              <a:gd name="connsiteX4" fmla="*/ 1292639 w 7284723"/>
              <a:gd name="connsiteY4" fmla="*/ 6810960 h 6857999"/>
              <a:gd name="connsiteX5" fmla="*/ 0 w 7284723"/>
              <a:gd name="connsiteY5" fmla="*/ 3692584 h 6857999"/>
              <a:gd name="connsiteX6" fmla="*/ 1810751 w 7284723"/>
              <a:gd name="connsiteY6" fmla="*/ 113805 h 68579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7284723" h="6857999">
                <a:moveTo>
                  <a:pt x="1966125" y="0"/>
                </a:moveTo>
                <a:lnTo>
                  <a:pt x="7284723" y="0"/>
                </a:lnTo>
                <a:lnTo>
                  <a:pt x="7284723" y="6857999"/>
                </a:lnTo>
                <a:lnTo>
                  <a:pt x="1340755" y="6857999"/>
                </a:lnTo>
                <a:lnTo>
                  <a:pt x="1292639" y="6810960"/>
                </a:lnTo>
                <a:cubicBezTo>
                  <a:pt x="489500" y="5987340"/>
                  <a:pt x="0" y="4893243"/>
                  <a:pt x="0" y="3692584"/>
                </a:cubicBezTo>
                <a:cubicBezTo>
                  <a:pt x="0" y="2251793"/>
                  <a:pt x="704880" y="964452"/>
                  <a:pt x="1810751" y="113805"/>
                </a:cubicBezTo>
                <a:close/>
              </a:path>
            </a:pathLst>
          </a:custGeom>
          <a:gradFill flip="none" rotWithShape="1">
            <a:gsLst>
              <a:gs pos="0">
                <a:srgbClr val="6B78C4"/>
              </a:gs>
              <a:gs pos="32000">
                <a:schemeClr val="accent1">
                  <a:lumMod val="45000"/>
                  <a:lumOff val="55000"/>
                  <a:alpha val="46000"/>
                </a:schemeClr>
              </a:gs>
              <a:gs pos="84000">
                <a:schemeClr val="accent1">
                  <a:alpha val="0"/>
                </a:schemeClr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 sz="1800" dirty="0"/>
          </a:p>
        </p:txBody>
      </p:sp>
      <p:sp>
        <p:nvSpPr>
          <p:cNvPr id="28" name="任意多边形: 形状 27">
            <a:extLst>
              <a:ext uri="{FF2B5EF4-FFF2-40B4-BE49-F238E27FC236}">
                <a16:creationId xmlns:a16="http://schemas.microsoft.com/office/drawing/2014/main" id="{C8B77142-FA8F-519E-7BBD-ABAE915BDE36}"/>
              </a:ext>
            </a:extLst>
          </p:cNvPr>
          <p:cNvSpPr/>
          <p:nvPr userDrawn="1"/>
        </p:nvSpPr>
        <p:spPr>
          <a:xfrm>
            <a:off x="7528557" y="1698"/>
            <a:ext cx="6891224" cy="9100292"/>
          </a:xfrm>
          <a:custGeom>
            <a:avLst/>
            <a:gdLst>
              <a:gd name="connsiteX0" fmla="*/ 3621363 w 6891224"/>
              <a:gd name="connsiteY0" fmla="*/ 0 h 9100292"/>
              <a:gd name="connsiteX1" fmla="*/ 4663443 w 6891224"/>
              <a:gd name="connsiteY1" fmla="*/ 0 h 9100292"/>
              <a:gd name="connsiteX2" fmla="*/ 4663443 w 6891224"/>
              <a:gd name="connsiteY2" fmla="*/ 8743717 h 9100292"/>
              <a:gd name="connsiteX3" fmla="*/ 6891224 w 6891224"/>
              <a:gd name="connsiteY3" fmla="*/ 8743717 h 9100292"/>
              <a:gd name="connsiteX4" fmla="*/ 6686729 w 6891224"/>
              <a:gd name="connsiteY4" fmla="*/ 8818869 h 9100292"/>
              <a:gd name="connsiteX5" fmla="*/ 4975861 w 6891224"/>
              <a:gd name="connsiteY5" fmla="*/ 9100292 h 9100292"/>
              <a:gd name="connsiteX6" fmla="*/ 0 w 6891224"/>
              <a:gd name="connsiteY6" fmla="*/ 4462457 h 9100292"/>
              <a:gd name="connsiteX7" fmla="*/ 3496192 w 6891224"/>
              <a:gd name="connsiteY7" fmla="*/ 33130 h 9100292"/>
              <a:gd name="connsiteX8" fmla="*/ 3621363 w 6891224"/>
              <a:gd name="connsiteY8" fmla="*/ 0 h 910029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6891224" h="9100292">
                <a:moveTo>
                  <a:pt x="3621363" y="0"/>
                </a:moveTo>
                <a:lnTo>
                  <a:pt x="4663443" y="0"/>
                </a:lnTo>
                <a:lnTo>
                  <a:pt x="4663443" y="8743717"/>
                </a:lnTo>
                <a:lnTo>
                  <a:pt x="6891224" y="8743717"/>
                </a:lnTo>
                <a:lnTo>
                  <a:pt x="6686729" y="8818869"/>
                </a:lnTo>
                <a:cubicBezTo>
                  <a:pt x="6153253" y="9000932"/>
                  <a:pt x="5577006" y="9100292"/>
                  <a:pt x="4975861" y="9100292"/>
                </a:cubicBezTo>
                <a:cubicBezTo>
                  <a:pt x="2227769" y="9100292"/>
                  <a:pt x="0" y="7023863"/>
                  <a:pt x="0" y="4462457"/>
                </a:cubicBezTo>
                <a:cubicBezTo>
                  <a:pt x="0" y="2381315"/>
                  <a:pt x="1470676" y="620333"/>
                  <a:pt x="3496192" y="33130"/>
                </a:cubicBezTo>
                <a:lnTo>
                  <a:pt x="3621363" y="0"/>
                </a:lnTo>
                <a:close/>
              </a:path>
            </a:pathLst>
          </a:custGeom>
          <a:gradFill flip="none" rotWithShape="1">
            <a:gsLst>
              <a:gs pos="100000">
                <a:schemeClr val="accent1">
                  <a:lumMod val="45000"/>
                  <a:lumOff val="55000"/>
                  <a:alpha val="45000"/>
                </a:schemeClr>
              </a:gs>
              <a:gs pos="50000">
                <a:schemeClr val="accent1">
                  <a:alpha val="0"/>
                </a:schemeClr>
              </a:gs>
              <a:gs pos="0">
                <a:schemeClr val="accent1">
                  <a:alpha val="0"/>
                </a:schemeClr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 sz="1800" dirty="0"/>
          </a:p>
        </p:txBody>
      </p:sp>
      <p:sp>
        <p:nvSpPr>
          <p:cNvPr id="40" name="任意多边形: 形状 39">
            <a:extLst>
              <a:ext uri="{FF2B5EF4-FFF2-40B4-BE49-F238E27FC236}">
                <a16:creationId xmlns:a16="http://schemas.microsoft.com/office/drawing/2014/main" id="{49B6B922-9FE0-ACC0-2856-83979932223A}"/>
              </a:ext>
            </a:extLst>
          </p:cNvPr>
          <p:cNvSpPr/>
          <p:nvPr userDrawn="1"/>
        </p:nvSpPr>
        <p:spPr>
          <a:xfrm>
            <a:off x="6242193" y="3655434"/>
            <a:ext cx="5949809" cy="3202566"/>
          </a:xfrm>
          <a:custGeom>
            <a:avLst/>
            <a:gdLst>
              <a:gd name="connsiteX0" fmla="*/ 4151489 w 5949809"/>
              <a:gd name="connsiteY0" fmla="*/ 0 h 3202566"/>
              <a:gd name="connsiteX1" fmla="*/ 5824340 w 5949809"/>
              <a:gd name="connsiteY1" fmla="*/ 337733 h 3202566"/>
              <a:gd name="connsiteX2" fmla="*/ 5949809 w 5949809"/>
              <a:gd name="connsiteY2" fmla="*/ 394457 h 3202566"/>
              <a:gd name="connsiteX3" fmla="*/ 5949809 w 5949809"/>
              <a:gd name="connsiteY3" fmla="*/ 3202566 h 3202566"/>
              <a:gd name="connsiteX4" fmla="*/ 0 w 5949809"/>
              <a:gd name="connsiteY4" fmla="*/ 3202566 h 3202566"/>
              <a:gd name="connsiteX5" fmla="*/ 47025 w 5949809"/>
              <a:gd name="connsiteY5" fmla="*/ 3019682 h 3202566"/>
              <a:gd name="connsiteX6" fmla="*/ 4151489 w 5949809"/>
              <a:gd name="connsiteY6" fmla="*/ 0 h 32025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5949809" h="3202566">
                <a:moveTo>
                  <a:pt x="4151489" y="0"/>
                </a:moveTo>
                <a:cubicBezTo>
                  <a:pt x="4744875" y="0"/>
                  <a:pt x="5310173" y="120259"/>
                  <a:pt x="5824340" y="337733"/>
                </a:cubicBezTo>
                <a:lnTo>
                  <a:pt x="5949809" y="394457"/>
                </a:lnTo>
                <a:lnTo>
                  <a:pt x="5949809" y="3202566"/>
                </a:lnTo>
                <a:lnTo>
                  <a:pt x="0" y="3202566"/>
                </a:lnTo>
                <a:lnTo>
                  <a:pt x="47025" y="3019682"/>
                </a:lnTo>
                <a:cubicBezTo>
                  <a:pt x="591160" y="1270231"/>
                  <a:pt x="2222986" y="0"/>
                  <a:pt x="4151489" y="0"/>
                </a:cubicBezTo>
                <a:close/>
              </a:path>
            </a:pathLst>
          </a:custGeom>
          <a:gradFill>
            <a:gsLst>
              <a:gs pos="0">
                <a:schemeClr val="accent1"/>
              </a:gs>
              <a:gs pos="100000">
                <a:schemeClr val="accent1"/>
              </a:gs>
            </a:gsLst>
            <a:path path="circle">
              <a:fillToRect l="100000" t="100000"/>
            </a:path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 sz="1800"/>
          </a:p>
        </p:txBody>
      </p:sp>
    </p:spTree>
    <p:extLst>
      <p:ext uri="{BB962C8B-B14F-4D97-AF65-F5344CB8AC3E}">
        <p14:creationId xmlns:p14="http://schemas.microsoft.com/office/powerpoint/2010/main" val="164773060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>
            <a:extLst>
              <a:ext uri="{FF2B5EF4-FFF2-40B4-BE49-F238E27FC236}">
                <a16:creationId xmlns:a16="http://schemas.microsoft.com/office/drawing/2014/main" id="{23BD5DC2-93F8-A6A6-D337-0AFDC4E3B7D9}"/>
              </a:ext>
            </a:extLst>
          </p:cNvPr>
          <p:cNvSpPr/>
          <p:nvPr userDrawn="1"/>
        </p:nvSpPr>
        <p:spPr>
          <a:xfrm>
            <a:off x="0" y="2"/>
            <a:ext cx="12192000" cy="88310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80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52EDE83-63CC-4B33-B715-3953EADE210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60401" y="90327"/>
            <a:ext cx="10858500" cy="792781"/>
          </a:xfrm>
        </p:spPr>
        <p:txBody>
          <a:bodyPr anchor="ctr" anchorCtr="0"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r>
              <a:rPr lang="zh-CN" altLang="en-US" dirty="0"/>
              <a:t>单击此处添加主标题</a:t>
            </a:r>
          </a:p>
        </p:txBody>
      </p:sp>
      <p:grpSp>
        <p:nvGrpSpPr>
          <p:cNvPr id="8" name="组合 7">
            <a:extLst>
              <a:ext uri="{FF2B5EF4-FFF2-40B4-BE49-F238E27FC236}">
                <a16:creationId xmlns:a16="http://schemas.microsoft.com/office/drawing/2014/main" id="{330E0B63-DF19-3794-3DF0-9401BE50367F}"/>
              </a:ext>
            </a:extLst>
          </p:cNvPr>
          <p:cNvGrpSpPr/>
          <p:nvPr userDrawn="1"/>
        </p:nvGrpSpPr>
        <p:grpSpPr>
          <a:xfrm>
            <a:off x="11074400" y="-89836"/>
            <a:ext cx="1117600" cy="972451"/>
            <a:chOff x="4792887" y="84668"/>
            <a:chExt cx="7037850" cy="6773332"/>
          </a:xfrm>
        </p:grpSpPr>
        <p:sp>
          <p:nvSpPr>
            <p:cNvPr id="9" name="椭圆 8">
              <a:extLst>
                <a:ext uri="{FF2B5EF4-FFF2-40B4-BE49-F238E27FC236}">
                  <a16:creationId xmlns:a16="http://schemas.microsoft.com/office/drawing/2014/main" id="{3F370A4D-BC39-B3D9-65E0-793CBEA4D82A}"/>
                </a:ext>
              </a:extLst>
            </p:cNvPr>
            <p:cNvSpPr/>
            <p:nvPr userDrawn="1"/>
          </p:nvSpPr>
          <p:spPr>
            <a:xfrm>
              <a:off x="4792887" y="84668"/>
              <a:ext cx="7037850" cy="6773332"/>
            </a:xfrm>
            <a:prstGeom prst="ellipse">
              <a:avLst/>
            </a:prstGeom>
            <a:gradFill flip="none" rotWithShape="1">
              <a:gsLst>
                <a:gs pos="25000">
                  <a:schemeClr val="accent1">
                    <a:lumMod val="45000"/>
                    <a:lumOff val="55000"/>
                    <a:alpha val="45000"/>
                  </a:schemeClr>
                </a:gs>
                <a:gs pos="83000">
                  <a:schemeClr val="accent1">
                    <a:alpha val="0"/>
                  </a:schemeClr>
                </a:gs>
                <a:gs pos="100000">
                  <a:schemeClr val="accent1">
                    <a:alpha val="0"/>
                  </a:schemeClr>
                </a:gs>
              </a:gsLst>
              <a:path path="circle">
                <a:fillToRect l="100000" t="100000"/>
              </a:path>
              <a:tileRect r="-100000" b="-10000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/>
            </a:p>
          </p:txBody>
        </p:sp>
        <p:sp>
          <p:nvSpPr>
            <p:cNvPr id="10" name="椭圆 9">
              <a:extLst>
                <a:ext uri="{FF2B5EF4-FFF2-40B4-BE49-F238E27FC236}">
                  <a16:creationId xmlns:a16="http://schemas.microsoft.com/office/drawing/2014/main" id="{6BF1186D-E493-415B-0DB8-79DE79037869}"/>
                </a:ext>
              </a:extLst>
            </p:cNvPr>
            <p:cNvSpPr/>
            <p:nvPr userDrawn="1"/>
          </p:nvSpPr>
          <p:spPr>
            <a:xfrm>
              <a:off x="7949863" y="3285061"/>
              <a:ext cx="2838856" cy="2950641"/>
            </a:xfrm>
            <a:prstGeom prst="ellipse">
              <a:avLst/>
            </a:prstGeom>
            <a:gradFill flip="none" rotWithShape="1">
              <a:gsLst>
                <a:gs pos="34000">
                  <a:schemeClr val="accent2">
                    <a:alpha val="34000"/>
                  </a:schemeClr>
                </a:gs>
                <a:gs pos="74000">
                  <a:schemeClr val="accent1"/>
                </a:gs>
              </a:gsLst>
              <a:lin ang="2700000" scaled="1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/>
            </a:p>
          </p:txBody>
        </p:sp>
      </p:grpSp>
      <p:sp>
        <p:nvSpPr>
          <p:cNvPr id="12" name="任意多边形: 形状 11">
            <a:extLst>
              <a:ext uri="{FF2B5EF4-FFF2-40B4-BE49-F238E27FC236}">
                <a16:creationId xmlns:a16="http://schemas.microsoft.com/office/drawing/2014/main" id="{705CAEB6-4A51-02B2-D69B-9EF3C0945242}"/>
              </a:ext>
            </a:extLst>
          </p:cNvPr>
          <p:cNvSpPr/>
          <p:nvPr userDrawn="1"/>
        </p:nvSpPr>
        <p:spPr>
          <a:xfrm>
            <a:off x="0" y="2"/>
            <a:ext cx="792480" cy="792781"/>
          </a:xfrm>
          <a:custGeom>
            <a:avLst/>
            <a:gdLst>
              <a:gd name="connsiteX0" fmla="*/ 0 w 2712356"/>
              <a:gd name="connsiteY0" fmla="*/ 0 h 2713385"/>
              <a:gd name="connsiteX1" fmla="*/ 2635987 w 2712356"/>
              <a:gd name="connsiteY1" fmla="*/ 0 h 2713385"/>
              <a:gd name="connsiteX2" fmla="*/ 2670483 w 2712356"/>
              <a:gd name="connsiteY2" fmla="*/ 139441 h 2713385"/>
              <a:gd name="connsiteX3" fmla="*/ 2712356 w 2712356"/>
              <a:gd name="connsiteY3" fmla="*/ 571172 h 2713385"/>
              <a:gd name="connsiteX4" fmla="*/ 651295 w 2712356"/>
              <a:gd name="connsiteY4" fmla="*/ 2713385 h 2713385"/>
              <a:gd name="connsiteX5" fmla="*/ 38398 w 2712356"/>
              <a:gd name="connsiteY5" fmla="*/ 2617075 h 2713385"/>
              <a:gd name="connsiteX6" fmla="*/ 0 w 2712356"/>
              <a:gd name="connsiteY6" fmla="*/ 2602468 h 2713385"/>
              <a:gd name="connsiteX7" fmla="*/ 0 w 2712356"/>
              <a:gd name="connsiteY7" fmla="*/ 0 h 27133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2712356" h="2713385">
                <a:moveTo>
                  <a:pt x="0" y="0"/>
                </a:moveTo>
                <a:lnTo>
                  <a:pt x="2635987" y="0"/>
                </a:lnTo>
                <a:lnTo>
                  <a:pt x="2670483" y="139441"/>
                </a:lnTo>
                <a:cubicBezTo>
                  <a:pt x="2697938" y="278894"/>
                  <a:pt x="2712356" y="423283"/>
                  <a:pt x="2712356" y="571172"/>
                </a:cubicBezTo>
                <a:cubicBezTo>
                  <a:pt x="2712356" y="1754284"/>
                  <a:pt x="1789588" y="2713385"/>
                  <a:pt x="651295" y="2713385"/>
                </a:cubicBezTo>
                <a:cubicBezTo>
                  <a:pt x="437865" y="2713385"/>
                  <a:pt x="232012" y="2679667"/>
                  <a:pt x="38398" y="2617075"/>
                </a:cubicBezTo>
                <a:lnTo>
                  <a:pt x="0" y="2602468"/>
                </a:lnTo>
                <a:lnTo>
                  <a:pt x="0" y="0"/>
                </a:lnTo>
                <a:close/>
              </a:path>
            </a:pathLst>
          </a:custGeom>
          <a:gradFill flip="none" rotWithShape="1">
            <a:gsLst>
              <a:gs pos="86000">
                <a:srgbClr val="B1B6D1">
                  <a:alpha val="0"/>
                </a:srgbClr>
              </a:gs>
              <a:gs pos="34000">
                <a:srgbClr val="8B93C4">
                  <a:alpha val="42000"/>
                </a:srgbClr>
              </a:gs>
              <a:gs pos="79000">
                <a:schemeClr val="accent1">
                  <a:alpha val="40000"/>
                </a:schemeClr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/>
          </a:p>
        </p:txBody>
      </p:sp>
    </p:spTree>
    <p:extLst>
      <p:ext uri="{BB962C8B-B14F-4D97-AF65-F5344CB8AC3E}">
        <p14:creationId xmlns:p14="http://schemas.microsoft.com/office/powerpoint/2010/main" val="354548132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和正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>
            <a:extLst>
              <a:ext uri="{FF2B5EF4-FFF2-40B4-BE49-F238E27FC236}">
                <a16:creationId xmlns:a16="http://schemas.microsoft.com/office/drawing/2014/main" id="{23BD5DC2-93F8-A6A6-D337-0AFDC4E3B7D9}"/>
              </a:ext>
            </a:extLst>
          </p:cNvPr>
          <p:cNvSpPr/>
          <p:nvPr userDrawn="1"/>
        </p:nvSpPr>
        <p:spPr>
          <a:xfrm>
            <a:off x="0" y="2"/>
            <a:ext cx="12192000" cy="88310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80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52EDE83-63CC-4B33-B715-3953EADE210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60401" y="90327"/>
            <a:ext cx="10858500" cy="792781"/>
          </a:xfrm>
        </p:spPr>
        <p:txBody>
          <a:bodyPr anchor="ctr" anchorCtr="0">
            <a:normAutofit/>
          </a:bodyPr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r>
              <a:rPr lang="zh-CN" altLang="en-US" dirty="0"/>
              <a:t>单击此处添加主标题</a:t>
            </a:r>
          </a:p>
        </p:txBody>
      </p:sp>
      <p:grpSp>
        <p:nvGrpSpPr>
          <p:cNvPr id="8" name="组合 7">
            <a:extLst>
              <a:ext uri="{FF2B5EF4-FFF2-40B4-BE49-F238E27FC236}">
                <a16:creationId xmlns:a16="http://schemas.microsoft.com/office/drawing/2014/main" id="{330E0B63-DF19-3794-3DF0-9401BE50367F}"/>
              </a:ext>
            </a:extLst>
          </p:cNvPr>
          <p:cNvGrpSpPr/>
          <p:nvPr userDrawn="1"/>
        </p:nvGrpSpPr>
        <p:grpSpPr>
          <a:xfrm>
            <a:off x="11074400" y="-89836"/>
            <a:ext cx="1117600" cy="972451"/>
            <a:chOff x="4792887" y="84668"/>
            <a:chExt cx="7037850" cy="6773332"/>
          </a:xfrm>
        </p:grpSpPr>
        <p:sp>
          <p:nvSpPr>
            <p:cNvPr id="9" name="椭圆 8">
              <a:extLst>
                <a:ext uri="{FF2B5EF4-FFF2-40B4-BE49-F238E27FC236}">
                  <a16:creationId xmlns:a16="http://schemas.microsoft.com/office/drawing/2014/main" id="{3F370A4D-BC39-B3D9-65E0-793CBEA4D82A}"/>
                </a:ext>
              </a:extLst>
            </p:cNvPr>
            <p:cNvSpPr/>
            <p:nvPr userDrawn="1"/>
          </p:nvSpPr>
          <p:spPr>
            <a:xfrm>
              <a:off x="4792887" y="84668"/>
              <a:ext cx="7037850" cy="6773332"/>
            </a:xfrm>
            <a:prstGeom prst="ellipse">
              <a:avLst/>
            </a:prstGeom>
            <a:gradFill flip="none" rotWithShape="1">
              <a:gsLst>
                <a:gs pos="25000">
                  <a:schemeClr val="accent1">
                    <a:lumMod val="45000"/>
                    <a:lumOff val="55000"/>
                    <a:alpha val="45000"/>
                  </a:schemeClr>
                </a:gs>
                <a:gs pos="83000">
                  <a:schemeClr val="accent1">
                    <a:alpha val="0"/>
                  </a:schemeClr>
                </a:gs>
                <a:gs pos="100000">
                  <a:schemeClr val="accent1">
                    <a:alpha val="0"/>
                  </a:schemeClr>
                </a:gs>
              </a:gsLst>
              <a:path path="circle">
                <a:fillToRect l="100000" t="100000"/>
              </a:path>
              <a:tileRect r="-100000" b="-10000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/>
            </a:p>
          </p:txBody>
        </p:sp>
        <p:sp>
          <p:nvSpPr>
            <p:cNvPr id="10" name="椭圆 9">
              <a:extLst>
                <a:ext uri="{FF2B5EF4-FFF2-40B4-BE49-F238E27FC236}">
                  <a16:creationId xmlns:a16="http://schemas.microsoft.com/office/drawing/2014/main" id="{6BF1186D-E493-415B-0DB8-79DE79037869}"/>
                </a:ext>
              </a:extLst>
            </p:cNvPr>
            <p:cNvSpPr/>
            <p:nvPr userDrawn="1"/>
          </p:nvSpPr>
          <p:spPr>
            <a:xfrm>
              <a:off x="7949863" y="3285061"/>
              <a:ext cx="2838856" cy="2950641"/>
            </a:xfrm>
            <a:prstGeom prst="ellipse">
              <a:avLst/>
            </a:prstGeom>
            <a:gradFill flip="none" rotWithShape="1">
              <a:gsLst>
                <a:gs pos="34000">
                  <a:schemeClr val="accent2">
                    <a:alpha val="34000"/>
                  </a:schemeClr>
                </a:gs>
                <a:gs pos="74000">
                  <a:schemeClr val="accent1"/>
                </a:gs>
              </a:gsLst>
              <a:lin ang="2700000" scaled="1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/>
            </a:p>
          </p:txBody>
        </p:sp>
      </p:grpSp>
      <p:sp>
        <p:nvSpPr>
          <p:cNvPr id="12" name="任意多边形: 形状 11">
            <a:extLst>
              <a:ext uri="{FF2B5EF4-FFF2-40B4-BE49-F238E27FC236}">
                <a16:creationId xmlns:a16="http://schemas.microsoft.com/office/drawing/2014/main" id="{705CAEB6-4A51-02B2-D69B-9EF3C0945242}"/>
              </a:ext>
            </a:extLst>
          </p:cNvPr>
          <p:cNvSpPr/>
          <p:nvPr userDrawn="1"/>
        </p:nvSpPr>
        <p:spPr>
          <a:xfrm>
            <a:off x="0" y="2"/>
            <a:ext cx="792480" cy="792781"/>
          </a:xfrm>
          <a:custGeom>
            <a:avLst/>
            <a:gdLst>
              <a:gd name="connsiteX0" fmla="*/ 0 w 2712356"/>
              <a:gd name="connsiteY0" fmla="*/ 0 h 2713385"/>
              <a:gd name="connsiteX1" fmla="*/ 2635987 w 2712356"/>
              <a:gd name="connsiteY1" fmla="*/ 0 h 2713385"/>
              <a:gd name="connsiteX2" fmla="*/ 2670483 w 2712356"/>
              <a:gd name="connsiteY2" fmla="*/ 139441 h 2713385"/>
              <a:gd name="connsiteX3" fmla="*/ 2712356 w 2712356"/>
              <a:gd name="connsiteY3" fmla="*/ 571172 h 2713385"/>
              <a:gd name="connsiteX4" fmla="*/ 651295 w 2712356"/>
              <a:gd name="connsiteY4" fmla="*/ 2713385 h 2713385"/>
              <a:gd name="connsiteX5" fmla="*/ 38398 w 2712356"/>
              <a:gd name="connsiteY5" fmla="*/ 2617075 h 2713385"/>
              <a:gd name="connsiteX6" fmla="*/ 0 w 2712356"/>
              <a:gd name="connsiteY6" fmla="*/ 2602468 h 2713385"/>
              <a:gd name="connsiteX7" fmla="*/ 0 w 2712356"/>
              <a:gd name="connsiteY7" fmla="*/ 0 h 27133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2712356" h="2713385">
                <a:moveTo>
                  <a:pt x="0" y="0"/>
                </a:moveTo>
                <a:lnTo>
                  <a:pt x="2635987" y="0"/>
                </a:lnTo>
                <a:lnTo>
                  <a:pt x="2670483" y="139441"/>
                </a:lnTo>
                <a:cubicBezTo>
                  <a:pt x="2697938" y="278894"/>
                  <a:pt x="2712356" y="423283"/>
                  <a:pt x="2712356" y="571172"/>
                </a:cubicBezTo>
                <a:cubicBezTo>
                  <a:pt x="2712356" y="1754284"/>
                  <a:pt x="1789588" y="2713385"/>
                  <a:pt x="651295" y="2713385"/>
                </a:cubicBezTo>
                <a:cubicBezTo>
                  <a:pt x="437865" y="2713385"/>
                  <a:pt x="232012" y="2679667"/>
                  <a:pt x="38398" y="2617075"/>
                </a:cubicBezTo>
                <a:lnTo>
                  <a:pt x="0" y="2602468"/>
                </a:lnTo>
                <a:lnTo>
                  <a:pt x="0" y="0"/>
                </a:lnTo>
                <a:close/>
              </a:path>
            </a:pathLst>
          </a:custGeom>
          <a:gradFill flip="none" rotWithShape="1">
            <a:gsLst>
              <a:gs pos="86000">
                <a:srgbClr val="B1B6D1">
                  <a:alpha val="0"/>
                </a:srgbClr>
              </a:gs>
              <a:gs pos="34000">
                <a:srgbClr val="8B93C4">
                  <a:alpha val="42000"/>
                </a:srgbClr>
              </a:gs>
              <a:gs pos="79000">
                <a:schemeClr val="accent1">
                  <a:alpha val="40000"/>
                </a:schemeClr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A2A9F09-7DDC-32D6-81D8-6D33FC4931A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60401" y="1130300"/>
            <a:ext cx="10858500" cy="5003800"/>
          </a:xfrm>
        </p:spPr>
        <p:txBody>
          <a:bodyPr>
            <a:normAutofit/>
          </a:bodyPr>
          <a:lstStyle>
            <a:lvl1pPr>
              <a:lnSpc>
                <a:spcPct val="110000"/>
              </a:lnSpc>
              <a:spcBef>
                <a:spcPts val="600"/>
              </a:spcBef>
              <a:defRPr sz="2400" baseline="0">
                <a:latin typeface="Arial" panose="020B0604020202020204" pitchFamily="34" charset="0"/>
                <a:ea typeface="微软雅黑" panose="020B0503020204020204" pitchFamily="34" charset="-122"/>
              </a:defRPr>
            </a:lvl1pPr>
            <a:lvl2pPr>
              <a:lnSpc>
                <a:spcPct val="110000"/>
              </a:lnSpc>
              <a:spcBef>
                <a:spcPts val="600"/>
              </a:spcBef>
              <a:defRPr sz="2000" baseline="0">
                <a:latin typeface="Arial" panose="020B0604020202020204" pitchFamily="34" charset="0"/>
                <a:ea typeface="微软雅黑" panose="020B0503020204020204" pitchFamily="34" charset="-122"/>
              </a:defRPr>
            </a:lvl2pPr>
            <a:lvl3pPr>
              <a:lnSpc>
                <a:spcPct val="110000"/>
              </a:lnSpc>
              <a:spcBef>
                <a:spcPts val="600"/>
              </a:spcBef>
              <a:defRPr sz="1800" baseline="0">
                <a:latin typeface="Arial" panose="020B0604020202020204" pitchFamily="34" charset="0"/>
                <a:ea typeface="微软雅黑" panose="020B0503020204020204" pitchFamily="34" charset="-122"/>
              </a:defRPr>
            </a:lvl3pPr>
            <a:lvl4pPr>
              <a:lnSpc>
                <a:spcPct val="110000"/>
              </a:lnSpc>
              <a:spcBef>
                <a:spcPts val="600"/>
              </a:spcBef>
              <a:defRPr sz="1600" baseline="0">
                <a:latin typeface="Arial" panose="020B0604020202020204" pitchFamily="34" charset="0"/>
                <a:ea typeface="微软雅黑" panose="020B0503020204020204" pitchFamily="34" charset="-122"/>
              </a:defRPr>
            </a:lvl4pPr>
            <a:lvl5pPr>
              <a:lnSpc>
                <a:spcPct val="110000"/>
              </a:lnSpc>
              <a:spcBef>
                <a:spcPts val="600"/>
              </a:spcBef>
              <a:defRPr sz="1600" baseline="0">
                <a:latin typeface="Arial" panose="020B0604020202020204" pitchFamily="34" charset="0"/>
                <a:ea typeface="微软雅黑" panose="020B0503020204020204" pitchFamily="34" charset="-122"/>
              </a:defRPr>
            </a:lvl5pPr>
          </a:lstStyle>
          <a:p>
            <a:pPr lvl="0"/>
            <a:r>
              <a:rPr lang="en-US" altLang="zh-CN" dirty="0"/>
              <a:t>Click to edit Master text styles</a:t>
            </a:r>
          </a:p>
          <a:p>
            <a:pPr lvl="1"/>
            <a:r>
              <a:rPr lang="en-US" altLang="zh-CN" dirty="0"/>
              <a:t>Second level</a:t>
            </a:r>
          </a:p>
          <a:p>
            <a:pPr lvl="2"/>
            <a:r>
              <a:rPr lang="en-US" altLang="zh-CN" dirty="0"/>
              <a:t>Third level</a:t>
            </a:r>
          </a:p>
          <a:p>
            <a:pPr lvl="3"/>
            <a:r>
              <a:rPr lang="en-US" altLang="zh-CN" dirty="0"/>
              <a:t>Fourth level</a:t>
            </a:r>
          </a:p>
          <a:p>
            <a:pPr lvl="4"/>
            <a:r>
              <a:rPr lang="en-US" altLang="zh-CN" dirty="0"/>
              <a:t>Fifth level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39519443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DC6DA8-D137-41D2-A934-63CB8FFB8B8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 altLang="zh-CN" dirty="0"/>
              <a:t>Click to edit title</a:t>
            </a:r>
            <a:endParaRPr lang="zh-CN" alt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CED916A-3E34-4B9E-8F9F-7A8921A30F9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altLang="zh-CN" dirty="0"/>
              <a:t>Click to edit Master text styles</a:t>
            </a:r>
          </a:p>
          <a:p>
            <a:pPr lvl="1"/>
            <a:r>
              <a:rPr lang="en-US" altLang="zh-CN" dirty="0"/>
              <a:t>Second level</a:t>
            </a:r>
          </a:p>
          <a:p>
            <a:pPr lvl="2"/>
            <a:r>
              <a:rPr lang="en-US" altLang="zh-CN" dirty="0"/>
              <a:t>Third level</a:t>
            </a:r>
          </a:p>
          <a:p>
            <a:pPr lvl="3"/>
            <a:r>
              <a:rPr lang="en-US" altLang="zh-CN" dirty="0"/>
              <a:t>Fourth level</a:t>
            </a:r>
          </a:p>
          <a:p>
            <a:pPr lvl="4"/>
            <a:r>
              <a:rPr lang="en-US" altLang="zh-CN" dirty="0"/>
              <a:t>Fifth level</a:t>
            </a:r>
            <a:endParaRPr lang="zh-CN" altLang="en-US" dirty="0"/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8AB63B05-F6A0-3D6F-F801-8D11984D08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581C77-C049-4AAA-A3C8-544909BBB11E}" type="datetime1">
              <a:rPr lang="zh-CN" altLang="en-US" smtClean="0"/>
              <a:t>2023/9/28</a:t>
            </a:fld>
            <a:endParaRPr lang="en-US" altLang="zh-CN" dirty="0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127CA976-277E-412D-DEC7-ABBF4B1C5C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65B630-C7FF-41C0-9923-C5E5E29EED81}" type="slidenum">
              <a:rPr lang="en-US" altLang="zh-CN" smtClean="0"/>
              <a:pPr/>
              <a:t>‹#›</a:t>
            </a:fld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26429679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 www.51pptmoban.c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日期占位符 4">
            <a:extLst>
              <a:ext uri="{FF2B5EF4-FFF2-40B4-BE49-F238E27FC236}">
                <a16:creationId xmlns:a16="http://schemas.microsoft.com/office/drawing/2014/main" id="{7F34B5E9-7F1A-757A-6933-C2854022C3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581C77-C049-4AAA-A3C8-544909BBB11E}" type="datetime1">
              <a:rPr lang="zh-CN" altLang="en-US" smtClean="0"/>
              <a:t>2023/9/28</a:t>
            </a:fld>
            <a:endParaRPr lang="en-US" altLang="zh-CN" dirty="0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DED42E90-FD3D-CF04-A89E-B408C65962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商务</a:t>
            </a:r>
            <a:r>
              <a:rPr lang="en-US" altLang="zh-CN"/>
              <a:t>PPT</a:t>
            </a:r>
            <a:r>
              <a:rPr lang="zh-CN" altLang="en-US"/>
              <a:t>模板</a:t>
            </a:r>
            <a:endParaRPr lang="zh-CN" altLang="en-US" dirty="0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BC451E9D-D337-3CDB-5813-83070E69D7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65B630-C7FF-41C0-9923-C5E5E29EED81}" type="slidenum">
              <a:rPr lang="en-US" altLang="zh-CN" smtClean="0"/>
              <a:pPr/>
              <a:t>‹#›</a:t>
            </a:fld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346350369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末尾幻灯片">
    <p:bg>
      <p:bgPr>
        <a:gradFill>
          <a:gsLst>
            <a:gs pos="41000">
              <a:schemeClr val="accent1"/>
            </a:gs>
            <a:gs pos="100000">
              <a:schemeClr val="accent1">
                <a:alpha val="90000"/>
              </a:schemeClr>
            </a:gs>
          </a:gsLst>
          <a:path path="circle">
            <a:fillToRect r="100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 1">
            <a:extLst>
              <a:ext uri="{FF2B5EF4-FFF2-40B4-BE49-F238E27FC236}">
                <a16:creationId xmlns:a16="http://schemas.microsoft.com/office/drawing/2014/main" id="{AAA98E5A-3A9B-76BC-8AC3-016C59AA4760}"/>
              </a:ext>
            </a:extLst>
          </p:cNvPr>
          <p:cNvGrpSpPr/>
          <p:nvPr userDrawn="1"/>
        </p:nvGrpSpPr>
        <p:grpSpPr>
          <a:xfrm>
            <a:off x="4643122" y="42334"/>
            <a:ext cx="7182311" cy="6773332"/>
            <a:chOff x="4648426" y="84668"/>
            <a:chExt cx="7182311" cy="6773332"/>
          </a:xfrm>
        </p:grpSpPr>
        <p:sp>
          <p:nvSpPr>
            <p:cNvPr id="3" name="椭圆 2">
              <a:extLst>
                <a:ext uri="{FF2B5EF4-FFF2-40B4-BE49-F238E27FC236}">
                  <a16:creationId xmlns:a16="http://schemas.microsoft.com/office/drawing/2014/main" id="{443180D6-55C2-456A-876B-6DFD6FED559E}"/>
                </a:ext>
              </a:extLst>
            </p:cNvPr>
            <p:cNvSpPr/>
            <p:nvPr userDrawn="1"/>
          </p:nvSpPr>
          <p:spPr>
            <a:xfrm>
              <a:off x="4792887" y="84668"/>
              <a:ext cx="7037850" cy="6773332"/>
            </a:xfrm>
            <a:prstGeom prst="ellipse">
              <a:avLst/>
            </a:prstGeom>
            <a:gradFill flip="none" rotWithShape="1">
              <a:gsLst>
                <a:gs pos="25000">
                  <a:schemeClr val="accent1">
                    <a:lumMod val="45000"/>
                    <a:lumOff val="55000"/>
                    <a:alpha val="45000"/>
                  </a:schemeClr>
                </a:gs>
                <a:gs pos="83000">
                  <a:schemeClr val="accent1">
                    <a:alpha val="0"/>
                  </a:schemeClr>
                </a:gs>
                <a:gs pos="100000">
                  <a:schemeClr val="accent1">
                    <a:alpha val="0"/>
                  </a:schemeClr>
                </a:gs>
              </a:gsLst>
              <a:path path="circle">
                <a:fillToRect l="100000" t="100000"/>
              </a:path>
              <a:tileRect r="-100000" b="-10000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/>
            </a:p>
          </p:txBody>
        </p:sp>
        <p:sp>
          <p:nvSpPr>
            <p:cNvPr id="4" name="椭圆 3">
              <a:extLst>
                <a:ext uri="{FF2B5EF4-FFF2-40B4-BE49-F238E27FC236}">
                  <a16:creationId xmlns:a16="http://schemas.microsoft.com/office/drawing/2014/main" id="{CCE37F71-F955-2E51-24EA-BAE38D51B2AA}"/>
                </a:ext>
              </a:extLst>
            </p:cNvPr>
            <p:cNvSpPr/>
            <p:nvPr userDrawn="1"/>
          </p:nvSpPr>
          <p:spPr>
            <a:xfrm>
              <a:off x="7949862" y="3285063"/>
              <a:ext cx="2838859" cy="2950637"/>
            </a:xfrm>
            <a:prstGeom prst="ellipse">
              <a:avLst/>
            </a:prstGeom>
            <a:gradFill flip="none" rotWithShape="1">
              <a:gsLst>
                <a:gs pos="11000">
                  <a:srgbClr val="B1B6D1">
                    <a:alpha val="0"/>
                  </a:srgbClr>
                </a:gs>
                <a:gs pos="44000">
                  <a:srgbClr val="8B93C4">
                    <a:alpha val="42000"/>
                  </a:srgbClr>
                </a:gs>
                <a:gs pos="74000">
                  <a:schemeClr val="accent1"/>
                </a:gs>
              </a:gsLst>
              <a:lin ang="2700000" scaled="1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/>
            </a:p>
          </p:txBody>
        </p:sp>
        <p:sp>
          <p:nvSpPr>
            <p:cNvPr id="5" name="椭圆 4">
              <a:extLst>
                <a:ext uri="{FF2B5EF4-FFF2-40B4-BE49-F238E27FC236}">
                  <a16:creationId xmlns:a16="http://schemas.microsoft.com/office/drawing/2014/main" id="{2863C955-22E4-E129-BD9B-0A61289448AA}"/>
                </a:ext>
              </a:extLst>
            </p:cNvPr>
            <p:cNvSpPr/>
            <p:nvPr userDrawn="1"/>
          </p:nvSpPr>
          <p:spPr>
            <a:xfrm>
              <a:off x="4648426" y="897517"/>
              <a:ext cx="1312288" cy="1363958"/>
            </a:xfrm>
            <a:prstGeom prst="ellipse">
              <a:avLst/>
            </a:prstGeom>
            <a:gradFill flip="none" rotWithShape="1">
              <a:gsLst>
                <a:gs pos="20000">
                  <a:schemeClr val="accent2">
                    <a:alpha val="36000"/>
                  </a:schemeClr>
                </a:gs>
                <a:gs pos="100000">
                  <a:schemeClr val="accent1">
                    <a:alpha val="55000"/>
                  </a:schemeClr>
                </a:gs>
              </a:gsLst>
              <a:lin ang="2700000" scaled="1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/>
            </a:p>
          </p:txBody>
        </p:sp>
      </p:grpSp>
      <p:sp>
        <p:nvSpPr>
          <p:cNvPr id="6" name="任意多边形: 形状 5">
            <a:extLst>
              <a:ext uri="{FF2B5EF4-FFF2-40B4-BE49-F238E27FC236}">
                <a16:creationId xmlns:a16="http://schemas.microsoft.com/office/drawing/2014/main" id="{9BF1409B-5AAA-AD35-F9DB-81783BA40697}"/>
              </a:ext>
            </a:extLst>
          </p:cNvPr>
          <p:cNvSpPr/>
          <p:nvPr userDrawn="1"/>
        </p:nvSpPr>
        <p:spPr>
          <a:xfrm>
            <a:off x="1" y="2"/>
            <a:ext cx="2712356" cy="2713385"/>
          </a:xfrm>
          <a:custGeom>
            <a:avLst/>
            <a:gdLst>
              <a:gd name="connsiteX0" fmla="*/ 0 w 2712356"/>
              <a:gd name="connsiteY0" fmla="*/ 0 h 2713385"/>
              <a:gd name="connsiteX1" fmla="*/ 2635987 w 2712356"/>
              <a:gd name="connsiteY1" fmla="*/ 0 h 2713385"/>
              <a:gd name="connsiteX2" fmla="*/ 2670483 w 2712356"/>
              <a:gd name="connsiteY2" fmla="*/ 139441 h 2713385"/>
              <a:gd name="connsiteX3" fmla="*/ 2712356 w 2712356"/>
              <a:gd name="connsiteY3" fmla="*/ 571172 h 2713385"/>
              <a:gd name="connsiteX4" fmla="*/ 651295 w 2712356"/>
              <a:gd name="connsiteY4" fmla="*/ 2713385 h 2713385"/>
              <a:gd name="connsiteX5" fmla="*/ 38398 w 2712356"/>
              <a:gd name="connsiteY5" fmla="*/ 2617075 h 2713385"/>
              <a:gd name="connsiteX6" fmla="*/ 0 w 2712356"/>
              <a:gd name="connsiteY6" fmla="*/ 2602468 h 2713385"/>
              <a:gd name="connsiteX7" fmla="*/ 0 w 2712356"/>
              <a:gd name="connsiteY7" fmla="*/ 0 h 27133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2712356" h="2713385">
                <a:moveTo>
                  <a:pt x="0" y="0"/>
                </a:moveTo>
                <a:lnTo>
                  <a:pt x="2635987" y="0"/>
                </a:lnTo>
                <a:lnTo>
                  <a:pt x="2670483" y="139441"/>
                </a:lnTo>
                <a:cubicBezTo>
                  <a:pt x="2697938" y="278894"/>
                  <a:pt x="2712356" y="423283"/>
                  <a:pt x="2712356" y="571172"/>
                </a:cubicBezTo>
                <a:cubicBezTo>
                  <a:pt x="2712356" y="1754284"/>
                  <a:pt x="1789588" y="2713385"/>
                  <a:pt x="651295" y="2713385"/>
                </a:cubicBezTo>
                <a:cubicBezTo>
                  <a:pt x="437865" y="2713385"/>
                  <a:pt x="232012" y="2679667"/>
                  <a:pt x="38398" y="2617075"/>
                </a:cubicBezTo>
                <a:lnTo>
                  <a:pt x="0" y="2602468"/>
                </a:lnTo>
                <a:lnTo>
                  <a:pt x="0" y="0"/>
                </a:lnTo>
                <a:close/>
              </a:path>
            </a:pathLst>
          </a:custGeom>
          <a:gradFill flip="none" rotWithShape="1">
            <a:gsLst>
              <a:gs pos="86000">
                <a:srgbClr val="B1B6D1">
                  <a:alpha val="0"/>
                </a:srgbClr>
              </a:gs>
              <a:gs pos="34000">
                <a:srgbClr val="8B93C4">
                  <a:alpha val="42000"/>
                </a:srgbClr>
              </a:gs>
              <a:gs pos="79000">
                <a:schemeClr val="accent1">
                  <a:alpha val="40000"/>
                </a:schemeClr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/>
          </a:p>
        </p:txBody>
      </p:sp>
      <p:sp>
        <p:nvSpPr>
          <p:cNvPr id="10" name="Speaker Placeholder 3">
            <a:extLst>
              <a:ext uri="{FF2B5EF4-FFF2-40B4-BE49-F238E27FC236}">
                <a16:creationId xmlns:a16="http://schemas.microsoft.com/office/drawing/2014/main" id="{393CF57B-4E6D-EC77-AFD7-10BC4CE1EEA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660401" y="3769098"/>
            <a:ext cx="5568951" cy="296271"/>
          </a:xfrm>
        </p:spPr>
        <p:txBody>
          <a:bodyPr vert="horz" lIns="91440" tIns="45720" rIns="91440" bIns="45720" rtlCol="0" anchor="ctr">
            <a:noAutofit/>
          </a:bodyPr>
          <a:lstStyle>
            <a:lvl1pPr marL="0" indent="0" algn="l">
              <a:buNone/>
              <a:defRPr lang="en-US" altLang="zh-CN" sz="2000" b="0" smtClean="0">
                <a:solidFill>
                  <a:srgbClr val="FFFFFF"/>
                </a:solidFill>
              </a:defRPr>
            </a:lvl1pPr>
            <a:lvl2pPr>
              <a:defRPr lang="en-US" altLang="zh-CN" sz="1600" smtClean="0"/>
            </a:lvl2pPr>
            <a:lvl3pPr>
              <a:defRPr lang="en-US" altLang="zh-CN" sz="1400" smtClean="0"/>
            </a:lvl3pPr>
            <a:lvl4pPr>
              <a:defRPr lang="en-US" altLang="zh-CN" sz="1200" smtClean="0"/>
            </a:lvl4pPr>
            <a:lvl5pPr>
              <a:defRPr lang="zh-CN" altLang="en-US" sz="1200"/>
            </a:lvl5pPr>
          </a:lstStyle>
          <a:p>
            <a:r>
              <a:rPr lang="zh-CN" altLang="en-US" dirty="0"/>
              <a:t>汇报人：</a:t>
            </a:r>
            <a:r>
              <a:rPr lang="en-US" altLang="zh-CN" dirty="0"/>
              <a:t>XXX</a:t>
            </a:r>
          </a:p>
        </p:txBody>
      </p:sp>
      <p:sp>
        <p:nvSpPr>
          <p:cNvPr id="11" name="Date Placeholder 4">
            <a:extLst>
              <a:ext uri="{FF2B5EF4-FFF2-40B4-BE49-F238E27FC236}">
                <a16:creationId xmlns:a16="http://schemas.microsoft.com/office/drawing/2014/main" id="{0491E251-5B90-7136-462F-BC5F844245A3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60401" y="4174440"/>
            <a:ext cx="5568951" cy="335488"/>
          </a:xfrm>
        </p:spPr>
        <p:txBody>
          <a:bodyPr vert="horz" lIns="91440" tIns="45720" rIns="91440" bIns="45720" rtlCol="0" anchor="ctr">
            <a:noAutofit/>
          </a:bodyPr>
          <a:lstStyle>
            <a:lvl1pPr marL="0" indent="0" algn="l">
              <a:buNone/>
              <a:defRPr lang="en-US" altLang="zh-CN" sz="2000" b="0" smtClean="0">
                <a:solidFill>
                  <a:srgbClr val="FFFFFF"/>
                </a:solidFill>
              </a:defRPr>
            </a:lvl1pPr>
            <a:lvl2pPr>
              <a:defRPr lang="en-US" altLang="zh-CN" sz="1600" smtClean="0"/>
            </a:lvl2pPr>
            <a:lvl3pPr>
              <a:defRPr lang="en-US" altLang="zh-CN" sz="1400" smtClean="0"/>
            </a:lvl3pPr>
            <a:lvl4pPr>
              <a:defRPr lang="en-US" altLang="zh-CN" sz="1200" smtClean="0"/>
            </a:lvl4pPr>
            <a:lvl5pPr>
              <a:defRPr lang="zh-CN" altLang="en-US" sz="1200"/>
            </a:lvl5pPr>
          </a:lstStyle>
          <a:p>
            <a:r>
              <a:rPr lang="zh-CN" altLang="en-US" dirty="0"/>
              <a:t>日期：</a:t>
            </a:r>
            <a:r>
              <a:rPr lang="en-US" altLang="zh-CN" dirty="0"/>
              <a:t>20XX</a:t>
            </a:r>
            <a:r>
              <a:rPr lang="zh-CN" altLang="en-US" dirty="0"/>
              <a:t>年</a:t>
            </a:r>
            <a:r>
              <a:rPr lang="en-US" altLang="zh-CN" dirty="0"/>
              <a:t>XX</a:t>
            </a:r>
            <a:r>
              <a:rPr lang="zh-CN" altLang="en-US" dirty="0"/>
              <a:t>月</a:t>
            </a:r>
            <a:r>
              <a:rPr lang="en-US" altLang="zh-CN" dirty="0"/>
              <a:t>XX</a:t>
            </a:r>
            <a:r>
              <a:rPr lang="zh-CN" altLang="en-US" dirty="0"/>
              <a:t>日</a:t>
            </a:r>
            <a:endParaRPr lang="en-US" altLang="en-US" dirty="0"/>
          </a:p>
        </p:txBody>
      </p:sp>
      <p:sp>
        <p:nvSpPr>
          <p:cNvPr id="7" name="Title Placeholder 1">
            <a:extLst>
              <a:ext uri="{FF2B5EF4-FFF2-40B4-BE49-F238E27FC236}">
                <a16:creationId xmlns:a16="http://schemas.microsoft.com/office/drawing/2014/main" id="{C2320649-ACD7-42E9-A261-E6ED46ACB452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60401" y="2753098"/>
            <a:ext cx="10858500" cy="885891"/>
          </a:xfrm>
        </p:spPr>
        <p:txBody>
          <a:bodyPr vert="horz" lIns="91440" tIns="45720" rIns="91440" bIns="45720" rtlCol="0" anchor="t" anchorCtr="0">
            <a:normAutofit/>
          </a:bodyPr>
          <a:lstStyle>
            <a:lvl1pPr marL="0" indent="0">
              <a:buNone/>
              <a:defRPr lang="en-US" altLang="zh-CN" sz="6000" b="1" kern="1200" dirty="0">
                <a:solidFill>
                  <a:srgbClr val="FFFFFF"/>
                </a:solidFill>
                <a:latin typeface="+mj-lt"/>
                <a:ea typeface="+mj-ea"/>
                <a:cs typeface="+mj-cs"/>
              </a:defRPr>
            </a:lvl1pPr>
            <a:lvl2pPr marL="457189" indent="0">
              <a:buNone/>
              <a:defRPr lang="en-US" altLang="zh-CN" smtClean="0"/>
            </a:lvl2pPr>
            <a:lvl3pPr>
              <a:defRPr lang="en-US" altLang="zh-CN" smtClean="0"/>
            </a:lvl3pPr>
            <a:lvl4pPr>
              <a:defRPr lang="en-US" altLang="zh-CN" smtClean="0"/>
            </a:lvl4pPr>
            <a:lvl5pPr>
              <a:defRPr lang="zh-CN" altLang="en-US"/>
            </a:lvl5pPr>
          </a:lstStyle>
          <a:p>
            <a:pPr marL="228594" lvl="0" indent="-228594" defTabSz="914332">
              <a:spcBef>
                <a:spcPct val="0"/>
              </a:spcBef>
            </a:pPr>
            <a:r>
              <a:rPr lang="en-US" altLang="zh-CN" dirty="0"/>
              <a:t>THANK YOU</a:t>
            </a:r>
            <a:r>
              <a:rPr lang="zh-CN" altLang="en-US" dirty="0"/>
              <a:t>！</a:t>
            </a:r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82726418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53016566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10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9307103-D92B-4D3C-B386-9FD58793CA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0401" y="0"/>
            <a:ext cx="10858500" cy="102870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pPr lvl="0" defTabSz="914332"/>
            <a:r>
              <a:rPr lang="en-US" altLang="zh-CN" dirty="0"/>
              <a:t>Click to edit title</a:t>
            </a:r>
            <a:endParaRPr lang="zh-CN" alt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F8920D0-E0E5-40BB-AEDA-3D7A0909240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60401" y="1130300"/>
            <a:ext cx="10858500" cy="5003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zh-CN" alt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0B16C00-AE39-4635-9F10-B7233D2AC2F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660401" y="6438900"/>
            <a:ext cx="3992171" cy="2159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>
              <a:defRPr lang="zh-CN" altLang="en-US" sz="1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r>
              <a:rPr lang="zh-CN" altLang="en-US" dirty="0"/>
              <a:t>商务</a:t>
            </a:r>
            <a:r>
              <a:rPr lang="en-US" altLang="zh-CN" dirty="0"/>
              <a:t>PPT</a:t>
            </a:r>
            <a:r>
              <a:rPr lang="zh-CN" altLang="en-US" dirty="0"/>
              <a:t>模板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C12D871-753D-4991-B44B-EFAE9F8682B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5504657" y="6438900"/>
            <a:ext cx="1802924" cy="2159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lang="zh-CN" altLang="en-US" sz="1000" smtClean="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fld id="{22581C77-C049-4AAA-A3C8-544909BBB11E}" type="datetime1">
              <a:rPr lang="zh-CN" altLang="en-US" smtClean="0"/>
              <a:t>2023/9/28</a:t>
            </a:fld>
            <a:endParaRPr lang="en-US" altLang="zh-CN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D23E9ED-4E00-42D1-BFBF-5EBD27D2980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857452" y="6438900"/>
            <a:ext cx="2661448" cy="2159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lang="zh-CN" altLang="en-US" sz="1000" smtClean="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fld id="{7F65B630-C7FF-41C0-9923-C5E5E29EED81}" type="slidenum">
              <a:rPr lang="en-US" altLang="zh-CN" smtClean="0"/>
              <a:pPr/>
              <a:t>‹#›</a:t>
            </a:fld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260429151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</p:sldLayoutIdLst>
  <p:hf hdr="0"/>
  <p:txStyles>
    <p:titleStyle>
      <a:lvl1pPr algn="l" defTabSz="914377" rtl="0" eaLnBrk="1" latinLnBrk="0" hangingPunct="1">
        <a:lnSpc>
          <a:spcPct val="90000"/>
        </a:lnSpc>
        <a:spcBef>
          <a:spcPct val="0"/>
        </a:spcBef>
        <a:buNone/>
        <a:defRPr lang="zh-CN" altLang="en-US" sz="28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594" indent="-228594" algn="l" defTabSz="914377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783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1142971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160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349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537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726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914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103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89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77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66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754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943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131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320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509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416">
          <p15:clr>
            <a:srgbClr val="F26B43"/>
          </p15:clr>
        </p15:guide>
        <p15:guide id="2" pos="7256">
          <p15:clr>
            <a:srgbClr val="F26B43"/>
          </p15:clr>
        </p15:guide>
        <p15:guide id="3" orient="horz" pos="648">
          <p15:clr>
            <a:srgbClr val="F26B43"/>
          </p15:clr>
        </p15:guide>
        <p15:guide id="4" orient="horz" pos="712">
          <p15:clr>
            <a:srgbClr val="F26B43"/>
          </p15:clr>
        </p15:guide>
        <p15:guide id="5" orient="horz" pos="3928">
          <p15:clr>
            <a:srgbClr val="F26B43"/>
          </p15:clr>
        </p15:guide>
        <p15:guide id="6" orient="horz" pos="3864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8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5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5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8.xml"/><Relationship Id="rId1" Type="http://schemas.openxmlformats.org/officeDocument/2006/relationships/tags" Target="../tags/tag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z="4800"/>
              <a:t>第</a:t>
            </a:r>
            <a:r>
              <a:rPr lang="en-US" altLang="zh-CN" sz="4800"/>
              <a:t>4</a:t>
            </a:r>
            <a:r>
              <a:rPr lang="zh-CN" altLang="en-US" sz="4800"/>
              <a:t>讲 循环结构简单应用</a:t>
            </a:r>
          </a:p>
        </p:txBody>
      </p:sp>
    </p:spTree>
    <p:extLst>
      <p:ext uri="{BB962C8B-B14F-4D97-AF65-F5344CB8AC3E}">
        <p14:creationId xmlns:p14="http://schemas.microsoft.com/office/powerpoint/2010/main" val="358080613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CN" dirty="0"/>
              <a:t>Python</a:t>
            </a:r>
            <a:r>
              <a:rPr lang="zh-CN" altLang="en-US" dirty="0"/>
              <a:t>的循环结构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82276" y="1130299"/>
            <a:ext cx="10858500" cy="5637373"/>
          </a:xfrm>
        </p:spPr>
        <p:txBody>
          <a:bodyPr>
            <a:normAutofit fontScale="92500" lnSpcReduction="10000"/>
          </a:bodyPr>
          <a:lstStyle/>
          <a:p>
            <a:pPr>
              <a:lnSpc>
                <a:spcPct val="140000"/>
              </a:lnSpc>
            </a:pPr>
            <a:r>
              <a:rPr lang="zh-CN" altLang="en-US" sz="2200" dirty="0"/>
              <a:t>循环结构包括循环体、循环条件。循环体：被重复执行的语句块；循环条件：允许执行循环体的条件。如不能突破循环条件导致循环永不结束，则称死循环。</a:t>
            </a:r>
            <a:endParaRPr lang="en-US" altLang="zh-CN" sz="2200" dirty="0"/>
          </a:p>
          <a:p>
            <a:r>
              <a:rPr lang="en-US" altLang="zh-CN" b="1" dirty="0"/>
              <a:t>1. while</a:t>
            </a:r>
            <a:r>
              <a:rPr lang="zh-CN" altLang="en-US" b="1" dirty="0"/>
              <a:t>循环（面向条件的循环）</a:t>
            </a:r>
            <a:r>
              <a:rPr lang="zh-CN" altLang="en-US" b="1" dirty="0">
                <a:latin typeface="楷体" panose="02010609060101010101" pitchFamily="49" charset="-122"/>
                <a:ea typeface="楷体" panose="02010609060101010101" pitchFamily="49" charset="-122"/>
              </a:rPr>
              <a:t>循环条件明确但循环次数不易确定的循环操作</a:t>
            </a:r>
            <a:endParaRPr lang="en-US" altLang="zh-CN" b="1" dirty="0"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 lvl="1"/>
            <a:r>
              <a:rPr lang="en-US" altLang="zh-CN" b="1" dirty="0"/>
              <a:t>(1)</a:t>
            </a:r>
            <a:r>
              <a:rPr lang="zh-CN" altLang="en-US" b="1" dirty="0"/>
              <a:t>基本格式：</a:t>
            </a:r>
          </a:p>
          <a:p>
            <a:pPr marL="914377" lvl="2" indent="0">
              <a:buNone/>
            </a:pPr>
            <a:r>
              <a:rPr lang="en-US" altLang="zh-CN" sz="2000" b="1" dirty="0">
                <a:solidFill>
                  <a:schemeClr val="accent1"/>
                </a:solidFill>
              </a:rPr>
              <a:t>While </a:t>
            </a:r>
            <a:r>
              <a:rPr lang="zh-CN" altLang="en-US" sz="2000" b="1" dirty="0">
                <a:solidFill>
                  <a:schemeClr val="accent1"/>
                </a:solidFill>
              </a:rPr>
              <a:t>循环条件</a:t>
            </a:r>
            <a:r>
              <a:rPr lang="en-US" altLang="zh-CN" sz="2000" b="1" dirty="0">
                <a:solidFill>
                  <a:schemeClr val="accent1"/>
                </a:solidFill>
              </a:rPr>
              <a:t>:</a:t>
            </a:r>
          </a:p>
          <a:p>
            <a:pPr marL="1371566" lvl="3" indent="0">
              <a:buNone/>
            </a:pPr>
            <a:r>
              <a:rPr lang="zh-CN" altLang="en-US" sz="2000" b="1" dirty="0">
                <a:solidFill>
                  <a:schemeClr val="accent1"/>
                </a:solidFill>
              </a:rPr>
              <a:t>循环体语句块</a:t>
            </a:r>
          </a:p>
          <a:p>
            <a:pPr lvl="2"/>
            <a:r>
              <a:rPr lang="zh-CN" altLang="en-US" dirty="0"/>
              <a:t>其含义是：当满足</a:t>
            </a:r>
            <a:r>
              <a:rPr lang="en-US" altLang="zh-CN" dirty="0"/>
              <a:t>《</a:t>
            </a:r>
            <a:r>
              <a:rPr lang="zh-CN" altLang="en-US" dirty="0"/>
              <a:t>循环条件式</a:t>
            </a:r>
            <a:r>
              <a:rPr lang="en-US" altLang="zh-CN" dirty="0"/>
              <a:t>》</a:t>
            </a:r>
            <a:r>
              <a:rPr lang="zh-CN" altLang="en-US" dirty="0"/>
              <a:t>，循环体语句块就会被重复执行。</a:t>
            </a:r>
          </a:p>
          <a:p>
            <a:pPr lvl="2"/>
            <a:r>
              <a:rPr lang="zh-CN" altLang="en-US" dirty="0"/>
              <a:t>本方式通常要求</a:t>
            </a:r>
            <a:r>
              <a:rPr lang="zh-CN" altLang="en-US" dirty="0">
                <a:solidFill>
                  <a:srgbClr val="FF0000"/>
                </a:solidFill>
              </a:rPr>
              <a:t>自定义循环的条件式</a:t>
            </a:r>
            <a:r>
              <a:rPr lang="zh-CN" altLang="en-US" dirty="0"/>
              <a:t>（控制运行条件的变量）。</a:t>
            </a:r>
          </a:p>
          <a:p>
            <a:pPr lvl="1"/>
            <a:r>
              <a:rPr lang="en-US" altLang="zh-CN" b="1" dirty="0"/>
              <a:t>(2)</a:t>
            </a:r>
            <a:r>
              <a:rPr lang="zh-CN" altLang="en-US" b="1" dirty="0"/>
              <a:t>常见用法：</a:t>
            </a:r>
          </a:p>
          <a:p>
            <a:pPr marL="914377" lvl="2" indent="0">
              <a:buNone/>
            </a:pPr>
            <a:r>
              <a:rPr lang="en-US" altLang="zh-CN" sz="2000" b="1" dirty="0" err="1">
                <a:solidFill>
                  <a:schemeClr val="accent1"/>
                </a:solidFill>
              </a:rPr>
              <a:t>i</a:t>
            </a:r>
            <a:r>
              <a:rPr lang="en-US" altLang="zh-CN" sz="2000" b="1" dirty="0">
                <a:solidFill>
                  <a:schemeClr val="accent1"/>
                </a:solidFill>
              </a:rPr>
              <a:t>=0</a:t>
            </a:r>
          </a:p>
          <a:p>
            <a:pPr marL="914377" lvl="2" indent="0">
              <a:buNone/>
            </a:pPr>
            <a:r>
              <a:rPr lang="en-US" altLang="zh-CN" sz="2000" b="1" dirty="0">
                <a:solidFill>
                  <a:schemeClr val="accent1"/>
                </a:solidFill>
              </a:rPr>
              <a:t>While (</a:t>
            </a:r>
            <a:r>
              <a:rPr lang="en-US" altLang="zh-CN" sz="2000" b="1" dirty="0" err="1">
                <a:solidFill>
                  <a:schemeClr val="accent1"/>
                </a:solidFill>
              </a:rPr>
              <a:t>i</a:t>
            </a:r>
            <a:r>
              <a:rPr lang="en-US" altLang="zh-CN" sz="2000" b="1" dirty="0">
                <a:solidFill>
                  <a:schemeClr val="accent1"/>
                </a:solidFill>
              </a:rPr>
              <a:t>&lt;n):</a:t>
            </a:r>
          </a:p>
          <a:p>
            <a:pPr marL="1371566" lvl="3" indent="0">
              <a:buNone/>
            </a:pPr>
            <a:r>
              <a:rPr lang="zh-CN" altLang="en-US" sz="2000" b="1" dirty="0">
                <a:solidFill>
                  <a:schemeClr val="accent1"/>
                </a:solidFill>
              </a:rPr>
              <a:t>语句块</a:t>
            </a:r>
          </a:p>
          <a:p>
            <a:pPr marL="1371566" lvl="3" indent="0">
              <a:buNone/>
            </a:pPr>
            <a:r>
              <a:rPr lang="en-US" altLang="zh-CN" sz="2000" b="1" dirty="0" err="1">
                <a:solidFill>
                  <a:schemeClr val="accent1"/>
                </a:solidFill>
              </a:rPr>
              <a:t>i</a:t>
            </a:r>
            <a:r>
              <a:rPr lang="en-US" altLang="zh-CN" sz="2000" b="1" dirty="0">
                <a:solidFill>
                  <a:schemeClr val="accent1"/>
                </a:solidFill>
              </a:rPr>
              <a:t>+=1</a:t>
            </a:r>
          </a:p>
          <a:p>
            <a:pPr lvl="2"/>
            <a:r>
              <a:rPr lang="zh-CN" altLang="en-US" dirty="0"/>
              <a:t>其含义是：当 </a:t>
            </a:r>
            <a:r>
              <a:rPr lang="en-US" altLang="zh-CN" dirty="0" err="1"/>
              <a:t>i</a:t>
            </a:r>
            <a:r>
              <a:rPr lang="en-US" altLang="zh-CN" dirty="0"/>
              <a:t> </a:t>
            </a:r>
            <a:r>
              <a:rPr lang="zh-CN" altLang="en-US" dirty="0"/>
              <a:t>的值小于</a:t>
            </a:r>
            <a:r>
              <a:rPr lang="en-US" altLang="zh-CN" dirty="0"/>
              <a:t>n</a:t>
            </a:r>
            <a:r>
              <a:rPr lang="zh-CN" altLang="en-US" dirty="0"/>
              <a:t>时，语句块就会被重复执行。</a:t>
            </a:r>
            <a:endParaRPr lang="en-US" altLang="zh-CN" dirty="0"/>
          </a:p>
          <a:p>
            <a:pPr lvl="2"/>
            <a:r>
              <a:rPr lang="zh-CN" altLang="en-US" dirty="0"/>
              <a:t>与</a:t>
            </a:r>
            <a:r>
              <a:rPr lang="en-US" altLang="zh-CN" dirty="0">
                <a:solidFill>
                  <a:srgbClr val="FF0000"/>
                </a:solidFill>
              </a:rPr>
              <a:t>for </a:t>
            </a:r>
            <a:r>
              <a:rPr lang="en-US" altLang="zh-CN" dirty="0" err="1">
                <a:solidFill>
                  <a:srgbClr val="FF0000"/>
                </a:solidFill>
              </a:rPr>
              <a:t>i</a:t>
            </a:r>
            <a:r>
              <a:rPr lang="en-US" altLang="zh-CN" dirty="0">
                <a:solidFill>
                  <a:srgbClr val="FF0000"/>
                </a:solidFill>
              </a:rPr>
              <a:t> in range(n)</a:t>
            </a:r>
            <a:r>
              <a:rPr lang="zh-CN" altLang="en-US" dirty="0"/>
              <a:t>等效。</a:t>
            </a:r>
            <a:endParaRPr lang="en-US" altLang="zh-CN" sz="1600" dirty="0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F92EA9D7-FD2E-60E3-4F09-913E9A504796}"/>
              </a:ext>
            </a:extLst>
          </p:cNvPr>
          <p:cNvSpPr txBox="1"/>
          <p:nvPr/>
        </p:nvSpPr>
        <p:spPr>
          <a:xfrm>
            <a:off x="8051471" y="2764045"/>
            <a:ext cx="4140530" cy="2308324"/>
          </a:xfrm>
          <a:prstGeom prst="rect">
            <a:avLst/>
          </a:prstGeom>
          <a:solidFill>
            <a:schemeClr val="tx1"/>
          </a:solidFill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600" b="0" i="0" u="none" strike="noStrike" kern="1200" cap="none" spc="0" normalizeH="0" baseline="0" noProof="0" dirty="0">
                <a:ln>
                  <a:noFill/>
                </a:ln>
                <a:solidFill>
                  <a:srgbClr val="6A9955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#1</a:t>
            </a:r>
            <a:r>
              <a:rPr kumimoji="0" lang="zh-CN" alt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6A9955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到</a:t>
            </a:r>
            <a:r>
              <a:rPr kumimoji="0" lang="en-US" altLang="zh-CN" sz="1600" b="0" i="0" u="none" strike="noStrike" kern="1200" cap="none" spc="0" normalizeH="0" baseline="0" noProof="0" dirty="0">
                <a:ln>
                  <a:noFill/>
                </a:ln>
                <a:solidFill>
                  <a:srgbClr val="6A9955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100</a:t>
            </a:r>
            <a:r>
              <a:rPr kumimoji="0" lang="zh-CN" alt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6A9955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之间所有正整数的和</a:t>
            </a:r>
            <a:endParaRPr kumimoji="0" lang="zh-CN" altLang="en-US" sz="1600" b="0" i="0" u="none" strike="noStrike" kern="1200" cap="none" spc="0" normalizeH="0" baseline="0" noProof="0" dirty="0">
              <a:ln>
                <a:noFill/>
              </a:ln>
              <a:solidFill>
                <a:srgbClr val="D4D4D4"/>
              </a:solidFill>
              <a:effectLst/>
              <a:uLnTx/>
              <a:uFillTx/>
              <a:latin typeface="Consolas" panose="020B0609020204030204" pitchFamily="49" charset="0"/>
              <a:ea typeface="思源黑体 CN Normal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600" b="0" i="0" u="none" strike="noStrike" kern="1200" cap="none" spc="0" normalizeH="0" baseline="0" noProof="0" dirty="0">
                <a:ln>
                  <a:noFill/>
                </a:ln>
                <a:solidFill>
                  <a:srgbClr val="9CDCFE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sum</a:t>
            </a:r>
            <a:r>
              <a:rPr kumimoji="0" lang="en-US" altLang="zh-CN" sz="1600" b="0" i="0" u="none" strike="noStrike" kern="1200" cap="none" spc="0" normalizeH="0" baseline="0" noProof="0" dirty="0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 = </a:t>
            </a:r>
            <a:r>
              <a:rPr kumimoji="0" lang="en-US" altLang="zh-CN" sz="1600" b="0" i="0" u="none" strike="noStrike" kern="1200" cap="none" spc="0" normalizeH="0" baseline="0" noProof="0" dirty="0">
                <a:ln>
                  <a:noFill/>
                </a:ln>
                <a:solidFill>
                  <a:srgbClr val="B5CEA8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0</a:t>
            </a:r>
            <a:endParaRPr kumimoji="0" lang="en-US" altLang="zh-CN" sz="1600" b="0" i="0" u="none" strike="noStrike" kern="1200" cap="none" spc="0" normalizeH="0" baseline="0" noProof="0" dirty="0">
              <a:ln>
                <a:noFill/>
              </a:ln>
              <a:solidFill>
                <a:srgbClr val="D4D4D4"/>
              </a:solidFill>
              <a:effectLst/>
              <a:uLnTx/>
              <a:uFillTx/>
              <a:latin typeface="Consolas" panose="020B0609020204030204" pitchFamily="49" charset="0"/>
              <a:ea typeface="思源黑体 CN Normal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600" b="0" i="0" u="none" strike="noStrike" kern="1200" cap="none" spc="0" normalizeH="0" baseline="0" noProof="0" dirty="0" err="1">
                <a:ln>
                  <a:noFill/>
                </a:ln>
                <a:solidFill>
                  <a:srgbClr val="9CDCFE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i</a:t>
            </a:r>
            <a:r>
              <a:rPr kumimoji="0" lang="en-US" altLang="zh-CN" sz="1600" b="0" i="0" u="none" strike="noStrike" kern="1200" cap="none" spc="0" normalizeH="0" baseline="0" noProof="0" dirty="0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 = </a:t>
            </a:r>
            <a:r>
              <a:rPr kumimoji="0" lang="en-US" altLang="zh-CN" sz="1600" b="0" i="0" u="none" strike="noStrike" kern="1200" cap="none" spc="0" normalizeH="0" baseline="0" noProof="0" dirty="0">
                <a:ln>
                  <a:noFill/>
                </a:ln>
                <a:solidFill>
                  <a:srgbClr val="B5CEA8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1</a:t>
            </a:r>
            <a:endParaRPr kumimoji="0" lang="en-US" altLang="zh-CN" sz="1600" b="0" i="0" u="none" strike="noStrike" kern="1200" cap="none" spc="0" normalizeH="0" baseline="0" noProof="0" dirty="0">
              <a:ln>
                <a:noFill/>
              </a:ln>
              <a:solidFill>
                <a:srgbClr val="D4D4D4"/>
              </a:solidFill>
              <a:effectLst/>
              <a:uLnTx/>
              <a:uFillTx/>
              <a:latin typeface="Consolas" panose="020B0609020204030204" pitchFamily="49" charset="0"/>
              <a:ea typeface="思源黑体 CN Normal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600" b="0" i="0" u="none" strike="noStrike" kern="1200" cap="none" spc="0" normalizeH="0" baseline="0" noProof="0" dirty="0">
                <a:ln>
                  <a:noFill/>
                </a:ln>
                <a:solidFill>
                  <a:srgbClr val="C586C0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while</a:t>
            </a:r>
            <a:r>
              <a:rPr kumimoji="0" lang="en-US" altLang="zh-CN" sz="1600" b="0" i="0" u="none" strike="noStrike" kern="1200" cap="none" spc="0" normalizeH="0" baseline="0" noProof="0" dirty="0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 (</a:t>
            </a:r>
            <a:r>
              <a:rPr kumimoji="0" lang="en-US" altLang="zh-CN" sz="1600" b="0" i="0" u="none" strike="noStrike" kern="1200" cap="none" spc="0" normalizeH="0" baseline="0" noProof="0" dirty="0" err="1">
                <a:ln>
                  <a:noFill/>
                </a:ln>
                <a:solidFill>
                  <a:srgbClr val="9CDCFE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i</a:t>
            </a:r>
            <a:r>
              <a:rPr kumimoji="0" lang="en-US" altLang="zh-CN" sz="1600" b="0" i="0" u="none" strike="noStrike" kern="1200" cap="none" spc="0" normalizeH="0" baseline="0" noProof="0" dirty="0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&lt;=</a:t>
            </a:r>
            <a:r>
              <a:rPr kumimoji="0" lang="en-US" altLang="zh-CN" sz="1600" b="0" i="0" u="none" strike="noStrike" kern="1200" cap="none" spc="0" normalizeH="0" baseline="0" noProof="0" dirty="0">
                <a:ln>
                  <a:noFill/>
                </a:ln>
                <a:solidFill>
                  <a:srgbClr val="B5CEA8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100</a:t>
            </a:r>
            <a:r>
              <a:rPr kumimoji="0" lang="en-US" altLang="zh-CN" sz="1600" b="0" i="0" u="none" strike="noStrike" kern="1200" cap="none" spc="0" normalizeH="0" baseline="0" noProof="0" dirty="0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):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600" b="0" i="0" u="none" strike="noStrike" kern="1200" cap="none" spc="0" normalizeH="0" baseline="0" noProof="0" dirty="0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    </a:t>
            </a:r>
            <a:r>
              <a:rPr kumimoji="0" lang="en-US" altLang="zh-CN" sz="1600" b="0" i="0" u="none" strike="noStrike" kern="1200" cap="none" spc="0" normalizeH="0" baseline="0" noProof="0" dirty="0">
                <a:ln>
                  <a:noFill/>
                </a:ln>
                <a:solidFill>
                  <a:srgbClr val="9CDCFE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sum</a:t>
            </a:r>
            <a:r>
              <a:rPr kumimoji="0" lang="en-US" altLang="zh-CN" sz="1600" b="0" i="0" u="none" strike="noStrike" kern="1200" cap="none" spc="0" normalizeH="0" baseline="0" noProof="0" dirty="0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 += </a:t>
            </a:r>
            <a:r>
              <a:rPr kumimoji="0" lang="en-US" altLang="zh-CN" sz="1600" b="0" i="0" u="none" strike="noStrike" kern="1200" cap="none" spc="0" normalizeH="0" baseline="0" noProof="0" dirty="0" err="1">
                <a:ln>
                  <a:noFill/>
                </a:ln>
                <a:solidFill>
                  <a:srgbClr val="9CDCFE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i</a:t>
            </a:r>
            <a:endParaRPr kumimoji="0" lang="en-US" altLang="zh-CN" sz="1600" b="0" i="0" u="none" strike="noStrike" kern="1200" cap="none" spc="0" normalizeH="0" baseline="0" noProof="0" dirty="0">
              <a:ln>
                <a:noFill/>
              </a:ln>
              <a:solidFill>
                <a:srgbClr val="D4D4D4"/>
              </a:solidFill>
              <a:effectLst/>
              <a:uLnTx/>
              <a:uFillTx/>
              <a:latin typeface="Consolas" panose="020B0609020204030204" pitchFamily="49" charset="0"/>
              <a:ea typeface="思源黑体 CN Normal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600" b="0" i="0" u="none" strike="noStrike" kern="1200" cap="none" spc="0" normalizeH="0" baseline="0" noProof="0" dirty="0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    </a:t>
            </a:r>
            <a:r>
              <a:rPr kumimoji="0" lang="en-US" altLang="zh-CN" sz="1600" b="0" i="0" u="none" strike="noStrike" kern="1200" cap="none" spc="0" normalizeH="0" baseline="0" noProof="0" dirty="0" err="1">
                <a:ln>
                  <a:noFill/>
                </a:ln>
                <a:solidFill>
                  <a:srgbClr val="9CDCFE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i</a:t>
            </a:r>
            <a:r>
              <a:rPr kumimoji="0" lang="en-US" altLang="zh-CN" sz="1600" b="0" i="0" u="none" strike="noStrike" kern="1200" cap="none" spc="0" normalizeH="0" baseline="0" noProof="0" dirty="0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 += </a:t>
            </a:r>
            <a:r>
              <a:rPr kumimoji="0" lang="en-US" altLang="zh-CN" sz="1600" b="0" i="0" u="none" strike="noStrike" kern="1200" cap="none" spc="0" normalizeH="0" baseline="0" noProof="0" dirty="0">
                <a:ln>
                  <a:noFill/>
                </a:ln>
                <a:solidFill>
                  <a:srgbClr val="B5CEA8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1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600" b="0" i="0" u="none" strike="noStrike" kern="1200" cap="none" spc="0" normalizeH="0" baseline="0" noProof="0" dirty="0">
                <a:ln>
                  <a:noFill/>
                </a:ln>
                <a:solidFill>
                  <a:srgbClr val="B5CEA8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    #print(sum,i) #</a:t>
            </a:r>
            <a:r>
              <a:rPr kumimoji="0" lang="zh-CN" alt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B5CEA8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监控循环过程或步骤</a:t>
            </a:r>
            <a:endParaRPr kumimoji="0" lang="en-US" altLang="zh-CN" sz="1600" b="0" i="0" u="none" strike="noStrike" kern="1200" cap="none" spc="0" normalizeH="0" baseline="0" noProof="0" dirty="0">
              <a:ln>
                <a:noFill/>
              </a:ln>
              <a:solidFill>
                <a:srgbClr val="D4D4D4"/>
              </a:solidFill>
              <a:effectLst/>
              <a:uLnTx/>
              <a:uFillTx/>
              <a:latin typeface="Consolas" panose="020B0609020204030204" pitchFamily="49" charset="0"/>
              <a:ea typeface="思源黑体 CN Normal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br>
              <a:rPr kumimoji="0" lang="en-US" altLang="zh-CN" sz="1600" b="0" i="0" u="none" strike="noStrike" kern="1200" cap="none" spc="0" normalizeH="0" baseline="0" noProof="0" dirty="0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</a:br>
            <a:r>
              <a:rPr kumimoji="0" lang="en-US" altLang="zh-CN" sz="1600" b="0" i="0" u="none" strike="noStrike" kern="1200" cap="none" spc="0" normalizeH="0" baseline="0" noProof="0" dirty="0">
                <a:ln>
                  <a:noFill/>
                </a:ln>
                <a:solidFill>
                  <a:srgbClr val="DCDCAA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print</a:t>
            </a:r>
            <a:r>
              <a:rPr kumimoji="0" lang="en-US" altLang="zh-CN" sz="1600" b="0" i="0" u="none" strike="noStrike" kern="1200" cap="none" spc="0" normalizeH="0" baseline="0" noProof="0" dirty="0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(</a:t>
            </a:r>
            <a:r>
              <a:rPr kumimoji="0" lang="en-US" altLang="zh-CN" sz="1600" b="0" i="0" u="none" strike="noStrike" kern="1200" cap="none" spc="0" normalizeH="0" baseline="0" noProof="0" dirty="0">
                <a:ln>
                  <a:noFill/>
                </a:ln>
                <a:solidFill>
                  <a:srgbClr val="9CDCFE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sum</a:t>
            </a:r>
            <a:r>
              <a:rPr kumimoji="0" lang="en-US" altLang="zh-CN" sz="1600" b="0" i="0" u="none" strike="noStrike" kern="1200" cap="none" spc="0" normalizeH="0" baseline="0" noProof="0" dirty="0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)</a:t>
            </a:r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589D1FDA-9A94-104D-5DD3-6AAE2483A29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51471" y="572460"/>
            <a:ext cx="4288265" cy="62855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9920348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500" fill="hold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500" fill="hold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500" fill="hold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500" fill="hold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5" dur="500" fill="hold"/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6" dur="500" fill="hold"/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1" dur="500" fill="hold"/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2" dur="500" fill="hold"/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 bldLvl="5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4" name="表格 13">
            <a:extLst>
              <a:ext uri="{FF2B5EF4-FFF2-40B4-BE49-F238E27FC236}">
                <a16:creationId xmlns:a16="http://schemas.microsoft.com/office/drawing/2014/main" id="{B06782C6-42E0-8BD7-D688-714BE3E41104}"/>
              </a:ext>
            </a:extLst>
          </p:cNvPr>
          <p:cNvGraphicFramePr>
            <a:graphicFrameLocks noGrp="1"/>
          </p:cNvGraphicFramePr>
          <p:nvPr/>
        </p:nvGraphicFramePr>
        <p:xfrm>
          <a:off x="9292143" y="5013858"/>
          <a:ext cx="2882753" cy="1816727"/>
        </p:xfrm>
        <a:graphic>
          <a:graphicData uri="http://schemas.openxmlformats.org/drawingml/2006/table">
            <a:tbl>
              <a:tblPr/>
              <a:tblGrid>
                <a:gridCol w="1781368">
                  <a:extLst>
                    <a:ext uri="{9D8B030D-6E8A-4147-A177-3AD203B41FA5}">
                      <a16:colId xmlns:a16="http://schemas.microsoft.com/office/drawing/2014/main" val="1870269952"/>
                    </a:ext>
                  </a:extLst>
                </a:gridCol>
                <a:gridCol w="1101385">
                  <a:extLst>
                    <a:ext uri="{9D8B030D-6E8A-4147-A177-3AD203B41FA5}">
                      <a16:colId xmlns:a16="http://schemas.microsoft.com/office/drawing/2014/main" val="3963116723"/>
                    </a:ext>
                  </a:extLst>
                </a:gridCol>
              </a:tblGrid>
              <a:tr h="379861">
                <a:tc>
                  <a:txBody>
                    <a:bodyPr/>
                    <a:lstStyle/>
                    <a:p>
                      <a:pPr algn="l"/>
                      <a:r>
                        <a:rPr lang="zh-CN" altLang="en-US" b="0">
                          <a:solidFill>
                            <a:srgbClr val="4F4F4F"/>
                          </a:solidFill>
                          <a:effectLst/>
                        </a:rPr>
                        <a:t>循环变量初始化</a:t>
                      </a:r>
                    </a:p>
                  </a:txBody>
                  <a:tcPr marL="38100" marR="38100" marT="38100" marB="38100" anchor="ctr">
                    <a:lnL w="4763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3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3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b="0">
                          <a:solidFill>
                            <a:srgbClr val="4F4F4F"/>
                          </a:solidFill>
                          <a:effectLst/>
                        </a:rPr>
                        <a:t>i=1</a:t>
                      </a:r>
                    </a:p>
                  </a:txBody>
                  <a:tcPr marL="38100" marR="38100" marT="38100" marB="38100" anchor="ctr">
                    <a:lnL w="4763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3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3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17023366"/>
                  </a:ext>
                </a:extLst>
              </a:tr>
              <a:tr h="379861">
                <a:tc>
                  <a:txBody>
                    <a:bodyPr/>
                    <a:lstStyle/>
                    <a:p>
                      <a:pPr algn="l"/>
                      <a:r>
                        <a:rPr lang="zh-CN" altLang="en-US" b="0" dirty="0">
                          <a:solidFill>
                            <a:srgbClr val="4F4F4F"/>
                          </a:solidFill>
                          <a:effectLst/>
                        </a:rPr>
                        <a:t>循环判断</a:t>
                      </a:r>
                    </a:p>
                  </a:txBody>
                  <a:tcPr marL="38100" marR="38100" marT="38100" marB="38100" anchor="ctr">
                    <a:lnL w="4763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3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3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b="0">
                          <a:solidFill>
                            <a:srgbClr val="4F4F4F"/>
                          </a:solidFill>
                          <a:effectLst/>
                        </a:rPr>
                        <a:t>i&lt;=100</a:t>
                      </a:r>
                    </a:p>
                  </a:txBody>
                  <a:tcPr marL="38100" marR="38100" marT="38100" marB="38100" anchor="ctr">
                    <a:lnL w="4763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3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3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15054932"/>
                  </a:ext>
                </a:extLst>
              </a:tr>
              <a:tr h="379861">
                <a:tc>
                  <a:txBody>
                    <a:bodyPr/>
                    <a:lstStyle/>
                    <a:p>
                      <a:pPr algn="l"/>
                      <a:r>
                        <a:rPr lang="zh-CN" altLang="en-US" b="0">
                          <a:solidFill>
                            <a:srgbClr val="4F4F4F"/>
                          </a:solidFill>
                          <a:effectLst/>
                        </a:rPr>
                        <a:t>循环变量自增</a:t>
                      </a:r>
                    </a:p>
                  </a:txBody>
                  <a:tcPr marL="38100" marR="38100" marT="38100" marB="38100" anchor="ctr">
                    <a:lnL w="4763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3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3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b="0" dirty="0" err="1">
                          <a:solidFill>
                            <a:srgbClr val="4F4F4F"/>
                          </a:solidFill>
                          <a:effectLst/>
                        </a:rPr>
                        <a:t>i</a:t>
                      </a:r>
                      <a:r>
                        <a:rPr lang="en-US" b="0" dirty="0">
                          <a:solidFill>
                            <a:srgbClr val="4F4F4F"/>
                          </a:solidFill>
                          <a:effectLst/>
                        </a:rPr>
                        <a:t>+=1</a:t>
                      </a:r>
                    </a:p>
                  </a:txBody>
                  <a:tcPr marL="38100" marR="38100" marT="38100" marB="38100" anchor="ctr">
                    <a:lnL w="4763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3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3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58045814"/>
                  </a:ext>
                </a:extLst>
              </a:tr>
              <a:tr h="677144">
                <a:tc>
                  <a:txBody>
                    <a:bodyPr/>
                    <a:lstStyle/>
                    <a:p>
                      <a:pPr algn="l"/>
                      <a:r>
                        <a:rPr lang="zh-CN" altLang="en-US" b="0" dirty="0">
                          <a:solidFill>
                            <a:srgbClr val="4F4F4F"/>
                          </a:solidFill>
                          <a:effectLst/>
                        </a:rPr>
                        <a:t>循环体</a:t>
                      </a:r>
                    </a:p>
                  </a:txBody>
                  <a:tcPr marL="38100" marR="38100" marT="38100" marB="38100" anchor="ctr">
                    <a:lnL w="4763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3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3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b="0" dirty="0">
                          <a:solidFill>
                            <a:srgbClr val="4F4F4F"/>
                          </a:solidFill>
                          <a:effectLst/>
                        </a:rPr>
                        <a:t>sum+=</a:t>
                      </a:r>
                      <a:r>
                        <a:rPr lang="en-US" b="0" dirty="0" err="1">
                          <a:solidFill>
                            <a:srgbClr val="4F4F4F"/>
                          </a:solidFill>
                          <a:effectLst/>
                        </a:rPr>
                        <a:t>i</a:t>
                      </a:r>
                      <a:endParaRPr lang="en-US" b="0" dirty="0">
                        <a:solidFill>
                          <a:srgbClr val="4F4F4F"/>
                        </a:solidFill>
                        <a:effectLst/>
                      </a:endParaRPr>
                    </a:p>
                    <a:p>
                      <a:pPr algn="l"/>
                      <a:r>
                        <a:rPr lang="en-US" b="0" dirty="0" err="1">
                          <a:solidFill>
                            <a:srgbClr val="4F4F4F"/>
                          </a:solidFill>
                          <a:effectLst/>
                        </a:rPr>
                        <a:t>i</a:t>
                      </a:r>
                      <a:r>
                        <a:rPr lang="en-US" b="0" dirty="0">
                          <a:solidFill>
                            <a:srgbClr val="4F4F4F"/>
                          </a:solidFill>
                          <a:effectLst/>
                        </a:rPr>
                        <a:t>+=1</a:t>
                      </a:r>
                    </a:p>
                  </a:txBody>
                  <a:tcPr marL="38100" marR="38100" marT="38100" marB="38100" anchor="ctr">
                    <a:lnL w="4763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3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3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91422941"/>
                  </a:ext>
                </a:extLst>
              </a:tr>
            </a:tbl>
          </a:graphicData>
        </a:graphic>
      </p:graphicFrame>
      <p:pic>
        <p:nvPicPr>
          <p:cNvPr id="15" name="图片 14">
            <a:extLst>
              <a:ext uri="{FF2B5EF4-FFF2-40B4-BE49-F238E27FC236}">
                <a16:creationId xmlns:a16="http://schemas.microsoft.com/office/drawing/2014/main" id="{35E0B192-A52E-F01D-0721-222DA61F775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86036" y="788452"/>
            <a:ext cx="2882753" cy="4225406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CN" dirty="0"/>
              <a:t>Python</a:t>
            </a:r>
            <a:r>
              <a:rPr lang="zh-CN" altLang="en-US" dirty="0"/>
              <a:t>的循环语句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0" y="883108"/>
            <a:ext cx="5794029" cy="5974892"/>
          </a:xfrm>
        </p:spPr>
        <p:txBody>
          <a:bodyPr>
            <a:normAutofit lnSpcReduction="10000"/>
          </a:bodyPr>
          <a:lstStyle/>
          <a:p>
            <a:pPr>
              <a:lnSpc>
                <a:spcPct val="135000"/>
              </a:lnSpc>
            </a:pPr>
            <a:r>
              <a:rPr lang="en-US" altLang="zh-CN" b="1" dirty="0"/>
              <a:t>1. while</a:t>
            </a:r>
            <a:r>
              <a:rPr lang="zh-CN" altLang="en-US" b="1" dirty="0"/>
              <a:t>循环（面向条件的循环）</a:t>
            </a:r>
            <a:endParaRPr lang="en-US" altLang="zh-CN" b="1" dirty="0"/>
          </a:p>
          <a:p>
            <a:pPr lvl="1">
              <a:lnSpc>
                <a:spcPct val="135000"/>
              </a:lnSpc>
            </a:pPr>
            <a:r>
              <a:rPr lang="en-US" altLang="zh-CN" b="1" dirty="0"/>
              <a:t>(3)</a:t>
            </a:r>
            <a:r>
              <a:rPr lang="zh-CN" altLang="en-US" b="1" dirty="0"/>
              <a:t>永真循环：</a:t>
            </a:r>
          </a:p>
          <a:p>
            <a:pPr marL="914377" lvl="2" indent="0">
              <a:lnSpc>
                <a:spcPct val="135000"/>
              </a:lnSpc>
              <a:buNone/>
            </a:pPr>
            <a:r>
              <a:rPr lang="en-US" altLang="zh-CN" b="1" dirty="0">
                <a:solidFill>
                  <a:schemeClr val="accent1"/>
                </a:solidFill>
              </a:rPr>
              <a:t>While True:</a:t>
            </a:r>
          </a:p>
          <a:p>
            <a:pPr marL="1371566" lvl="3" indent="0">
              <a:lnSpc>
                <a:spcPct val="135000"/>
              </a:lnSpc>
              <a:buNone/>
            </a:pPr>
            <a:r>
              <a:rPr lang="zh-CN" altLang="en-US" sz="1800" b="1" dirty="0">
                <a:solidFill>
                  <a:schemeClr val="accent1"/>
                </a:solidFill>
              </a:rPr>
              <a:t>语句块</a:t>
            </a:r>
            <a:endParaRPr lang="en-US" altLang="zh-CN" sz="1800" b="1" dirty="0">
              <a:solidFill>
                <a:schemeClr val="accent1"/>
              </a:solidFill>
            </a:endParaRPr>
          </a:p>
          <a:p>
            <a:pPr marL="1371566" lvl="3" indent="0">
              <a:lnSpc>
                <a:spcPct val="135000"/>
              </a:lnSpc>
              <a:buNone/>
            </a:pPr>
            <a:r>
              <a:rPr lang="en-US" altLang="zh-CN" sz="1800" b="1" dirty="0">
                <a:solidFill>
                  <a:schemeClr val="accent1"/>
                </a:solidFill>
              </a:rPr>
              <a:t>If   </a:t>
            </a:r>
            <a:r>
              <a:rPr lang="zh-CN" altLang="en-US" sz="1800" b="1" dirty="0">
                <a:solidFill>
                  <a:schemeClr val="accent1"/>
                </a:solidFill>
              </a:rPr>
              <a:t>条件式：</a:t>
            </a:r>
            <a:endParaRPr lang="en-US" altLang="zh-CN" sz="1800" b="1" dirty="0">
              <a:solidFill>
                <a:schemeClr val="accent1"/>
              </a:solidFill>
            </a:endParaRPr>
          </a:p>
          <a:p>
            <a:pPr marL="1828755" lvl="4" indent="0">
              <a:lnSpc>
                <a:spcPct val="135000"/>
              </a:lnSpc>
              <a:buNone/>
            </a:pPr>
            <a:r>
              <a:rPr lang="en-US" altLang="zh-CN" sz="1800" b="1" dirty="0">
                <a:solidFill>
                  <a:schemeClr val="accent1"/>
                </a:solidFill>
              </a:rPr>
              <a:t>Break</a:t>
            </a:r>
            <a:endParaRPr lang="zh-CN" altLang="en-US" sz="1800" b="1" dirty="0">
              <a:solidFill>
                <a:schemeClr val="accent1"/>
              </a:solidFill>
            </a:endParaRPr>
          </a:p>
          <a:p>
            <a:pPr lvl="2">
              <a:lnSpc>
                <a:spcPct val="135000"/>
              </a:lnSpc>
            </a:pPr>
            <a:r>
              <a:rPr lang="zh-CN" altLang="en-US" dirty="0"/>
              <a:t>其含义是：当满足</a:t>
            </a:r>
            <a:r>
              <a:rPr lang="en-US" altLang="zh-CN" dirty="0"/>
              <a:t>IF</a:t>
            </a:r>
            <a:r>
              <a:rPr lang="zh-CN" altLang="en-US" dirty="0"/>
              <a:t>中的</a:t>
            </a:r>
            <a:r>
              <a:rPr lang="en-US" altLang="zh-CN" dirty="0"/>
              <a:t>《</a:t>
            </a:r>
            <a:r>
              <a:rPr lang="zh-CN" altLang="en-US" dirty="0"/>
              <a:t>条件式</a:t>
            </a:r>
            <a:r>
              <a:rPr lang="en-US" altLang="zh-CN" dirty="0"/>
              <a:t>》</a:t>
            </a:r>
            <a:r>
              <a:rPr lang="zh-CN" altLang="en-US" dirty="0"/>
              <a:t>时，循环就会被结束。</a:t>
            </a:r>
          </a:p>
          <a:p>
            <a:pPr lvl="2">
              <a:lnSpc>
                <a:spcPct val="135000"/>
              </a:lnSpc>
            </a:pPr>
            <a:r>
              <a:rPr lang="zh-CN" altLang="en-US" dirty="0"/>
              <a:t>本方式通常用于</a:t>
            </a:r>
            <a:r>
              <a:rPr lang="zh-CN" altLang="en-US" dirty="0">
                <a:solidFill>
                  <a:srgbClr val="FF0000"/>
                </a:solidFill>
              </a:rPr>
              <a:t>默认执行循环，特定条件下结束循环</a:t>
            </a:r>
            <a:r>
              <a:rPr lang="zh-CN" altLang="en-US" dirty="0"/>
              <a:t>的情境</a:t>
            </a:r>
          </a:p>
          <a:p>
            <a:pPr lvl="1">
              <a:lnSpc>
                <a:spcPct val="135000"/>
              </a:lnSpc>
            </a:pPr>
            <a:r>
              <a:rPr lang="en-US" altLang="zh-CN" dirty="0"/>
              <a:t>(4)</a:t>
            </a:r>
            <a:r>
              <a:rPr lang="zh-CN" altLang="en-US" dirty="0"/>
              <a:t>测试型案例</a:t>
            </a:r>
            <a:endParaRPr lang="en-US" altLang="zh-CN" dirty="0"/>
          </a:p>
          <a:p>
            <a:pPr lvl="2">
              <a:lnSpc>
                <a:spcPct val="135000"/>
              </a:lnSpc>
            </a:pPr>
            <a:r>
              <a:rPr lang="zh-CN" altLang="en-US" dirty="0"/>
              <a:t>计算</a:t>
            </a:r>
            <a:r>
              <a:rPr lang="en-US" altLang="zh-CN" dirty="0"/>
              <a:t>1-100</a:t>
            </a:r>
            <a:r>
              <a:rPr lang="zh-CN" altLang="en-US" dirty="0"/>
              <a:t>之间所有整数之和</a:t>
            </a:r>
            <a:r>
              <a:rPr lang="en-US" altLang="zh-CN" dirty="0"/>
              <a:t>(p54)</a:t>
            </a:r>
          </a:p>
          <a:p>
            <a:pPr lvl="2">
              <a:lnSpc>
                <a:spcPct val="135000"/>
              </a:lnSpc>
            </a:pPr>
            <a:r>
              <a:rPr lang="zh-CN" altLang="en-US" dirty="0"/>
              <a:t>输出</a:t>
            </a:r>
            <a:r>
              <a:rPr lang="en-US" altLang="zh-CN" dirty="0"/>
              <a:t>200-500</a:t>
            </a:r>
            <a:r>
              <a:rPr lang="zh-CN" altLang="en-US" dirty="0"/>
              <a:t>之间所有偶数之和</a:t>
            </a:r>
            <a:r>
              <a:rPr lang="en-US" altLang="zh-CN" dirty="0"/>
              <a:t>(p56)</a:t>
            </a:r>
          </a:p>
          <a:p>
            <a:pPr lvl="2">
              <a:lnSpc>
                <a:spcPct val="135000"/>
              </a:lnSpc>
            </a:pPr>
            <a:r>
              <a:rPr lang="zh-CN" altLang="en-US" dirty="0">
                <a:solidFill>
                  <a:srgbClr val="FF0000"/>
                </a:solidFill>
              </a:rPr>
              <a:t>输出乘法口诀表</a:t>
            </a: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36C8F6B8-0ED2-77AC-17DD-2F85F8571F1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20167" y="306446"/>
            <a:ext cx="1857522" cy="5727701"/>
          </a:xfrm>
          <a:prstGeom prst="rect">
            <a:avLst/>
          </a:prstGeom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84059E96-5DE9-CA89-DF16-B01C31B1BB7D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0082152" y="0"/>
            <a:ext cx="2097150" cy="6803172"/>
          </a:xfrm>
          <a:prstGeom prst="rect">
            <a:avLst/>
          </a:prstGeom>
        </p:spPr>
      </p:pic>
      <p:pic>
        <p:nvPicPr>
          <p:cNvPr id="9" name="图片 8">
            <a:extLst>
              <a:ext uri="{FF2B5EF4-FFF2-40B4-BE49-F238E27FC236}">
                <a16:creationId xmlns:a16="http://schemas.microsoft.com/office/drawing/2014/main" id="{16A17DE2-EDE5-0232-ACA4-E4ADC8B31736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7960435" y="0"/>
            <a:ext cx="2127503" cy="6858000"/>
          </a:xfrm>
          <a:prstGeom prst="rect">
            <a:avLst/>
          </a:prstGeom>
        </p:spPr>
      </p:pic>
      <p:pic>
        <p:nvPicPr>
          <p:cNvPr id="13" name="图片 12">
            <a:extLst>
              <a:ext uri="{FF2B5EF4-FFF2-40B4-BE49-F238E27FC236}">
                <a16:creationId xmlns:a16="http://schemas.microsoft.com/office/drawing/2014/main" id="{9D42836A-E194-495E-C34A-FFB648BA8EE4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765473" y="0"/>
            <a:ext cx="2226894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0458097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7" dur="500" fill="hold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8" dur="500" fill="hold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>
                      <p:stCondLst>
                        <p:cond delay="indefinite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>
                      <p:stCondLst>
                        <p:cond delay="indefinite"/>
                      </p:stCondLst>
                      <p:childTnLst>
                        <p:par>
                          <p:cTn id="88" fill="hold">
                            <p:stCondLst>
                              <p:cond delay="0"/>
                            </p:stCondLst>
                            <p:childTnLst>
                              <p:par>
                                <p:cTn id="8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1" dur="500" fill="hold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2" dur="500" fill="hold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 bldLvl="5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CN" dirty="0"/>
              <a:t>Python</a:t>
            </a:r>
            <a:r>
              <a:rPr lang="zh-CN" altLang="en-US" dirty="0"/>
              <a:t>的循环语句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-208655" y="1130299"/>
            <a:ext cx="7953439" cy="5496131"/>
          </a:xfrm>
        </p:spPr>
        <p:txBody>
          <a:bodyPr>
            <a:normAutofit/>
          </a:bodyPr>
          <a:lstStyle/>
          <a:p>
            <a:r>
              <a:rPr lang="en-US" altLang="zh-CN" dirty="0"/>
              <a:t>2. for</a:t>
            </a:r>
            <a:r>
              <a:rPr lang="zh-CN" altLang="en-US" dirty="0"/>
              <a:t>循环（面向集合元素的循环）</a:t>
            </a:r>
            <a:endParaRPr lang="en-US" altLang="zh-CN" dirty="0"/>
          </a:p>
          <a:p>
            <a:pPr lvl="1"/>
            <a:r>
              <a:rPr lang="en-US" altLang="zh-CN" b="1" dirty="0"/>
              <a:t>(1)</a:t>
            </a:r>
            <a:r>
              <a:rPr lang="zh-CN" altLang="en-US" b="1" dirty="0"/>
              <a:t>基本格式：</a:t>
            </a:r>
          </a:p>
          <a:p>
            <a:pPr marL="914377" lvl="2" indent="0">
              <a:buNone/>
            </a:pPr>
            <a:r>
              <a:rPr lang="en-US" altLang="zh-CN" sz="2000" b="1" dirty="0">
                <a:solidFill>
                  <a:schemeClr val="accent1"/>
                </a:solidFill>
              </a:rPr>
              <a:t>for   I  in </a:t>
            </a:r>
            <a:r>
              <a:rPr lang="zh-CN" altLang="en-US" sz="2000" b="1" dirty="0">
                <a:solidFill>
                  <a:schemeClr val="accent1"/>
                </a:solidFill>
              </a:rPr>
              <a:t>集合</a:t>
            </a:r>
            <a:r>
              <a:rPr lang="en-US" altLang="zh-CN" sz="2000" b="1" dirty="0">
                <a:solidFill>
                  <a:schemeClr val="accent1"/>
                </a:solidFill>
              </a:rPr>
              <a:t>:</a:t>
            </a:r>
          </a:p>
          <a:p>
            <a:pPr marL="1371566" lvl="3" indent="0">
              <a:buNone/>
            </a:pPr>
            <a:r>
              <a:rPr lang="zh-CN" altLang="en-US" sz="2000" b="1" dirty="0">
                <a:solidFill>
                  <a:schemeClr val="accent1"/>
                </a:solidFill>
              </a:rPr>
              <a:t>语句块</a:t>
            </a:r>
          </a:p>
          <a:p>
            <a:pPr lvl="2"/>
            <a:r>
              <a:rPr lang="zh-CN" altLang="en-US" sz="2000" dirty="0"/>
              <a:t>其含义是：针对集合内的每一个元素，均做这一操作。</a:t>
            </a:r>
          </a:p>
          <a:p>
            <a:pPr lvl="2"/>
            <a:r>
              <a:rPr lang="zh-CN" altLang="en-US" sz="2000" dirty="0"/>
              <a:t>本方式适合</a:t>
            </a:r>
            <a:r>
              <a:rPr lang="zh-CN" altLang="en-US" sz="2000" dirty="0">
                <a:solidFill>
                  <a:srgbClr val="FF0000"/>
                </a:solidFill>
              </a:rPr>
              <a:t>针对特定集合的操作，也可用于计次操作</a:t>
            </a:r>
            <a:r>
              <a:rPr lang="zh-CN" altLang="en-US" sz="2000" dirty="0">
                <a:latin typeface="楷体" panose="02010609060101010101" pitchFamily="49" charset="-122"/>
                <a:ea typeface="楷体" panose="02010609060101010101" pitchFamily="49" charset="-122"/>
              </a:rPr>
              <a:t>（如对某件事希望做多少次，需要创建一个包括</a:t>
            </a:r>
            <a:r>
              <a:rPr lang="en-US" altLang="zh-CN" sz="2000" dirty="0">
                <a:latin typeface="楷体" panose="02010609060101010101" pitchFamily="49" charset="-122"/>
                <a:ea typeface="楷体" panose="02010609060101010101" pitchFamily="49" charset="-122"/>
              </a:rPr>
              <a:t>n</a:t>
            </a:r>
            <a:r>
              <a:rPr lang="zh-CN" altLang="en-US" sz="2000" dirty="0">
                <a:latin typeface="楷体" panose="02010609060101010101" pitchFamily="49" charset="-122"/>
                <a:ea typeface="楷体" panose="02010609060101010101" pitchFamily="49" charset="-122"/>
              </a:rPr>
              <a:t>个元素的集合）</a:t>
            </a:r>
            <a:r>
              <a:rPr lang="zh-CN" altLang="en-US" sz="2000" dirty="0"/>
              <a:t>。</a:t>
            </a:r>
          </a:p>
          <a:p>
            <a:pPr lvl="1"/>
            <a:r>
              <a:rPr lang="en-US" altLang="zh-CN" b="1" dirty="0"/>
              <a:t>(2)</a:t>
            </a:r>
            <a:r>
              <a:rPr lang="zh-CN" altLang="en-US" b="1" dirty="0"/>
              <a:t>常见用法</a:t>
            </a:r>
            <a:r>
              <a:rPr lang="en-US" altLang="zh-CN" b="1" dirty="0"/>
              <a:t>(A)</a:t>
            </a:r>
            <a:r>
              <a:rPr lang="zh-CN" altLang="en-US" b="1" dirty="0"/>
              <a:t>：</a:t>
            </a:r>
          </a:p>
          <a:p>
            <a:pPr marL="914377" lvl="2" indent="0">
              <a:buNone/>
            </a:pPr>
            <a:r>
              <a:rPr lang="en-US" altLang="zh-CN" sz="2000" b="1" dirty="0">
                <a:solidFill>
                  <a:schemeClr val="accent1"/>
                </a:solidFill>
              </a:rPr>
              <a:t>for  xx  in  range(n) :</a:t>
            </a:r>
          </a:p>
          <a:p>
            <a:pPr marL="1371566" lvl="3" indent="0">
              <a:buNone/>
            </a:pPr>
            <a:r>
              <a:rPr lang="zh-CN" altLang="en-US" sz="1800" b="1" dirty="0">
                <a:solidFill>
                  <a:schemeClr val="accent1"/>
                </a:solidFill>
              </a:rPr>
              <a:t>语句块</a:t>
            </a:r>
          </a:p>
          <a:p>
            <a:pPr lvl="2"/>
            <a:r>
              <a:rPr lang="zh-CN" altLang="en-US" sz="2000" dirty="0"/>
              <a:t>含义是：对于语句块内容，执行控制变量</a:t>
            </a:r>
            <a:r>
              <a:rPr lang="en-US" altLang="zh-CN" sz="2000" dirty="0">
                <a:solidFill>
                  <a:srgbClr val="C00000"/>
                </a:solidFill>
              </a:rPr>
              <a:t>xx</a:t>
            </a:r>
            <a:r>
              <a:rPr lang="zh-CN" altLang="en-US" sz="2000" dirty="0">
                <a:solidFill>
                  <a:srgbClr val="C00000"/>
                </a:solidFill>
              </a:rPr>
              <a:t>为 </a:t>
            </a:r>
            <a:r>
              <a:rPr lang="en-US" altLang="zh-CN" sz="2000" dirty="0">
                <a:solidFill>
                  <a:srgbClr val="C00000"/>
                </a:solidFill>
              </a:rPr>
              <a:t>0~n-1</a:t>
            </a:r>
            <a:r>
              <a:rPr lang="zh-CN" altLang="en-US" sz="2000" dirty="0"/>
              <a:t>的循环。</a:t>
            </a:r>
            <a:endParaRPr lang="en-US" altLang="zh-CN" sz="2000" dirty="0"/>
          </a:p>
          <a:p>
            <a:pPr lvl="2"/>
            <a:r>
              <a:rPr lang="zh-CN" altLang="en-US" sz="2000" dirty="0"/>
              <a:t>与 </a:t>
            </a:r>
            <a:r>
              <a:rPr lang="en-US" altLang="zh-CN" sz="2000" dirty="0">
                <a:solidFill>
                  <a:srgbClr val="C00000"/>
                </a:solidFill>
              </a:rPr>
              <a:t>for </a:t>
            </a:r>
            <a:r>
              <a:rPr lang="en-US" altLang="zh-CN" sz="2000" dirty="0" err="1">
                <a:solidFill>
                  <a:srgbClr val="C00000"/>
                </a:solidFill>
              </a:rPr>
              <a:t>i</a:t>
            </a:r>
            <a:r>
              <a:rPr lang="en-US" altLang="zh-CN" sz="2000" dirty="0">
                <a:solidFill>
                  <a:srgbClr val="C00000"/>
                </a:solidFill>
              </a:rPr>
              <a:t> in 【0~n-1】</a:t>
            </a:r>
            <a:r>
              <a:rPr lang="zh-CN" altLang="en-US" sz="2000" dirty="0"/>
              <a:t>的整数集合等效。</a:t>
            </a:r>
            <a:endParaRPr lang="en-US" altLang="zh-CN" sz="2000" dirty="0"/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DD750E4A-1518-2A1F-ADAB-4CDFAE043B5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02565" y="1757362"/>
            <a:ext cx="3695700" cy="33432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2193690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 bldLvl="5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CN" dirty="0"/>
              <a:t>Python</a:t>
            </a:r>
            <a:r>
              <a:rPr lang="zh-CN" altLang="en-US" dirty="0"/>
              <a:t>的循环语句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0" y="1208958"/>
            <a:ext cx="4835831" cy="5003800"/>
          </a:xfrm>
        </p:spPr>
        <p:txBody>
          <a:bodyPr>
            <a:normAutofit fontScale="92500" lnSpcReduction="20000"/>
          </a:bodyPr>
          <a:lstStyle/>
          <a:p>
            <a:r>
              <a:rPr lang="en-US" altLang="zh-CN" dirty="0"/>
              <a:t>2. for</a:t>
            </a:r>
            <a:r>
              <a:rPr lang="zh-CN" altLang="en-US" dirty="0"/>
              <a:t>循环（面向集合元素的循环）</a:t>
            </a:r>
            <a:endParaRPr lang="en-US" altLang="zh-CN" dirty="0"/>
          </a:p>
          <a:p>
            <a:pPr lvl="1">
              <a:spcBef>
                <a:spcPts val="1200"/>
              </a:spcBef>
            </a:pPr>
            <a:r>
              <a:rPr lang="en-US" altLang="zh-CN" dirty="0"/>
              <a:t>(3)</a:t>
            </a:r>
            <a:r>
              <a:rPr lang="zh-CN" altLang="en-US" dirty="0"/>
              <a:t>常见用法</a:t>
            </a:r>
            <a:r>
              <a:rPr lang="en-US" altLang="zh-CN" dirty="0"/>
              <a:t>(B)</a:t>
            </a:r>
            <a:r>
              <a:rPr lang="zh-CN" altLang="en-US" dirty="0"/>
              <a:t> ：</a:t>
            </a:r>
          </a:p>
          <a:p>
            <a:pPr marL="914377" lvl="2" indent="0">
              <a:spcBef>
                <a:spcPts val="1200"/>
              </a:spcBef>
              <a:buNone/>
            </a:pPr>
            <a:r>
              <a:rPr lang="en-US" altLang="zh-CN" sz="2000" b="1" dirty="0">
                <a:solidFill>
                  <a:schemeClr val="accent1"/>
                </a:solidFill>
              </a:rPr>
              <a:t>for   </a:t>
            </a:r>
            <a:r>
              <a:rPr lang="en-US" altLang="zh-CN" sz="2000" b="1" dirty="0" err="1">
                <a:solidFill>
                  <a:schemeClr val="accent1"/>
                </a:solidFill>
              </a:rPr>
              <a:t>rr</a:t>
            </a:r>
            <a:r>
              <a:rPr lang="en-US" altLang="zh-CN" sz="2000" b="1" dirty="0">
                <a:solidFill>
                  <a:schemeClr val="accent1"/>
                </a:solidFill>
              </a:rPr>
              <a:t>  in  </a:t>
            </a:r>
            <a:r>
              <a:rPr lang="en-US" altLang="zh-CN" sz="2000" b="1" dirty="0" err="1">
                <a:solidFill>
                  <a:schemeClr val="accent1"/>
                </a:solidFill>
              </a:rPr>
              <a:t>db</a:t>
            </a:r>
            <a:r>
              <a:rPr lang="zh-CN" altLang="en-US" sz="2000" b="1" dirty="0">
                <a:solidFill>
                  <a:schemeClr val="accent1"/>
                </a:solidFill>
              </a:rPr>
              <a:t>集合</a:t>
            </a:r>
            <a:r>
              <a:rPr lang="en-US" altLang="zh-CN" sz="2000" b="1" dirty="0">
                <a:solidFill>
                  <a:schemeClr val="accent1"/>
                </a:solidFill>
              </a:rPr>
              <a:t>:</a:t>
            </a:r>
          </a:p>
          <a:p>
            <a:pPr marL="1371566" lvl="3" indent="0">
              <a:spcBef>
                <a:spcPts val="1200"/>
              </a:spcBef>
              <a:buNone/>
            </a:pPr>
            <a:r>
              <a:rPr lang="zh-CN" altLang="en-US" sz="2000" b="1" dirty="0">
                <a:solidFill>
                  <a:schemeClr val="accent1"/>
                </a:solidFill>
              </a:rPr>
              <a:t>语句块</a:t>
            </a:r>
          </a:p>
          <a:p>
            <a:pPr lvl="2">
              <a:spcBef>
                <a:spcPts val="1200"/>
              </a:spcBef>
            </a:pPr>
            <a:r>
              <a:rPr lang="zh-CN" altLang="en-US" dirty="0"/>
              <a:t>其含义是：对于从数据库查询得到的数据集合，把其中的每一条记录都执行“语句块”所指定的内容。诸如：显示、打印或删除等。</a:t>
            </a:r>
          </a:p>
          <a:p>
            <a:pPr lvl="2">
              <a:spcBef>
                <a:spcPts val="1200"/>
              </a:spcBef>
            </a:pPr>
            <a:r>
              <a:rPr lang="zh-CN" altLang="en-US" dirty="0"/>
              <a:t>本方式适合针对特定数据集合的操作，在数据分析中使用频繁。</a:t>
            </a:r>
          </a:p>
          <a:p>
            <a:pPr lvl="1">
              <a:spcBef>
                <a:spcPts val="1200"/>
              </a:spcBef>
            </a:pPr>
            <a:r>
              <a:rPr lang="en-US" altLang="zh-CN" dirty="0"/>
              <a:t>(4)for</a:t>
            </a:r>
            <a:r>
              <a:rPr lang="zh-CN" altLang="en-US" dirty="0"/>
              <a:t>循环使用案例：</a:t>
            </a:r>
            <a:endParaRPr lang="en-US" altLang="zh-CN" dirty="0"/>
          </a:p>
          <a:p>
            <a:pPr lvl="2">
              <a:spcBef>
                <a:spcPts val="1200"/>
              </a:spcBef>
            </a:pPr>
            <a:r>
              <a:rPr lang="zh-CN" altLang="en-US" dirty="0"/>
              <a:t>计算</a:t>
            </a:r>
            <a:r>
              <a:rPr lang="en-US" altLang="zh-CN" dirty="0"/>
              <a:t>1-100</a:t>
            </a:r>
            <a:r>
              <a:rPr lang="zh-CN" altLang="en-US" dirty="0"/>
              <a:t>之间所有整数之和</a:t>
            </a:r>
            <a:endParaRPr lang="en-US" altLang="zh-CN" dirty="0"/>
          </a:p>
          <a:p>
            <a:pPr lvl="2">
              <a:spcBef>
                <a:spcPts val="1200"/>
              </a:spcBef>
            </a:pPr>
            <a:r>
              <a:rPr lang="zh-CN" altLang="en-US" dirty="0"/>
              <a:t>输出乘法口诀表等</a:t>
            </a:r>
          </a:p>
          <a:p>
            <a:pPr lvl="2">
              <a:spcBef>
                <a:spcPts val="1200"/>
              </a:spcBef>
            </a:pPr>
            <a:r>
              <a:rPr lang="zh-CN" altLang="en-US" dirty="0"/>
              <a:t>百钱买百鸡问题</a:t>
            </a:r>
            <a:r>
              <a:rPr lang="en-US" altLang="zh-CN" dirty="0"/>
              <a:t>(p57)</a:t>
            </a:r>
          </a:p>
        </p:txBody>
      </p:sp>
      <p:pic>
        <p:nvPicPr>
          <p:cNvPr id="1028" name="Picture 4">
            <a:extLst>
              <a:ext uri="{FF2B5EF4-FFF2-40B4-BE49-F238E27FC236}">
                <a16:creationId xmlns:a16="http://schemas.microsoft.com/office/drawing/2014/main" id="{5AD9706A-DFAF-1ADE-3C20-58935DF23CF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662220" y="831953"/>
            <a:ext cx="3657600" cy="51720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60770BD7-C78A-A203-6838-0DE22F7CC78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52295" y="1208958"/>
            <a:ext cx="3209925" cy="41624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857876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 bldLvl="5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CN" dirty="0"/>
              <a:t>Python</a:t>
            </a:r>
            <a:r>
              <a:rPr lang="zh-CN" altLang="en-US" dirty="0"/>
              <a:t>的循环语句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zh-CN" dirty="0"/>
              <a:t>3. </a:t>
            </a:r>
            <a:r>
              <a:rPr lang="zh-CN" altLang="en-US" dirty="0"/>
              <a:t>循环语句的拓展性思考</a:t>
            </a:r>
            <a:endParaRPr lang="en-US" altLang="zh-CN" dirty="0"/>
          </a:p>
          <a:p>
            <a:pPr lvl="1">
              <a:spcBef>
                <a:spcPts val="1200"/>
              </a:spcBef>
            </a:pPr>
            <a:r>
              <a:rPr lang="en-US" altLang="zh-CN" dirty="0"/>
              <a:t>(1)for</a:t>
            </a:r>
            <a:r>
              <a:rPr lang="zh-CN" altLang="en-US" dirty="0"/>
              <a:t>循环语句与</a:t>
            </a:r>
            <a:r>
              <a:rPr lang="en-US" altLang="zh-CN" dirty="0"/>
              <a:t>while</a:t>
            </a:r>
            <a:r>
              <a:rPr lang="zh-CN" altLang="en-US" dirty="0"/>
              <a:t>语句的相互改写 ：</a:t>
            </a:r>
          </a:p>
          <a:p>
            <a:pPr lvl="2">
              <a:spcBef>
                <a:spcPts val="1200"/>
              </a:spcBef>
            </a:pPr>
            <a:r>
              <a:rPr lang="en-US" altLang="zh-CN" dirty="0">
                <a:solidFill>
                  <a:srgbClr val="FF0000"/>
                </a:solidFill>
              </a:rPr>
              <a:t>for </a:t>
            </a:r>
            <a:r>
              <a:rPr lang="zh-CN" altLang="en-US" dirty="0">
                <a:solidFill>
                  <a:srgbClr val="FF0000"/>
                </a:solidFill>
              </a:rPr>
              <a:t>语句改写为</a:t>
            </a:r>
            <a:r>
              <a:rPr lang="en-US" altLang="zh-CN" dirty="0">
                <a:solidFill>
                  <a:srgbClr val="FF0000"/>
                </a:solidFill>
              </a:rPr>
              <a:t>while</a:t>
            </a:r>
            <a:r>
              <a:rPr lang="zh-CN" altLang="en-US" dirty="0">
                <a:solidFill>
                  <a:srgbClr val="FF0000"/>
                </a:solidFill>
              </a:rPr>
              <a:t>语句</a:t>
            </a:r>
            <a:endParaRPr lang="en-US" altLang="zh-CN" dirty="0">
              <a:solidFill>
                <a:srgbClr val="FF0000"/>
              </a:solidFill>
            </a:endParaRPr>
          </a:p>
          <a:p>
            <a:pPr lvl="2">
              <a:spcBef>
                <a:spcPts val="1200"/>
              </a:spcBef>
            </a:pPr>
            <a:r>
              <a:rPr lang="en-US" altLang="zh-CN" dirty="0">
                <a:solidFill>
                  <a:srgbClr val="FF0000"/>
                </a:solidFill>
              </a:rPr>
              <a:t>while</a:t>
            </a:r>
            <a:r>
              <a:rPr lang="zh-CN" altLang="en-US" dirty="0">
                <a:solidFill>
                  <a:srgbClr val="FF0000"/>
                </a:solidFill>
              </a:rPr>
              <a:t>语句改写为</a:t>
            </a:r>
            <a:r>
              <a:rPr lang="en-US" altLang="zh-CN" dirty="0">
                <a:solidFill>
                  <a:srgbClr val="FF0000"/>
                </a:solidFill>
              </a:rPr>
              <a:t>for</a:t>
            </a:r>
            <a:r>
              <a:rPr lang="zh-CN" altLang="en-US" dirty="0">
                <a:solidFill>
                  <a:srgbClr val="FF0000"/>
                </a:solidFill>
              </a:rPr>
              <a:t>语句</a:t>
            </a:r>
            <a:endParaRPr lang="zh-CN" altLang="en-US" dirty="0"/>
          </a:p>
          <a:p>
            <a:pPr lvl="1">
              <a:spcBef>
                <a:spcPts val="1200"/>
              </a:spcBef>
            </a:pPr>
            <a:r>
              <a:rPr lang="en-US" altLang="zh-CN" dirty="0"/>
              <a:t>(2)for</a:t>
            </a:r>
            <a:r>
              <a:rPr lang="zh-CN" altLang="en-US" dirty="0"/>
              <a:t>语句中</a:t>
            </a:r>
            <a:r>
              <a:rPr lang="en-US" altLang="zh-CN" dirty="0">
                <a:solidFill>
                  <a:schemeClr val="accent1"/>
                </a:solidFill>
              </a:rPr>
              <a:t>range</a:t>
            </a:r>
            <a:r>
              <a:rPr lang="zh-CN" altLang="en-US" dirty="0"/>
              <a:t>的用法：</a:t>
            </a:r>
            <a:endParaRPr lang="en-US" altLang="zh-CN" dirty="0"/>
          </a:p>
          <a:p>
            <a:pPr lvl="2">
              <a:spcBef>
                <a:spcPts val="1200"/>
              </a:spcBef>
            </a:pPr>
            <a:r>
              <a:rPr lang="en-US" altLang="zh-CN" dirty="0"/>
              <a:t>range(n)</a:t>
            </a:r>
            <a:r>
              <a:rPr lang="zh-CN" altLang="en-US" dirty="0"/>
              <a:t>的含义：集合为</a:t>
            </a:r>
            <a:r>
              <a:rPr lang="en-US" altLang="zh-CN" dirty="0"/>
              <a:t>0~n-1</a:t>
            </a:r>
          </a:p>
          <a:p>
            <a:pPr lvl="2">
              <a:spcBef>
                <a:spcPts val="1200"/>
              </a:spcBef>
            </a:pPr>
            <a:r>
              <a:rPr lang="en-US" altLang="zh-CN" dirty="0"/>
              <a:t>range(n1,n2)</a:t>
            </a:r>
            <a:r>
              <a:rPr lang="zh-CN" altLang="en-US" dirty="0"/>
              <a:t>的含义：集合为：</a:t>
            </a:r>
            <a:r>
              <a:rPr lang="en-US" altLang="zh-CN" dirty="0"/>
              <a:t>n1~n2-1</a:t>
            </a:r>
          </a:p>
          <a:p>
            <a:pPr lvl="2">
              <a:spcBef>
                <a:spcPts val="1200"/>
              </a:spcBef>
            </a:pPr>
            <a:r>
              <a:rPr lang="en-US" altLang="zh-CN" dirty="0"/>
              <a:t>range(n1,n2,step</a:t>
            </a:r>
            <a:r>
              <a:rPr lang="zh-CN" altLang="en-US" dirty="0"/>
              <a:t>）的含义：执行（</a:t>
            </a:r>
            <a:r>
              <a:rPr lang="en-US" altLang="zh-CN" dirty="0"/>
              <a:t>n2-n1)/step</a:t>
            </a:r>
            <a:r>
              <a:rPr lang="zh-CN" altLang="en-US" dirty="0"/>
              <a:t>次，且自变量范围为</a:t>
            </a:r>
            <a:r>
              <a:rPr lang="en-US" altLang="zh-CN" dirty="0"/>
              <a:t>n1 </a:t>
            </a:r>
            <a:r>
              <a:rPr lang="zh-CN" altLang="en-US" dirty="0"/>
              <a:t>至 </a:t>
            </a:r>
            <a:r>
              <a:rPr lang="en-US" altLang="zh-CN" dirty="0"/>
              <a:t>n2-1</a:t>
            </a:r>
            <a:r>
              <a:rPr lang="zh-CN" altLang="en-US" dirty="0"/>
              <a:t>间隔为 </a:t>
            </a:r>
            <a:r>
              <a:rPr lang="en-US" altLang="zh-CN" dirty="0"/>
              <a:t>step</a:t>
            </a:r>
            <a:r>
              <a:rPr lang="zh-CN" altLang="en-US" dirty="0"/>
              <a:t>的全体整数。即带有步长的</a:t>
            </a:r>
            <a:r>
              <a:rPr lang="en-US" altLang="zh-CN" dirty="0"/>
              <a:t>for</a:t>
            </a:r>
            <a:r>
              <a:rPr lang="zh-CN" altLang="en-US" dirty="0"/>
              <a:t>循环。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33592C19-95C2-B924-D4CF-5AB487740C87}"/>
              </a:ext>
            </a:extLst>
          </p:cNvPr>
          <p:cNvSpPr txBox="1"/>
          <p:nvPr/>
        </p:nvSpPr>
        <p:spPr>
          <a:xfrm>
            <a:off x="9472551" y="1611869"/>
            <a:ext cx="2719449" cy="369332"/>
          </a:xfrm>
          <a:prstGeom prst="rect">
            <a:avLst/>
          </a:prstGeom>
          <a:solidFill>
            <a:schemeClr val="tx1"/>
          </a:solidFill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C586C0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for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 </a:t>
            </a:r>
            <a:r>
              <a:rPr kumimoji="0" lang="en-US" altLang="zh-CN" sz="1800" b="0" i="0" u="none" strike="noStrike" kern="1200" cap="none" spc="0" normalizeH="0" baseline="0" noProof="0" dirty="0" err="1">
                <a:ln>
                  <a:noFill/>
                </a:ln>
                <a:solidFill>
                  <a:srgbClr val="9CDCFE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i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 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C586C0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in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 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4EC9B0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range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(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B5CEA8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1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,n):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C908D8B6-5DDB-9573-6A08-335058EE1C58}"/>
              </a:ext>
            </a:extLst>
          </p:cNvPr>
          <p:cNvSpPr txBox="1"/>
          <p:nvPr/>
        </p:nvSpPr>
        <p:spPr>
          <a:xfrm>
            <a:off x="7517081" y="1611869"/>
            <a:ext cx="1805049" cy="923330"/>
          </a:xfrm>
          <a:prstGeom prst="rect">
            <a:avLst/>
          </a:prstGeom>
          <a:solidFill>
            <a:schemeClr val="tx1"/>
          </a:solidFill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9CDCFE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x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=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B5CEA8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1</a:t>
            </a:r>
            <a:endParaRPr kumimoji="0" lang="en-US" altLang="zh-CN" sz="1800" b="0" i="0" u="none" strike="noStrike" kern="1200" cap="none" spc="0" normalizeH="0" baseline="0" noProof="0" dirty="0">
              <a:ln>
                <a:noFill/>
              </a:ln>
              <a:solidFill>
                <a:srgbClr val="D4D4D4"/>
              </a:solidFill>
              <a:effectLst/>
              <a:uLnTx/>
              <a:uFillTx/>
              <a:latin typeface="Consolas" panose="020B0609020204030204" pitchFamily="49" charset="0"/>
              <a:ea typeface="思源黑体 CN Normal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C586C0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while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 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9CDCFE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x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&lt;n: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    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9CDCFE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x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+=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B5CEA8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1</a:t>
            </a:r>
            <a:endParaRPr kumimoji="0" lang="en-US" altLang="zh-CN" sz="1800" b="0" i="0" u="none" strike="noStrike" kern="1200" cap="none" spc="0" normalizeH="0" baseline="0" noProof="0" dirty="0">
              <a:ln>
                <a:noFill/>
              </a:ln>
              <a:solidFill>
                <a:srgbClr val="D4D4D4"/>
              </a:solidFill>
              <a:effectLst/>
              <a:uLnTx/>
              <a:uFillTx/>
              <a:latin typeface="Consolas" panose="020B0609020204030204" pitchFamily="49" charset="0"/>
              <a:ea typeface="思源黑体 CN Normal"/>
              <a:cs typeface="+mn-cs"/>
            </a:endParaRPr>
          </a:p>
        </p:txBody>
      </p:sp>
      <p:sp>
        <p:nvSpPr>
          <p:cNvPr id="9" name="弧形 8">
            <a:extLst>
              <a:ext uri="{FF2B5EF4-FFF2-40B4-BE49-F238E27FC236}">
                <a16:creationId xmlns:a16="http://schemas.microsoft.com/office/drawing/2014/main" id="{98B8F052-DDFA-713A-95E2-C925D45073CA}"/>
              </a:ext>
            </a:extLst>
          </p:cNvPr>
          <p:cNvSpPr/>
          <p:nvPr/>
        </p:nvSpPr>
        <p:spPr>
          <a:xfrm>
            <a:off x="7812149" y="1364677"/>
            <a:ext cx="3693062" cy="481569"/>
          </a:xfrm>
          <a:prstGeom prst="arc">
            <a:avLst>
              <a:gd name="adj1" fmla="val 10806928"/>
              <a:gd name="adj2" fmla="val 0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2F2F2F"/>
              </a:solidFill>
              <a:effectLst/>
              <a:uLnTx/>
              <a:uFillTx/>
              <a:latin typeface="思源黑体 CN Normal"/>
              <a:ea typeface="思源黑体 CN Normal"/>
              <a:cs typeface="+mn-cs"/>
            </a:endParaRPr>
          </a:p>
        </p:txBody>
      </p:sp>
      <p:sp>
        <p:nvSpPr>
          <p:cNvPr id="10" name="弧形 9">
            <a:extLst>
              <a:ext uri="{FF2B5EF4-FFF2-40B4-BE49-F238E27FC236}">
                <a16:creationId xmlns:a16="http://schemas.microsoft.com/office/drawing/2014/main" id="{3686E613-F9DB-8E09-B5B4-A9045C72FD92}"/>
              </a:ext>
            </a:extLst>
          </p:cNvPr>
          <p:cNvSpPr/>
          <p:nvPr/>
        </p:nvSpPr>
        <p:spPr>
          <a:xfrm rot="10263506">
            <a:off x="8846276" y="1839973"/>
            <a:ext cx="3054900" cy="533664"/>
          </a:xfrm>
          <a:prstGeom prst="arc">
            <a:avLst>
              <a:gd name="adj1" fmla="val 10924979"/>
              <a:gd name="adj2" fmla="val 1593"/>
            </a:avLst>
          </a:prstGeom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2F2F2F"/>
              </a:solidFill>
              <a:effectLst/>
              <a:uLnTx/>
              <a:uFillTx/>
              <a:latin typeface="思源黑体 CN Normal"/>
              <a:ea typeface="思源黑体 CN Normal"/>
              <a:cs typeface="+mn-cs"/>
            </a:endParaRPr>
          </a:p>
        </p:txBody>
      </p:sp>
      <p:sp>
        <p:nvSpPr>
          <p:cNvPr id="11" name="任意多边形: 形状 10">
            <a:extLst>
              <a:ext uri="{FF2B5EF4-FFF2-40B4-BE49-F238E27FC236}">
                <a16:creationId xmlns:a16="http://schemas.microsoft.com/office/drawing/2014/main" id="{B5DCC9ED-C030-B65E-1EF0-D8E24F443704}"/>
              </a:ext>
            </a:extLst>
          </p:cNvPr>
          <p:cNvSpPr/>
          <p:nvPr/>
        </p:nvSpPr>
        <p:spPr>
          <a:xfrm>
            <a:off x="8217725" y="1935678"/>
            <a:ext cx="2113879" cy="1235034"/>
          </a:xfrm>
          <a:custGeom>
            <a:avLst/>
            <a:gdLst>
              <a:gd name="connsiteX0" fmla="*/ 0 w 2113879"/>
              <a:gd name="connsiteY0" fmla="*/ 534390 h 1235034"/>
              <a:gd name="connsiteX1" fmla="*/ 273132 w 2113879"/>
              <a:gd name="connsiteY1" fmla="*/ 961901 h 1235034"/>
              <a:gd name="connsiteX2" fmla="*/ 486888 w 2113879"/>
              <a:gd name="connsiteY2" fmla="*/ 1128156 h 1235034"/>
              <a:gd name="connsiteX3" fmla="*/ 736270 w 2113879"/>
              <a:gd name="connsiteY3" fmla="*/ 1211283 h 1235034"/>
              <a:gd name="connsiteX4" fmla="*/ 866898 w 2113879"/>
              <a:gd name="connsiteY4" fmla="*/ 1223158 h 1235034"/>
              <a:gd name="connsiteX5" fmla="*/ 1140031 w 2113879"/>
              <a:gd name="connsiteY5" fmla="*/ 1235034 h 1235034"/>
              <a:gd name="connsiteX6" fmla="*/ 1282535 w 2113879"/>
              <a:gd name="connsiteY6" fmla="*/ 1199408 h 1235034"/>
              <a:gd name="connsiteX7" fmla="*/ 1757548 w 2113879"/>
              <a:gd name="connsiteY7" fmla="*/ 890649 h 1235034"/>
              <a:gd name="connsiteX8" fmla="*/ 2042556 w 2113879"/>
              <a:gd name="connsiteY8" fmla="*/ 617517 h 1235034"/>
              <a:gd name="connsiteX9" fmla="*/ 2101932 w 2113879"/>
              <a:gd name="connsiteY9" fmla="*/ 534390 h 1235034"/>
              <a:gd name="connsiteX10" fmla="*/ 2113807 w 2113879"/>
              <a:gd name="connsiteY10" fmla="*/ 498764 h 1235034"/>
              <a:gd name="connsiteX11" fmla="*/ 2090057 w 2113879"/>
              <a:gd name="connsiteY11" fmla="*/ 380010 h 1235034"/>
              <a:gd name="connsiteX12" fmla="*/ 2054431 w 2113879"/>
              <a:gd name="connsiteY12" fmla="*/ 308758 h 1235034"/>
              <a:gd name="connsiteX13" fmla="*/ 2018805 w 2113879"/>
              <a:gd name="connsiteY13" fmla="*/ 273132 h 1235034"/>
              <a:gd name="connsiteX14" fmla="*/ 1911927 w 2113879"/>
              <a:gd name="connsiteY14" fmla="*/ 190005 h 1235034"/>
              <a:gd name="connsiteX15" fmla="*/ 1793174 w 2113879"/>
              <a:gd name="connsiteY15" fmla="*/ 95003 h 1235034"/>
              <a:gd name="connsiteX16" fmla="*/ 1733797 w 2113879"/>
              <a:gd name="connsiteY16" fmla="*/ 59377 h 1235034"/>
              <a:gd name="connsiteX17" fmla="*/ 1698171 w 2113879"/>
              <a:gd name="connsiteY17" fmla="*/ 23751 h 1235034"/>
              <a:gd name="connsiteX18" fmla="*/ 1650670 w 2113879"/>
              <a:gd name="connsiteY18" fmla="*/ 0 h 12350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</a:cxnLst>
            <a:rect l="l" t="t" r="r" b="b"/>
            <a:pathLst>
              <a:path w="2113879" h="1235034">
                <a:moveTo>
                  <a:pt x="0" y="534390"/>
                </a:moveTo>
                <a:cubicBezTo>
                  <a:pt x="30034" y="744633"/>
                  <a:pt x="6375" y="675137"/>
                  <a:pt x="273132" y="961901"/>
                </a:cubicBezTo>
                <a:cubicBezTo>
                  <a:pt x="334613" y="1027993"/>
                  <a:pt x="409084" y="1082389"/>
                  <a:pt x="486888" y="1128156"/>
                </a:cubicBezTo>
                <a:cubicBezTo>
                  <a:pt x="531429" y="1154357"/>
                  <a:pt x="659610" y="1201701"/>
                  <a:pt x="736270" y="1211283"/>
                </a:cubicBezTo>
                <a:cubicBezTo>
                  <a:pt x="779655" y="1216706"/>
                  <a:pt x="823251" y="1220591"/>
                  <a:pt x="866898" y="1223158"/>
                </a:cubicBezTo>
                <a:cubicBezTo>
                  <a:pt x="957871" y="1228509"/>
                  <a:pt x="1048987" y="1231075"/>
                  <a:pt x="1140031" y="1235034"/>
                </a:cubicBezTo>
                <a:cubicBezTo>
                  <a:pt x="1187532" y="1223159"/>
                  <a:pt x="1238741" y="1221305"/>
                  <a:pt x="1282535" y="1199408"/>
                </a:cubicBezTo>
                <a:cubicBezTo>
                  <a:pt x="1471160" y="1105096"/>
                  <a:pt x="1607926" y="1018896"/>
                  <a:pt x="1757548" y="890649"/>
                </a:cubicBezTo>
                <a:cubicBezTo>
                  <a:pt x="1891304" y="776002"/>
                  <a:pt x="1950330" y="734895"/>
                  <a:pt x="2042556" y="617517"/>
                </a:cubicBezTo>
                <a:cubicBezTo>
                  <a:pt x="2063594" y="590742"/>
                  <a:pt x="2082140" y="562099"/>
                  <a:pt x="2101932" y="534390"/>
                </a:cubicBezTo>
                <a:cubicBezTo>
                  <a:pt x="2105890" y="522515"/>
                  <a:pt x="2114767" y="511245"/>
                  <a:pt x="2113807" y="498764"/>
                </a:cubicBezTo>
                <a:cubicBezTo>
                  <a:pt x="2110711" y="458514"/>
                  <a:pt x="2102098" y="418541"/>
                  <a:pt x="2090057" y="380010"/>
                </a:cubicBezTo>
                <a:cubicBezTo>
                  <a:pt x="2082137" y="354665"/>
                  <a:pt x="2069161" y="330852"/>
                  <a:pt x="2054431" y="308758"/>
                </a:cubicBezTo>
                <a:cubicBezTo>
                  <a:pt x="2045115" y="294784"/>
                  <a:pt x="2031707" y="283883"/>
                  <a:pt x="2018805" y="273132"/>
                </a:cubicBezTo>
                <a:cubicBezTo>
                  <a:pt x="1984133" y="244239"/>
                  <a:pt x="1947351" y="217971"/>
                  <a:pt x="1911927" y="190005"/>
                </a:cubicBezTo>
                <a:cubicBezTo>
                  <a:pt x="1872139" y="158594"/>
                  <a:pt x="1836643" y="121084"/>
                  <a:pt x="1793174" y="95003"/>
                </a:cubicBezTo>
                <a:cubicBezTo>
                  <a:pt x="1773382" y="83128"/>
                  <a:pt x="1752262" y="73226"/>
                  <a:pt x="1733797" y="59377"/>
                </a:cubicBezTo>
                <a:cubicBezTo>
                  <a:pt x="1720362" y="49300"/>
                  <a:pt x="1711837" y="33513"/>
                  <a:pt x="1698171" y="23751"/>
                </a:cubicBezTo>
                <a:cubicBezTo>
                  <a:pt x="1683766" y="13461"/>
                  <a:pt x="1650670" y="0"/>
                  <a:pt x="1650670" y="0"/>
                </a:cubicBezTo>
              </a:path>
            </a:pathLst>
          </a:cu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思源黑体 CN Normal"/>
              <a:ea typeface="思源黑体 CN Normal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9262881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 bldLvl="5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CN" dirty="0"/>
              <a:t>Python</a:t>
            </a:r>
            <a:r>
              <a:rPr lang="zh-CN" altLang="en-US" dirty="0"/>
              <a:t>的循环语句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zh-CN" dirty="0"/>
              <a:t>3. </a:t>
            </a:r>
            <a:r>
              <a:rPr lang="zh-CN" altLang="en-US" dirty="0"/>
              <a:t>循环语句的拓展性思考</a:t>
            </a:r>
            <a:endParaRPr lang="en-US" altLang="zh-CN" dirty="0"/>
          </a:p>
          <a:p>
            <a:pPr lvl="1">
              <a:spcBef>
                <a:spcPts val="1200"/>
              </a:spcBef>
            </a:pPr>
            <a:r>
              <a:rPr lang="en-US" altLang="zh-CN" dirty="0"/>
              <a:t>(3)</a:t>
            </a:r>
            <a:r>
              <a:rPr lang="zh-CN" altLang="en-US" dirty="0"/>
              <a:t>循环中的特殊跳转</a:t>
            </a:r>
          </a:p>
          <a:p>
            <a:pPr lvl="2">
              <a:spcBef>
                <a:spcPts val="1200"/>
              </a:spcBef>
            </a:pPr>
            <a:r>
              <a:rPr lang="en-US" altLang="zh-CN" sz="2000" dirty="0">
                <a:solidFill>
                  <a:srgbClr val="002060"/>
                </a:solidFill>
              </a:rPr>
              <a:t>break</a:t>
            </a:r>
            <a:r>
              <a:rPr lang="zh-CN" altLang="en-US" sz="2000" dirty="0">
                <a:solidFill>
                  <a:srgbClr val="002060"/>
                </a:solidFill>
              </a:rPr>
              <a:t>：跳出循环体，跳到</a:t>
            </a:r>
            <a:r>
              <a:rPr lang="zh-CN" altLang="en-US" sz="2000" dirty="0">
                <a:solidFill>
                  <a:srgbClr val="FF0000"/>
                </a:solidFill>
              </a:rPr>
              <a:t>循环外</a:t>
            </a:r>
            <a:r>
              <a:rPr lang="zh-CN" altLang="en-US" sz="2000" dirty="0">
                <a:solidFill>
                  <a:srgbClr val="002060"/>
                </a:solidFill>
              </a:rPr>
              <a:t>的第</a:t>
            </a:r>
            <a:r>
              <a:rPr lang="en-US" altLang="zh-CN" sz="2000" dirty="0">
                <a:solidFill>
                  <a:srgbClr val="002060"/>
                </a:solidFill>
              </a:rPr>
              <a:t>1</a:t>
            </a:r>
            <a:r>
              <a:rPr lang="zh-CN" altLang="en-US" sz="2000" dirty="0">
                <a:solidFill>
                  <a:srgbClr val="002060"/>
                </a:solidFill>
              </a:rPr>
              <a:t>条语句（</a:t>
            </a:r>
            <a:r>
              <a:rPr lang="zh-CN" altLang="en-US" sz="2000" dirty="0">
                <a:solidFill>
                  <a:srgbClr val="FF0000"/>
                </a:solidFill>
              </a:rPr>
              <a:t>结束此循环</a:t>
            </a:r>
            <a:r>
              <a:rPr lang="zh-CN" altLang="en-US" sz="2000" dirty="0">
                <a:solidFill>
                  <a:srgbClr val="002060"/>
                </a:solidFill>
              </a:rPr>
              <a:t>）</a:t>
            </a:r>
            <a:endParaRPr lang="en-US" altLang="zh-CN" sz="2000" dirty="0">
              <a:solidFill>
                <a:srgbClr val="002060"/>
              </a:solidFill>
            </a:endParaRPr>
          </a:p>
          <a:p>
            <a:pPr lvl="2">
              <a:spcBef>
                <a:spcPts val="1200"/>
              </a:spcBef>
            </a:pPr>
            <a:r>
              <a:rPr lang="en-US" altLang="zh-CN" sz="2000" dirty="0">
                <a:solidFill>
                  <a:srgbClr val="002060"/>
                </a:solidFill>
              </a:rPr>
              <a:t>continue: </a:t>
            </a:r>
            <a:r>
              <a:rPr lang="zh-CN" altLang="en-US" sz="2000" dirty="0">
                <a:solidFill>
                  <a:srgbClr val="002060"/>
                </a:solidFill>
              </a:rPr>
              <a:t>跳到</a:t>
            </a:r>
            <a:r>
              <a:rPr lang="zh-CN" altLang="en-US" sz="2000" dirty="0">
                <a:solidFill>
                  <a:srgbClr val="FF0000"/>
                </a:solidFill>
              </a:rPr>
              <a:t>循环语句块</a:t>
            </a:r>
            <a:r>
              <a:rPr lang="zh-CN" altLang="en-US" sz="2000" dirty="0">
                <a:solidFill>
                  <a:srgbClr val="002060"/>
                </a:solidFill>
              </a:rPr>
              <a:t>的第</a:t>
            </a:r>
            <a:r>
              <a:rPr lang="en-US" altLang="zh-CN" sz="2000" dirty="0">
                <a:solidFill>
                  <a:srgbClr val="002060"/>
                </a:solidFill>
              </a:rPr>
              <a:t>1</a:t>
            </a:r>
            <a:r>
              <a:rPr lang="zh-CN" altLang="en-US" sz="2000" dirty="0">
                <a:solidFill>
                  <a:srgbClr val="002060"/>
                </a:solidFill>
              </a:rPr>
              <a:t>条语句，本趟循环不再执行语句块内</a:t>
            </a:r>
            <a:r>
              <a:rPr lang="en-US" altLang="zh-CN" sz="2000" dirty="0">
                <a:solidFill>
                  <a:srgbClr val="002060"/>
                </a:solidFill>
              </a:rPr>
              <a:t>continue</a:t>
            </a:r>
            <a:r>
              <a:rPr lang="zh-CN" altLang="en-US" sz="2000" dirty="0">
                <a:solidFill>
                  <a:srgbClr val="002060"/>
                </a:solidFill>
              </a:rPr>
              <a:t>之后的语句（</a:t>
            </a:r>
            <a:r>
              <a:rPr lang="zh-CN" altLang="en-US" sz="2000" dirty="0">
                <a:solidFill>
                  <a:srgbClr val="FF0000"/>
                </a:solidFill>
              </a:rPr>
              <a:t>循环仍会继续</a:t>
            </a:r>
            <a:r>
              <a:rPr lang="zh-CN" altLang="en-US" sz="2000" dirty="0">
                <a:solidFill>
                  <a:srgbClr val="002060"/>
                </a:solidFill>
              </a:rPr>
              <a:t>）。</a:t>
            </a:r>
            <a:endParaRPr lang="en-US" altLang="zh-CN" sz="2000" dirty="0">
              <a:solidFill>
                <a:srgbClr val="002060"/>
              </a:solidFill>
            </a:endParaRPr>
          </a:p>
          <a:p>
            <a:pPr lvl="2">
              <a:spcBef>
                <a:spcPts val="1200"/>
              </a:spcBef>
            </a:pPr>
            <a:r>
              <a:rPr lang="zh-CN" altLang="en-US" sz="2000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上述两个语句均会放在</a:t>
            </a:r>
            <a:r>
              <a:rPr lang="en-US" altLang="zh-CN" sz="2000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if</a:t>
            </a:r>
            <a:r>
              <a:rPr lang="zh-CN" altLang="en-US" sz="2000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语句块中，表示满足特定条件时发生。</a:t>
            </a:r>
          </a:p>
        </p:txBody>
      </p:sp>
    </p:spTree>
    <p:extLst>
      <p:ext uri="{BB962C8B-B14F-4D97-AF65-F5344CB8AC3E}">
        <p14:creationId xmlns:p14="http://schemas.microsoft.com/office/powerpoint/2010/main" val="268599039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 bldLvl="5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CN" dirty="0"/>
              <a:t>Python</a:t>
            </a:r>
            <a:r>
              <a:rPr lang="zh-CN" altLang="en-US" dirty="0"/>
              <a:t>的循环语句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zh-CN" dirty="0"/>
              <a:t>4. </a:t>
            </a:r>
            <a:r>
              <a:rPr lang="zh-CN" altLang="en-US" dirty="0"/>
              <a:t>循环语句应用的实用案例</a:t>
            </a:r>
            <a:endParaRPr lang="en-US" altLang="zh-CN" dirty="0"/>
          </a:p>
          <a:p>
            <a:pPr lvl="1">
              <a:spcBef>
                <a:spcPts val="1200"/>
              </a:spcBef>
            </a:pPr>
            <a:r>
              <a:rPr lang="en-US" altLang="zh-CN" b="1" dirty="0"/>
              <a:t>(1)</a:t>
            </a:r>
            <a:r>
              <a:rPr lang="zh-CN" altLang="en-US" b="1" dirty="0"/>
              <a:t>计算指定整数的阶乘</a:t>
            </a:r>
            <a:endParaRPr lang="en-US" altLang="zh-CN" b="1" dirty="0"/>
          </a:p>
          <a:p>
            <a:pPr lvl="2">
              <a:spcBef>
                <a:spcPts val="1200"/>
              </a:spcBef>
            </a:pPr>
            <a:r>
              <a:rPr lang="zh-CN" altLang="en-US" dirty="0"/>
              <a:t>假设初始值为</a:t>
            </a:r>
            <a:r>
              <a:rPr lang="en-US" altLang="zh-CN" dirty="0"/>
              <a:t>1</a:t>
            </a:r>
          </a:p>
          <a:p>
            <a:pPr lvl="2">
              <a:spcBef>
                <a:spcPts val="1200"/>
              </a:spcBef>
            </a:pPr>
            <a:r>
              <a:rPr lang="zh-CN" altLang="en-US" dirty="0"/>
              <a:t>从</a:t>
            </a:r>
            <a:r>
              <a:rPr lang="en-US" altLang="zh-CN" dirty="0"/>
              <a:t>1</a:t>
            </a:r>
            <a:r>
              <a:rPr lang="zh-CN" altLang="en-US" dirty="0"/>
              <a:t>连乘到</a:t>
            </a:r>
            <a:r>
              <a:rPr lang="en-US" altLang="zh-CN" dirty="0"/>
              <a:t>n</a:t>
            </a:r>
          </a:p>
          <a:p>
            <a:pPr lvl="3">
              <a:spcBef>
                <a:spcPts val="1200"/>
              </a:spcBef>
            </a:pPr>
            <a:r>
              <a:rPr lang="zh-CN" altLang="en-US" sz="1800" dirty="0"/>
              <a:t>可用</a:t>
            </a:r>
            <a:r>
              <a:rPr lang="en-US" altLang="zh-CN" sz="1800" dirty="0"/>
              <a:t>while</a:t>
            </a:r>
            <a:r>
              <a:rPr lang="zh-CN" altLang="en-US" sz="1800" dirty="0"/>
              <a:t>语句，也可用</a:t>
            </a:r>
            <a:r>
              <a:rPr lang="en-US" altLang="zh-CN" sz="1800" dirty="0"/>
              <a:t>for</a:t>
            </a:r>
            <a:r>
              <a:rPr lang="zh-CN" altLang="en-US" sz="1800" dirty="0"/>
              <a:t>语句（注意边界）</a:t>
            </a:r>
            <a:endParaRPr lang="en-US" altLang="zh-CN" sz="1800" dirty="0"/>
          </a:p>
          <a:p>
            <a:pPr lvl="1">
              <a:spcBef>
                <a:spcPts val="1200"/>
              </a:spcBef>
            </a:pPr>
            <a:r>
              <a:rPr lang="en-US" altLang="zh-CN" b="1" dirty="0"/>
              <a:t>(2)</a:t>
            </a:r>
            <a:r>
              <a:rPr lang="zh-CN" altLang="en-US" b="1" dirty="0"/>
              <a:t>经典的斐波那锲数列</a:t>
            </a:r>
            <a:endParaRPr lang="en-US" altLang="zh-CN" b="1" dirty="0"/>
          </a:p>
          <a:p>
            <a:pPr lvl="2">
              <a:spcBef>
                <a:spcPts val="1200"/>
              </a:spcBef>
            </a:pPr>
            <a:r>
              <a:rPr lang="en-US" altLang="zh-CN" dirty="0"/>
              <a:t>a1=1,     a2=1</a:t>
            </a:r>
          </a:p>
          <a:p>
            <a:pPr lvl="2">
              <a:spcBef>
                <a:spcPts val="1200"/>
              </a:spcBef>
            </a:pPr>
            <a:r>
              <a:rPr lang="en-US" altLang="zh-CN" dirty="0"/>
              <a:t>a(n)=a(n-1)+a(n-2)</a:t>
            </a:r>
          </a:p>
        </p:txBody>
      </p:sp>
    </p:spTree>
    <p:extLst>
      <p:ext uri="{BB962C8B-B14F-4D97-AF65-F5344CB8AC3E}">
        <p14:creationId xmlns:p14="http://schemas.microsoft.com/office/powerpoint/2010/main" val="39485440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 bldLvl="5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CN" dirty="0"/>
              <a:t>Python</a:t>
            </a:r>
            <a:r>
              <a:rPr lang="zh-CN" altLang="en-US" dirty="0"/>
              <a:t>的循环语句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altLang="zh-CN" dirty="0"/>
              <a:t>4. </a:t>
            </a:r>
            <a:r>
              <a:rPr lang="zh-CN" altLang="en-US" dirty="0"/>
              <a:t>循环语句应用的实用案例</a:t>
            </a:r>
            <a:endParaRPr lang="en-US" altLang="zh-CN" dirty="0"/>
          </a:p>
          <a:p>
            <a:pPr lvl="1">
              <a:spcBef>
                <a:spcPts val="1200"/>
              </a:spcBef>
            </a:pPr>
            <a:r>
              <a:rPr lang="en-US" altLang="zh-CN" dirty="0"/>
              <a:t>(3)</a:t>
            </a:r>
            <a:r>
              <a:rPr lang="zh-CN" altLang="en-US" dirty="0"/>
              <a:t>判断一个数</a:t>
            </a:r>
            <a:r>
              <a:rPr lang="en-US" altLang="zh-CN" dirty="0"/>
              <a:t>n</a:t>
            </a:r>
            <a:r>
              <a:rPr lang="zh-CN" altLang="en-US" dirty="0"/>
              <a:t>，是否为素数：</a:t>
            </a:r>
            <a:r>
              <a:rPr lang="zh-CN" altLang="en-US" dirty="0">
                <a:solidFill>
                  <a:schemeClr val="accent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只能被</a:t>
            </a:r>
            <a:r>
              <a:rPr lang="en-US" altLang="zh-CN" dirty="0">
                <a:solidFill>
                  <a:schemeClr val="accent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1</a:t>
            </a:r>
            <a:r>
              <a:rPr lang="zh-CN" altLang="en-US" dirty="0">
                <a:solidFill>
                  <a:schemeClr val="accent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和自身整除</a:t>
            </a:r>
            <a:endParaRPr lang="en-US" altLang="zh-CN" dirty="0">
              <a:solidFill>
                <a:schemeClr val="accent1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 lvl="2">
              <a:spcBef>
                <a:spcPts val="1200"/>
              </a:spcBef>
            </a:pPr>
            <a:r>
              <a:rPr lang="zh-CN" altLang="en-US" dirty="0"/>
              <a:t>假设这个数不是素数</a:t>
            </a:r>
            <a:endParaRPr lang="en-US" altLang="zh-CN" dirty="0"/>
          </a:p>
          <a:p>
            <a:pPr lvl="2">
              <a:spcBef>
                <a:spcPts val="1200"/>
              </a:spcBef>
            </a:pPr>
            <a:r>
              <a:rPr lang="zh-CN" altLang="en-US" dirty="0"/>
              <a:t>从</a:t>
            </a:r>
            <a:r>
              <a:rPr lang="en-US" altLang="zh-CN" dirty="0"/>
              <a:t>2</a:t>
            </a:r>
            <a:r>
              <a:rPr lang="zh-CN" altLang="en-US" dirty="0"/>
              <a:t>直到</a:t>
            </a:r>
            <a:r>
              <a:rPr lang="en-US" altLang="zh-CN" dirty="0"/>
              <a:t>(n-1):</a:t>
            </a:r>
          </a:p>
          <a:p>
            <a:pPr lvl="3">
              <a:spcBef>
                <a:spcPts val="1200"/>
              </a:spcBef>
            </a:pPr>
            <a:r>
              <a:rPr lang="zh-CN" altLang="en-US" sz="1800" dirty="0"/>
              <a:t>若有一个数</a:t>
            </a:r>
            <a:r>
              <a:rPr lang="en-US" altLang="zh-CN" sz="1800" dirty="0"/>
              <a:t>x</a:t>
            </a:r>
            <a:r>
              <a:rPr lang="zh-CN" altLang="en-US" sz="1800" dirty="0"/>
              <a:t>能够除尽</a:t>
            </a:r>
            <a:endParaRPr lang="en-US" altLang="zh-CN" sz="1800" dirty="0"/>
          </a:p>
          <a:p>
            <a:pPr lvl="3">
              <a:spcBef>
                <a:spcPts val="1200"/>
              </a:spcBef>
            </a:pPr>
            <a:r>
              <a:rPr lang="zh-CN" altLang="en-US" sz="1800" dirty="0"/>
              <a:t>立即停止，不是素数</a:t>
            </a:r>
            <a:endParaRPr lang="en-US" altLang="zh-CN" sz="1800" dirty="0"/>
          </a:p>
          <a:p>
            <a:pPr lvl="2">
              <a:spcBef>
                <a:spcPts val="1200"/>
              </a:spcBef>
            </a:pPr>
            <a:r>
              <a:rPr lang="zh-CN" altLang="en-US" dirty="0"/>
              <a:t>如果</a:t>
            </a:r>
            <a:r>
              <a:rPr lang="en-US" altLang="zh-CN" dirty="0"/>
              <a:t>x&gt;n-1</a:t>
            </a:r>
          </a:p>
          <a:p>
            <a:pPr lvl="3">
              <a:spcBef>
                <a:spcPts val="1200"/>
              </a:spcBef>
            </a:pPr>
            <a:r>
              <a:rPr lang="zh-CN" altLang="en-US" sz="1800" dirty="0"/>
              <a:t>是素数，否则不是素数</a:t>
            </a:r>
            <a:endParaRPr lang="en-US" altLang="zh-CN" sz="1800" dirty="0"/>
          </a:p>
          <a:p>
            <a:pPr lvl="2">
              <a:spcBef>
                <a:spcPts val="1200"/>
              </a:spcBef>
            </a:pPr>
            <a:r>
              <a:rPr lang="zh-CN" altLang="en-US" dirty="0"/>
              <a:t>优化：</a:t>
            </a:r>
            <a:endParaRPr lang="en-US" altLang="zh-CN" dirty="0"/>
          </a:p>
          <a:p>
            <a:pPr lvl="3">
              <a:spcBef>
                <a:spcPts val="1200"/>
              </a:spcBef>
            </a:pPr>
            <a:r>
              <a:rPr lang="zh-CN" altLang="en-US" sz="1800" dirty="0"/>
              <a:t>除数的边界：</a:t>
            </a:r>
            <a:endParaRPr lang="en-US" altLang="zh-CN" sz="1800" dirty="0"/>
          </a:p>
          <a:p>
            <a:pPr lvl="4">
              <a:spcBef>
                <a:spcPts val="1200"/>
              </a:spcBef>
            </a:pPr>
            <a:r>
              <a:rPr lang="en-US" altLang="zh-CN" sz="1800" dirty="0"/>
              <a:t>n//2 </a:t>
            </a:r>
            <a:r>
              <a:rPr lang="zh-CN" altLang="en-US" sz="1800" dirty="0"/>
              <a:t>或 </a:t>
            </a:r>
            <a:r>
              <a:rPr lang="en-US" altLang="zh-CN" sz="1800" dirty="0"/>
              <a:t>sqrt(n)</a:t>
            </a:r>
          </a:p>
        </p:txBody>
      </p:sp>
    </p:spTree>
    <p:extLst>
      <p:ext uri="{BB962C8B-B14F-4D97-AF65-F5344CB8AC3E}">
        <p14:creationId xmlns:p14="http://schemas.microsoft.com/office/powerpoint/2010/main" val="221683355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1" dur="500" fill="hold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2" dur="500" fill="hold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500" fill="hold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500" fill="hold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 bldLvl="5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CN" dirty="0"/>
              <a:t>Python</a:t>
            </a:r>
            <a:r>
              <a:rPr lang="zh-CN" altLang="en-US" dirty="0"/>
              <a:t>的循环语句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zh-CN" dirty="0"/>
              <a:t>4. </a:t>
            </a:r>
            <a:r>
              <a:rPr lang="zh-CN" altLang="en-US" dirty="0"/>
              <a:t>循环语句应用的实用案例</a:t>
            </a:r>
            <a:endParaRPr lang="en-US" altLang="zh-CN" dirty="0"/>
          </a:p>
          <a:p>
            <a:pPr lvl="1">
              <a:spcBef>
                <a:spcPts val="1200"/>
              </a:spcBef>
            </a:pPr>
            <a:r>
              <a:rPr lang="en-US" altLang="zh-CN" dirty="0"/>
              <a:t>(4)</a:t>
            </a:r>
            <a:r>
              <a:rPr lang="zh-CN" altLang="en-US" dirty="0"/>
              <a:t>利用级数的方法，计算圆周率</a:t>
            </a:r>
            <a:r>
              <a:rPr lang="en-US" altLang="zh-CN" dirty="0"/>
              <a:t>(p61)</a:t>
            </a:r>
          </a:p>
          <a:p>
            <a:pPr lvl="2">
              <a:spcBef>
                <a:spcPts val="1200"/>
              </a:spcBef>
            </a:pPr>
            <a:endParaRPr lang="en-US" altLang="zh-CN" dirty="0"/>
          </a:p>
          <a:p>
            <a:pPr lvl="2">
              <a:spcBef>
                <a:spcPts val="1200"/>
              </a:spcBef>
            </a:pPr>
            <a:endParaRPr lang="en-US" altLang="zh-CN" dirty="0"/>
          </a:p>
          <a:p>
            <a:pPr lvl="2">
              <a:spcBef>
                <a:spcPts val="1200"/>
              </a:spcBef>
            </a:pPr>
            <a:endParaRPr lang="en-US" altLang="zh-CN" dirty="0"/>
          </a:p>
          <a:p>
            <a:pPr lvl="2">
              <a:spcBef>
                <a:spcPts val="1200"/>
              </a:spcBef>
            </a:pPr>
            <a:endParaRPr lang="en-US" altLang="zh-CN" dirty="0"/>
          </a:p>
          <a:p>
            <a:pPr lvl="2">
              <a:spcBef>
                <a:spcPts val="1200"/>
              </a:spcBef>
            </a:pPr>
            <a:r>
              <a:rPr lang="zh-CN" altLang="en-US" dirty="0"/>
              <a:t>单项的信息：   </a:t>
            </a:r>
            <a:r>
              <a:rPr lang="en-US" altLang="zh-CN" dirty="0"/>
              <a:t>1/(2*i+1)        </a:t>
            </a:r>
            <a:r>
              <a:rPr lang="en-US" altLang="zh-CN" dirty="0" err="1"/>
              <a:t>i</a:t>
            </a:r>
            <a:r>
              <a:rPr lang="en-US" altLang="zh-CN" dirty="0"/>
              <a:t>=0,1,2,3,4,5</a:t>
            </a: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02336" y="2168605"/>
            <a:ext cx="2952750" cy="809625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02336" y="2887652"/>
            <a:ext cx="3676650" cy="8001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0986762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>
            <a:extLst>
              <a:ext uri="{FF2B5EF4-FFF2-40B4-BE49-F238E27FC236}">
                <a16:creationId xmlns:a16="http://schemas.microsoft.com/office/drawing/2014/main" id="{4B6C541C-1831-78B5-F2A2-72E80CEBB60B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>
            <a:normAutofit lnSpcReduction="10000"/>
          </a:bodyPr>
          <a:lstStyle/>
          <a:p>
            <a:r>
              <a:rPr lang="en-US" altLang="zh-CN" dirty="0"/>
              <a:t>THANK YOU !</a:t>
            </a:r>
            <a:endParaRPr lang="zh-CN" altLang="en-US" dirty="0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609652098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LIDE.THEME" val="https://www.islide.cc;"/>
</p:tagLst>
</file>

<file path=ppt/theme/theme1.xml><?xml version="1.0" encoding="utf-8"?>
<a:theme xmlns:a="http://schemas.openxmlformats.org/drawingml/2006/main" name="51PPT模板网">
  <a:themeElements>
    <a:clrScheme name="蓝色几何">
      <a:dk1>
        <a:srgbClr val="2F2F2F"/>
      </a:dk1>
      <a:lt1>
        <a:srgbClr val="FFFFFF"/>
      </a:lt1>
      <a:dk2>
        <a:srgbClr val="778495"/>
      </a:dk2>
      <a:lt2>
        <a:srgbClr val="F0F0F0"/>
      </a:lt2>
      <a:accent1>
        <a:srgbClr val="3848A8"/>
      </a:accent1>
      <a:accent2>
        <a:srgbClr val="DDDEE0"/>
      </a:accent2>
      <a:accent3>
        <a:srgbClr val="7A85B8"/>
      </a:accent3>
      <a:accent4>
        <a:srgbClr val="9CA3BD"/>
      </a:accent4>
      <a:accent5>
        <a:srgbClr val="242431"/>
      </a:accent5>
      <a:accent6>
        <a:srgbClr val="F4B919"/>
      </a:accent6>
      <a:hlink>
        <a:srgbClr val="F84D4D"/>
      </a:hlink>
      <a:folHlink>
        <a:srgbClr val="979797"/>
      </a:folHlink>
    </a:clrScheme>
    <a:fontScheme name="自定义 1">
      <a:majorFont>
        <a:latin typeface="思源黑体 CN Bold"/>
        <a:ea typeface="思源黑体 CN Bold"/>
        <a:cs typeface=""/>
      </a:majorFont>
      <a:minorFont>
        <a:latin typeface="思源黑体 CN Normal"/>
        <a:ea typeface="思源黑体 CN Normal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resentationDefault.potx" id="{1D9758C4-BF53-48D5-9F51-21F468A6C710}" vid="{F0E1EFAF-5478-48F0-8152-DA9350739AFC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</TotalTime>
  <Words>1174</Words>
  <Application>Microsoft Office PowerPoint</Application>
  <PresentationFormat>宽屏</PresentationFormat>
  <Paragraphs>135</Paragraphs>
  <Slides>11</Slides>
  <Notes>6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11</vt:i4>
      </vt:variant>
    </vt:vector>
  </HeadingPairs>
  <TitlesOfParts>
    <vt:vector size="19" baseType="lpstr">
      <vt:lpstr>-apple-system</vt:lpstr>
      <vt:lpstr>等线</vt:lpstr>
      <vt:lpstr>楷体</vt:lpstr>
      <vt:lpstr>思源黑体 CN Bold</vt:lpstr>
      <vt:lpstr>思源黑体 CN Normal</vt:lpstr>
      <vt:lpstr>Arial</vt:lpstr>
      <vt:lpstr>Consolas</vt:lpstr>
      <vt:lpstr>51PPT模板网</vt:lpstr>
      <vt:lpstr>第4讲 循环结构简单应用</vt:lpstr>
      <vt:lpstr>Python的循环结构</vt:lpstr>
      <vt:lpstr>Python的循环语句</vt:lpstr>
      <vt:lpstr>Python的循环语句</vt:lpstr>
      <vt:lpstr>Python的循环语句</vt:lpstr>
      <vt:lpstr>Python的循环语句</vt:lpstr>
      <vt:lpstr>Python的循环语句</vt:lpstr>
      <vt:lpstr>Python的循环语句</vt:lpstr>
      <vt:lpstr>Python的循环语句</vt:lpstr>
      <vt:lpstr>Python的循环语句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第4讲 循环结构简单应用</dc:title>
  <dc:creator>rx zh</dc:creator>
  <cp:lastModifiedBy>rx zh</cp:lastModifiedBy>
  <cp:revision>2</cp:revision>
  <dcterms:created xsi:type="dcterms:W3CDTF">2023-09-28T07:24:41Z</dcterms:created>
  <dcterms:modified xsi:type="dcterms:W3CDTF">2023-09-28T12:07:34Z</dcterms:modified>
</cp:coreProperties>
</file>