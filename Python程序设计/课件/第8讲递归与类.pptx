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0" r:id="rId2"/>
  </p:sldMasterIdLst>
  <p:notesMasterIdLst>
    <p:notesMasterId r:id="rId28"/>
  </p:notesMasterIdLst>
  <p:sldIdLst>
    <p:sldId id="257" r:id="rId3"/>
    <p:sldId id="258" r:id="rId4"/>
    <p:sldId id="259" r:id="rId5"/>
    <p:sldId id="260" r:id="rId6"/>
    <p:sldId id="261" r:id="rId7"/>
    <p:sldId id="262" r:id="rId8"/>
    <p:sldId id="266" r:id="rId9"/>
    <p:sldId id="267" r:id="rId10"/>
    <p:sldId id="268" r:id="rId11"/>
    <p:sldId id="269" r:id="rId12"/>
    <p:sldId id="270" r:id="rId13"/>
    <p:sldId id="272" r:id="rId14"/>
    <p:sldId id="275" r:id="rId15"/>
    <p:sldId id="277" r:id="rId16"/>
    <p:sldId id="278" r:id="rId17"/>
    <p:sldId id="294" r:id="rId18"/>
    <p:sldId id="295" r:id="rId19"/>
    <p:sldId id="296" r:id="rId20"/>
    <p:sldId id="297" r:id="rId21"/>
    <p:sldId id="298" r:id="rId22"/>
    <p:sldId id="299" r:id="rId23"/>
    <p:sldId id="306" r:id="rId24"/>
    <p:sldId id="307" r:id="rId25"/>
    <p:sldId id="308" r:id="rId26"/>
    <p:sldId id="309" r:id="rId2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35E4BC-C6B5-4816-AF76-3B0EC6E6FBE1}" type="datetimeFigureOut">
              <a:rPr lang="zh-CN" altLang="en-US" smtClean="0"/>
              <a:t>2023/11/2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95DDBC-AC06-4C84-B24E-B71CED4EBD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47536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csdn.net/dongfuguo/article/details/118705208" TargetMode="External"/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复杂类型传地址，简单类型传值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</a:rPr>
              <a:pPr/>
              <a:t>3</a:t>
            </a:fld>
            <a:endParaRPr lang="zh-CN" altLang="en-US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054464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递归 </a:t>
            </a:r>
            <a:r>
              <a:rPr lang="en-US" altLang="zh-CN"/>
              <a:t>(recursion) </a:t>
            </a:r>
            <a:r>
              <a:rPr lang="zh-CN" altLang="en-US"/>
              <a:t>是一种特殊的函数调用形式。函数在定义时直接或间接调用自身的一种方法，目的是将大型复杂的问题转化为一个相似的但规模较小的问题。构成递归需要具备以下条件</a:t>
            </a:r>
            <a:r>
              <a:rPr lang="en-US" altLang="zh-CN"/>
              <a:t>:</a:t>
            </a:r>
            <a:r>
              <a:rPr lang="zh-CN" altLang="en-US"/>
              <a:t>。子问题须与原来的问题为同样的问题，但规模较小或更为简单</a:t>
            </a:r>
            <a:r>
              <a:rPr lang="en-US" altLang="zh-CN"/>
              <a:t>:·</a:t>
            </a:r>
            <a:r>
              <a:rPr lang="zh-CN" altLang="en-US"/>
              <a:t>调用本身须有出口，不能无限制调用，即有边界条件。例如，求非负整数的阶乘，公式为</a:t>
            </a:r>
            <a:r>
              <a:rPr lang="en-US" altLang="zh-CN"/>
              <a:t>n!=1X2X3x... n</a:t>
            </a:r>
            <a:r>
              <a:rPr lang="zh-CN" altLang="en-US"/>
              <a:t>。可以用循环的方式来实现，即按照公式从</a:t>
            </a:r>
            <a:r>
              <a:rPr lang="en-US" altLang="zh-CN"/>
              <a:t>1</a:t>
            </a:r>
            <a:r>
              <a:rPr lang="zh-CN" altLang="en-US"/>
              <a:t>乘到</a:t>
            </a:r>
            <a:r>
              <a:rPr lang="en-US" altLang="zh-CN"/>
              <a:t>n</a:t>
            </a:r>
            <a:r>
              <a:rPr lang="zh-CN" altLang="en-US"/>
              <a:t>来获得结果。但仔细分析后可以发现，</a:t>
            </a:r>
            <a:r>
              <a:rPr lang="en-US" altLang="zh-CN"/>
              <a:t>n</a:t>
            </a:r>
            <a:r>
              <a:rPr lang="zh-CN" altLang="en-US"/>
              <a:t>的阶乘其实是</a:t>
            </a:r>
            <a:r>
              <a:rPr lang="en-US" altLang="zh-CN"/>
              <a:t>n-1</a:t>
            </a:r>
            <a:r>
              <a:rPr lang="zh-CN" altLang="en-US"/>
              <a:t>的阶乘与</a:t>
            </a:r>
            <a:r>
              <a:rPr lang="en-US" altLang="zh-CN"/>
              <a:t>n</a:t>
            </a:r>
            <a:r>
              <a:rPr lang="zh-CN" altLang="en-US"/>
              <a:t>的乘积，即</a:t>
            </a:r>
            <a:r>
              <a:rPr lang="en-US" altLang="zh-CN"/>
              <a:t>n!=(n-1)!</a:t>
            </a:r>
            <a:r>
              <a:rPr lang="en-US" altLang="zh-CN" err="1"/>
              <a:t>Xn</a:t>
            </a:r>
            <a:r>
              <a:rPr lang="zh-CN" altLang="en-US"/>
              <a:t>，这符合递归所需的条件。下面分别用循环和递归的方式来实现，可以比较这两种实现方式。一般而言，递归会大大地减少了程序的代码量，让程序更加简洁。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</a:rPr>
              <a:pPr/>
              <a:t>6</a:t>
            </a:fld>
            <a:endParaRPr lang="zh-CN" altLang="en-US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092381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原网页后面还有内容，重要</a:t>
            </a:r>
            <a:endParaRPr lang="en-US" altLang="zh-CN"/>
          </a:p>
          <a:p>
            <a:r>
              <a:rPr lang="en-US" altLang="zh-CN"/>
              <a:t>https://blog.csdn.net/storyfull/article/details/102671946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</a:rPr>
              <a:pPr/>
              <a:t>12</a:t>
            </a:fld>
            <a:endParaRPr lang="zh-CN" altLang="en-US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64707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>
                <a:hlinkClick r:id="rId3"/>
              </a:rPr>
              <a:t>1900</a:t>
            </a:r>
            <a:r>
              <a:rPr lang="zh-CN" altLang="en-US">
                <a:hlinkClick r:id="rId3"/>
              </a:rPr>
              <a:t>页</a:t>
            </a:r>
            <a:r>
              <a:rPr lang="en-US" altLang="zh-CN">
                <a:hlinkClick r:id="rId3"/>
              </a:rPr>
              <a:t>Python</a:t>
            </a:r>
            <a:r>
              <a:rPr lang="zh-CN" altLang="en-US">
                <a:hlinkClick r:id="rId3"/>
              </a:rPr>
              <a:t>系列</a:t>
            </a:r>
            <a:r>
              <a:rPr lang="en-US" altLang="zh-CN">
                <a:hlinkClick r:id="rId3"/>
              </a:rPr>
              <a:t>PPT</a:t>
            </a:r>
            <a:r>
              <a:rPr lang="zh-CN" altLang="en-US">
                <a:hlinkClick r:id="rId3"/>
              </a:rPr>
              <a:t>分享六：面向对象程序设计（</a:t>
            </a:r>
            <a:r>
              <a:rPr lang="en-US" altLang="zh-CN">
                <a:hlinkClick r:id="rId3"/>
              </a:rPr>
              <a:t>86</a:t>
            </a:r>
            <a:r>
              <a:rPr lang="zh-CN" altLang="en-US">
                <a:hlinkClick r:id="rId3"/>
              </a:rPr>
              <a:t>页）</a:t>
            </a:r>
            <a:r>
              <a:rPr lang="en-US" altLang="zh-CN">
                <a:hlinkClick r:id="rId3"/>
              </a:rPr>
              <a:t>-CSDN</a:t>
            </a:r>
            <a:r>
              <a:rPr lang="zh-CN" altLang="en-US">
                <a:hlinkClick r:id="rId3"/>
              </a:rPr>
              <a:t>博客</a:t>
            </a:r>
            <a:endParaRPr lang="en-US" altLang="zh-CN"/>
          </a:p>
          <a:p>
            <a:r>
              <a:rPr lang="en-US" altLang="zh-CN"/>
              <a:t>https://blog.csdn.net/dongfuguo/article/details/118705208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</a:rPr>
              <a:pPr/>
              <a:t>15</a:t>
            </a:fld>
            <a:endParaRPr lang="zh-CN" altLang="en-US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243094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901CBA2-7C9E-4AD6-B258-A0DB055BB3AF}" type="slidenum">
              <a:rPr lang="zh-CN" altLang="en-US" smtClean="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</a:rPr>
              <a:pPr>
                <a:defRPr/>
              </a:pPr>
              <a:t>18</a:t>
            </a:fld>
            <a:endParaRPr lang="zh-CN" altLang="en-US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727366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类的属性可以简单地理解为“有些什么”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901CBA2-7C9E-4AD6-B258-A0DB055BB3AF}" type="slidenum">
              <a:rPr lang="zh-CN" altLang="en-US" smtClean="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</a:rPr>
              <a:pPr>
                <a:defRPr/>
              </a:pPr>
              <a:t>19</a:t>
            </a:fld>
            <a:endParaRPr lang="zh-CN" altLang="en-US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352429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sz="1800" b="0" i="0" u="none" strike="noStrike" baseline="0" dirty="0">
                <a:latin typeface="FZSSJW--GB1-0"/>
              </a:rPr>
              <a:t>在这个示例中，创建了两条小狗，分别名为</a:t>
            </a:r>
            <a:r>
              <a:rPr lang="en-US" altLang="zh-CN" sz="1800" b="0" i="0" u="none" strike="noStrike" baseline="0" dirty="0">
                <a:latin typeface="TimesNewRoman"/>
              </a:rPr>
              <a:t>Willie </a:t>
            </a:r>
            <a:r>
              <a:rPr lang="zh-CN" altLang="en-US" sz="1800" b="0" i="0" u="none" strike="noStrike" baseline="0" dirty="0">
                <a:latin typeface="FZSSJW--GB1-0"/>
              </a:rPr>
              <a:t>和</a:t>
            </a:r>
            <a:r>
              <a:rPr lang="en-US" altLang="zh-CN" sz="1800" b="0" i="0" u="none" strike="noStrike" baseline="0" dirty="0">
                <a:latin typeface="TimesNewRoman"/>
              </a:rPr>
              <a:t>Lucy</a:t>
            </a:r>
            <a:r>
              <a:rPr lang="zh-CN" altLang="en-US" sz="1800" b="0" i="0" u="none" strike="noStrike" baseline="0" dirty="0">
                <a:latin typeface="FZSSJW--GB1-0"/>
              </a:rPr>
              <a:t>。每条小狗都是一个独立的实例，有自己的一组属性，能够执行相同的操作。</a:t>
            </a:r>
            <a:endParaRPr lang="en-US" altLang="zh-CN" sz="1800" b="0" i="0" u="none" strike="noStrike" baseline="0" dirty="0">
              <a:latin typeface="FZSSJW--GB1-0"/>
            </a:endParaRPr>
          </a:p>
          <a:p>
            <a:pPr algn="l"/>
            <a:r>
              <a:rPr lang="zh-CN" altLang="en-US" sz="1800" b="0" i="0" u="none" strike="noStrike" baseline="0" dirty="0">
                <a:latin typeface="FZSSJW--GB1-0"/>
              </a:rPr>
              <a:t>你可以创建属性完全相同的新实例，比如给第二条小狗指定同样的名字和年龄，这个实例看起来没什么不同，但这个实例是 </a:t>
            </a:r>
            <a:r>
              <a:rPr lang="en-US" altLang="zh-CN" sz="1800" b="0" i="0" u="none" strike="noStrike" baseline="0" dirty="0">
                <a:latin typeface="TimesNewRoman"/>
              </a:rPr>
              <a:t>Python</a:t>
            </a:r>
            <a:r>
              <a:rPr lang="zh-CN" altLang="en-US" sz="1800" b="0" i="0" u="none" strike="noStrike" baseline="0" dirty="0">
                <a:latin typeface="FZSSJW--GB1-0"/>
              </a:rPr>
              <a:t>是根据 </a:t>
            </a:r>
            <a:r>
              <a:rPr lang="en-US" altLang="zh-CN" sz="1800" b="0" i="0" u="none" strike="noStrike" baseline="0" dirty="0">
                <a:latin typeface="TheSansMonoCondensed-"/>
              </a:rPr>
              <a:t>Dog </a:t>
            </a:r>
            <a:r>
              <a:rPr lang="zh-CN" altLang="en-US" sz="1800" b="0" i="0" u="none" strike="noStrike" baseline="0" dirty="0">
                <a:latin typeface="FZSSJW--GB1-0"/>
              </a:rPr>
              <a:t>类创建另一个新的实例。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901CBA2-7C9E-4AD6-B258-A0DB055BB3AF}" type="slidenum">
              <a:rPr lang="zh-CN" altLang="en-US" smtClean="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</a:rPr>
              <a:pPr>
                <a:defRPr/>
              </a:pPr>
              <a:t>20</a:t>
            </a:fld>
            <a:endParaRPr lang="zh-CN" altLang="en-US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73792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b="0" i="0">
                <a:solidFill>
                  <a:srgbClr val="121212"/>
                </a:solidFill>
                <a:effectLst/>
                <a:latin typeface="-apple-system"/>
              </a:rPr>
              <a:t>总结一下，所有的对象，不管是</a:t>
            </a:r>
            <a:r>
              <a:rPr lang="en-US" altLang="zh-CN" b="0" i="0">
                <a:solidFill>
                  <a:srgbClr val="121212"/>
                </a:solidFill>
                <a:effectLst/>
                <a:latin typeface="-apple-system"/>
              </a:rPr>
              <a:t>python</a:t>
            </a:r>
            <a:r>
              <a:rPr lang="zh-CN" altLang="en-US" b="0" i="0">
                <a:solidFill>
                  <a:srgbClr val="121212"/>
                </a:solidFill>
                <a:effectLst/>
                <a:latin typeface="-apple-system"/>
              </a:rPr>
              <a:t>内置的，还是</a:t>
            </a:r>
            <a:r>
              <a:rPr lang="en-US" altLang="zh-CN" b="0" i="0">
                <a:solidFill>
                  <a:srgbClr val="121212"/>
                </a:solidFill>
                <a:effectLst/>
                <a:latin typeface="-apple-system"/>
              </a:rPr>
              <a:t>import</a:t>
            </a:r>
            <a:r>
              <a:rPr lang="zh-CN" altLang="en-US" b="0" i="0">
                <a:solidFill>
                  <a:srgbClr val="121212"/>
                </a:solidFill>
                <a:effectLst/>
                <a:latin typeface="-apple-system"/>
              </a:rPr>
              <a:t>第三方包里面的，还是我们自己用类定义然后实例化的，观察总结一下，可以发现，它们都是由两部分组成，一部分是像</a:t>
            </a:r>
            <a:r>
              <a:rPr lang="en-US" altLang="zh-CN" b="0" i="0">
                <a:solidFill>
                  <a:srgbClr val="121212"/>
                </a:solidFill>
                <a:effectLst/>
                <a:latin typeface="-apple-system"/>
              </a:rPr>
              <a:t>a</a:t>
            </a:r>
            <a:r>
              <a:rPr lang="zh-CN" altLang="en-US" b="0" i="0">
                <a:solidFill>
                  <a:srgbClr val="121212"/>
                </a:solidFill>
                <a:effectLst/>
                <a:latin typeface="-apple-system"/>
              </a:rPr>
              <a:t>、</a:t>
            </a:r>
            <a:r>
              <a:rPr lang="en-US" altLang="zh-CN" b="0" i="0">
                <a:solidFill>
                  <a:srgbClr val="121212"/>
                </a:solidFill>
                <a:effectLst/>
                <a:latin typeface="-apple-system"/>
              </a:rPr>
              <a:t>b</a:t>
            </a:r>
            <a:r>
              <a:rPr lang="zh-CN" altLang="en-US" b="0" i="0">
                <a:solidFill>
                  <a:srgbClr val="121212"/>
                </a:solidFill>
                <a:effectLst/>
                <a:latin typeface="-apple-system"/>
              </a:rPr>
              <a:t>、</a:t>
            </a:r>
            <a:r>
              <a:rPr lang="en-US" altLang="zh-CN" b="0" i="0">
                <a:solidFill>
                  <a:srgbClr val="121212"/>
                </a:solidFill>
                <a:effectLst/>
                <a:latin typeface="-apple-system"/>
              </a:rPr>
              <a:t>c</a:t>
            </a:r>
            <a:r>
              <a:rPr lang="zh-CN" altLang="en-US" b="0" i="0">
                <a:solidFill>
                  <a:srgbClr val="121212"/>
                </a:solidFill>
                <a:effectLst/>
                <a:latin typeface="-apple-system"/>
              </a:rPr>
              <a:t>这样的数据，它们决定这个对象是什么，另一部分是像</a:t>
            </a:r>
            <a:r>
              <a:rPr lang="en-US" altLang="zh-CN" b="0" i="0" err="1">
                <a:solidFill>
                  <a:srgbClr val="121212"/>
                </a:solidFill>
                <a:effectLst/>
                <a:latin typeface="-apple-system"/>
              </a:rPr>
              <a:t>angleA</a:t>
            </a:r>
            <a:r>
              <a:rPr lang="en-US" altLang="zh-CN" b="0" i="0">
                <a:solidFill>
                  <a:srgbClr val="121212"/>
                </a:solidFill>
                <a:effectLst/>
                <a:latin typeface="-apple-system"/>
              </a:rPr>
              <a:t>()</a:t>
            </a:r>
            <a:r>
              <a:rPr lang="zh-CN" altLang="en-US" b="0" i="0">
                <a:solidFill>
                  <a:srgbClr val="121212"/>
                </a:solidFill>
                <a:effectLst/>
                <a:latin typeface="-apple-system"/>
              </a:rPr>
              <a:t>、</a:t>
            </a:r>
            <a:r>
              <a:rPr lang="en-US" altLang="zh-CN" b="0" i="0" err="1">
                <a:solidFill>
                  <a:srgbClr val="121212"/>
                </a:solidFill>
                <a:effectLst/>
                <a:latin typeface="-apple-system"/>
              </a:rPr>
              <a:t>angleB</a:t>
            </a:r>
            <a:r>
              <a:rPr lang="en-US" altLang="zh-CN" b="0" i="0">
                <a:solidFill>
                  <a:srgbClr val="121212"/>
                </a:solidFill>
                <a:effectLst/>
                <a:latin typeface="-apple-system"/>
              </a:rPr>
              <a:t>()</a:t>
            </a:r>
            <a:r>
              <a:rPr lang="zh-CN" altLang="en-US" b="0" i="0">
                <a:solidFill>
                  <a:srgbClr val="121212"/>
                </a:solidFill>
                <a:effectLst/>
                <a:latin typeface="-apple-system"/>
              </a:rPr>
              <a:t>、</a:t>
            </a:r>
            <a:r>
              <a:rPr lang="en-US" altLang="zh-CN" b="0" i="0" err="1">
                <a:solidFill>
                  <a:srgbClr val="121212"/>
                </a:solidFill>
                <a:effectLst/>
                <a:latin typeface="-apple-system"/>
              </a:rPr>
              <a:t>angleC</a:t>
            </a:r>
            <a:r>
              <a:rPr lang="en-US" altLang="zh-CN" b="0" i="0">
                <a:solidFill>
                  <a:srgbClr val="121212"/>
                </a:solidFill>
                <a:effectLst/>
                <a:latin typeface="-apple-system"/>
              </a:rPr>
              <a:t>()</a:t>
            </a:r>
            <a:r>
              <a:rPr lang="zh-CN" altLang="en-US" b="0" i="0">
                <a:solidFill>
                  <a:srgbClr val="121212"/>
                </a:solidFill>
                <a:effectLst/>
                <a:latin typeface="-apple-system"/>
              </a:rPr>
              <a:t>这样的函数，他们用来表示用这些数据做什么。</a:t>
            </a:r>
            <a:r>
              <a:rPr lang="zh-CN" altLang="en-US" b="1" i="0">
                <a:solidFill>
                  <a:srgbClr val="121212"/>
                </a:solidFill>
                <a:effectLst/>
                <a:latin typeface="-apple-system"/>
              </a:rPr>
              <a:t>在面向对象的编程中，一个对象的数据，称之为对象的属性，一个对象拥有的函数，称之为对象的方法</a:t>
            </a:r>
            <a:r>
              <a:rPr lang="zh-CN" altLang="en-US" b="0" i="0">
                <a:solidFill>
                  <a:srgbClr val="121212"/>
                </a:solidFill>
                <a:effectLst/>
                <a:latin typeface="-apple-system"/>
              </a:rPr>
              <a:t>。大家可能经常听说这两个名词，哪怕是其他的编程语言，面向对象作为一种思想，都是相通的。</a:t>
            </a:r>
          </a:p>
          <a:p>
            <a:pPr algn="l"/>
            <a:r>
              <a:rPr lang="zh-CN" altLang="en-US" b="0" i="0">
                <a:solidFill>
                  <a:srgbClr val="121212"/>
                </a:solidFill>
                <a:effectLst/>
                <a:latin typeface="-apple-system"/>
              </a:rPr>
              <a:t>然后大家可能还有几个问题：</a:t>
            </a:r>
          </a:p>
          <a:p>
            <a:pPr algn="l"/>
            <a:r>
              <a:rPr lang="zh-CN" altLang="en-US" b="1" i="0">
                <a:solidFill>
                  <a:srgbClr val="121212"/>
                </a:solidFill>
                <a:effectLst/>
                <a:latin typeface="-apple-system"/>
              </a:rPr>
              <a:t>第一个函数</a:t>
            </a:r>
            <a:r>
              <a:rPr lang="en-US" altLang="zh-CN" b="1" i="0">
                <a:solidFill>
                  <a:srgbClr val="121212"/>
                </a:solidFill>
                <a:effectLst/>
                <a:latin typeface="-apple-system"/>
              </a:rPr>
              <a:t>def __</a:t>
            </a:r>
            <a:r>
              <a:rPr lang="en-US" altLang="zh-CN" b="1" i="1">
                <a:solidFill>
                  <a:srgbClr val="121212"/>
                </a:solidFill>
                <a:effectLst/>
                <a:latin typeface="-apple-system"/>
              </a:rPr>
              <a:t>init()</a:t>
            </a:r>
            <a:r>
              <a:rPr lang="en-US" altLang="zh-CN" b="1" i="0">
                <a:solidFill>
                  <a:srgbClr val="121212"/>
                </a:solidFill>
                <a:effectLst/>
                <a:latin typeface="-apple-system"/>
              </a:rPr>
              <a:t>__</a:t>
            </a:r>
            <a:r>
              <a:rPr lang="zh-CN" altLang="en-US" b="1" i="0">
                <a:solidFill>
                  <a:srgbClr val="121212"/>
                </a:solidFill>
                <a:effectLst/>
                <a:latin typeface="-apple-system"/>
              </a:rPr>
              <a:t>是干什么的？</a:t>
            </a:r>
            <a:endParaRPr lang="zh-CN" altLang="en-US" b="0" i="0">
              <a:solidFill>
                <a:srgbClr val="121212"/>
              </a:solidFill>
              <a:effectLst/>
              <a:latin typeface="-apple-system"/>
            </a:endParaRPr>
          </a:p>
          <a:p>
            <a:pPr algn="l"/>
            <a:r>
              <a:rPr lang="zh-CN" altLang="en-US" b="0" i="0">
                <a:solidFill>
                  <a:srgbClr val="121212"/>
                </a:solidFill>
                <a:effectLst/>
                <a:latin typeface="-apple-system"/>
              </a:rPr>
              <a:t>顾名思义，</a:t>
            </a:r>
            <a:r>
              <a:rPr lang="en-US" altLang="zh-CN" b="0" i="0">
                <a:solidFill>
                  <a:srgbClr val="121212"/>
                </a:solidFill>
                <a:effectLst/>
                <a:latin typeface="-apple-system"/>
              </a:rPr>
              <a:t>init</a:t>
            </a:r>
            <a:r>
              <a:rPr lang="zh-CN" altLang="en-US" b="0" i="0">
                <a:solidFill>
                  <a:srgbClr val="121212"/>
                </a:solidFill>
                <a:effectLst/>
                <a:latin typeface="-apple-system"/>
              </a:rPr>
              <a:t>是初始化的意思，</a:t>
            </a:r>
            <a:r>
              <a:rPr lang="en-US" altLang="zh-CN" b="0" i="0">
                <a:solidFill>
                  <a:srgbClr val="121212"/>
                </a:solidFill>
                <a:effectLst/>
                <a:latin typeface="-apple-system"/>
              </a:rPr>
              <a:t>init</a:t>
            </a:r>
            <a:r>
              <a:rPr lang="zh-CN" altLang="en-US" b="0" i="0">
                <a:solidFill>
                  <a:srgbClr val="121212"/>
                </a:solidFill>
                <a:effectLst/>
                <a:latin typeface="-apple-system"/>
              </a:rPr>
              <a:t>函数，也就是初始化函数，意思就是，当实例化类的时候，自动运行的函数，如果我们实例化的时候给类传了参数，参数也是呈交给这个函数来处理的。所以，你可以在</a:t>
            </a:r>
            <a:r>
              <a:rPr lang="en-US" altLang="zh-CN" b="0" i="0">
                <a:solidFill>
                  <a:srgbClr val="121212"/>
                </a:solidFill>
                <a:effectLst/>
                <a:latin typeface="-apple-system"/>
              </a:rPr>
              <a:t>init</a:t>
            </a:r>
            <a:r>
              <a:rPr lang="zh-CN" altLang="en-US" b="0" i="0">
                <a:solidFill>
                  <a:srgbClr val="121212"/>
                </a:solidFill>
                <a:effectLst/>
                <a:latin typeface="-apple-system"/>
              </a:rPr>
              <a:t>函数里写上任何你希望实例化的时候就自动执行的函数，比如像</a:t>
            </a:r>
            <a:r>
              <a:rPr lang="en-US" altLang="zh-CN" b="0" i="0">
                <a:solidFill>
                  <a:srgbClr val="121212"/>
                </a:solidFill>
                <a:effectLst/>
                <a:latin typeface="-apple-system"/>
              </a:rPr>
              <a:t>print('</a:t>
            </a:r>
            <a:r>
              <a:rPr lang="zh-CN" altLang="en-US" b="0" i="0">
                <a:solidFill>
                  <a:srgbClr val="121212"/>
                </a:solidFill>
                <a:effectLst/>
                <a:latin typeface="-apple-system"/>
              </a:rPr>
              <a:t>实例化已完成</a:t>
            </a:r>
            <a:r>
              <a:rPr lang="en-US" altLang="zh-CN" b="0" i="0">
                <a:solidFill>
                  <a:srgbClr val="121212"/>
                </a:solidFill>
                <a:effectLst/>
                <a:latin typeface="-apple-system"/>
              </a:rPr>
              <a:t>')</a:t>
            </a:r>
            <a:r>
              <a:rPr lang="zh-CN" altLang="en-US" b="0" i="0">
                <a:solidFill>
                  <a:srgbClr val="121212"/>
                </a:solidFill>
                <a:effectLst/>
                <a:latin typeface="-apple-system"/>
              </a:rPr>
              <a:t>什么的都是可以的。</a:t>
            </a:r>
          </a:p>
          <a:p>
            <a:pPr algn="l"/>
            <a:r>
              <a:rPr lang="zh-CN" altLang="en-US" b="0" i="0">
                <a:solidFill>
                  <a:srgbClr val="121212"/>
                </a:solidFill>
                <a:effectLst/>
                <a:latin typeface="-apple-system"/>
              </a:rPr>
              <a:t>但大部分时候，我们希望实例化的时候干些啥？当然是把数据传给类的属性啊，所以绝大部分情况下，</a:t>
            </a:r>
            <a:r>
              <a:rPr lang="en-US" altLang="zh-CN" b="1" i="0">
                <a:solidFill>
                  <a:srgbClr val="121212"/>
                </a:solidFill>
                <a:effectLst/>
                <a:latin typeface="-apple-system"/>
              </a:rPr>
              <a:t>init</a:t>
            </a:r>
            <a:r>
              <a:rPr lang="zh-CN" altLang="en-US" b="1" i="0">
                <a:solidFill>
                  <a:srgbClr val="121212"/>
                </a:solidFill>
                <a:effectLst/>
                <a:latin typeface="-apple-system"/>
              </a:rPr>
              <a:t>函数都充当了构造函数的作用，我们可以在这里面写明把传来的数据赋予谁，或经过怎样的预处理后再赋予谁</a:t>
            </a:r>
            <a:r>
              <a:rPr lang="zh-CN" altLang="en-US" b="0" i="0">
                <a:solidFill>
                  <a:srgbClr val="121212"/>
                </a:solidFill>
                <a:effectLst/>
                <a:latin typeface="-apple-system"/>
              </a:rPr>
              <a:t>。</a:t>
            </a:r>
          </a:p>
          <a:p>
            <a:pPr algn="l"/>
            <a:r>
              <a:rPr lang="zh-CN" altLang="en-US" b="0" i="0">
                <a:solidFill>
                  <a:srgbClr val="121212"/>
                </a:solidFill>
                <a:effectLst/>
                <a:latin typeface="-apple-system"/>
              </a:rPr>
              <a:t>就拿那个三角形来说，我们希望在生成三角形（实例化）的时候，就给三角形生成器（类）传入三条边长，而不是实例化完了之后，再</a:t>
            </a:r>
            <a:r>
              <a:rPr lang="en-US" altLang="zh-CN" b="0" i="0">
                <a:solidFill>
                  <a:srgbClr val="121212"/>
                </a:solidFill>
                <a:effectLst/>
                <a:latin typeface="-apple-system"/>
              </a:rPr>
              <a:t>tr1.a=6</a:t>
            </a:r>
            <a:r>
              <a:rPr lang="zh-CN" altLang="en-US" b="0" i="0">
                <a:solidFill>
                  <a:srgbClr val="121212"/>
                </a:solidFill>
                <a:effectLst/>
                <a:latin typeface="-apple-system"/>
              </a:rPr>
              <a:t>，</a:t>
            </a:r>
            <a:r>
              <a:rPr lang="en-US" altLang="zh-CN" b="0" i="0">
                <a:solidFill>
                  <a:srgbClr val="121212"/>
                </a:solidFill>
                <a:effectLst/>
                <a:latin typeface="-apple-system"/>
              </a:rPr>
              <a:t>tr1.b=7</a:t>
            </a:r>
            <a:r>
              <a:rPr lang="zh-CN" altLang="en-US" b="0" i="0">
                <a:solidFill>
                  <a:srgbClr val="121212"/>
                </a:solidFill>
                <a:effectLst/>
                <a:latin typeface="-apple-system"/>
              </a:rPr>
              <a:t>这样的一个个赋值。所以我们直接就在</a:t>
            </a:r>
            <a:r>
              <a:rPr lang="en-US" altLang="zh-CN" b="0" i="0">
                <a:solidFill>
                  <a:srgbClr val="121212"/>
                </a:solidFill>
                <a:effectLst/>
                <a:latin typeface="-apple-system"/>
              </a:rPr>
              <a:t>init</a:t>
            </a:r>
            <a:r>
              <a:rPr lang="zh-CN" altLang="en-US" b="0" i="0">
                <a:solidFill>
                  <a:srgbClr val="121212"/>
                </a:solidFill>
                <a:effectLst/>
                <a:latin typeface="-apple-system"/>
              </a:rPr>
              <a:t>函数里写明了参数的传递规则。</a:t>
            </a:r>
          </a:p>
          <a:p>
            <a:pPr algn="l"/>
            <a:r>
              <a:rPr lang="zh-CN" altLang="en-US" b="0" i="0">
                <a:solidFill>
                  <a:srgbClr val="121212"/>
                </a:solidFill>
                <a:effectLst/>
                <a:latin typeface="-apple-system"/>
              </a:rPr>
              <a:t>另外再说一句，在传入参数实例化后，除了可以查看，也是可以再次修改的：</a:t>
            </a:r>
            <a:endParaRPr lang="en-US" altLang="zh-CN" b="0" i="0">
              <a:solidFill>
                <a:srgbClr val="121212"/>
              </a:solidFill>
              <a:effectLst/>
              <a:latin typeface="-apple-system"/>
            </a:endParaRPr>
          </a:p>
          <a:p>
            <a:pPr algn="l"/>
            <a:endParaRPr lang="en-US" altLang="zh-CN" b="0" i="0">
              <a:solidFill>
                <a:srgbClr val="121212"/>
              </a:solidFill>
              <a:effectLst/>
              <a:latin typeface="-apple-system"/>
            </a:endParaRPr>
          </a:p>
          <a:p>
            <a:pPr algn="l"/>
            <a:r>
              <a:rPr lang="zh-CN" altLang="en-US" b="1" i="0">
                <a:solidFill>
                  <a:srgbClr val="121212"/>
                </a:solidFill>
                <a:effectLst/>
                <a:latin typeface="-apple-system"/>
              </a:rPr>
              <a:t>那个</a:t>
            </a:r>
            <a:r>
              <a:rPr lang="en-US" altLang="zh-CN" b="1" i="0">
                <a:solidFill>
                  <a:srgbClr val="121212"/>
                </a:solidFill>
                <a:effectLst/>
                <a:latin typeface="-apple-system"/>
              </a:rPr>
              <a:t>self</a:t>
            </a:r>
            <a:r>
              <a:rPr lang="zh-CN" altLang="en-US" b="1" i="0">
                <a:solidFill>
                  <a:srgbClr val="121212"/>
                </a:solidFill>
                <a:effectLst/>
                <a:latin typeface="-apple-system"/>
              </a:rPr>
              <a:t>是什么东西，为什么要写</a:t>
            </a:r>
            <a:r>
              <a:rPr lang="en-US" altLang="zh-CN" b="1" i="0" err="1">
                <a:solidFill>
                  <a:srgbClr val="121212"/>
                </a:solidFill>
                <a:effectLst/>
                <a:latin typeface="-apple-system"/>
              </a:rPr>
              <a:t>self.a</a:t>
            </a:r>
            <a:r>
              <a:rPr lang="zh-CN" altLang="en-US" b="1" i="0">
                <a:solidFill>
                  <a:srgbClr val="121212"/>
                </a:solidFill>
                <a:effectLst/>
                <a:latin typeface="-apple-system"/>
              </a:rPr>
              <a:t>？</a:t>
            </a:r>
            <a:endParaRPr lang="zh-CN" altLang="en-US" b="0" i="0">
              <a:solidFill>
                <a:srgbClr val="121212"/>
              </a:solidFill>
              <a:effectLst/>
              <a:latin typeface="-apple-system"/>
            </a:endParaRPr>
          </a:p>
          <a:p>
            <a:pPr algn="l"/>
            <a:r>
              <a:rPr lang="zh-CN" altLang="en-US" b="0" i="0">
                <a:solidFill>
                  <a:srgbClr val="121212"/>
                </a:solidFill>
                <a:effectLst/>
                <a:latin typeface="-apple-system"/>
              </a:rPr>
              <a:t>我们在使用对象的属性的时候，写法是“对象名</a:t>
            </a:r>
            <a:r>
              <a:rPr lang="en-US" altLang="zh-CN" b="0" i="0">
                <a:solidFill>
                  <a:srgbClr val="121212"/>
                </a:solidFill>
                <a:effectLst/>
                <a:latin typeface="-apple-system"/>
              </a:rPr>
              <a:t>.</a:t>
            </a:r>
            <a:r>
              <a:rPr lang="zh-CN" altLang="en-US" b="0" i="0">
                <a:solidFill>
                  <a:srgbClr val="121212"/>
                </a:solidFill>
                <a:effectLst/>
                <a:latin typeface="-apple-system"/>
              </a:rPr>
              <a:t>属性名”，就像上面的</a:t>
            </a:r>
            <a:r>
              <a:rPr lang="en-US" altLang="zh-CN" b="0" i="0">
                <a:solidFill>
                  <a:srgbClr val="121212"/>
                </a:solidFill>
                <a:effectLst/>
                <a:latin typeface="-apple-system"/>
              </a:rPr>
              <a:t>tr1.a</a:t>
            </a:r>
            <a:r>
              <a:rPr lang="zh-CN" altLang="en-US" b="0" i="0">
                <a:solidFill>
                  <a:srgbClr val="121212"/>
                </a:solidFill>
                <a:effectLst/>
                <a:latin typeface="-apple-system"/>
              </a:rPr>
              <a:t>。在定义类的时候，为了保持一致，也要采用这种写法。但由于类定义的时候，还没有实例化，并不清楚对象名是什么，所以可以随便写一个（但要前后一致），一般都写</a:t>
            </a:r>
            <a:r>
              <a:rPr lang="en-US" altLang="zh-CN" b="0" i="0">
                <a:solidFill>
                  <a:srgbClr val="121212"/>
                </a:solidFill>
                <a:effectLst/>
                <a:latin typeface="-apple-system"/>
              </a:rPr>
              <a:t>self</a:t>
            </a:r>
            <a:r>
              <a:rPr lang="zh-CN" altLang="en-US" b="0" i="0">
                <a:solidFill>
                  <a:srgbClr val="121212"/>
                </a:solidFill>
                <a:effectLst/>
                <a:latin typeface="-apple-system"/>
              </a:rPr>
              <a:t>。</a:t>
            </a:r>
          </a:p>
          <a:p>
            <a:pPr algn="l"/>
            <a:r>
              <a:rPr lang="pt-BR" altLang="zh-CN"/>
              <a:t>tr1</a:t>
            </a:r>
            <a:r>
              <a:rPr lang="pt-BR" altLang="zh-CN" b="1">
                <a:effectLst/>
              </a:rPr>
              <a:t>.</a:t>
            </a:r>
            <a:r>
              <a:rPr lang="pt-BR" altLang="zh-CN"/>
              <a:t>a </a:t>
            </a:r>
            <a:r>
              <a:rPr lang="pt-BR" altLang="zh-CN" b="1">
                <a:effectLst/>
              </a:rPr>
              <a:t>-&gt;</a:t>
            </a:r>
            <a:r>
              <a:rPr lang="pt-BR" altLang="zh-CN">
                <a:solidFill>
                  <a:srgbClr val="056DE8"/>
                </a:solidFill>
                <a:effectLst/>
              </a:rPr>
              <a:t>6</a:t>
            </a:r>
            <a:r>
              <a:rPr lang="pt-BR" altLang="zh-CN"/>
              <a:t> tr1</a:t>
            </a:r>
            <a:r>
              <a:rPr lang="pt-BR" altLang="zh-CN" b="1">
                <a:effectLst/>
              </a:rPr>
              <a:t>.</a:t>
            </a:r>
            <a:r>
              <a:rPr lang="pt-BR" altLang="zh-CN"/>
              <a:t>a</a:t>
            </a:r>
            <a:r>
              <a:rPr lang="pt-BR" altLang="zh-CN" b="1">
                <a:effectLst/>
              </a:rPr>
              <a:t>=</a:t>
            </a:r>
            <a:r>
              <a:rPr lang="pt-BR" altLang="zh-CN">
                <a:solidFill>
                  <a:srgbClr val="056DE8"/>
                </a:solidFill>
                <a:effectLst/>
              </a:rPr>
              <a:t>7</a:t>
            </a:r>
            <a:r>
              <a:rPr lang="pt-BR" altLang="zh-CN"/>
              <a:t> tr1</a:t>
            </a:r>
            <a:r>
              <a:rPr lang="pt-BR" altLang="zh-CN" b="1">
                <a:effectLst/>
              </a:rPr>
              <a:t>.</a:t>
            </a:r>
            <a:r>
              <a:rPr lang="pt-BR" altLang="zh-CN"/>
              <a:t>a </a:t>
            </a:r>
            <a:r>
              <a:rPr lang="pt-BR" altLang="zh-CN" b="1">
                <a:effectLst/>
              </a:rPr>
              <a:t>-&gt;</a:t>
            </a:r>
            <a:r>
              <a:rPr lang="pt-BR" altLang="zh-CN">
                <a:solidFill>
                  <a:srgbClr val="056DE8"/>
                </a:solidFill>
                <a:effectLst/>
              </a:rPr>
              <a:t>7</a:t>
            </a:r>
            <a:endParaRPr lang="zh-CN" altLang="en-US" b="0" i="0">
              <a:solidFill>
                <a:srgbClr val="121212"/>
              </a:solidFill>
              <a:effectLst/>
              <a:latin typeface="-apple-system"/>
            </a:endParaRP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</a:rPr>
              <a:pPr/>
              <a:t>21</a:t>
            </a:fld>
            <a:endParaRPr lang="zh-CN" altLang="en-US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638126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网页中还有很多内容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</a:rPr>
              <a:pPr/>
              <a:t>22</a:t>
            </a:fld>
            <a:endParaRPr lang="zh-CN" altLang="en-US">
              <a:solidFill>
                <a:prstClr val="black"/>
              </a:solidFill>
              <a:latin typeface="等线" panose="020F0502020204030204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22248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gradFill flip="none" rotWithShape="1">
          <a:gsLst>
            <a:gs pos="41000">
              <a:schemeClr val="accent1"/>
            </a:gs>
            <a:gs pos="100000">
              <a:schemeClr val="accent1">
                <a:alpha val="90000"/>
              </a:scheme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545B57F-7D9D-4AD8-9FE4-E5267D65BB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0400" y="1990725"/>
            <a:ext cx="7965440" cy="1757362"/>
          </a:xfrm>
        </p:spPr>
        <p:txBody>
          <a:bodyPr vert="horz" lIns="91440" tIns="45720" rIns="91440" bIns="45720" rtlCol="0" anchor="b">
            <a:noAutofit/>
          </a:bodyPr>
          <a:lstStyle>
            <a:lvl1pPr algn="l">
              <a:defRPr lang="zh-CN" altLang="en-US" sz="6000" b="1" dirty="0">
                <a:solidFill>
                  <a:srgbClr val="FFFFFF"/>
                </a:solidFill>
              </a:defRPr>
            </a:lvl1pPr>
          </a:lstStyle>
          <a:p>
            <a:pPr lvl="0" defTabSz="914332"/>
            <a:r>
              <a:rPr lang="zh-CN" altLang="en-US" dirty="0"/>
              <a:t>商务几何扁平</a:t>
            </a:r>
            <a:r>
              <a:rPr lang="en-US" altLang="zh-CN" dirty="0"/>
              <a:t>PPT</a:t>
            </a:r>
            <a:r>
              <a:rPr lang="zh-CN" altLang="en-US" dirty="0"/>
              <a:t>模板</a:t>
            </a:r>
          </a:p>
        </p:txBody>
      </p:sp>
      <p:sp>
        <p:nvSpPr>
          <p:cNvPr id="8" name="Speaker Placeholder 3">
            <a:extLst>
              <a:ext uri="{FF2B5EF4-FFF2-40B4-BE49-F238E27FC236}">
                <a16:creationId xmlns:a16="http://schemas.microsoft.com/office/drawing/2014/main" xmlns="" id="{44C4A721-803B-47CB-B99E-1D01E8E016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0401" y="3921193"/>
            <a:ext cx="5568951" cy="296271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 algn="l">
              <a:buNone/>
              <a:defRPr lang="en-US" altLang="zh-CN" sz="2000" b="0" smtClean="0">
                <a:solidFill>
                  <a:srgbClr val="FFFFFF"/>
                </a:solidFill>
              </a:defRPr>
            </a:lvl1pPr>
            <a:lvl2pPr>
              <a:defRPr lang="en-US" altLang="zh-CN" sz="1600" smtClean="0"/>
            </a:lvl2pPr>
            <a:lvl3pPr>
              <a:defRPr lang="en-US" altLang="zh-CN" sz="1400" smtClean="0"/>
            </a:lvl3pPr>
            <a:lvl4pPr>
              <a:defRPr lang="en-US" altLang="zh-CN" sz="1200" smtClean="0"/>
            </a:lvl4pPr>
            <a:lvl5pPr>
              <a:defRPr lang="zh-CN" altLang="en-US" sz="1200"/>
            </a:lvl5pPr>
          </a:lstStyle>
          <a:p>
            <a:r>
              <a:rPr lang="zh-CN" altLang="en-US" dirty="0"/>
              <a:t>汇报人：</a:t>
            </a:r>
            <a:r>
              <a:rPr lang="en-US" altLang="zh-CN" dirty="0"/>
              <a:t>XXX</a:t>
            </a:r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xmlns="" id="{CA939A61-406D-45DC-B757-059EFAA0586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0401" y="4326535"/>
            <a:ext cx="5568951" cy="3354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 algn="l">
              <a:buNone/>
              <a:defRPr lang="en-US" altLang="zh-CN" sz="2000" b="0" smtClean="0">
                <a:solidFill>
                  <a:srgbClr val="FFFFFF"/>
                </a:solidFill>
              </a:defRPr>
            </a:lvl1pPr>
            <a:lvl2pPr>
              <a:defRPr lang="en-US" altLang="zh-CN" sz="1600" smtClean="0"/>
            </a:lvl2pPr>
            <a:lvl3pPr>
              <a:defRPr lang="en-US" altLang="zh-CN" sz="1400" smtClean="0"/>
            </a:lvl3pPr>
            <a:lvl4pPr>
              <a:defRPr lang="en-US" altLang="zh-CN" sz="1200" smtClean="0"/>
            </a:lvl4pPr>
            <a:lvl5pPr>
              <a:defRPr lang="zh-CN" altLang="en-US" sz="1200"/>
            </a:lvl5pPr>
          </a:lstStyle>
          <a:p>
            <a:r>
              <a:rPr lang="zh-CN" altLang="en-US" dirty="0"/>
              <a:t>日期：</a:t>
            </a:r>
            <a:r>
              <a:rPr lang="en-US" altLang="zh-CN" dirty="0"/>
              <a:t>20XX</a:t>
            </a:r>
            <a:r>
              <a:rPr lang="zh-CN" altLang="en-US" dirty="0"/>
              <a:t>年</a:t>
            </a:r>
            <a:r>
              <a:rPr lang="en-US" altLang="zh-CN" dirty="0"/>
              <a:t>XX</a:t>
            </a:r>
            <a:r>
              <a:rPr lang="zh-CN" altLang="en-US" dirty="0"/>
              <a:t>月</a:t>
            </a:r>
            <a:r>
              <a:rPr lang="en-US" altLang="zh-CN" dirty="0"/>
              <a:t>XX</a:t>
            </a:r>
            <a:r>
              <a:rPr lang="zh-CN" altLang="en-US" dirty="0"/>
              <a:t>日</a:t>
            </a:r>
            <a:endParaRPr lang="en-US" altLang="en-US" dirty="0"/>
          </a:p>
        </p:txBody>
      </p:sp>
      <p:grpSp>
        <p:nvGrpSpPr>
          <p:cNvPr id="37" name="组合 36">
            <a:extLst>
              <a:ext uri="{FF2B5EF4-FFF2-40B4-BE49-F238E27FC236}">
                <a16:creationId xmlns:a16="http://schemas.microsoft.com/office/drawing/2014/main" xmlns="" id="{EC150303-72BE-99D1-AED7-E4050488661E}"/>
              </a:ext>
            </a:extLst>
          </p:cNvPr>
          <p:cNvGrpSpPr/>
          <p:nvPr userDrawn="1"/>
        </p:nvGrpSpPr>
        <p:grpSpPr>
          <a:xfrm>
            <a:off x="4643122" y="42334"/>
            <a:ext cx="7182311" cy="6773332"/>
            <a:chOff x="4648426" y="84668"/>
            <a:chExt cx="7182311" cy="6773332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xmlns="" id="{424C7F08-71A0-00F5-EBBA-322ACAF13151}"/>
                </a:ext>
              </a:extLst>
            </p:cNvPr>
            <p:cNvSpPr/>
            <p:nvPr userDrawn="1"/>
          </p:nvSpPr>
          <p:spPr>
            <a:xfrm>
              <a:off x="4792887" y="84668"/>
              <a:ext cx="7037850" cy="6773332"/>
            </a:xfrm>
            <a:prstGeom prst="ellipse">
              <a:avLst/>
            </a:prstGeom>
            <a:gradFill flip="none" rotWithShape="1">
              <a:gsLst>
                <a:gs pos="25000">
                  <a:schemeClr val="accent1">
                    <a:lumMod val="45000"/>
                    <a:lumOff val="55000"/>
                    <a:alpha val="45000"/>
                  </a:schemeClr>
                </a:gs>
                <a:gs pos="83000">
                  <a:schemeClr val="accent1">
                    <a:alpha val="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35" name="椭圆 34">
              <a:extLst>
                <a:ext uri="{FF2B5EF4-FFF2-40B4-BE49-F238E27FC236}">
                  <a16:creationId xmlns:a16="http://schemas.microsoft.com/office/drawing/2014/main" xmlns="" id="{273E1D4D-50D8-6D9E-A448-01F5EC6C8A48}"/>
                </a:ext>
              </a:extLst>
            </p:cNvPr>
            <p:cNvSpPr/>
            <p:nvPr userDrawn="1"/>
          </p:nvSpPr>
          <p:spPr>
            <a:xfrm>
              <a:off x="7949862" y="3285063"/>
              <a:ext cx="2838859" cy="2950637"/>
            </a:xfrm>
            <a:prstGeom prst="ellipse">
              <a:avLst/>
            </a:prstGeom>
            <a:gradFill flip="none" rotWithShape="1">
              <a:gsLst>
                <a:gs pos="11000">
                  <a:srgbClr val="B1B6D1">
                    <a:alpha val="0"/>
                  </a:srgbClr>
                </a:gs>
                <a:gs pos="44000">
                  <a:srgbClr val="8B93C4">
                    <a:alpha val="42000"/>
                  </a:srgbClr>
                </a:gs>
                <a:gs pos="74000">
                  <a:schemeClr val="accent1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36" name="椭圆 35">
              <a:extLst>
                <a:ext uri="{FF2B5EF4-FFF2-40B4-BE49-F238E27FC236}">
                  <a16:creationId xmlns:a16="http://schemas.microsoft.com/office/drawing/2014/main" xmlns="" id="{E5140AED-15FA-1550-1408-ABCC3DA6258A}"/>
                </a:ext>
              </a:extLst>
            </p:cNvPr>
            <p:cNvSpPr/>
            <p:nvPr userDrawn="1"/>
          </p:nvSpPr>
          <p:spPr>
            <a:xfrm>
              <a:off x="4648426" y="897517"/>
              <a:ext cx="1312288" cy="1363958"/>
            </a:xfrm>
            <a:prstGeom prst="ellipse">
              <a:avLst/>
            </a:prstGeom>
            <a:gradFill flip="none" rotWithShape="1">
              <a:gsLst>
                <a:gs pos="20000">
                  <a:schemeClr val="accent2">
                    <a:alpha val="36000"/>
                  </a:schemeClr>
                </a:gs>
                <a:gs pos="100000">
                  <a:schemeClr val="accent1">
                    <a:alpha val="55000"/>
                  </a:scheme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</p:grpSp>
      <p:sp>
        <p:nvSpPr>
          <p:cNvPr id="42" name="任意多边形: 形状 41">
            <a:extLst>
              <a:ext uri="{FF2B5EF4-FFF2-40B4-BE49-F238E27FC236}">
                <a16:creationId xmlns:a16="http://schemas.microsoft.com/office/drawing/2014/main" xmlns="" id="{3D31BE62-CC50-6DDF-053D-8D4A349275AD}"/>
              </a:ext>
            </a:extLst>
          </p:cNvPr>
          <p:cNvSpPr/>
          <p:nvPr userDrawn="1"/>
        </p:nvSpPr>
        <p:spPr>
          <a:xfrm>
            <a:off x="1" y="2"/>
            <a:ext cx="2712356" cy="2713385"/>
          </a:xfrm>
          <a:custGeom>
            <a:avLst/>
            <a:gdLst>
              <a:gd name="connsiteX0" fmla="*/ 0 w 2712356"/>
              <a:gd name="connsiteY0" fmla="*/ 0 h 2713385"/>
              <a:gd name="connsiteX1" fmla="*/ 2635987 w 2712356"/>
              <a:gd name="connsiteY1" fmla="*/ 0 h 2713385"/>
              <a:gd name="connsiteX2" fmla="*/ 2670483 w 2712356"/>
              <a:gd name="connsiteY2" fmla="*/ 139441 h 2713385"/>
              <a:gd name="connsiteX3" fmla="*/ 2712356 w 2712356"/>
              <a:gd name="connsiteY3" fmla="*/ 571172 h 2713385"/>
              <a:gd name="connsiteX4" fmla="*/ 651295 w 2712356"/>
              <a:gd name="connsiteY4" fmla="*/ 2713385 h 2713385"/>
              <a:gd name="connsiteX5" fmla="*/ 38398 w 2712356"/>
              <a:gd name="connsiteY5" fmla="*/ 2617075 h 2713385"/>
              <a:gd name="connsiteX6" fmla="*/ 0 w 2712356"/>
              <a:gd name="connsiteY6" fmla="*/ 2602468 h 2713385"/>
              <a:gd name="connsiteX7" fmla="*/ 0 w 2712356"/>
              <a:gd name="connsiteY7" fmla="*/ 0 h 2713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712356" h="2713385">
                <a:moveTo>
                  <a:pt x="0" y="0"/>
                </a:moveTo>
                <a:lnTo>
                  <a:pt x="2635987" y="0"/>
                </a:lnTo>
                <a:lnTo>
                  <a:pt x="2670483" y="139441"/>
                </a:lnTo>
                <a:cubicBezTo>
                  <a:pt x="2697938" y="278894"/>
                  <a:pt x="2712356" y="423283"/>
                  <a:pt x="2712356" y="571172"/>
                </a:cubicBezTo>
                <a:cubicBezTo>
                  <a:pt x="2712356" y="1754284"/>
                  <a:pt x="1789588" y="2713385"/>
                  <a:pt x="651295" y="2713385"/>
                </a:cubicBezTo>
                <a:cubicBezTo>
                  <a:pt x="437865" y="2713385"/>
                  <a:pt x="232012" y="2679667"/>
                  <a:pt x="38398" y="2617075"/>
                </a:cubicBezTo>
                <a:lnTo>
                  <a:pt x="0" y="2602468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86000">
                <a:srgbClr val="B1B6D1">
                  <a:alpha val="0"/>
                </a:srgbClr>
              </a:gs>
              <a:gs pos="34000">
                <a:srgbClr val="8B93C4">
                  <a:alpha val="42000"/>
                </a:srgbClr>
              </a:gs>
              <a:gs pos="79000">
                <a:schemeClr val="accent1">
                  <a:alpha val="4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68118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xmlns="" id="{AD982555-EA3F-4B74-7506-7B4EBD37E234}"/>
              </a:ext>
            </a:extLst>
          </p:cNvPr>
          <p:cNvSpPr/>
          <p:nvPr userDrawn="1"/>
        </p:nvSpPr>
        <p:spPr>
          <a:xfrm>
            <a:off x="1" y="0"/>
            <a:ext cx="425099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xmlns="" id="{FDF03A82-401C-4A0E-BE21-BE588E87414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0401" y="1784096"/>
            <a:ext cx="3045372" cy="594626"/>
          </a:xfrm>
        </p:spPr>
        <p:txBody>
          <a:bodyPr anchor="ctr" anchorCtr="0">
            <a:noAutofit/>
          </a:bodyPr>
          <a:lstStyle>
            <a:lvl1pPr marL="0" indent="0" algn="ctr">
              <a:buFont typeface="+mj-lt"/>
              <a:buNone/>
              <a:defRPr sz="4000" b="1">
                <a:solidFill>
                  <a:srgbClr val="FFFFFF"/>
                </a:solidFill>
                <a:latin typeface="+mj-ea"/>
                <a:ea typeface="+mj-ea"/>
              </a:defRPr>
            </a:lvl1pPr>
            <a:lvl2pPr marL="457189" indent="0">
              <a:buFont typeface="+mj-ea"/>
              <a:buNone/>
              <a:defRPr/>
            </a:lvl2pPr>
            <a:lvl3pPr marL="1257269" indent="-342891">
              <a:buFont typeface="+mj-lt"/>
              <a:buAutoNum type="alphaLcParenR"/>
              <a:defRPr/>
            </a:lvl3pPr>
          </a:lstStyle>
          <a:p>
            <a:pPr lvl="0"/>
            <a:r>
              <a:rPr lang="en-US" altLang="zh-CN" dirty="0"/>
              <a:t>Contents</a:t>
            </a:r>
            <a:endParaRPr lang="zh-CN" altLang="en-US" dirty="0"/>
          </a:p>
        </p:txBody>
      </p:sp>
      <p:grpSp>
        <p:nvGrpSpPr>
          <p:cNvPr id="34" name="组合 33">
            <a:extLst>
              <a:ext uri="{FF2B5EF4-FFF2-40B4-BE49-F238E27FC236}">
                <a16:creationId xmlns:a16="http://schemas.microsoft.com/office/drawing/2014/main" xmlns="" id="{EFDB9EF8-9BCC-B7E0-416E-F38D808442D6}"/>
              </a:ext>
            </a:extLst>
          </p:cNvPr>
          <p:cNvGrpSpPr/>
          <p:nvPr userDrawn="1"/>
        </p:nvGrpSpPr>
        <p:grpSpPr>
          <a:xfrm>
            <a:off x="409577" y="2622550"/>
            <a:ext cx="3762375" cy="3436252"/>
            <a:chOff x="4648426" y="84668"/>
            <a:chExt cx="7182311" cy="6773332"/>
          </a:xfrm>
        </p:grpSpPr>
        <p:sp>
          <p:nvSpPr>
            <p:cNvPr id="35" name="椭圆 34">
              <a:extLst>
                <a:ext uri="{FF2B5EF4-FFF2-40B4-BE49-F238E27FC236}">
                  <a16:creationId xmlns:a16="http://schemas.microsoft.com/office/drawing/2014/main" xmlns="" id="{4FC22150-351F-1D32-05AB-F7EA0286743B}"/>
                </a:ext>
              </a:extLst>
            </p:cNvPr>
            <p:cNvSpPr/>
            <p:nvPr userDrawn="1"/>
          </p:nvSpPr>
          <p:spPr>
            <a:xfrm>
              <a:off x="4792887" y="84668"/>
              <a:ext cx="7037850" cy="6773332"/>
            </a:xfrm>
            <a:prstGeom prst="ellipse">
              <a:avLst/>
            </a:prstGeom>
            <a:gradFill flip="none" rotWithShape="1">
              <a:gsLst>
                <a:gs pos="25000">
                  <a:schemeClr val="accent1">
                    <a:lumMod val="45000"/>
                    <a:lumOff val="55000"/>
                    <a:alpha val="45000"/>
                  </a:schemeClr>
                </a:gs>
                <a:gs pos="83000">
                  <a:schemeClr val="accent1">
                    <a:alpha val="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36" name="椭圆 35">
              <a:extLst>
                <a:ext uri="{FF2B5EF4-FFF2-40B4-BE49-F238E27FC236}">
                  <a16:creationId xmlns:a16="http://schemas.microsoft.com/office/drawing/2014/main" xmlns="" id="{E1618A74-B359-D3CA-7690-4D04767D5E33}"/>
                </a:ext>
              </a:extLst>
            </p:cNvPr>
            <p:cNvSpPr/>
            <p:nvPr userDrawn="1"/>
          </p:nvSpPr>
          <p:spPr>
            <a:xfrm>
              <a:off x="7949862" y="3285063"/>
              <a:ext cx="2838859" cy="2950637"/>
            </a:xfrm>
            <a:prstGeom prst="ellipse">
              <a:avLst/>
            </a:prstGeom>
            <a:gradFill flip="none" rotWithShape="1">
              <a:gsLst>
                <a:gs pos="34000">
                  <a:schemeClr val="accent2">
                    <a:alpha val="34000"/>
                  </a:schemeClr>
                </a:gs>
                <a:gs pos="74000">
                  <a:schemeClr val="accent1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37" name="椭圆 36">
              <a:extLst>
                <a:ext uri="{FF2B5EF4-FFF2-40B4-BE49-F238E27FC236}">
                  <a16:creationId xmlns:a16="http://schemas.microsoft.com/office/drawing/2014/main" xmlns="" id="{0CD826CB-6E0B-1B05-4FDD-2984599D3762}"/>
                </a:ext>
              </a:extLst>
            </p:cNvPr>
            <p:cNvSpPr/>
            <p:nvPr userDrawn="1"/>
          </p:nvSpPr>
          <p:spPr>
            <a:xfrm>
              <a:off x="4648426" y="897517"/>
              <a:ext cx="1312288" cy="1363958"/>
            </a:xfrm>
            <a:prstGeom prst="ellipse">
              <a:avLst/>
            </a:prstGeom>
            <a:gradFill flip="none" rotWithShape="1">
              <a:gsLst>
                <a:gs pos="20000">
                  <a:schemeClr val="accent2">
                    <a:alpha val="36000"/>
                  </a:schemeClr>
                </a:gs>
                <a:gs pos="100000">
                  <a:schemeClr val="accent1">
                    <a:alpha val="55000"/>
                  </a:scheme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</p:grp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xmlns="" id="{9E5BD2CD-BEC8-A5D8-00BD-2A3A6C32C4A9}"/>
              </a:ext>
            </a:extLst>
          </p:cNvPr>
          <p:cNvSpPr/>
          <p:nvPr userDrawn="1"/>
        </p:nvSpPr>
        <p:spPr>
          <a:xfrm>
            <a:off x="2" y="3"/>
            <a:ext cx="1543049" cy="1580547"/>
          </a:xfrm>
          <a:custGeom>
            <a:avLst/>
            <a:gdLst>
              <a:gd name="connsiteX0" fmla="*/ 0 w 1543049"/>
              <a:gd name="connsiteY0" fmla="*/ 0 h 1580547"/>
              <a:gd name="connsiteX1" fmla="*/ 1389702 w 1543049"/>
              <a:gd name="connsiteY1" fmla="*/ 0 h 1580547"/>
              <a:gd name="connsiteX2" fmla="*/ 1464863 w 1543049"/>
              <a:gd name="connsiteY2" fmla="*/ 143926 h 1580547"/>
              <a:gd name="connsiteX3" fmla="*/ 1543049 w 1543049"/>
              <a:gd name="connsiteY3" fmla="*/ 546445 h 1580547"/>
              <a:gd name="connsiteX4" fmla="*/ 548121 w 1543049"/>
              <a:gd name="connsiteY4" fmla="*/ 1580547 h 1580547"/>
              <a:gd name="connsiteX5" fmla="*/ 73879 w 1543049"/>
              <a:gd name="connsiteY5" fmla="*/ 1455737 h 1580547"/>
              <a:gd name="connsiteX6" fmla="*/ 0 w 1543049"/>
              <a:gd name="connsiteY6" fmla="*/ 1409087 h 15805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43049" h="1580547">
                <a:moveTo>
                  <a:pt x="0" y="0"/>
                </a:moveTo>
                <a:lnTo>
                  <a:pt x="1389702" y="0"/>
                </a:lnTo>
                <a:lnTo>
                  <a:pt x="1464863" y="143926"/>
                </a:lnTo>
                <a:cubicBezTo>
                  <a:pt x="1515209" y="267644"/>
                  <a:pt x="1543049" y="403665"/>
                  <a:pt x="1543049" y="546445"/>
                </a:cubicBezTo>
                <a:cubicBezTo>
                  <a:pt x="1543049" y="1117564"/>
                  <a:pt x="1097605" y="1580547"/>
                  <a:pt x="548121" y="1580547"/>
                </a:cubicBezTo>
                <a:cubicBezTo>
                  <a:pt x="376407" y="1580547"/>
                  <a:pt x="214854" y="1535334"/>
                  <a:pt x="73879" y="1455737"/>
                </a:cubicBezTo>
                <a:lnTo>
                  <a:pt x="0" y="1409087"/>
                </a:lnTo>
                <a:close/>
              </a:path>
            </a:pathLst>
          </a:custGeom>
          <a:gradFill flip="none" rotWithShape="1">
            <a:gsLst>
              <a:gs pos="20000">
                <a:schemeClr val="accent2">
                  <a:alpha val="36000"/>
                </a:schemeClr>
              </a:gs>
              <a:gs pos="100000">
                <a:schemeClr val="accent1">
                  <a:alpha val="5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xmlns="" id="{FDFBE58A-F4DC-EF1E-5D13-F8DFE171653F}"/>
              </a:ext>
            </a:extLst>
          </p:cNvPr>
          <p:cNvSpPr/>
          <p:nvPr userDrawn="1"/>
        </p:nvSpPr>
        <p:spPr>
          <a:xfrm>
            <a:off x="869210" y="2394698"/>
            <a:ext cx="2836561" cy="8597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4763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00C7662-4F6D-4B06-BB36-235FC06BF8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400" y="3112284"/>
            <a:ext cx="7401560" cy="95105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zh-CN" altLang="en-US" sz="4800">
                <a:solidFill>
                  <a:schemeClr val="tx1"/>
                </a:solidFill>
              </a:defRPr>
            </a:lvl1pPr>
          </a:lstStyle>
          <a:p>
            <a:pPr lvl="0" defTabSz="914332"/>
            <a:r>
              <a:rPr lang="zh-CN" altLang="en-US" dirty="0"/>
              <a:t>单击此处添加主标题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9FF9930E-40DF-417D-8161-BD38EB172DC1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60400" y="4111117"/>
            <a:ext cx="7401560" cy="440729"/>
          </a:xfrm>
        </p:spPr>
        <p:txBody>
          <a:bodyPr>
            <a:normAutofit/>
          </a:bodyPr>
          <a:lstStyle>
            <a:lvl1pPr marL="0" indent="0">
              <a:buNone/>
              <a:defRPr lang="en-US" altLang="zh-CN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点击简单描述该章节的大概内容，阐述核心思想</a:t>
            </a:r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xmlns="" id="{49A950A1-B947-717D-E187-AD0063089D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0400" y="2113598"/>
            <a:ext cx="7401187" cy="950912"/>
          </a:xfrm>
        </p:spPr>
        <p:txBody>
          <a:bodyPr anchor="b">
            <a:noAutofit/>
          </a:bodyPr>
          <a:lstStyle>
            <a:lvl1pPr marL="0" indent="0">
              <a:buNone/>
              <a:defRPr sz="6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43" name="任意多边形: 形状 42">
            <a:extLst>
              <a:ext uri="{FF2B5EF4-FFF2-40B4-BE49-F238E27FC236}">
                <a16:creationId xmlns:a16="http://schemas.microsoft.com/office/drawing/2014/main" xmlns="" id="{5D2D51EC-47FD-72C3-B4F8-45F79C45684E}"/>
              </a:ext>
            </a:extLst>
          </p:cNvPr>
          <p:cNvSpPr/>
          <p:nvPr userDrawn="1"/>
        </p:nvSpPr>
        <p:spPr>
          <a:xfrm>
            <a:off x="4907279" y="3"/>
            <a:ext cx="7284723" cy="6857999"/>
          </a:xfrm>
          <a:custGeom>
            <a:avLst/>
            <a:gdLst>
              <a:gd name="connsiteX0" fmla="*/ 1966125 w 7284723"/>
              <a:gd name="connsiteY0" fmla="*/ 0 h 6857999"/>
              <a:gd name="connsiteX1" fmla="*/ 7284723 w 7284723"/>
              <a:gd name="connsiteY1" fmla="*/ 0 h 6857999"/>
              <a:gd name="connsiteX2" fmla="*/ 7284723 w 7284723"/>
              <a:gd name="connsiteY2" fmla="*/ 6857999 h 6857999"/>
              <a:gd name="connsiteX3" fmla="*/ 1340755 w 7284723"/>
              <a:gd name="connsiteY3" fmla="*/ 6857999 h 6857999"/>
              <a:gd name="connsiteX4" fmla="*/ 1292639 w 7284723"/>
              <a:gd name="connsiteY4" fmla="*/ 6810960 h 6857999"/>
              <a:gd name="connsiteX5" fmla="*/ 0 w 7284723"/>
              <a:gd name="connsiteY5" fmla="*/ 3692584 h 6857999"/>
              <a:gd name="connsiteX6" fmla="*/ 1810751 w 7284723"/>
              <a:gd name="connsiteY6" fmla="*/ 113805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284723" h="6857999">
                <a:moveTo>
                  <a:pt x="1966125" y="0"/>
                </a:moveTo>
                <a:lnTo>
                  <a:pt x="7284723" y="0"/>
                </a:lnTo>
                <a:lnTo>
                  <a:pt x="7284723" y="6857999"/>
                </a:lnTo>
                <a:lnTo>
                  <a:pt x="1340755" y="6857999"/>
                </a:lnTo>
                <a:lnTo>
                  <a:pt x="1292639" y="6810960"/>
                </a:lnTo>
                <a:cubicBezTo>
                  <a:pt x="489500" y="5987340"/>
                  <a:pt x="0" y="4893243"/>
                  <a:pt x="0" y="3692584"/>
                </a:cubicBezTo>
                <a:cubicBezTo>
                  <a:pt x="0" y="2251793"/>
                  <a:pt x="704880" y="964452"/>
                  <a:pt x="1810751" y="113805"/>
                </a:cubicBezTo>
                <a:close/>
              </a:path>
            </a:pathLst>
          </a:custGeom>
          <a:gradFill flip="none" rotWithShape="1">
            <a:gsLst>
              <a:gs pos="0">
                <a:srgbClr val="6B78C4"/>
              </a:gs>
              <a:gs pos="32000">
                <a:schemeClr val="accent1">
                  <a:lumMod val="45000"/>
                  <a:lumOff val="55000"/>
                  <a:alpha val="46000"/>
                </a:schemeClr>
              </a:gs>
              <a:gs pos="84000">
                <a:schemeClr val="accent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8" name="任意多边形: 形状 27">
            <a:extLst>
              <a:ext uri="{FF2B5EF4-FFF2-40B4-BE49-F238E27FC236}">
                <a16:creationId xmlns:a16="http://schemas.microsoft.com/office/drawing/2014/main" xmlns="" id="{C8B77142-FA8F-519E-7BBD-ABAE915BDE36}"/>
              </a:ext>
            </a:extLst>
          </p:cNvPr>
          <p:cNvSpPr/>
          <p:nvPr userDrawn="1"/>
        </p:nvSpPr>
        <p:spPr>
          <a:xfrm>
            <a:off x="7528557" y="1698"/>
            <a:ext cx="6891224" cy="9100292"/>
          </a:xfrm>
          <a:custGeom>
            <a:avLst/>
            <a:gdLst>
              <a:gd name="connsiteX0" fmla="*/ 3621363 w 6891224"/>
              <a:gd name="connsiteY0" fmla="*/ 0 h 9100292"/>
              <a:gd name="connsiteX1" fmla="*/ 4663443 w 6891224"/>
              <a:gd name="connsiteY1" fmla="*/ 0 h 9100292"/>
              <a:gd name="connsiteX2" fmla="*/ 4663443 w 6891224"/>
              <a:gd name="connsiteY2" fmla="*/ 8743717 h 9100292"/>
              <a:gd name="connsiteX3" fmla="*/ 6891224 w 6891224"/>
              <a:gd name="connsiteY3" fmla="*/ 8743717 h 9100292"/>
              <a:gd name="connsiteX4" fmla="*/ 6686729 w 6891224"/>
              <a:gd name="connsiteY4" fmla="*/ 8818869 h 9100292"/>
              <a:gd name="connsiteX5" fmla="*/ 4975861 w 6891224"/>
              <a:gd name="connsiteY5" fmla="*/ 9100292 h 9100292"/>
              <a:gd name="connsiteX6" fmla="*/ 0 w 6891224"/>
              <a:gd name="connsiteY6" fmla="*/ 4462457 h 9100292"/>
              <a:gd name="connsiteX7" fmla="*/ 3496192 w 6891224"/>
              <a:gd name="connsiteY7" fmla="*/ 33130 h 9100292"/>
              <a:gd name="connsiteX8" fmla="*/ 3621363 w 6891224"/>
              <a:gd name="connsiteY8" fmla="*/ 0 h 91002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91224" h="9100292">
                <a:moveTo>
                  <a:pt x="3621363" y="0"/>
                </a:moveTo>
                <a:lnTo>
                  <a:pt x="4663443" y="0"/>
                </a:lnTo>
                <a:lnTo>
                  <a:pt x="4663443" y="8743717"/>
                </a:lnTo>
                <a:lnTo>
                  <a:pt x="6891224" y="8743717"/>
                </a:lnTo>
                <a:lnTo>
                  <a:pt x="6686729" y="8818869"/>
                </a:lnTo>
                <a:cubicBezTo>
                  <a:pt x="6153253" y="9000932"/>
                  <a:pt x="5577006" y="9100292"/>
                  <a:pt x="4975861" y="9100292"/>
                </a:cubicBezTo>
                <a:cubicBezTo>
                  <a:pt x="2227769" y="9100292"/>
                  <a:pt x="0" y="7023863"/>
                  <a:pt x="0" y="4462457"/>
                </a:cubicBezTo>
                <a:cubicBezTo>
                  <a:pt x="0" y="2381315"/>
                  <a:pt x="1470676" y="620333"/>
                  <a:pt x="3496192" y="33130"/>
                </a:cubicBezTo>
                <a:lnTo>
                  <a:pt x="3621363" y="0"/>
                </a:lnTo>
                <a:close/>
              </a:path>
            </a:pathLst>
          </a:custGeom>
          <a:gradFill flip="none" rotWithShape="1">
            <a:gsLst>
              <a:gs pos="100000">
                <a:schemeClr val="accent1">
                  <a:lumMod val="45000"/>
                  <a:lumOff val="55000"/>
                  <a:alpha val="45000"/>
                </a:schemeClr>
              </a:gs>
              <a:gs pos="50000">
                <a:schemeClr val="accent1">
                  <a:alpha val="0"/>
                </a:schemeClr>
              </a:gs>
              <a:gs pos="0">
                <a:schemeClr val="accent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40" name="任意多边形: 形状 39">
            <a:extLst>
              <a:ext uri="{FF2B5EF4-FFF2-40B4-BE49-F238E27FC236}">
                <a16:creationId xmlns:a16="http://schemas.microsoft.com/office/drawing/2014/main" xmlns="" id="{49B6B922-9FE0-ACC0-2856-83979932223A}"/>
              </a:ext>
            </a:extLst>
          </p:cNvPr>
          <p:cNvSpPr/>
          <p:nvPr userDrawn="1"/>
        </p:nvSpPr>
        <p:spPr>
          <a:xfrm>
            <a:off x="6242193" y="3655434"/>
            <a:ext cx="5949809" cy="3202566"/>
          </a:xfrm>
          <a:custGeom>
            <a:avLst/>
            <a:gdLst>
              <a:gd name="connsiteX0" fmla="*/ 4151489 w 5949809"/>
              <a:gd name="connsiteY0" fmla="*/ 0 h 3202566"/>
              <a:gd name="connsiteX1" fmla="*/ 5824340 w 5949809"/>
              <a:gd name="connsiteY1" fmla="*/ 337733 h 3202566"/>
              <a:gd name="connsiteX2" fmla="*/ 5949809 w 5949809"/>
              <a:gd name="connsiteY2" fmla="*/ 394457 h 3202566"/>
              <a:gd name="connsiteX3" fmla="*/ 5949809 w 5949809"/>
              <a:gd name="connsiteY3" fmla="*/ 3202566 h 3202566"/>
              <a:gd name="connsiteX4" fmla="*/ 0 w 5949809"/>
              <a:gd name="connsiteY4" fmla="*/ 3202566 h 3202566"/>
              <a:gd name="connsiteX5" fmla="*/ 47025 w 5949809"/>
              <a:gd name="connsiteY5" fmla="*/ 3019682 h 3202566"/>
              <a:gd name="connsiteX6" fmla="*/ 4151489 w 5949809"/>
              <a:gd name="connsiteY6" fmla="*/ 0 h 3202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49809" h="3202566">
                <a:moveTo>
                  <a:pt x="4151489" y="0"/>
                </a:moveTo>
                <a:cubicBezTo>
                  <a:pt x="4744875" y="0"/>
                  <a:pt x="5310173" y="120259"/>
                  <a:pt x="5824340" y="337733"/>
                </a:cubicBezTo>
                <a:lnTo>
                  <a:pt x="5949809" y="394457"/>
                </a:lnTo>
                <a:lnTo>
                  <a:pt x="5949809" y="3202566"/>
                </a:lnTo>
                <a:lnTo>
                  <a:pt x="0" y="3202566"/>
                </a:lnTo>
                <a:lnTo>
                  <a:pt x="47025" y="3019682"/>
                </a:lnTo>
                <a:cubicBezTo>
                  <a:pt x="591160" y="1270231"/>
                  <a:pt x="2222986" y="0"/>
                  <a:pt x="4151489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9904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xmlns="" id="{23BD5DC2-93F8-A6A6-D337-0AFDC4E3B7D9}"/>
              </a:ext>
            </a:extLst>
          </p:cNvPr>
          <p:cNvSpPr/>
          <p:nvPr userDrawn="1"/>
        </p:nvSpPr>
        <p:spPr>
          <a:xfrm>
            <a:off x="0" y="2"/>
            <a:ext cx="12192000" cy="8831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652EDE83-63CC-4B33-B715-3953EADE21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401" y="90327"/>
            <a:ext cx="10858500" cy="792781"/>
          </a:xfrm>
        </p:spPr>
        <p:txBody>
          <a:bodyPr anchor="ctr" anchorCtr="0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zh-CN" altLang="en-US" dirty="0"/>
              <a:t>单击此处添加主标题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xmlns="" id="{330E0B63-DF19-3794-3DF0-9401BE50367F}"/>
              </a:ext>
            </a:extLst>
          </p:cNvPr>
          <p:cNvGrpSpPr/>
          <p:nvPr userDrawn="1"/>
        </p:nvGrpSpPr>
        <p:grpSpPr>
          <a:xfrm>
            <a:off x="11074400" y="-89836"/>
            <a:ext cx="1117600" cy="972451"/>
            <a:chOff x="4792887" y="84668"/>
            <a:chExt cx="7037850" cy="6773332"/>
          </a:xfrm>
        </p:grpSpPr>
        <p:sp>
          <p:nvSpPr>
            <p:cNvPr id="9" name="椭圆 8">
              <a:extLst>
                <a:ext uri="{FF2B5EF4-FFF2-40B4-BE49-F238E27FC236}">
                  <a16:creationId xmlns:a16="http://schemas.microsoft.com/office/drawing/2014/main" xmlns="" id="{3F370A4D-BC39-B3D9-65E0-793CBEA4D82A}"/>
                </a:ext>
              </a:extLst>
            </p:cNvPr>
            <p:cNvSpPr/>
            <p:nvPr userDrawn="1"/>
          </p:nvSpPr>
          <p:spPr>
            <a:xfrm>
              <a:off x="4792887" y="84668"/>
              <a:ext cx="7037850" cy="6773332"/>
            </a:xfrm>
            <a:prstGeom prst="ellipse">
              <a:avLst/>
            </a:prstGeom>
            <a:gradFill flip="none" rotWithShape="1">
              <a:gsLst>
                <a:gs pos="25000">
                  <a:schemeClr val="accent1">
                    <a:lumMod val="45000"/>
                    <a:lumOff val="55000"/>
                    <a:alpha val="45000"/>
                  </a:schemeClr>
                </a:gs>
                <a:gs pos="83000">
                  <a:schemeClr val="accent1">
                    <a:alpha val="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xmlns="" id="{6BF1186D-E493-415B-0DB8-79DE79037869}"/>
                </a:ext>
              </a:extLst>
            </p:cNvPr>
            <p:cNvSpPr/>
            <p:nvPr userDrawn="1"/>
          </p:nvSpPr>
          <p:spPr>
            <a:xfrm>
              <a:off x="7949863" y="3285061"/>
              <a:ext cx="2838856" cy="2950641"/>
            </a:xfrm>
            <a:prstGeom prst="ellipse">
              <a:avLst/>
            </a:prstGeom>
            <a:gradFill flip="none" rotWithShape="1">
              <a:gsLst>
                <a:gs pos="34000">
                  <a:schemeClr val="accent2">
                    <a:alpha val="34000"/>
                  </a:schemeClr>
                </a:gs>
                <a:gs pos="74000">
                  <a:schemeClr val="accent1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</p:grp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xmlns="" id="{705CAEB6-4A51-02B2-D69B-9EF3C0945242}"/>
              </a:ext>
            </a:extLst>
          </p:cNvPr>
          <p:cNvSpPr/>
          <p:nvPr userDrawn="1"/>
        </p:nvSpPr>
        <p:spPr>
          <a:xfrm>
            <a:off x="0" y="2"/>
            <a:ext cx="792480" cy="792781"/>
          </a:xfrm>
          <a:custGeom>
            <a:avLst/>
            <a:gdLst>
              <a:gd name="connsiteX0" fmla="*/ 0 w 2712356"/>
              <a:gd name="connsiteY0" fmla="*/ 0 h 2713385"/>
              <a:gd name="connsiteX1" fmla="*/ 2635987 w 2712356"/>
              <a:gd name="connsiteY1" fmla="*/ 0 h 2713385"/>
              <a:gd name="connsiteX2" fmla="*/ 2670483 w 2712356"/>
              <a:gd name="connsiteY2" fmla="*/ 139441 h 2713385"/>
              <a:gd name="connsiteX3" fmla="*/ 2712356 w 2712356"/>
              <a:gd name="connsiteY3" fmla="*/ 571172 h 2713385"/>
              <a:gd name="connsiteX4" fmla="*/ 651295 w 2712356"/>
              <a:gd name="connsiteY4" fmla="*/ 2713385 h 2713385"/>
              <a:gd name="connsiteX5" fmla="*/ 38398 w 2712356"/>
              <a:gd name="connsiteY5" fmla="*/ 2617075 h 2713385"/>
              <a:gd name="connsiteX6" fmla="*/ 0 w 2712356"/>
              <a:gd name="connsiteY6" fmla="*/ 2602468 h 2713385"/>
              <a:gd name="connsiteX7" fmla="*/ 0 w 2712356"/>
              <a:gd name="connsiteY7" fmla="*/ 0 h 2713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712356" h="2713385">
                <a:moveTo>
                  <a:pt x="0" y="0"/>
                </a:moveTo>
                <a:lnTo>
                  <a:pt x="2635987" y="0"/>
                </a:lnTo>
                <a:lnTo>
                  <a:pt x="2670483" y="139441"/>
                </a:lnTo>
                <a:cubicBezTo>
                  <a:pt x="2697938" y="278894"/>
                  <a:pt x="2712356" y="423283"/>
                  <a:pt x="2712356" y="571172"/>
                </a:cubicBezTo>
                <a:cubicBezTo>
                  <a:pt x="2712356" y="1754284"/>
                  <a:pt x="1789588" y="2713385"/>
                  <a:pt x="651295" y="2713385"/>
                </a:cubicBezTo>
                <a:cubicBezTo>
                  <a:pt x="437865" y="2713385"/>
                  <a:pt x="232012" y="2679667"/>
                  <a:pt x="38398" y="2617075"/>
                </a:cubicBezTo>
                <a:lnTo>
                  <a:pt x="0" y="2602468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86000">
                <a:srgbClr val="B1B6D1">
                  <a:alpha val="0"/>
                </a:srgbClr>
              </a:gs>
              <a:gs pos="34000">
                <a:srgbClr val="8B93C4">
                  <a:alpha val="42000"/>
                </a:srgbClr>
              </a:gs>
              <a:gs pos="79000">
                <a:schemeClr val="accent1">
                  <a:alpha val="4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03132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xmlns="" id="{23BD5DC2-93F8-A6A6-D337-0AFDC4E3B7D9}"/>
              </a:ext>
            </a:extLst>
          </p:cNvPr>
          <p:cNvSpPr/>
          <p:nvPr userDrawn="1"/>
        </p:nvSpPr>
        <p:spPr>
          <a:xfrm>
            <a:off x="0" y="2"/>
            <a:ext cx="12192000" cy="8831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652EDE83-63CC-4B33-B715-3953EADE21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401" y="90327"/>
            <a:ext cx="10858500" cy="792781"/>
          </a:xfrm>
        </p:spPr>
        <p:txBody>
          <a:bodyPr anchor="ctr" anchorCtr="0">
            <a:normAutofit/>
          </a:bodyPr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r>
              <a:rPr lang="zh-CN" altLang="en-US" dirty="0"/>
              <a:t>单击此处添加主标题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xmlns="" id="{330E0B63-DF19-3794-3DF0-9401BE50367F}"/>
              </a:ext>
            </a:extLst>
          </p:cNvPr>
          <p:cNvGrpSpPr/>
          <p:nvPr userDrawn="1"/>
        </p:nvGrpSpPr>
        <p:grpSpPr>
          <a:xfrm>
            <a:off x="11074400" y="-89836"/>
            <a:ext cx="1117600" cy="972451"/>
            <a:chOff x="4792887" y="84668"/>
            <a:chExt cx="7037850" cy="6773332"/>
          </a:xfrm>
        </p:grpSpPr>
        <p:sp>
          <p:nvSpPr>
            <p:cNvPr id="9" name="椭圆 8">
              <a:extLst>
                <a:ext uri="{FF2B5EF4-FFF2-40B4-BE49-F238E27FC236}">
                  <a16:creationId xmlns:a16="http://schemas.microsoft.com/office/drawing/2014/main" xmlns="" id="{3F370A4D-BC39-B3D9-65E0-793CBEA4D82A}"/>
                </a:ext>
              </a:extLst>
            </p:cNvPr>
            <p:cNvSpPr/>
            <p:nvPr userDrawn="1"/>
          </p:nvSpPr>
          <p:spPr>
            <a:xfrm>
              <a:off x="4792887" y="84668"/>
              <a:ext cx="7037850" cy="6773332"/>
            </a:xfrm>
            <a:prstGeom prst="ellipse">
              <a:avLst/>
            </a:prstGeom>
            <a:gradFill flip="none" rotWithShape="1">
              <a:gsLst>
                <a:gs pos="25000">
                  <a:schemeClr val="accent1">
                    <a:lumMod val="45000"/>
                    <a:lumOff val="55000"/>
                    <a:alpha val="45000"/>
                  </a:schemeClr>
                </a:gs>
                <a:gs pos="83000">
                  <a:schemeClr val="accent1">
                    <a:alpha val="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xmlns="" id="{6BF1186D-E493-415B-0DB8-79DE79037869}"/>
                </a:ext>
              </a:extLst>
            </p:cNvPr>
            <p:cNvSpPr/>
            <p:nvPr userDrawn="1"/>
          </p:nvSpPr>
          <p:spPr>
            <a:xfrm>
              <a:off x="7949863" y="3285061"/>
              <a:ext cx="2838856" cy="2950641"/>
            </a:xfrm>
            <a:prstGeom prst="ellipse">
              <a:avLst/>
            </a:prstGeom>
            <a:gradFill flip="none" rotWithShape="1">
              <a:gsLst>
                <a:gs pos="34000">
                  <a:schemeClr val="accent2">
                    <a:alpha val="34000"/>
                  </a:schemeClr>
                </a:gs>
                <a:gs pos="74000">
                  <a:schemeClr val="accent1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</p:grp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xmlns="" id="{705CAEB6-4A51-02B2-D69B-9EF3C0945242}"/>
              </a:ext>
            </a:extLst>
          </p:cNvPr>
          <p:cNvSpPr/>
          <p:nvPr userDrawn="1"/>
        </p:nvSpPr>
        <p:spPr>
          <a:xfrm>
            <a:off x="0" y="2"/>
            <a:ext cx="792480" cy="792781"/>
          </a:xfrm>
          <a:custGeom>
            <a:avLst/>
            <a:gdLst>
              <a:gd name="connsiteX0" fmla="*/ 0 w 2712356"/>
              <a:gd name="connsiteY0" fmla="*/ 0 h 2713385"/>
              <a:gd name="connsiteX1" fmla="*/ 2635987 w 2712356"/>
              <a:gd name="connsiteY1" fmla="*/ 0 h 2713385"/>
              <a:gd name="connsiteX2" fmla="*/ 2670483 w 2712356"/>
              <a:gd name="connsiteY2" fmla="*/ 139441 h 2713385"/>
              <a:gd name="connsiteX3" fmla="*/ 2712356 w 2712356"/>
              <a:gd name="connsiteY3" fmla="*/ 571172 h 2713385"/>
              <a:gd name="connsiteX4" fmla="*/ 651295 w 2712356"/>
              <a:gd name="connsiteY4" fmla="*/ 2713385 h 2713385"/>
              <a:gd name="connsiteX5" fmla="*/ 38398 w 2712356"/>
              <a:gd name="connsiteY5" fmla="*/ 2617075 h 2713385"/>
              <a:gd name="connsiteX6" fmla="*/ 0 w 2712356"/>
              <a:gd name="connsiteY6" fmla="*/ 2602468 h 2713385"/>
              <a:gd name="connsiteX7" fmla="*/ 0 w 2712356"/>
              <a:gd name="connsiteY7" fmla="*/ 0 h 2713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712356" h="2713385">
                <a:moveTo>
                  <a:pt x="0" y="0"/>
                </a:moveTo>
                <a:lnTo>
                  <a:pt x="2635987" y="0"/>
                </a:lnTo>
                <a:lnTo>
                  <a:pt x="2670483" y="139441"/>
                </a:lnTo>
                <a:cubicBezTo>
                  <a:pt x="2697938" y="278894"/>
                  <a:pt x="2712356" y="423283"/>
                  <a:pt x="2712356" y="571172"/>
                </a:cubicBezTo>
                <a:cubicBezTo>
                  <a:pt x="2712356" y="1754284"/>
                  <a:pt x="1789588" y="2713385"/>
                  <a:pt x="651295" y="2713385"/>
                </a:cubicBezTo>
                <a:cubicBezTo>
                  <a:pt x="437865" y="2713385"/>
                  <a:pt x="232012" y="2679667"/>
                  <a:pt x="38398" y="2617075"/>
                </a:cubicBezTo>
                <a:lnTo>
                  <a:pt x="0" y="2602468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86000">
                <a:srgbClr val="B1B6D1">
                  <a:alpha val="0"/>
                </a:srgbClr>
              </a:gs>
              <a:gs pos="34000">
                <a:srgbClr val="8B93C4">
                  <a:alpha val="42000"/>
                </a:srgbClr>
              </a:gs>
              <a:gs pos="79000">
                <a:schemeClr val="accent1">
                  <a:alpha val="4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A2A9F09-7DDC-32D6-81D8-6D33FC4931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401" y="1130300"/>
            <a:ext cx="10858500" cy="5003800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spcBef>
                <a:spcPts val="600"/>
              </a:spcBef>
              <a:defRPr sz="2400"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lnSpc>
                <a:spcPct val="110000"/>
              </a:lnSpc>
              <a:spcBef>
                <a:spcPts val="600"/>
              </a:spcBef>
              <a:defRPr sz="2000" baseline="0"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lnSpc>
                <a:spcPct val="110000"/>
              </a:lnSpc>
              <a:spcBef>
                <a:spcPts val="600"/>
              </a:spcBef>
              <a:defRPr sz="1800" baseline="0"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lnSpc>
                <a:spcPct val="110000"/>
              </a:lnSpc>
              <a:spcBef>
                <a:spcPts val="600"/>
              </a:spcBef>
              <a:defRPr sz="1600" baseline="0"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lnSpc>
                <a:spcPct val="110000"/>
              </a:lnSpc>
              <a:spcBef>
                <a:spcPts val="600"/>
              </a:spcBef>
              <a:defRPr sz="1600" baseline="0"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955893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5DC6DA8-D137-41D2-A934-63CB8FFB8B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altLang="zh-CN" dirty="0"/>
              <a:t>Click to edit title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CED916A-3E34-4B9E-8F9F-7A8921A30F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xmlns="" id="{8AB63B05-F6A0-3D6F-F801-8D11984D0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81C77-C049-4AAA-A3C8-544909BBB11E}" type="datetime1">
              <a:rPr>
                <a:solidFill>
                  <a:srgbClr val="2F2F2F">
                    <a:lumMod val="50000"/>
                    <a:lumOff val="50000"/>
                  </a:srgbClr>
                </a:solidFill>
              </a:rPr>
              <a:pPr/>
              <a:t>2023/11/2</a:t>
            </a:fld>
            <a:endParaRPr lang="en-US" altLang="zh-CN">
              <a:solidFill>
                <a:srgbClr val="2F2F2F">
                  <a:lumMod val="50000"/>
                  <a:lumOff val="50000"/>
                </a:srgbClr>
              </a:solidFill>
            </a:endParaRPr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xmlns="" id="{127CA976-277E-412D-DEC7-ABBF4B1C5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en-US" altLang="zh-CN">
                <a:solidFill>
                  <a:srgbClr val="2F2F2F">
                    <a:lumMod val="50000"/>
                    <a:lumOff val="50000"/>
                  </a:srgbClr>
                </a:solidFill>
              </a:rPr>
              <a:pPr/>
              <a:t>‹#›</a:t>
            </a:fld>
            <a:endParaRPr lang="en-US" altLang="zh-CN">
              <a:solidFill>
                <a:srgbClr val="2F2F2F">
                  <a:lumMod val="50000"/>
                  <a:lumOff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62654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 www.51pptmoban.c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4">
            <a:extLst>
              <a:ext uri="{FF2B5EF4-FFF2-40B4-BE49-F238E27FC236}">
                <a16:creationId xmlns:a16="http://schemas.microsoft.com/office/drawing/2014/main" xmlns="" id="{7F34B5E9-7F1A-757A-6933-C2854022C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81C77-C049-4AAA-A3C8-544909BBB11E}" type="datetime1">
              <a:rPr>
                <a:solidFill>
                  <a:srgbClr val="2F2F2F">
                    <a:lumMod val="50000"/>
                    <a:lumOff val="50000"/>
                  </a:srgbClr>
                </a:solidFill>
              </a:rPr>
              <a:pPr/>
              <a:t>2023/11/2</a:t>
            </a:fld>
            <a:endParaRPr lang="en-US" altLang="zh-CN">
              <a:solidFill>
                <a:srgbClr val="2F2F2F">
                  <a:lumMod val="50000"/>
                  <a:lumOff val="50000"/>
                </a:srgbClr>
              </a:solidFill>
            </a:endParaRP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xmlns="" id="{DED42E90-FD3D-CF04-A89E-B408C6596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>
                <a:solidFill>
                  <a:srgbClr val="2F2F2F">
                    <a:lumMod val="50000"/>
                    <a:lumOff val="50000"/>
                  </a:srgbClr>
                </a:solidFill>
              </a:rPr>
              <a:t>商务</a:t>
            </a:r>
            <a:r>
              <a:rPr lang="en-US" altLang="zh-CN">
                <a:solidFill>
                  <a:srgbClr val="2F2F2F">
                    <a:lumMod val="50000"/>
                    <a:lumOff val="50000"/>
                  </a:srgbClr>
                </a:solidFill>
              </a:rPr>
              <a:t>PPT</a:t>
            </a:r>
            <a:r>
              <a:rPr>
                <a:solidFill>
                  <a:srgbClr val="2F2F2F">
                    <a:lumMod val="50000"/>
                    <a:lumOff val="50000"/>
                  </a:srgbClr>
                </a:solidFill>
              </a:rPr>
              <a:t>模板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xmlns="" id="{BC451E9D-D337-3CDB-5813-83070E69D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en-US" altLang="zh-CN">
                <a:solidFill>
                  <a:srgbClr val="2F2F2F">
                    <a:lumMod val="50000"/>
                    <a:lumOff val="50000"/>
                  </a:srgbClr>
                </a:solidFill>
              </a:rPr>
              <a:pPr/>
              <a:t>‹#›</a:t>
            </a:fld>
            <a:endParaRPr lang="en-US" altLang="zh-CN">
              <a:solidFill>
                <a:srgbClr val="2F2F2F">
                  <a:lumMod val="50000"/>
                  <a:lumOff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29749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gradFill>
          <a:gsLst>
            <a:gs pos="41000">
              <a:schemeClr val="accent1"/>
            </a:gs>
            <a:gs pos="100000">
              <a:schemeClr val="accent1">
                <a:alpha val="90000"/>
              </a:schemeClr>
            </a:gs>
          </a:gsLst>
          <a:path path="circle">
            <a:fillToRect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xmlns="" id="{AAA98E5A-3A9B-76BC-8AC3-016C59AA4760}"/>
              </a:ext>
            </a:extLst>
          </p:cNvPr>
          <p:cNvGrpSpPr/>
          <p:nvPr userDrawn="1"/>
        </p:nvGrpSpPr>
        <p:grpSpPr>
          <a:xfrm>
            <a:off x="4643122" y="42334"/>
            <a:ext cx="7182311" cy="6773332"/>
            <a:chOff x="4648426" y="84668"/>
            <a:chExt cx="7182311" cy="6773332"/>
          </a:xfrm>
        </p:grpSpPr>
        <p:sp>
          <p:nvSpPr>
            <p:cNvPr id="3" name="椭圆 2">
              <a:extLst>
                <a:ext uri="{FF2B5EF4-FFF2-40B4-BE49-F238E27FC236}">
                  <a16:creationId xmlns:a16="http://schemas.microsoft.com/office/drawing/2014/main" xmlns="" id="{443180D6-55C2-456A-876B-6DFD6FED559E}"/>
                </a:ext>
              </a:extLst>
            </p:cNvPr>
            <p:cNvSpPr/>
            <p:nvPr userDrawn="1"/>
          </p:nvSpPr>
          <p:spPr>
            <a:xfrm>
              <a:off x="4792887" y="84668"/>
              <a:ext cx="7037850" cy="6773332"/>
            </a:xfrm>
            <a:prstGeom prst="ellipse">
              <a:avLst/>
            </a:prstGeom>
            <a:gradFill flip="none" rotWithShape="1">
              <a:gsLst>
                <a:gs pos="25000">
                  <a:schemeClr val="accent1">
                    <a:lumMod val="45000"/>
                    <a:lumOff val="55000"/>
                    <a:alpha val="45000"/>
                  </a:schemeClr>
                </a:gs>
                <a:gs pos="83000">
                  <a:schemeClr val="accent1">
                    <a:alpha val="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" name="椭圆 3">
              <a:extLst>
                <a:ext uri="{FF2B5EF4-FFF2-40B4-BE49-F238E27FC236}">
                  <a16:creationId xmlns:a16="http://schemas.microsoft.com/office/drawing/2014/main" xmlns="" id="{CCE37F71-F955-2E51-24EA-BAE38D51B2AA}"/>
                </a:ext>
              </a:extLst>
            </p:cNvPr>
            <p:cNvSpPr/>
            <p:nvPr userDrawn="1"/>
          </p:nvSpPr>
          <p:spPr>
            <a:xfrm>
              <a:off x="7949862" y="3285063"/>
              <a:ext cx="2838859" cy="2950637"/>
            </a:xfrm>
            <a:prstGeom prst="ellipse">
              <a:avLst/>
            </a:prstGeom>
            <a:gradFill flip="none" rotWithShape="1">
              <a:gsLst>
                <a:gs pos="11000">
                  <a:srgbClr val="B1B6D1">
                    <a:alpha val="0"/>
                  </a:srgbClr>
                </a:gs>
                <a:gs pos="44000">
                  <a:srgbClr val="8B93C4">
                    <a:alpha val="42000"/>
                  </a:srgbClr>
                </a:gs>
                <a:gs pos="74000">
                  <a:schemeClr val="accent1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5" name="椭圆 4">
              <a:extLst>
                <a:ext uri="{FF2B5EF4-FFF2-40B4-BE49-F238E27FC236}">
                  <a16:creationId xmlns:a16="http://schemas.microsoft.com/office/drawing/2014/main" xmlns="" id="{2863C955-22E4-E129-BD9B-0A61289448AA}"/>
                </a:ext>
              </a:extLst>
            </p:cNvPr>
            <p:cNvSpPr/>
            <p:nvPr userDrawn="1"/>
          </p:nvSpPr>
          <p:spPr>
            <a:xfrm>
              <a:off x="4648426" y="897517"/>
              <a:ext cx="1312288" cy="1363958"/>
            </a:xfrm>
            <a:prstGeom prst="ellipse">
              <a:avLst/>
            </a:prstGeom>
            <a:gradFill flip="none" rotWithShape="1">
              <a:gsLst>
                <a:gs pos="20000">
                  <a:schemeClr val="accent2">
                    <a:alpha val="36000"/>
                  </a:schemeClr>
                </a:gs>
                <a:gs pos="100000">
                  <a:schemeClr val="accent1">
                    <a:alpha val="55000"/>
                  </a:scheme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</p:grp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xmlns="" id="{9BF1409B-5AAA-AD35-F9DB-81783BA40697}"/>
              </a:ext>
            </a:extLst>
          </p:cNvPr>
          <p:cNvSpPr/>
          <p:nvPr userDrawn="1"/>
        </p:nvSpPr>
        <p:spPr>
          <a:xfrm>
            <a:off x="1" y="2"/>
            <a:ext cx="2712356" cy="2713385"/>
          </a:xfrm>
          <a:custGeom>
            <a:avLst/>
            <a:gdLst>
              <a:gd name="connsiteX0" fmla="*/ 0 w 2712356"/>
              <a:gd name="connsiteY0" fmla="*/ 0 h 2713385"/>
              <a:gd name="connsiteX1" fmla="*/ 2635987 w 2712356"/>
              <a:gd name="connsiteY1" fmla="*/ 0 h 2713385"/>
              <a:gd name="connsiteX2" fmla="*/ 2670483 w 2712356"/>
              <a:gd name="connsiteY2" fmla="*/ 139441 h 2713385"/>
              <a:gd name="connsiteX3" fmla="*/ 2712356 w 2712356"/>
              <a:gd name="connsiteY3" fmla="*/ 571172 h 2713385"/>
              <a:gd name="connsiteX4" fmla="*/ 651295 w 2712356"/>
              <a:gd name="connsiteY4" fmla="*/ 2713385 h 2713385"/>
              <a:gd name="connsiteX5" fmla="*/ 38398 w 2712356"/>
              <a:gd name="connsiteY5" fmla="*/ 2617075 h 2713385"/>
              <a:gd name="connsiteX6" fmla="*/ 0 w 2712356"/>
              <a:gd name="connsiteY6" fmla="*/ 2602468 h 2713385"/>
              <a:gd name="connsiteX7" fmla="*/ 0 w 2712356"/>
              <a:gd name="connsiteY7" fmla="*/ 0 h 2713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712356" h="2713385">
                <a:moveTo>
                  <a:pt x="0" y="0"/>
                </a:moveTo>
                <a:lnTo>
                  <a:pt x="2635987" y="0"/>
                </a:lnTo>
                <a:lnTo>
                  <a:pt x="2670483" y="139441"/>
                </a:lnTo>
                <a:cubicBezTo>
                  <a:pt x="2697938" y="278894"/>
                  <a:pt x="2712356" y="423283"/>
                  <a:pt x="2712356" y="571172"/>
                </a:cubicBezTo>
                <a:cubicBezTo>
                  <a:pt x="2712356" y="1754284"/>
                  <a:pt x="1789588" y="2713385"/>
                  <a:pt x="651295" y="2713385"/>
                </a:cubicBezTo>
                <a:cubicBezTo>
                  <a:pt x="437865" y="2713385"/>
                  <a:pt x="232012" y="2679667"/>
                  <a:pt x="38398" y="2617075"/>
                </a:cubicBezTo>
                <a:lnTo>
                  <a:pt x="0" y="2602468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86000">
                <a:srgbClr val="B1B6D1">
                  <a:alpha val="0"/>
                </a:srgbClr>
              </a:gs>
              <a:gs pos="34000">
                <a:srgbClr val="8B93C4">
                  <a:alpha val="42000"/>
                </a:srgbClr>
              </a:gs>
              <a:gs pos="79000">
                <a:schemeClr val="accent1">
                  <a:alpha val="4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0" name="Speaker Placeholder 3">
            <a:extLst>
              <a:ext uri="{FF2B5EF4-FFF2-40B4-BE49-F238E27FC236}">
                <a16:creationId xmlns:a16="http://schemas.microsoft.com/office/drawing/2014/main" xmlns="" id="{393CF57B-4E6D-EC77-AFD7-10BC4CE1EEA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0401" y="3769098"/>
            <a:ext cx="5568951" cy="296271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 algn="l">
              <a:buNone/>
              <a:defRPr lang="en-US" altLang="zh-CN" sz="2000" b="0" smtClean="0">
                <a:solidFill>
                  <a:srgbClr val="FFFFFF"/>
                </a:solidFill>
              </a:defRPr>
            </a:lvl1pPr>
            <a:lvl2pPr>
              <a:defRPr lang="en-US" altLang="zh-CN" sz="1600" smtClean="0"/>
            </a:lvl2pPr>
            <a:lvl3pPr>
              <a:defRPr lang="en-US" altLang="zh-CN" sz="1400" smtClean="0"/>
            </a:lvl3pPr>
            <a:lvl4pPr>
              <a:defRPr lang="en-US" altLang="zh-CN" sz="1200" smtClean="0"/>
            </a:lvl4pPr>
            <a:lvl5pPr>
              <a:defRPr lang="zh-CN" altLang="en-US" sz="1200"/>
            </a:lvl5pPr>
          </a:lstStyle>
          <a:p>
            <a:r>
              <a:rPr lang="zh-CN" altLang="en-US" dirty="0"/>
              <a:t>汇报人：</a:t>
            </a:r>
            <a:r>
              <a:rPr lang="en-US" altLang="zh-CN" dirty="0"/>
              <a:t>XXX</a:t>
            </a:r>
          </a:p>
        </p:txBody>
      </p:sp>
      <p:sp>
        <p:nvSpPr>
          <p:cNvPr id="11" name="Date Placeholder 4">
            <a:extLst>
              <a:ext uri="{FF2B5EF4-FFF2-40B4-BE49-F238E27FC236}">
                <a16:creationId xmlns:a16="http://schemas.microsoft.com/office/drawing/2014/main" xmlns="" id="{0491E251-5B90-7136-462F-BC5F844245A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0401" y="4174440"/>
            <a:ext cx="5568951" cy="3354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 algn="l">
              <a:buNone/>
              <a:defRPr lang="en-US" altLang="zh-CN" sz="2000" b="0" smtClean="0">
                <a:solidFill>
                  <a:srgbClr val="FFFFFF"/>
                </a:solidFill>
              </a:defRPr>
            </a:lvl1pPr>
            <a:lvl2pPr>
              <a:defRPr lang="en-US" altLang="zh-CN" sz="1600" smtClean="0"/>
            </a:lvl2pPr>
            <a:lvl3pPr>
              <a:defRPr lang="en-US" altLang="zh-CN" sz="1400" smtClean="0"/>
            </a:lvl3pPr>
            <a:lvl4pPr>
              <a:defRPr lang="en-US" altLang="zh-CN" sz="1200" smtClean="0"/>
            </a:lvl4pPr>
            <a:lvl5pPr>
              <a:defRPr lang="zh-CN" altLang="en-US" sz="1200"/>
            </a:lvl5pPr>
          </a:lstStyle>
          <a:p>
            <a:r>
              <a:rPr lang="zh-CN" altLang="en-US" dirty="0"/>
              <a:t>日期：</a:t>
            </a:r>
            <a:r>
              <a:rPr lang="en-US" altLang="zh-CN" dirty="0"/>
              <a:t>20XX</a:t>
            </a:r>
            <a:r>
              <a:rPr lang="zh-CN" altLang="en-US" dirty="0"/>
              <a:t>年</a:t>
            </a:r>
            <a:r>
              <a:rPr lang="en-US" altLang="zh-CN" dirty="0"/>
              <a:t>XX</a:t>
            </a:r>
            <a:r>
              <a:rPr lang="zh-CN" altLang="en-US" dirty="0"/>
              <a:t>月</a:t>
            </a:r>
            <a:r>
              <a:rPr lang="en-US" altLang="zh-CN" dirty="0"/>
              <a:t>XX</a:t>
            </a:r>
            <a:r>
              <a:rPr lang="zh-CN" altLang="en-US" dirty="0"/>
              <a:t>日</a:t>
            </a:r>
            <a:endParaRPr lang="en-US" altLang="en-US" dirty="0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xmlns="" id="{C2320649-ACD7-42E9-A261-E6ED46ACB4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0401" y="2753098"/>
            <a:ext cx="10858500" cy="885891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buNone/>
              <a:defRPr lang="en-US" altLang="zh-CN" sz="6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marL="457189" indent="0">
              <a:buNone/>
              <a:defRPr lang="en-US" altLang="zh-CN" smtClean="0"/>
            </a:lvl2pPr>
            <a:lvl3pPr>
              <a:defRPr lang="en-US" altLang="zh-CN" smtClean="0"/>
            </a:lvl3pPr>
            <a:lvl4pPr>
              <a:defRPr lang="en-US" altLang="zh-CN" smtClean="0"/>
            </a:lvl4pPr>
            <a:lvl5pPr>
              <a:defRPr lang="zh-CN" altLang="en-US"/>
            </a:lvl5pPr>
          </a:lstStyle>
          <a:p>
            <a:pPr marL="228594" lvl="0" indent="-228594" defTabSz="914332">
              <a:spcBef>
                <a:spcPct val="0"/>
              </a:spcBef>
            </a:pPr>
            <a:r>
              <a:rPr lang="en-US" altLang="zh-CN" dirty="0"/>
              <a:t>THANK YOU</a:t>
            </a:r>
            <a:r>
              <a:rPr lang="zh-CN" altLang="en-US" dirty="0"/>
              <a:t>！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2586872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55343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CEBBA575-D5C0-793D-9EB5-4BF72F6131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xmlns="" id="{AA8BA9DE-7463-5426-C089-D5DE20F13E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9BEDBAF9-43D9-31CF-C11D-5BD959652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1228B-0167-4061-A906-8575043315E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2023/11/2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25927729-5DE1-5955-BE9F-8F11B120E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08A15336-B2A9-DF29-984F-2A88271D0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CDCDE-2988-4CF5-8202-66A715314C09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50498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9556AB55-80C6-28AF-0C73-3819184EC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07162"/>
            <a:ext cx="10515600" cy="1009651"/>
          </a:xfrm>
        </p:spPr>
        <p:txBody>
          <a:bodyPr/>
          <a:lstStyle>
            <a:lvl1pPr>
              <a:defRPr baseline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华文琥珀" panose="0201080004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9C7469E7-ED7E-A1F2-48AF-DF31AAC064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0940"/>
            <a:ext cx="10515600" cy="4351338"/>
          </a:xfrm>
        </p:spPr>
        <p:txBody>
          <a:bodyPr/>
          <a:lstStyle>
            <a:lvl1pPr>
              <a:defRPr baseline="0">
                <a:latin typeface="Consolas" panose="020B0609020204030204" pitchFamily="49" charset="0"/>
                <a:ea typeface="微软雅黑" panose="020B0503020204020204" pitchFamily="34" charset="-122"/>
              </a:defRPr>
            </a:lvl1pPr>
            <a:lvl2pPr>
              <a:defRPr baseline="0">
                <a:latin typeface="Consolas" panose="020B0609020204030204" pitchFamily="49" charset="0"/>
                <a:ea typeface="微软雅黑" panose="020B0503020204020204" pitchFamily="34" charset="-122"/>
              </a:defRPr>
            </a:lvl2pPr>
            <a:lvl3pPr>
              <a:defRPr baseline="0">
                <a:latin typeface="Consolas" panose="020B0609020204030204" pitchFamily="49" charset="0"/>
                <a:ea typeface="微软雅黑" panose="020B0503020204020204" pitchFamily="34" charset="-122"/>
              </a:defRPr>
            </a:lvl3pPr>
            <a:lvl4pPr>
              <a:defRPr baseline="0">
                <a:latin typeface="Consolas" panose="020B0609020204030204" pitchFamily="49" charset="0"/>
                <a:ea typeface="微软雅黑" panose="020B0503020204020204" pitchFamily="34" charset="-122"/>
              </a:defRPr>
            </a:lvl4pPr>
            <a:lvl5pPr>
              <a:defRPr baseline="0">
                <a:latin typeface="Consolas" panose="020B0609020204030204" pitchFamily="49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BD54C8C0-B4E8-90DD-C729-FCF6095E7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1228B-0167-4061-A906-8575043315E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2023/11/2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A3047B1A-DA23-745E-2167-51E340BD6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844A8E2B-9E0B-8F82-47F1-FA59F47B7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CDCDE-2988-4CF5-8202-66A715314C09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xmlns="" id="{7395EF24-4D09-F51C-BC79-A3A1AD9AAF02}"/>
              </a:ext>
            </a:extLst>
          </p:cNvPr>
          <p:cNvSpPr/>
          <p:nvPr userDrawn="1"/>
        </p:nvSpPr>
        <p:spPr>
          <a:xfrm>
            <a:off x="-14515" y="-14515"/>
            <a:ext cx="12206515" cy="527861"/>
          </a:xfrm>
          <a:prstGeom prst="rect">
            <a:avLst/>
          </a:prstGeom>
          <a:solidFill>
            <a:srgbClr val="008AB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96616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E06EB28C-3F72-CDD3-5D16-1E16C588F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xmlns="" id="{FE9F744F-32A9-81DD-7628-9A7D74A23D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D4A17AC9-4374-B422-869A-1EB4A4EA8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1228B-0167-4061-A906-8575043315E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2023/11/2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CB04275A-E69C-15B3-1353-832AA7967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64532250-1E9E-9EED-08DA-B2FF0B617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CDCDE-2988-4CF5-8202-66A715314C09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0721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CC2F2AEB-03A9-6F28-C6C8-209647EB9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94100"/>
            <a:ext cx="10515600" cy="1009651"/>
          </a:xfrm>
        </p:spPr>
        <p:txBody>
          <a:bodyPr/>
          <a:lstStyle>
            <a:lvl1pPr>
              <a:defRPr baseline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华文琥珀" panose="0201080004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FA361A1F-DD24-D4DC-FDF8-14089EDC7C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04003"/>
            <a:ext cx="5181600" cy="4351338"/>
          </a:xfrm>
        </p:spPr>
        <p:txBody>
          <a:bodyPr/>
          <a:lstStyle>
            <a:lvl1pPr>
              <a:defRPr baseline="0">
                <a:latin typeface="Consolas" panose="020B0609020204030204" pitchFamily="49" charset="0"/>
                <a:ea typeface="微软雅黑" panose="020B0503020204020204" pitchFamily="34" charset="-122"/>
              </a:defRPr>
            </a:lvl1pPr>
            <a:lvl2pPr>
              <a:defRPr baseline="0">
                <a:latin typeface="Consolas" panose="020B0609020204030204" pitchFamily="49" charset="0"/>
                <a:ea typeface="微软雅黑" panose="020B0503020204020204" pitchFamily="34" charset="-122"/>
              </a:defRPr>
            </a:lvl2pPr>
            <a:lvl3pPr>
              <a:defRPr baseline="0">
                <a:latin typeface="Consolas" panose="020B0609020204030204" pitchFamily="49" charset="0"/>
                <a:ea typeface="微软雅黑" panose="020B0503020204020204" pitchFamily="34" charset="-122"/>
              </a:defRPr>
            </a:lvl3pPr>
            <a:lvl4pPr>
              <a:defRPr baseline="0">
                <a:latin typeface="Consolas" panose="020B0609020204030204" pitchFamily="49" charset="0"/>
                <a:ea typeface="微软雅黑" panose="020B0503020204020204" pitchFamily="34" charset="-122"/>
              </a:defRPr>
            </a:lvl4pPr>
            <a:lvl5pPr>
              <a:defRPr baseline="0">
                <a:latin typeface="Consolas" panose="020B0609020204030204" pitchFamily="49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xmlns="" id="{F7656781-5A02-AEE4-2F0C-71BC7C17E3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04003"/>
            <a:ext cx="5181600" cy="4351338"/>
          </a:xfrm>
        </p:spPr>
        <p:txBody>
          <a:bodyPr/>
          <a:lstStyle>
            <a:lvl1pPr>
              <a:defRPr baseline="0">
                <a:latin typeface="Consolas" panose="020B0609020204030204" pitchFamily="49" charset="0"/>
                <a:ea typeface="微软雅黑" panose="020B0503020204020204" pitchFamily="34" charset="-122"/>
              </a:defRPr>
            </a:lvl1pPr>
            <a:lvl2pPr>
              <a:defRPr baseline="0">
                <a:latin typeface="Consolas" panose="020B0609020204030204" pitchFamily="49" charset="0"/>
                <a:ea typeface="微软雅黑" panose="020B0503020204020204" pitchFamily="34" charset="-122"/>
              </a:defRPr>
            </a:lvl2pPr>
            <a:lvl3pPr>
              <a:defRPr baseline="0">
                <a:latin typeface="Consolas" panose="020B0609020204030204" pitchFamily="49" charset="0"/>
                <a:ea typeface="微软雅黑" panose="020B0503020204020204" pitchFamily="34" charset="-122"/>
              </a:defRPr>
            </a:lvl3pPr>
            <a:lvl4pPr>
              <a:defRPr baseline="0">
                <a:latin typeface="Consolas" panose="020B0609020204030204" pitchFamily="49" charset="0"/>
                <a:ea typeface="微软雅黑" panose="020B0503020204020204" pitchFamily="34" charset="-122"/>
              </a:defRPr>
            </a:lvl4pPr>
            <a:lvl5pPr>
              <a:defRPr baseline="0">
                <a:latin typeface="Consolas" panose="020B0609020204030204" pitchFamily="49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xmlns="" id="{EC676A6B-BD04-FC0B-7815-FDE87EE2B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1228B-0167-4061-A906-8575043315E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2023/11/2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xmlns="" id="{8105AC1A-94C4-EAEA-C62E-5815037B3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xmlns="" id="{1F08E0B6-FCF0-04E3-2DB1-083994606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CDCDE-2988-4CF5-8202-66A715314C09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xmlns="" id="{3EE2E404-654E-53BA-3175-C9B5BA454B94}"/>
              </a:ext>
            </a:extLst>
          </p:cNvPr>
          <p:cNvSpPr/>
          <p:nvPr userDrawn="1"/>
        </p:nvSpPr>
        <p:spPr>
          <a:xfrm>
            <a:off x="-14515" y="-14515"/>
            <a:ext cx="12206515" cy="527861"/>
          </a:xfrm>
          <a:prstGeom prst="rect">
            <a:avLst/>
          </a:prstGeom>
          <a:solidFill>
            <a:srgbClr val="008AB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41154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日期占位符 4">
            <a:extLst>
              <a:ext uri="{FF2B5EF4-FFF2-40B4-BE49-F238E27FC236}">
                <a16:creationId xmlns:a16="http://schemas.microsoft.com/office/drawing/2014/main" xmlns="" id="{E3D69607-5436-F0FA-DED8-07002860CE6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F721228B-0167-4061-A906-8575043315E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2023/11/2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4" name="页脚占位符 5">
            <a:extLst>
              <a:ext uri="{FF2B5EF4-FFF2-40B4-BE49-F238E27FC236}">
                <a16:creationId xmlns:a16="http://schemas.microsoft.com/office/drawing/2014/main" xmlns="" id="{4655A987-2DE4-FC54-5847-BE23D0223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5" name="灯片编号占位符 6">
            <a:extLst>
              <a:ext uri="{FF2B5EF4-FFF2-40B4-BE49-F238E27FC236}">
                <a16:creationId xmlns:a16="http://schemas.microsoft.com/office/drawing/2014/main" xmlns="" id="{5E083CA6-E477-D416-A40A-FBAF89E50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E7CDCDE-2988-4CF5-8202-66A715314C09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xmlns="" id="{E7CFF3F6-0C9B-E94F-D4FA-54B1D341B932}"/>
              </a:ext>
            </a:extLst>
          </p:cNvPr>
          <p:cNvSpPr/>
          <p:nvPr userDrawn="1"/>
        </p:nvSpPr>
        <p:spPr>
          <a:xfrm>
            <a:off x="-14515" y="-14515"/>
            <a:ext cx="12206515" cy="527861"/>
          </a:xfrm>
          <a:prstGeom prst="rect">
            <a:avLst/>
          </a:prstGeom>
          <a:solidFill>
            <a:srgbClr val="008AB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xmlns="" id="{1B0B87D9-628A-E922-5C1E-80B165574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07162"/>
            <a:ext cx="10515600" cy="1009651"/>
          </a:xfrm>
        </p:spPr>
        <p:txBody>
          <a:bodyPr/>
          <a:lstStyle>
            <a:lvl1pPr>
              <a:defRPr baseline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华文琥珀" panose="0201080004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1103522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C9A3916C-6DCC-ADAB-048D-325A085F6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xmlns="" id="{9D0D428C-C051-1516-AC64-652A2E7709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xmlns="" id="{7C30A199-58B7-6D42-8988-C232C6B5C6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xmlns="" id="{9E3A642A-B7BD-950D-B4AA-1BC78BF37E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xmlns="" id="{68C78E9C-6ACC-BFB0-AEF6-0FE4900E25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xmlns="" id="{05BCA8CB-91E0-37C7-25C4-A5000F57E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1228B-0167-4061-A906-8575043315E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2023/11/2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xmlns="" id="{8CDF0199-FFA2-DDDF-3BC2-D834E558F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xmlns="" id="{BAEF8192-125E-AF1A-D66A-720E8A0A4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CDCDE-2988-4CF5-8202-66A715314C09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12642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xmlns="" id="{E7C4EE6F-B252-B986-30B5-527F6480A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1228B-0167-4061-A906-8575043315E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2023/11/2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xmlns="" id="{5FFBBD3D-B7E2-1AE2-3D29-9333999AE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xmlns="" id="{5C02B4A5-B02A-7558-A812-EAF577D12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CDCDE-2988-4CF5-8202-66A715314C09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64526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E83D4D8D-4E2C-DC7C-4B4A-10A754604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9C59D91E-E9CB-6D64-B158-E14E26C7F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xmlns="" id="{E3A23590-202A-7669-3972-F438E66050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xmlns="" id="{D028CB70-BB19-BF73-2B97-62A858A1E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1228B-0167-4061-A906-8575043315E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2023/11/2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xmlns="" id="{9F0EAFB4-7671-10EC-40A1-FB6F255DD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xmlns="" id="{29FE06E8-796F-1BD2-F1C0-0CB469498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CDCDE-2988-4CF5-8202-66A715314C09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72456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74723636-5BFB-9B89-D548-478FE78DB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xmlns="" id="{28F2CC4F-F442-3901-D679-065B49663B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xmlns="" id="{DE18708A-29E4-0AB9-B3AF-45B892FE13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xmlns="" id="{BDA5FD7D-CE0A-C10C-B6E1-04C1DDA03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1228B-0167-4061-A906-8575043315E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2023/11/2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xmlns="" id="{C28E6D89-7722-3471-DDE1-CD223E223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xmlns="" id="{8282D659-EAE7-E7BE-8BC8-8699E91D0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CDCDE-2988-4CF5-8202-66A715314C09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99755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7BD22DC8-6B35-C975-22C8-B3298033D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xmlns="" id="{179F43DA-D779-A136-4325-810237DC0C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4BF5D4F0-A170-72F5-ABE2-26E8E349B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1228B-0167-4061-A906-8575043315E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2023/11/2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EE721F31-68E9-0C2C-A716-403532584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EBC5061D-50F1-263D-AB95-F04019BA8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CDCDE-2988-4CF5-8202-66A715314C09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09248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xmlns="" id="{AB6AC9B8-D5F0-84E6-669C-3B9A054F32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xmlns="" id="{8910BC7E-A149-EAAC-57ED-7996E21F66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5F1C6242-5462-E5F3-A40E-9EBCD0794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1228B-0167-4061-A906-8575043315E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2023/11/2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8BE4B585-AA73-BB44-DEB3-BB4480930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7F98AF67-4FAF-6DD6-7F23-7AA91253C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CDCDE-2988-4CF5-8202-66A715314C09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85868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83" name="Rectangle 27">
            <a:extLst>
              <a:ext uri="{FF2B5EF4-FFF2-40B4-BE49-F238E27FC236}">
                <a16:creationId xmlns:a16="http://schemas.microsoft.com/office/drawing/2014/main" xmlns="" id="{FFE563FA-4880-391C-43FD-EF34392B9FB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641600" y="4191000"/>
            <a:ext cx="7416800" cy="2209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287338" indent="-287338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4538" indent="-287338"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102000"/>
              </a:lnSpc>
              <a:spcBef>
                <a:spcPct val="20000"/>
              </a:spcBef>
              <a:buClr>
                <a:srgbClr val="808080"/>
              </a:buClr>
              <a:buSzPct val="60000"/>
            </a:pPr>
            <a:endParaRPr kumimoji="0" lang="en-GB" altLang="zh-CN" sz="1600">
              <a:solidFill>
                <a:prstClr val="black"/>
              </a:solidFill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37517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21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89307103-D92B-4D3C-B386-9FD58793C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1" y="0"/>
            <a:ext cx="10858500" cy="10287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vl="0" defTabSz="914332"/>
            <a:r>
              <a:rPr lang="en-US" altLang="zh-CN" dirty="0"/>
              <a:t>Click to edit title</a:t>
            </a:r>
            <a:endParaRPr lang="zh-CN" alt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0F8920D0-E0E5-40BB-AEDA-3D7A090924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0401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0B16C00-AE39-4635-9F10-B7233D2AC2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0401" y="6438900"/>
            <a:ext cx="3992171" cy="2159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zh-CN" altLang="en-US"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>
                <a:solidFill>
                  <a:srgbClr val="2F2F2F">
                    <a:lumMod val="50000"/>
                    <a:lumOff val="50000"/>
                  </a:srgbClr>
                </a:solidFill>
              </a:rPr>
              <a:t>商务</a:t>
            </a:r>
            <a:r>
              <a:rPr lang="en-US" altLang="zh-CN">
                <a:solidFill>
                  <a:srgbClr val="2F2F2F">
                    <a:lumMod val="50000"/>
                    <a:lumOff val="50000"/>
                  </a:srgbClr>
                </a:solidFill>
              </a:rPr>
              <a:t>PPT</a:t>
            </a:r>
            <a:r>
              <a:rPr>
                <a:solidFill>
                  <a:srgbClr val="2F2F2F">
                    <a:lumMod val="50000"/>
                    <a:lumOff val="50000"/>
                  </a:srgbClr>
                </a:solidFill>
              </a:rPr>
              <a:t>模板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C12D871-753D-4991-B44B-EFAE9F8682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504657" y="6438900"/>
            <a:ext cx="1802924" cy="2159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zh-CN" altLang="en-US" sz="1000" smtClean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22581C77-C049-4AAA-A3C8-544909BBB11E}" type="datetime1">
              <a:rPr>
                <a:solidFill>
                  <a:srgbClr val="2F2F2F">
                    <a:lumMod val="50000"/>
                    <a:lumOff val="50000"/>
                  </a:srgbClr>
                </a:solidFill>
              </a:rPr>
              <a:pPr/>
              <a:t>2023/11/2</a:t>
            </a:fld>
            <a:endParaRPr lang="en-US" altLang="zh-CN">
              <a:solidFill>
                <a:srgbClr val="2F2F2F">
                  <a:lumMod val="50000"/>
                  <a:lumOff val="50000"/>
                </a:srgb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D23E9ED-4E00-42D1-BFBF-5EBD27D298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57452" y="6438900"/>
            <a:ext cx="2661448" cy="2159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zh-CN" altLang="en-US" sz="1000" smtClean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7F65B630-C7FF-41C0-9923-C5E5E29EED81}" type="slidenum">
              <a:rPr lang="en-US" altLang="zh-CN">
                <a:solidFill>
                  <a:srgbClr val="2F2F2F">
                    <a:lumMod val="50000"/>
                    <a:lumOff val="50000"/>
                  </a:srgbClr>
                </a:solidFill>
              </a:rPr>
              <a:pPr/>
              <a:t>‹#›</a:t>
            </a:fld>
            <a:endParaRPr lang="en-US" altLang="zh-CN">
              <a:solidFill>
                <a:srgbClr val="2F2F2F">
                  <a:lumMod val="50000"/>
                  <a:lumOff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4337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hdr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lang="zh-CN" altLang="en-US"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294967295" pos="416">
          <p15:clr>
            <a:srgbClr val="F26B43"/>
          </p15:clr>
        </p15:guide>
        <p15:guide id="4294967295" pos="7256">
          <p15:clr>
            <a:srgbClr val="F26B43"/>
          </p15:clr>
        </p15:guide>
        <p15:guide id="4294967295" orient="horz" pos="648">
          <p15:clr>
            <a:srgbClr val="F26B43"/>
          </p15:clr>
        </p15:guide>
        <p15:guide id="4294967295" orient="horz" pos="712">
          <p15:clr>
            <a:srgbClr val="F26B43"/>
          </p15:clr>
        </p15:guide>
        <p15:guide id="4294967295" orient="horz" pos="3928">
          <p15:clr>
            <a:srgbClr val="F26B43"/>
          </p15:clr>
        </p15:guide>
        <p15:guide id="4294967295" orient="horz" pos="3864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xmlns="" id="{295AE4A4-62F2-5D7F-57E9-5E09F3804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xmlns="" id="{FC26869B-FDA6-3DC1-E605-151557D67C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FD968A69-93F9-9115-B417-2F030227D1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21228B-0167-4061-A906-8575043315E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2023/11/2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7780F278-07E3-D762-2656-D67508C043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BA6F7F67-2D57-182E-C174-5AAC8C4D15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7CDCDE-2988-4CF5-8202-66A715314C09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2904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82" r:id="rId12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zh/users/graphicmama-team-2641041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/>
              <a:t>第</a:t>
            </a:r>
            <a:r>
              <a:rPr lang="en-US" altLang="zh-CN" sz="4400"/>
              <a:t>8</a:t>
            </a:r>
            <a:r>
              <a:rPr lang="zh-CN" altLang="en-US" sz="4400"/>
              <a:t>讲</a:t>
            </a:r>
            <a:r>
              <a:rPr lang="en-US" altLang="zh-CN" sz="4400"/>
              <a:t>1</a:t>
            </a:r>
            <a:r>
              <a:rPr lang="zh-CN" altLang="en-US" sz="4400"/>
              <a:t> 结构化程序综合应用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xmlns="" id="{69E11691-D941-0F30-E818-72C1EA3E91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7025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A09E41DB-4D4C-BC44-A511-A65A5AF90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0012FE6C-155B-86A5-0BB4-0CC3A0E125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xmlns="" id="{AD33021C-433A-F2C4-B05C-54E0D0F820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1" y="295275"/>
            <a:ext cx="10934700" cy="5838825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xmlns="" id="{E9514D26-7D9A-EE2E-759C-78E001A2ECAE}"/>
              </a:ext>
            </a:extLst>
          </p:cNvPr>
          <p:cNvSpPr txBox="1"/>
          <p:nvPr/>
        </p:nvSpPr>
        <p:spPr>
          <a:xfrm>
            <a:off x="5864470" y="6629173"/>
            <a:ext cx="61018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>
                <a:solidFill>
                  <a:srgbClr val="2F2F2F"/>
                </a:solidFill>
              </a:rPr>
              <a:t>https://max.book118.com/html/2023/0601/6134053041005140.shtm</a:t>
            </a:r>
            <a:endParaRPr lang="zh-CN" altLang="en-US" sz="1200">
              <a:solidFill>
                <a:srgbClr val="2F2F2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13831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函数</a:t>
            </a:r>
            <a:r>
              <a:rPr lang="en-US" altLang="zh-CN"/>
              <a:t>&amp;</a:t>
            </a:r>
            <a:r>
              <a:rPr lang="zh-CN" altLang="en-US"/>
              <a:t>循环分支程序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1. </a:t>
            </a:r>
            <a:r>
              <a:rPr lang="zh-CN" altLang="en-US"/>
              <a:t>函数与循环分支的回顾</a:t>
            </a:r>
            <a:endParaRPr lang="en-US" altLang="zh-CN"/>
          </a:p>
          <a:p>
            <a:pPr lvl="1">
              <a:spcBef>
                <a:spcPts val="1200"/>
              </a:spcBef>
            </a:pPr>
            <a:r>
              <a:rPr lang="en-US" altLang="zh-CN"/>
              <a:t>(1)</a:t>
            </a:r>
            <a:r>
              <a:rPr lang="zh-CN" altLang="en-US"/>
              <a:t>函数的回顾</a:t>
            </a:r>
            <a:endParaRPr lang="en-US" altLang="zh-CN"/>
          </a:p>
          <a:p>
            <a:pPr lvl="2">
              <a:spcBef>
                <a:spcPts val="1200"/>
              </a:spcBef>
            </a:pPr>
            <a:r>
              <a:rPr lang="zh-CN" altLang="en-US"/>
              <a:t>定义方式</a:t>
            </a:r>
            <a:endParaRPr lang="en-US" altLang="zh-CN"/>
          </a:p>
          <a:p>
            <a:pPr lvl="2">
              <a:spcBef>
                <a:spcPts val="1200"/>
              </a:spcBef>
            </a:pPr>
            <a:r>
              <a:rPr lang="zh-CN" altLang="en-US"/>
              <a:t>变量的作用域</a:t>
            </a:r>
            <a:endParaRPr lang="en-US" altLang="zh-CN"/>
          </a:p>
          <a:p>
            <a:pPr lvl="2">
              <a:spcBef>
                <a:spcPts val="1200"/>
              </a:spcBef>
            </a:pPr>
            <a:r>
              <a:rPr lang="zh-CN" altLang="en-US"/>
              <a:t>不同类型的参数（值变化）</a:t>
            </a:r>
          </a:p>
          <a:p>
            <a:pPr lvl="1">
              <a:spcBef>
                <a:spcPts val="1200"/>
              </a:spcBef>
            </a:pPr>
            <a:r>
              <a:rPr lang="en-US" altLang="zh-CN"/>
              <a:t>(2)</a:t>
            </a:r>
            <a:r>
              <a:rPr lang="zh-CN" altLang="en-US"/>
              <a:t>循环</a:t>
            </a:r>
            <a:r>
              <a:rPr lang="en-US" altLang="zh-CN"/>
              <a:t>&amp;</a:t>
            </a:r>
            <a:r>
              <a:rPr lang="zh-CN" altLang="en-US"/>
              <a:t>分支的回顾</a:t>
            </a:r>
            <a:endParaRPr lang="en-US" altLang="zh-CN"/>
          </a:p>
          <a:p>
            <a:pPr lvl="2">
              <a:spcBef>
                <a:spcPts val="1200"/>
              </a:spcBef>
            </a:pPr>
            <a:r>
              <a:rPr lang="zh-CN" altLang="en-US"/>
              <a:t>循环的两种结构</a:t>
            </a:r>
            <a:endParaRPr lang="en-US" altLang="zh-CN"/>
          </a:p>
          <a:p>
            <a:pPr lvl="2">
              <a:spcBef>
                <a:spcPts val="1200"/>
              </a:spcBef>
            </a:pPr>
            <a:r>
              <a:rPr lang="zh-CN" altLang="en-US"/>
              <a:t>分支的两种模式</a:t>
            </a: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493493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函数</a:t>
            </a:r>
            <a:r>
              <a:rPr lang="en-US" altLang="zh-CN"/>
              <a:t>&amp;</a:t>
            </a:r>
            <a:r>
              <a:rPr lang="zh-CN" altLang="en-US"/>
              <a:t>循环分支程序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2. </a:t>
            </a:r>
            <a:r>
              <a:rPr lang="zh-CN" altLang="en-US"/>
              <a:t>函数与循环分支的应用案例</a:t>
            </a:r>
            <a:endParaRPr lang="en-US" altLang="zh-CN"/>
          </a:p>
          <a:p>
            <a:pPr lvl="2"/>
            <a:r>
              <a:rPr lang="zh-CN" altLang="en-US"/>
              <a:t>请定义出专门的函数，实现下述功能：</a:t>
            </a:r>
            <a:endParaRPr lang="en-US" altLang="zh-CN"/>
          </a:p>
          <a:p>
            <a:pPr lvl="1">
              <a:spcBef>
                <a:spcPts val="1200"/>
              </a:spcBef>
            </a:pPr>
            <a:r>
              <a:rPr lang="en-US" altLang="zh-CN"/>
              <a:t>(1)</a:t>
            </a:r>
            <a:r>
              <a:rPr lang="zh-CN" altLang="en-US"/>
              <a:t>求取序列数据的最大值</a:t>
            </a:r>
          </a:p>
          <a:p>
            <a:pPr lvl="1">
              <a:spcBef>
                <a:spcPts val="1200"/>
              </a:spcBef>
            </a:pPr>
            <a:r>
              <a:rPr lang="en-US" altLang="zh-CN"/>
              <a:t>(2)</a:t>
            </a:r>
            <a:r>
              <a:rPr lang="zh-CN" altLang="en-US"/>
              <a:t>求取序列数据的最小值</a:t>
            </a:r>
            <a:endParaRPr lang="en-US" altLang="zh-CN"/>
          </a:p>
          <a:p>
            <a:pPr lvl="1">
              <a:spcBef>
                <a:spcPts val="1200"/>
              </a:spcBef>
            </a:pPr>
            <a:r>
              <a:rPr lang="en-US" altLang="zh-CN"/>
              <a:t>(3)</a:t>
            </a:r>
            <a:r>
              <a:rPr lang="zh-CN" altLang="en-US"/>
              <a:t>对数据序列做选择排序</a:t>
            </a:r>
            <a:endParaRPr lang="en-US" altLang="zh-CN"/>
          </a:p>
          <a:p>
            <a:pPr lvl="1">
              <a:spcBef>
                <a:spcPts val="1200"/>
              </a:spcBef>
            </a:pPr>
            <a:r>
              <a:rPr lang="en-US" altLang="zh-CN"/>
              <a:t>(4)</a:t>
            </a:r>
            <a:r>
              <a:rPr lang="zh-CN" altLang="en-US"/>
              <a:t>对数据序列做冒泡排序</a:t>
            </a:r>
            <a:endParaRPr lang="en-US" altLang="zh-CN"/>
          </a:p>
          <a:p>
            <a:pPr lvl="1">
              <a:spcBef>
                <a:spcPts val="1200"/>
              </a:spcBef>
            </a:pPr>
            <a:r>
              <a:rPr lang="en-US" altLang="zh-CN"/>
              <a:t>(5)</a:t>
            </a:r>
            <a:r>
              <a:rPr lang="zh-CN" altLang="en-US"/>
              <a:t>对序列做优化的冒泡排序</a:t>
            </a:r>
            <a:endParaRPr lang="en-US" altLang="zh-CN"/>
          </a:p>
          <a:p>
            <a:pPr lvl="2">
              <a:spcBef>
                <a:spcPts val="1200"/>
              </a:spcBef>
            </a:pPr>
            <a:r>
              <a:rPr lang="zh-CN" altLang="en-US"/>
              <a:t>分析优化的冒泡排序在“时间复杂度”方面的优势</a:t>
            </a:r>
            <a:endParaRPr lang="en-US" altLang="zh-CN"/>
          </a:p>
          <a:p>
            <a:pPr lvl="1">
              <a:spcBef>
                <a:spcPts val="1200"/>
              </a:spcBef>
            </a:pPr>
            <a:endParaRPr lang="en-US" altLang="zh-CN"/>
          </a:p>
          <a:p>
            <a:pPr lvl="1">
              <a:spcBef>
                <a:spcPts val="1200"/>
              </a:spcBef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79357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函数</a:t>
            </a:r>
            <a:r>
              <a:rPr lang="en-US" altLang="zh-CN"/>
              <a:t>&amp;</a:t>
            </a:r>
            <a:r>
              <a:rPr lang="zh-CN" altLang="en-US"/>
              <a:t>循环分支程序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2. </a:t>
            </a:r>
            <a:r>
              <a:rPr lang="zh-CN" altLang="en-US"/>
              <a:t>函数与循环分支的应用案例</a:t>
            </a:r>
            <a:endParaRPr lang="en-US" altLang="zh-CN"/>
          </a:p>
          <a:p>
            <a:pPr lvl="1">
              <a:spcBef>
                <a:spcPts val="1200"/>
              </a:spcBef>
            </a:pPr>
            <a:r>
              <a:rPr lang="en-US" altLang="zh-CN"/>
              <a:t>(6)</a:t>
            </a:r>
            <a:r>
              <a:rPr lang="zh-CN" altLang="en-US"/>
              <a:t>计算指定整数的阶乘</a:t>
            </a:r>
            <a:endParaRPr lang="en-US" altLang="zh-CN"/>
          </a:p>
          <a:p>
            <a:pPr lvl="1">
              <a:spcBef>
                <a:spcPts val="1200"/>
              </a:spcBef>
            </a:pPr>
            <a:r>
              <a:rPr lang="en-US" altLang="zh-CN"/>
              <a:t>(7)</a:t>
            </a:r>
            <a:r>
              <a:rPr lang="zh-CN" altLang="en-US"/>
              <a:t>判断新整数是否为素数（质数）</a:t>
            </a:r>
            <a:endParaRPr lang="en-US" altLang="zh-CN"/>
          </a:p>
          <a:p>
            <a:pPr lvl="1">
              <a:spcBef>
                <a:spcPts val="1200"/>
              </a:spcBef>
            </a:pPr>
            <a:r>
              <a:rPr lang="en-US" altLang="zh-CN"/>
              <a:t>(8)</a:t>
            </a:r>
            <a:r>
              <a:rPr lang="zh-CN" altLang="en-US"/>
              <a:t>计算圆周率的值</a:t>
            </a:r>
            <a:endParaRPr lang="en-US" altLang="zh-CN"/>
          </a:p>
          <a:p>
            <a:pPr lvl="1">
              <a:spcBef>
                <a:spcPts val="1200"/>
              </a:spcBef>
            </a:pPr>
            <a:r>
              <a:rPr lang="en-US" altLang="zh-CN"/>
              <a:t>(9)</a:t>
            </a:r>
            <a:r>
              <a:rPr lang="zh-CN" altLang="en-US"/>
              <a:t>斐波那锲数列设计</a:t>
            </a: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625424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递归程序设计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1. </a:t>
            </a:r>
            <a:r>
              <a:rPr lang="zh-CN" altLang="en-US"/>
              <a:t>递归的概念</a:t>
            </a:r>
            <a:endParaRPr lang="en-US" altLang="zh-CN"/>
          </a:p>
          <a:p>
            <a:pPr lvl="1">
              <a:spcBef>
                <a:spcPts val="1200"/>
              </a:spcBef>
            </a:pPr>
            <a:r>
              <a:rPr lang="en-US" altLang="zh-CN"/>
              <a:t>(1)</a:t>
            </a:r>
            <a:r>
              <a:rPr lang="zh-CN" altLang="en-US"/>
              <a:t>什么是递归？</a:t>
            </a:r>
            <a:endParaRPr lang="en-US" altLang="zh-CN"/>
          </a:p>
          <a:p>
            <a:pPr lvl="2">
              <a:spcBef>
                <a:spcPts val="1200"/>
              </a:spcBef>
            </a:pPr>
            <a:r>
              <a:rPr lang="zh-CN" altLang="en-US"/>
              <a:t>所谓递归，就是在程序设计中，</a:t>
            </a:r>
            <a:r>
              <a:rPr lang="zh-CN" altLang="en-US">
                <a:solidFill>
                  <a:srgbClr val="FF0000"/>
                </a:solidFill>
              </a:rPr>
              <a:t>允许函数直接或间接地调用自身</a:t>
            </a:r>
            <a:r>
              <a:rPr lang="zh-CN" altLang="en-US"/>
              <a:t>。即在函数体内部有调用函数本身的语句。这就叫递归。</a:t>
            </a:r>
          </a:p>
          <a:p>
            <a:pPr lvl="2">
              <a:spcBef>
                <a:spcPts val="1200"/>
              </a:spcBef>
            </a:pPr>
            <a:r>
              <a:rPr lang="zh-CN" altLang="en-US"/>
              <a:t>递归，能把较复杂的问题归结为简单问题，摈弃复杂问题中的整体性逻辑，而只关注当前问题与其前一类似问题之间的逻辑关系，能够简化思维过程。</a:t>
            </a:r>
          </a:p>
          <a:p>
            <a:pPr lvl="1">
              <a:spcBef>
                <a:spcPts val="1200"/>
              </a:spcBef>
            </a:pPr>
            <a:r>
              <a:rPr lang="en-US" altLang="zh-CN"/>
              <a:t>(2)</a:t>
            </a:r>
            <a:r>
              <a:rPr lang="zh-CN" altLang="en-US"/>
              <a:t>递归程序的注意事项？</a:t>
            </a:r>
            <a:endParaRPr lang="en-US" altLang="zh-CN"/>
          </a:p>
          <a:p>
            <a:pPr lvl="2">
              <a:spcBef>
                <a:spcPts val="1200"/>
              </a:spcBef>
            </a:pPr>
            <a:r>
              <a:rPr lang="zh-CN" altLang="en-US"/>
              <a:t>递归程序，通常会占据大量的时间，其时间效率并不高</a:t>
            </a:r>
            <a:endParaRPr lang="en-US" altLang="zh-CN"/>
          </a:p>
          <a:p>
            <a:pPr lvl="2">
              <a:spcBef>
                <a:spcPts val="1200"/>
              </a:spcBef>
            </a:pPr>
            <a:r>
              <a:rPr lang="zh-CN" altLang="en-US"/>
              <a:t>递归程序，在层层递归的过程中，需要重复调用子函数，导致大量堆栈，会占用大量的内存</a:t>
            </a:r>
            <a:endParaRPr lang="en-US" altLang="zh-CN"/>
          </a:p>
          <a:p>
            <a:pPr lvl="2">
              <a:spcBef>
                <a:spcPts val="1200"/>
              </a:spcBef>
            </a:pPr>
            <a:r>
              <a:rPr lang="zh-CN" altLang="en-US"/>
              <a:t>在程序设计中，应尽可能减少递归程序设计</a:t>
            </a:r>
            <a:endParaRPr lang="en-US" altLang="zh-CN"/>
          </a:p>
          <a:p>
            <a:pPr lvl="2">
              <a:spcBef>
                <a:spcPts val="1200"/>
              </a:spcBef>
            </a:pPr>
            <a:r>
              <a:rPr lang="zh-CN" altLang="en-US" b="1" i="0">
                <a:solidFill>
                  <a:srgbClr val="F33B45"/>
                </a:solidFill>
                <a:effectLst/>
                <a:latin typeface="-apple-system"/>
              </a:rPr>
              <a:t>写递归的时候一定要写结束的判断</a:t>
            </a:r>
            <a:endParaRPr lang="en-US" altLang="zh-CN" b="1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xmlns="" id="{F091AD91-6496-AD4F-4D59-2BBF678FD5E6}"/>
              </a:ext>
            </a:extLst>
          </p:cNvPr>
          <p:cNvSpPr txBox="1"/>
          <p:nvPr/>
        </p:nvSpPr>
        <p:spPr>
          <a:xfrm>
            <a:off x="6633660" y="1022311"/>
            <a:ext cx="41312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>
                <a:solidFill>
                  <a:srgbClr val="2F2F2F"/>
                </a:solidFill>
              </a:rPr>
              <a:t>把处理</a:t>
            </a:r>
            <a:r>
              <a:rPr lang="en-US" altLang="zh-CN">
                <a:solidFill>
                  <a:srgbClr val="2F2F2F"/>
                </a:solidFill>
              </a:rPr>
              <a:t>n</a:t>
            </a:r>
            <a:r>
              <a:rPr lang="zh-CN" altLang="en-US">
                <a:solidFill>
                  <a:srgbClr val="2F2F2F"/>
                </a:solidFill>
              </a:rPr>
              <a:t>个的问题简化为处理</a:t>
            </a:r>
            <a:r>
              <a:rPr lang="en-US" altLang="zh-CN">
                <a:solidFill>
                  <a:srgbClr val="2F2F2F"/>
                </a:solidFill>
              </a:rPr>
              <a:t>n-1</a:t>
            </a:r>
            <a:r>
              <a:rPr lang="zh-CN" altLang="en-US">
                <a:solidFill>
                  <a:srgbClr val="2F2F2F"/>
                </a:solidFill>
              </a:rPr>
              <a:t>的问题</a:t>
            </a:r>
          </a:p>
        </p:txBody>
      </p:sp>
    </p:spTree>
    <p:extLst>
      <p:ext uri="{BB962C8B-B14F-4D97-AF65-F5344CB8AC3E}">
        <p14:creationId xmlns:p14="http://schemas.microsoft.com/office/powerpoint/2010/main" val="1847719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62DAC8B9-84EB-2A38-4AD8-2600C8CA6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汉诺塔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8195AB27-220D-1ED1-0C47-CC09622F67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xmlns="" id="{CA89A3C5-BEC2-346B-7407-532C3A414C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1092" y="1551536"/>
            <a:ext cx="8180173" cy="3754927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xmlns="" id="{7F9F75C4-1BCC-9B26-0971-391DBBA5F0A7}"/>
              </a:ext>
            </a:extLst>
          </p:cNvPr>
          <p:cNvSpPr txBox="1"/>
          <p:nvPr/>
        </p:nvSpPr>
        <p:spPr>
          <a:xfrm>
            <a:off x="6561438" y="6488668"/>
            <a:ext cx="61042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>
                <a:solidFill>
                  <a:srgbClr val="2F2F2F"/>
                </a:solidFill>
              </a:rPr>
              <a:t>https://zhuanlan.zhihu.com/p/356285179</a:t>
            </a:r>
            <a:endParaRPr lang="zh-CN" altLang="en-US">
              <a:solidFill>
                <a:srgbClr val="2F2F2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84086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67F5DFA3-B7AE-DE9E-9A69-B6A7E80BC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CC90F6E8-555F-3267-F1C2-F7B3FE52A8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xmlns="" id="{B7E0B100-FD7A-E7A6-6B71-56F0DB8144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6161388" cy="26230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xmlns="" id="{F4895BF7-FC99-D394-6F33-EF67C9D2B8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698" y="2713338"/>
            <a:ext cx="6174086" cy="264049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xmlns="" id="{9C4678A5-3D1C-9355-330E-EA61D8AD35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2318" y="0"/>
            <a:ext cx="6089682" cy="26230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xmlns="" id="{970A7452-EFD8-B6F6-CD5B-4B8E5620E9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1388" y="2721277"/>
            <a:ext cx="6209098" cy="26230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xmlns="" id="{161C9E37-167C-819F-470E-BC4E83C5D614}"/>
              </a:ext>
            </a:extLst>
          </p:cNvPr>
          <p:cNvSpPr txBox="1"/>
          <p:nvPr/>
        </p:nvSpPr>
        <p:spPr>
          <a:xfrm>
            <a:off x="57150" y="6488668"/>
            <a:ext cx="61042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>
                <a:solidFill>
                  <a:srgbClr val="2F2F2F"/>
                </a:solidFill>
              </a:rPr>
              <a:t>https://zhuanlan.zhihu.com/p/117490537</a:t>
            </a:r>
            <a:endParaRPr lang="zh-CN" altLang="en-US">
              <a:solidFill>
                <a:srgbClr val="2F2F2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28458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7DBF0C69-F87D-13F7-9BF9-DDDE476EB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C3BFE9BB-DCB5-C944-FEE6-77AFCEA3E2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458" y="1057202"/>
            <a:ext cx="10858500" cy="5003800"/>
          </a:xfrm>
        </p:spPr>
        <p:txBody>
          <a:bodyPr>
            <a:normAutofit/>
          </a:bodyPr>
          <a:lstStyle/>
          <a:p>
            <a:pPr algn="l"/>
            <a:r>
              <a:rPr lang="zh-CN" altLang="en-US" sz="2000" b="1" i="0">
                <a:solidFill>
                  <a:srgbClr val="4F4F4F"/>
                </a:solidFill>
                <a:effectLst/>
                <a:latin typeface="PingFang SC"/>
              </a:rPr>
              <a:t>递归的两个过程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sz="2000" b="0" i="0">
                <a:effectLst/>
                <a:latin typeface="-apple-system"/>
              </a:rPr>
              <a:t>首先“递归”包括两个过程：递“去”的过程，“归”回的过程！先从一个简单的递归函数讲起</a:t>
            </a:r>
          </a:p>
          <a:p>
            <a:endParaRPr lang="zh-CN" altLang="en-US" sz="200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xmlns="" id="{A5227D1B-ABF5-F9DE-9D40-27A78C453CD0}"/>
              </a:ext>
            </a:extLst>
          </p:cNvPr>
          <p:cNvSpPr txBox="1"/>
          <p:nvPr/>
        </p:nvSpPr>
        <p:spPr>
          <a:xfrm>
            <a:off x="7187609" y="4736347"/>
            <a:ext cx="4908698" cy="160043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400">
                <a:solidFill>
                  <a:srgbClr val="569CD6"/>
                </a:solidFill>
                <a:latin typeface="Consolas" panose="020B0609020204030204" pitchFamily="49" charset="0"/>
              </a:rPr>
              <a:t>def</a:t>
            </a:r>
            <a:r>
              <a:rPr lang="en-US" altLang="zh-CN" sz="1400">
                <a:solidFill>
                  <a:srgbClr val="FFFFFF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err="1">
                <a:solidFill>
                  <a:srgbClr val="DCDCAA"/>
                </a:solidFill>
                <a:latin typeface="Consolas" panose="020B0609020204030204" pitchFamily="49" charset="0"/>
              </a:rPr>
              <a:t>di_gui</a:t>
            </a:r>
            <a:r>
              <a:rPr lang="en-US" altLang="zh-CN" sz="1400">
                <a:solidFill>
                  <a:srgbClr val="FFFFFF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>
                <a:solidFill>
                  <a:srgbClr val="9CDCFE"/>
                </a:solidFill>
                <a:latin typeface="Consolas" panose="020B0609020204030204" pitchFamily="49" charset="0"/>
              </a:rPr>
              <a:t>n</a:t>
            </a:r>
            <a:r>
              <a:rPr lang="en-US" altLang="zh-CN" sz="1400">
                <a:solidFill>
                  <a:srgbClr val="FFFFFF"/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en-US" altLang="zh-CN" sz="1400">
                <a:solidFill>
                  <a:srgbClr val="FFFFFF"/>
                </a:solidFill>
                <a:latin typeface="Consolas" panose="020B0609020204030204" pitchFamily="49" charset="0"/>
              </a:rPr>
              <a:t>    </a:t>
            </a:r>
            <a:r>
              <a:rPr lang="en-US" altLang="zh-CN" sz="140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US" altLang="zh-CN" sz="1400">
                <a:solidFill>
                  <a:srgbClr val="FFFFFF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>
                <a:solidFill>
                  <a:srgbClr val="9CDCFE"/>
                </a:solidFill>
                <a:latin typeface="Consolas" panose="020B0609020204030204" pitchFamily="49" charset="0"/>
              </a:rPr>
              <a:t>n</a:t>
            </a:r>
            <a:r>
              <a:rPr lang="en-US" altLang="zh-CN" sz="1400">
                <a:solidFill>
                  <a:srgbClr val="FFFFFF"/>
                </a:solidFill>
                <a:latin typeface="Consolas" panose="020B0609020204030204" pitchFamily="49" charset="0"/>
              </a:rPr>
              <a:t>, </a:t>
            </a:r>
            <a:r>
              <a:rPr lang="en-US" altLang="zh-CN" sz="1400">
                <a:solidFill>
                  <a:srgbClr val="CE9178"/>
                </a:solidFill>
                <a:latin typeface="Consolas" panose="020B0609020204030204" pitchFamily="49" charset="0"/>
              </a:rPr>
              <a:t>"&lt;===1====&gt;"</a:t>
            </a:r>
            <a:r>
              <a:rPr lang="en-US" altLang="zh-CN" sz="1400">
                <a:solidFill>
                  <a:srgbClr val="FFFFFF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zh-CN" sz="1400">
                <a:solidFill>
                  <a:srgbClr val="FFFFFF"/>
                </a:solidFill>
                <a:latin typeface="Consolas" panose="020B0609020204030204" pitchFamily="49" charset="0"/>
              </a:rPr>
              <a:t>    </a:t>
            </a:r>
            <a:r>
              <a:rPr lang="en-US" altLang="zh-CN" sz="1400">
                <a:solidFill>
                  <a:srgbClr val="C586C0"/>
                </a:solidFill>
                <a:latin typeface="Consolas" panose="020B0609020204030204" pitchFamily="49" charset="0"/>
              </a:rPr>
              <a:t>if</a:t>
            </a:r>
            <a:r>
              <a:rPr lang="en-US" altLang="zh-CN" sz="1400">
                <a:solidFill>
                  <a:srgbClr val="FFFFFF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>
                <a:solidFill>
                  <a:srgbClr val="9CDCFE"/>
                </a:solidFill>
                <a:latin typeface="Consolas" panose="020B0609020204030204" pitchFamily="49" charset="0"/>
              </a:rPr>
              <a:t>n</a:t>
            </a:r>
            <a:r>
              <a:rPr lang="en-US" altLang="zh-CN" sz="1400">
                <a:solidFill>
                  <a:srgbClr val="FFFFFF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>
                <a:solidFill>
                  <a:srgbClr val="D4D4D4"/>
                </a:solidFill>
                <a:latin typeface="Consolas" panose="020B0609020204030204" pitchFamily="49" charset="0"/>
              </a:rPr>
              <a:t>&gt;</a:t>
            </a:r>
            <a:r>
              <a:rPr lang="en-US" altLang="zh-CN" sz="1400">
                <a:solidFill>
                  <a:srgbClr val="FFFFFF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en-US" altLang="zh-CN" sz="1400">
                <a:solidFill>
                  <a:srgbClr val="FFFFFF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altLang="zh-CN" sz="1400">
                <a:solidFill>
                  <a:srgbClr val="FFFFFF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zh-CN" sz="1400" err="1">
                <a:solidFill>
                  <a:srgbClr val="DCDCAA"/>
                </a:solidFill>
                <a:latin typeface="Consolas" panose="020B0609020204030204" pitchFamily="49" charset="0"/>
              </a:rPr>
              <a:t>di_gui</a:t>
            </a:r>
            <a:r>
              <a:rPr lang="en-US" altLang="zh-CN" sz="1400">
                <a:solidFill>
                  <a:srgbClr val="FFFFFF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>
                <a:solidFill>
                  <a:srgbClr val="9CDCFE"/>
                </a:solidFill>
                <a:latin typeface="Consolas" panose="020B0609020204030204" pitchFamily="49" charset="0"/>
              </a:rPr>
              <a:t>n</a:t>
            </a:r>
            <a:r>
              <a:rPr lang="en-US" altLang="zh-CN" sz="1400">
                <a:solidFill>
                  <a:srgbClr val="FFFFFF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>
                <a:solidFill>
                  <a:srgbClr val="D4D4D4"/>
                </a:solidFill>
                <a:latin typeface="Consolas" panose="020B0609020204030204" pitchFamily="49" charset="0"/>
              </a:rPr>
              <a:t>-</a:t>
            </a:r>
            <a:r>
              <a:rPr lang="en-US" altLang="zh-CN" sz="1400">
                <a:solidFill>
                  <a:srgbClr val="FFFFFF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US" altLang="zh-CN" sz="1400">
                <a:solidFill>
                  <a:srgbClr val="FFFFFF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zh-CN" sz="1400">
                <a:solidFill>
                  <a:srgbClr val="FFFFFF"/>
                </a:solidFill>
                <a:latin typeface="Consolas" panose="020B0609020204030204" pitchFamily="49" charset="0"/>
              </a:rPr>
              <a:t>    </a:t>
            </a:r>
            <a:r>
              <a:rPr lang="en-US" altLang="zh-CN" sz="140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US" altLang="zh-CN" sz="1400">
                <a:solidFill>
                  <a:srgbClr val="FFFFFF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>
                <a:solidFill>
                  <a:srgbClr val="9CDCFE"/>
                </a:solidFill>
                <a:latin typeface="Consolas" panose="020B0609020204030204" pitchFamily="49" charset="0"/>
              </a:rPr>
              <a:t>n</a:t>
            </a:r>
            <a:r>
              <a:rPr lang="en-US" altLang="zh-CN" sz="1400">
                <a:solidFill>
                  <a:srgbClr val="FFFFFF"/>
                </a:solidFill>
                <a:latin typeface="Consolas" panose="020B0609020204030204" pitchFamily="49" charset="0"/>
              </a:rPr>
              <a:t>, </a:t>
            </a:r>
            <a:r>
              <a:rPr lang="en-US" altLang="zh-CN" sz="1400">
                <a:solidFill>
                  <a:srgbClr val="CE9178"/>
                </a:solidFill>
                <a:latin typeface="Consolas" panose="020B0609020204030204" pitchFamily="49" charset="0"/>
              </a:rPr>
              <a:t>'&lt;===2====&gt;'</a:t>
            </a:r>
            <a:r>
              <a:rPr lang="en-US" altLang="zh-CN" sz="1400">
                <a:solidFill>
                  <a:srgbClr val="FFFFFF"/>
                </a:solidFill>
                <a:latin typeface="Consolas" panose="020B0609020204030204" pitchFamily="49" charset="0"/>
              </a:rPr>
              <a:t>)</a:t>
            </a:r>
            <a:br>
              <a:rPr lang="en-US" altLang="zh-CN" sz="1400">
                <a:solidFill>
                  <a:srgbClr val="FFFFFF"/>
                </a:solidFill>
                <a:latin typeface="Consolas" panose="020B0609020204030204" pitchFamily="49" charset="0"/>
              </a:rPr>
            </a:br>
            <a:r>
              <a:rPr lang="en-US" altLang="zh-CN" sz="1400">
                <a:solidFill>
                  <a:srgbClr val="FFFFFF"/>
                </a:solidFill>
                <a:latin typeface="Consolas" panose="020B0609020204030204" pitchFamily="49" charset="0"/>
              </a:rPr>
              <a:t/>
            </a:r>
            <a:br>
              <a:rPr lang="en-US" altLang="zh-CN" sz="1400">
                <a:solidFill>
                  <a:srgbClr val="FFFFFF"/>
                </a:solidFill>
                <a:latin typeface="Consolas" panose="020B0609020204030204" pitchFamily="49" charset="0"/>
              </a:rPr>
            </a:br>
            <a:r>
              <a:rPr lang="en-US" altLang="zh-CN" sz="1400" err="1">
                <a:solidFill>
                  <a:srgbClr val="DCDCAA"/>
                </a:solidFill>
                <a:latin typeface="Consolas" panose="020B0609020204030204" pitchFamily="49" charset="0"/>
              </a:rPr>
              <a:t>di_gui</a:t>
            </a:r>
            <a:r>
              <a:rPr lang="en-US" altLang="zh-CN" sz="1400">
                <a:solidFill>
                  <a:srgbClr val="FFFFFF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>
                <a:solidFill>
                  <a:srgbClr val="B5CEA8"/>
                </a:solidFill>
                <a:latin typeface="Consolas" panose="020B0609020204030204" pitchFamily="49" charset="0"/>
              </a:rPr>
              <a:t>5</a:t>
            </a:r>
            <a:r>
              <a:rPr lang="en-US" altLang="zh-CN" sz="1400">
                <a:solidFill>
                  <a:srgbClr val="FFFFFF"/>
                </a:solidFill>
                <a:latin typeface="Consolas" panose="020B0609020204030204" pitchFamily="49" charset="0"/>
              </a:rPr>
              <a:t>) </a:t>
            </a:r>
            <a:r>
              <a:rPr lang="en-US" altLang="zh-CN" sz="1400">
                <a:solidFill>
                  <a:srgbClr val="7CA668"/>
                </a:solidFill>
                <a:latin typeface="Consolas" panose="020B0609020204030204" pitchFamily="49" charset="0"/>
              </a:rPr>
              <a:t># </a:t>
            </a:r>
            <a:r>
              <a:rPr lang="zh-CN" altLang="en-US" sz="1400">
                <a:solidFill>
                  <a:srgbClr val="7CA668"/>
                </a:solidFill>
                <a:latin typeface="Consolas" panose="020B0609020204030204" pitchFamily="49" charset="0"/>
              </a:rPr>
              <a:t>外部调用后打印的结果是？</a:t>
            </a:r>
            <a:endParaRPr lang="zh-CN" altLang="en-US" sz="1400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xmlns="" id="{CCF4239A-4374-7C30-AFEF-0BC9F4E6054C}"/>
              </a:ext>
            </a:extLst>
          </p:cNvPr>
          <p:cNvSpPr txBox="1"/>
          <p:nvPr/>
        </p:nvSpPr>
        <p:spPr>
          <a:xfrm>
            <a:off x="624509" y="2413850"/>
            <a:ext cx="10942983" cy="21441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>
                <a:solidFill>
                  <a:srgbClr val="2F2F2F"/>
                </a:solidFill>
              </a:rPr>
              <a:t>递归的执行过程：首先，递归会执行“去”的过程，只需要满足终止条件，就会一直在函数内，带着更新的参数，调用函数自身，注意：到内部调用函数， 以下面的代码不会被执行，而是暂停阻塞；此时 随着函数每调用一次自身，还没有触发返回值和到达终止条件，等同于在原来的基础上不断“向下/向内”开辟新的内存空间，记住，每次调用一次函数，就不是处在同一空间（</a:t>
            </a:r>
            <a:r>
              <a:rPr lang="zh-CN" altLang="en-US">
                <a:solidFill>
                  <a:srgbClr val="FF0000"/>
                </a:solidFill>
              </a:rPr>
              <a:t>想象下《盗梦空间》里的情景，梦中梦，都是处于不同的空间</a:t>
            </a:r>
            <a:r>
              <a:rPr lang="zh-CN" altLang="en-US">
                <a:solidFill>
                  <a:srgbClr val="2F2F2F"/>
                </a:solidFill>
              </a:rPr>
              <a:t>）</a:t>
            </a:r>
          </a:p>
          <a:p>
            <a:pPr>
              <a:lnSpc>
                <a:spcPct val="125000"/>
              </a:lnSpc>
            </a:pPr>
            <a:endParaRPr lang="zh-CN" altLang="en-US">
              <a:solidFill>
                <a:srgbClr val="2F2F2F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xmlns="" id="{EF7B31DB-27CB-9B14-75CA-D356CEBF8377}"/>
              </a:ext>
            </a:extLst>
          </p:cNvPr>
          <p:cNvSpPr txBox="1"/>
          <p:nvPr/>
        </p:nvSpPr>
        <p:spPr>
          <a:xfrm>
            <a:off x="-170139" y="6629173"/>
            <a:ext cx="610308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>
                <a:solidFill>
                  <a:srgbClr val="2F2F2F"/>
                </a:solidFill>
              </a:rPr>
              <a:t>原文链接：</a:t>
            </a:r>
            <a:r>
              <a:rPr lang="en-US" altLang="zh-CN" sz="1200">
                <a:solidFill>
                  <a:srgbClr val="2F2F2F"/>
                </a:solidFill>
              </a:rPr>
              <a:t>https://blog.csdn.net/storyfull/article/details/102671946</a:t>
            </a:r>
            <a:endParaRPr lang="zh-CN" altLang="en-US" sz="1200">
              <a:solidFill>
                <a:srgbClr val="2F2F2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41331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0E4BEFE0-182F-7376-D3BF-CDA4ADFA7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5BA48B74-F801-6E44-45A5-52D621EB1F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644" y="4092468"/>
            <a:ext cx="10858500" cy="5003800"/>
          </a:xfrm>
        </p:spPr>
        <p:txBody>
          <a:bodyPr>
            <a:normAutofit/>
          </a:bodyPr>
          <a:lstStyle/>
          <a:p>
            <a:r>
              <a:rPr lang="zh-CN" altLang="en-US" sz="1600">
                <a:solidFill>
                  <a:srgbClr val="FF0000"/>
                </a:solidFill>
              </a:rPr>
              <a:t>什么时候“递”去的过程结束？记住有两种情况</a:t>
            </a:r>
            <a:r>
              <a:rPr lang="en-US" altLang="zh-CN" sz="1600">
                <a:solidFill>
                  <a:srgbClr val="FF0000"/>
                </a:solidFill>
              </a:rPr>
              <a:t>&gt;&gt;&gt; </a:t>
            </a:r>
            <a:r>
              <a:rPr lang="zh-CN" altLang="en-US" sz="1600">
                <a:solidFill>
                  <a:srgbClr val="FF0000"/>
                </a:solidFill>
              </a:rPr>
              <a:t>一是：当前这层空间函数全部执行结束（终止条件），二是：执行到了</a:t>
            </a:r>
            <a:r>
              <a:rPr lang="en-US" altLang="zh-CN" sz="1600">
                <a:solidFill>
                  <a:srgbClr val="FF0000"/>
                </a:solidFill>
              </a:rPr>
              <a:t>return </a:t>
            </a:r>
            <a:r>
              <a:rPr lang="zh-CN" altLang="en-US" sz="1600">
                <a:solidFill>
                  <a:srgbClr val="FF0000"/>
                </a:solidFill>
              </a:rPr>
              <a:t>返回值，直接返回</a:t>
            </a:r>
            <a:r>
              <a:rPr lang="zh-CN" altLang="en-US" sz="1600"/>
              <a:t>；</a:t>
            </a:r>
            <a:endParaRPr lang="en-US" altLang="zh-CN" sz="1600"/>
          </a:p>
          <a:p>
            <a:r>
              <a:rPr lang="zh-CN" altLang="en-US" sz="1600"/>
              <a:t>重点来理解下，首先是一，看上面的列子，例子中没有</a:t>
            </a:r>
            <a:r>
              <a:rPr lang="en-US" altLang="zh-CN" sz="1600"/>
              <a:t>return</a:t>
            </a:r>
            <a:r>
              <a:rPr lang="zh-CN" altLang="en-US" sz="1600"/>
              <a:t>，但是不断的调用后，最终还是停止了，因为最后</a:t>
            </a:r>
            <a:r>
              <a:rPr lang="en-US" altLang="zh-CN" sz="1600"/>
              <a:t>n=0</a:t>
            </a:r>
            <a:r>
              <a:rPr lang="zh-CN" altLang="en-US" sz="1600"/>
              <a:t>时，</a:t>
            </a:r>
            <a:r>
              <a:rPr lang="en-US" altLang="zh-CN" sz="1600" err="1"/>
              <a:t>di_gi</a:t>
            </a:r>
            <a:r>
              <a:rPr lang="en-US" altLang="zh-CN" sz="1600"/>
              <a:t>(0)</a:t>
            </a:r>
            <a:r>
              <a:rPr lang="zh-CN" altLang="en-US" sz="1600"/>
              <a:t>还是去调用，从上往下执行时，遇到</a:t>
            </a:r>
            <a:r>
              <a:rPr lang="en-US" altLang="zh-CN" sz="1600"/>
              <a:t>if n&gt;0 </a:t>
            </a:r>
            <a:r>
              <a:rPr lang="zh-CN" altLang="en-US" sz="1600"/>
              <a:t>它被终止了，走不下去了，表明，自己能到达的这层空间已经全部执行完毕；接下来请原地返回吧，返回到哪里？返回到函数的调用者，好我们返回到 </a:t>
            </a:r>
            <a:r>
              <a:rPr lang="en-US" altLang="zh-CN" sz="1600" err="1"/>
              <a:t>di_gui</a:t>
            </a:r>
            <a:r>
              <a:rPr lang="en-US" altLang="zh-CN" sz="1600"/>
              <a:t>(0)</a:t>
            </a:r>
            <a:r>
              <a:rPr lang="zh-CN" altLang="en-US" sz="1600"/>
              <a:t>，把“到内部调用函数” 以下的代码全部执行完；执行完，看代码走到末尾，以为走出了最外层函数？注意了，此时它所处的空间并不是最外层哦，因为之前它被调用就在空间里面，所以回到的是 </a:t>
            </a:r>
            <a:r>
              <a:rPr lang="en-US" altLang="zh-CN" sz="1600" err="1"/>
              <a:t>di_gui</a:t>
            </a:r>
            <a:r>
              <a:rPr lang="en-US" altLang="zh-CN" sz="1600"/>
              <a:t>(1)</a:t>
            </a:r>
            <a:r>
              <a:rPr lang="zh-CN" altLang="en-US" sz="1600"/>
              <a:t>的这一层空间，现在才是真正的开始“回”，所以继续把</a:t>
            </a:r>
            <a:r>
              <a:rPr lang="en-US" altLang="zh-CN" sz="1600" err="1"/>
              <a:t>di_gui</a:t>
            </a:r>
            <a:r>
              <a:rPr lang="en-US" altLang="zh-CN" sz="1600"/>
              <a:t>(1)</a:t>
            </a:r>
            <a:r>
              <a:rPr lang="zh-CN" altLang="en-US" sz="1600"/>
              <a:t>的这一层空间，“到内部调用函数”以下的代码全部执行完，回到</a:t>
            </a:r>
            <a:r>
              <a:rPr lang="en-US" altLang="zh-CN" sz="1600" err="1"/>
              <a:t>di_gui</a:t>
            </a:r>
            <a:r>
              <a:rPr lang="en-US" altLang="zh-CN" sz="1600"/>
              <a:t>(2)</a:t>
            </a:r>
            <a:r>
              <a:rPr lang="zh-CN" altLang="en-US" sz="1600"/>
              <a:t>的这一层空间</a:t>
            </a:r>
            <a:r>
              <a:rPr lang="en-US" altLang="zh-CN" sz="1600"/>
              <a:t>…</a:t>
            </a:r>
            <a:r>
              <a:rPr lang="zh-CN" altLang="en-US" sz="1600"/>
              <a:t>直到到达最开始从外部调用，让参数</a:t>
            </a:r>
            <a:r>
              <a:rPr lang="en-US" altLang="zh-CN" sz="1600"/>
              <a:t>5</a:t>
            </a:r>
            <a:r>
              <a:rPr lang="zh-CN" altLang="en-US" sz="1600"/>
              <a:t>进入的最外层空间位置，才走出来！表示</a:t>
            </a:r>
            <a:r>
              <a:rPr lang="en-US" altLang="zh-CN" sz="1600"/>
              <a:t>《</a:t>
            </a:r>
            <a:r>
              <a:rPr lang="zh-CN" altLang="en-US" sz="1600"/>
              <a:t>盗梦空间</a:t>
            </a:r>
            <a:r>
              <a:rPr lang="en-US" altLang="zh-CN" sz="1600"/>
              <a:t>》</a:t>
            </a:r>
            <a:r>
              <a:rPr lang="zh-CN" altLang="en-US" sz="1600"/>
              <a:t>里，柯布醒了！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xmlns="" id="{E3364E5C-CB45-7D70-BA17-C5020B0051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067" y="965516"/>
            <a:ext cx="10629900" cy="295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7931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FA6AD88C-A80D-11CE-4748-D9F267D7B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BEEEEBF1-394A-9912-037E-7A09EC1EBD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5244867"/>
            <a:ext cx="10858500" cy="346529"/>
          </a:xfrm>
        </p:spPr>
        <p:txBody>
          <a:bodyPr>
            <a:normAutofit/>
          </a:bodyPr>
          <a:lstStyle/>
          <a:p>
            <a:r>
              <a:rPr lang="zh-CN" altLang="en-US" sz="1400" b="0" i="0">
                <a:solidFill>
                  <a:srgbClr val="4D4D4D"/>
                </a:solidFill>
                <a:effectLst/>
                <a:latin typeface="-apple-system"/>
              </a:rPr>
              <a:t>回来看下，代码输出的结果：</a:t>
            </a:r>
            <a:r>
              <a:rPr lang="en-US" altLang="zh-CN" sz="1400" b="0" i="0">
                <a:solidFill>
                  <a:srgbClr val="4D4D4D"/>
                </a:solidFill>
                <a:effectLst/>
                <a:latin typeface="-apple-system"/>
              </a:rPr>
              <a:t>5 4 3 2 1 </a:t>
            </a:r>
            <a:r>
              <a:rPr lang="en-US" altLang="zh-CN" sz="1400" b="1" i="0">
                <a:solidFill>
                  <a:srgbClr val="4D4D4D"/>
                </a:solidFill>
                <a:effectLst/>
                <a:latin typeface="-apple-system"/>
              </a:rPr>
              <a:t>00</a:t>
            </a:r>
            <a:r>
              <a:rPr lang="zh-CN" altLang="en-US" sz="1400" b="0" i="0">
                <a:solidFill>
                  <a:srgbClr val="4D4D4D"/>
                </a:solidFill>
                <a:effectLst/>
                <a:latin typeface="-apple-system"/>
              </a:rPr>
              <a:t> </a:t>
            </a:r>
            <a:r>
              <a:rPr lang="en-US" altLang="zh-CN" sz="1400" b="0" i="0">
                <a:solidFill>
                  <a:srgbClr val="4D4D4D"/>
                </a:solidFill>
                <a:effectLst/>
                <a:latin typeface="-apple-system"/>
              </a:rPr>
              <a:t>1 2 3 4 5 </a:t>
            </a:r>
            <a:r>
              <a:rPr lang="zh-CN" altLang="en-US" sz="1400" b="0" i="0">
                <a:solidFill>
                  <a:srgbClr val="4D4D4D"/>
                </a:solidFill>
                <a:effectLst/>
                <a:latin typeface="-apple-system"/>
              </a:rPr>
              <a:t>（ 注意</a:t>
            </a:r>
            <a:r>
              <a:rPr lang="en-US" altLang="zh-CN" sz="1400" b="0" i="0">
                <a:solidFill>
                  <a:srgbClr val="4D4D4D"/>
                </a:solidFill>
                <a:effectLst/>
                <a:latin typeface="-apple-system"/>
              </a:rPr>
              <a:t>00</a:t>
            </a:r>
            <a:r>
              <a:rPr lang="zh-CN" altLang="en-US" sz="1400" b="0" i="0">
                <a:solidFill>
                  <a:srgbClr val="4D4D4D"/>
                </a:solidFill>
                <a:effectLst/>
                <a:latin typeface="-apple-system"/>
              </a:rPr>
              <a:t>这两个是在同一层空间）</a:t>
            </a:r>
            <a:endParaRPr lang="zh-CN" altLang="en-US" sz="140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xmlns="" id="{50E15A63-5ED5-8066-75F7-3CCD0AC370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2127" y="3149969"/>
            <a:ext cx="4889873" cy="3708031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xmlns="" id="{D203B526-4666-1FA4-5D07-9997490CCAF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3259"/>
          <a:stretch/>
        </p:blipFill>
        <p:spPr>
          <a:xfrm>
            <a:off x="0" y="-30161"/>
            <a:ext cx="7968343" cy="345916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xmlns="" id="{DFE61772-63C9-D2E8-189F-55B5E47E25F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991"/>
          <a:stretch/>
        </p:blipFill>
        <p:spPr>
          <a:xfrm>
            <a:off x="8892806" y="0"/>
            <a:ext cx="2638793" cy="281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21908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D22F3C3A-A711-59DA-66D9-F4639FBF4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7A3208F3-16AD-F566-7C4B-C2B43758CC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000" b="0" i="0">
                <a:effectLst/>
                <a:latin typeface="-apple-system"/>
              </a:rPr>
              <a:t>解释含有 </a:t>
            </a:r>
            <a:r>
              <a:rPr lang="en-US" altLang="zh-CN" sz="2000" b="0" i="0">
                <a:effectLst/>
                <a:latin typeface="-apple-system"/>
              </a:rPr>
              <a:t>return </a:t>
            </a:r>
            <a:r>
              <a:rPr lang="zh-CN" altLang="en-US" sz="2000" b="0" i="0">
                <a:effectLst/>
                <a:latin typeface="-apple-system"/>
              </a:rPr>
              <a:t>返回值的递归，记住 </a:t>
            </a:r>
            <a:r>
              <a:rPr lang="en-US" altLang="zh-CN" sz="2000" b="0" i="0">
                <a:effectLst/>
                <a:latin typeface="-apple-system"/>
              </a:rPr>
              <a:t>return</a:t>
            </a:r>
            <a:r>
              <a:rPr lang="zh-CN" altLang="en-US" sz="2000" b="0" i="0">
                <a:effectLst/>
                <a:latin typeface="-apple-system"/>
              </a:rPr>
              <a:t>的返回流程是：</a:t>
            </a:r>
            <a:r>
              <a:rPr lang="zh-CN" altLang="en-US" sz="2000" b="1" i="0">
                <a:effectLst/>
                <a:latin typeface="-apple-system"/>
              </a:rPr>
              <a:t>先计算，再返回</a:t>
            </a:r>
            <a:r>
              <a:rPr lang="zh-CN" altLang="en-US" sz="2000" b="0" i="0">
                <a:effectLst/>
                <a:latin typeface="-apple-system"/>
              </a:rPr>
              <a:t> ，一段求阶乘的代码：</a:t>
            </a:r>
          </a:p>
          <a:p>
            <a:endParaRPr lang="zh-CN" altLang="en-US" sz="200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xmlns="" id="{D340A46A-C426-3A04-C5FC-34910480F3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01" y="2114935"/>
            <a:ext cx="5005601" cy="204239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xmlns="" id="{AA49B91A-9A59-4032-A6F8-88A2F8E989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9482" y="1693339"/>
            <a:ext cx="5599495" cy="4186456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xmlns="" id="{27CA8B69-52B7-F8EE-48B5-8D511780DE44}"/>
              </a:ext>
            </a:extLst>
          </p:cNvPr>
          <p:cNvSpPr txBox="1"/>
          <p:nvPr/>
        </p:nvSpPr>
        <p:spPr>
          <a:xfrm>
            <a:off x="46856" y="5298889"/>
            <a:ext cx="610262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>
                <a:solidFill>
                  <a:srgbClr val="2F2F2F"/>
                </a:solidFill>
              </a:rPr>
              <a:t>return </a:t>
            </a:r>
            <a:r>
              <a:rPr lang="zh-CN" altLang="en-US">
                <a:solidFill>
                  <a:srgbClr val="2F2F2F"/>
                </a:solidFill>
              </a:rPr>
              <a:t>是返回到函数调用者，递归函数和普通函数也是一样的，所以递归最后一层空间走到尽头（一是：指向完毕，二是：遇到</a:t>
            </a:r>
            <a:r>
              <a:rPr lang="en-US" altLang="zh-CN">
                <a:solidFill>
                  <a:srgbClr val="2F2F2F"/>
                </a:solidFill>
              </a:rPr>
              <a:t>return</a:t>
            </a:r>
            <a:r>
              <a:rPr lang="zh-CN" altLang="en-US">
                <a:solidFill>
                  <a:srgbClr val="2F2F2F"/>
                </a:solidFill>
              </a:rPr>
              <a:t>，回顾一下而已）遇到</a:t>
            </a:r>
            <a:r>
              <a:rPr lang="en-US" altLang="zh-CN">
                <a:solidFill>
                  <a:srgbClr val="2F2F2F"/>
                </a:solidFill>
              </a:rPr>
              <a:t>return</a:t>
            </a:r>
            <a:r>
              <a:rPr lang="zh-CN" altLang="en-US">
                <a:solidFill>
                  <a:srgbClr val="2F2F2F"/>
                </a:solidFill>
              </a:rPr>
              <a:t>，就要开始返回了，返回到它的调用者（即是阻塞的位置），直到回到最外层空间</a:t>
            </a:r>
          </a:p>
        </p:txBody>
      </p:sp>
    </p:spTree>
    <p:extLst>
      <p:ext uri="{BB962C8B-B14F-4D97-AF65-F5344CB8AC3E}">
        <p14:creationId xmlns:p14="http://schemas.microsoft.com/office/powerpoint/2010/main" val="27685013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递归程序设计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2. </a:t>
            </a:r>
            <a:r>
              <a:rPr lang="zh-CN" altLang="en-US"/>
              <a:t>递归的应用实例</a:t>
            </a:r>
            <a:endParaRPr lang="en-US" altLang="zh-CN"/>
          </a:p>
          <a:p>
            <a:pPr lvl="1">
              <a:spcBef>
                <a:spcPts val="1200"/>
              </a:spcBef>
            </a:pPr>
            <a:r>
              <a:rPr lang="en-US" altLang="zh-CN"/>
              <a:t>(1)</a:t>
            </a:r>
            <a:r>
              <a:rPr lang="zh-CN" altLang="en-US"/>
              <a:t>递归方式计算阶乘</a:t>
            </a:r>
            <a:endParaRPr lang="en-US" altLang="zh-CN"/>
          </a:p>
          <a:p>
            <a:pPr lvl="1">
              <a:spcBef>
                <a:spcPts val="1200"/>
              </a:spcBef>
            </a:pPr>
            <a:r>
              <a:rPr lang="en-US" altLang="zh-CN"/>
              <a:t>(2)</a:t>
            </a:r>
            <a:r>
              <a:rPr lang="zh-CN" altLang="en-US"/>
              <a:t>斐波那锲数列设计</a:t>
            </a:r>
            <a:endParaRPr lang="en-US" altLang="zh-CN"/>
          </a:p>
          <a:p>
            <a:pPr lvl="1">
              <a:spcBef>
                <a:spcPts val="1200"/>
              </a:spcBef>
            </a:pPr>
            <a:r>
              <a:rPr lang="en-US" altLang="zh-CN"/>
              <a:t>(3)</a:t>
            </a:r>
            <a:r>
              <a:rPr lang="zh-CN" altLang="en-US"/>
              <a:t>递归程序在数列中的用法</a:t>
            </a:r>
            <a:endParaRPr lang="en-US" altLang="zh-CN"/>
          </a:p>
          <a:p>
            <a:pPr lvl="1">
              <a:spcBef>
                <a:spcPts val="1200"/>
              </a:spcBef>
            </a:pPr>
            <a:r>
              <a:rPr lang="en-US" altLang="zh-CN"/>
              <a:t>(4)</a:t>
            </a:r>
            <a:r>
              <a:rPr lang="zh-CN" altLang="en-US">
                <a:effectLst/>
              </a:rPr>
              <a:t>利用递归穷举</a:t>
            </a:r>
            <a:r>
              <a:rPr lang="en-US" altLang="zh-CN">
                <a:effectLst/>
              </a:rPr>
              <a:t>n</a:t>
            </a:r>
            <a:r>
              <a:rPr lang="zh-CN" altLang="en-US">
                <a:effectLst/>
              </a:rPr>
              <a:t>个字母的排列方式</a:t>
            </a:r>
            <a:endParaRPr lang="en-US" altLang="zh-CN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xmlns="" id="{23B7F004-F82E-7C25-D893-E3D7CD252F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792" y="4712441"/>
            <a:ext cx="5700742" cy="2055232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xmlns="" id="{1C8F4FF6-BFC8-89E6-8271-7C231692E6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3806" y="8999"/>
            <a:ext cx="5611704" cy="2573139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xmlns="" id="{57CEFD6C-3387-9426-BC14-3A01DBFF82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3806" y="3248676"/>
            <a:ext cx="5768194" cy="3600325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xmlns="" id="{060509A6-9F4B-09ED-A0F3-44543D60CBCD}"/>
              </a:ext>
            </a:extLst>
          </p:cNvPr>
          <p:cNvSpPr txBox="1"/>
          <p:nvPr/>
        </p:nvSpPr>
        <p:spPr>
          <a:xfrm>
            <a:off x="4132253" y="1720890"/>
            <a:ext cx="135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rgbClr val="FF0000"/>
                </a:solidFill>
              </a:rPr>
              <a:t>N!=n*(n-1)!</a:t>
            </a:r>
            <a:endParaRPr lang="zh-CN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75787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xmlns="" id="{4B6C541C-1831-78B5-F2A2-72E80CEBB60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/>
              <a:t>THANK YOU !</a:t>
            </a:r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869252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/>
              <a:t>第</a:t>
            </a:r>
            <a:r>
              <a:rPr lang="en-US" altLang="zh-CN" sz="4400"/>
              <a:t>8</a:t>
            </a:r>
            <a:r>
              <a:rPr lang="zh-CN" altLang="en-US" sz="4400"/>
              <a:t>讲</a:t>
            </a:r>
            <a:r>
              <a:rPr lang="en-US" altLang="zh-CN" sz="4400"/>
              <a:t>2</a:t>
            </a:r>
            <a:r>
              <a:rPr lang="zh-CN" altLang="en-US" sz="4400"/>
              <a:t> 面向对象程序的概念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xmlns="" id="{AB1C2DF3-D91E-C7CF-7C02-9149C700A3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13187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3F1CE930-5313-5D43-A881-21BC2668A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1E3B01AB-5FA8-4995-93B7-60436BC806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xmlns="" id="{38B77430-46AA-5DF5-4FDB-C71E8CA17B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099" y="234095"/>
            <a:ext cx="10715625" cy="6143625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xmlns="" id="{ADE6735B-1E30-3B42-748A-DB10976BAD16}"/>
              </a:ext>
            </a:extLst>
          </p:cNvPr>
          <p:cNvSpPr txBox="1"/>
          <p:nvPr/>
        </p:nvSpPr>
        <p:spPr>
          <a:xfrm>
            <a:off x="6178062" y="6550223"/>
            <a:ext cx="581171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>
                <a:solidFill>
                  <a:srgbClr val="2F2F2F"/>
                </a:solidFill>
              </a:rPr>
              <a:t>https://max.book118.com/html/2023/0601/6134053041005140.shtm</a:t>
            </a:r>
            <a:endParaRPr lang="zh-CN" altLang="en-US" sz="1400">
              <a:solidFill>
                <a:srgbClr val="2F2F2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56007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00F775D8-8AD6-98D0-980C-A43B48C92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BD578AE7-AFB1-3B4F-25D7-C5ABBA5F5F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xmlns="" id="{3DB12815-2CFA-066C-D457-7B3395AFEA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" y="276225"/>
            <a:ext cx="10896600" cy="6305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63786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BAD162F0-2175-84E9-2387-55F669162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3018" y="-249768"/>
            <a:ext cx="10515600" cy="1009651"/>
          </a:xfrm>
        </p:spPr>
        <p:txBody>
          <a:bodyPr>
            <a:normAutofit/>
          </a:bodyPr>
          <a:lstStyle/>
          <a:p>
            <a:r>
              <a:rPr lang="zh-CN" altLang="en-US" sz="3600">
                <a:solidFill>
                  <a:schemeClr val="bg1"/>
                </a:solidFill>
              </a:rPr>
              <a:t>创建</a:t>
            </a:r>
            <a:r>
              <a:rPr lang="zh-CN" altLang="en-US" sz="3600" dirty="0">
                <a:solidFill>
                  <a:schemeClr val="bg1"/>
                </a:solidFill>
              </a:rPr>
              <a:t>和使用类</a:t>
            </a:r>
            <a:endParaRPr lang="en-US" altLang="zh-CN" sz="3600" dirty="0">
              <a:solidFill>
                <a:schemeClr val="bg1"/>
              </a:solidFill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0E2FC508-1AFD-A957-52F2-FA1DEF2A9D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3018" y="676807"/>
            <a:ext cx="10515600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25000"/>
              </a:lnSpc>
              <a:buNone/>
            </a:pPr>
            <a:r>
              <a:rPr lang="zh-CN" altLang="en-US" sz="2000" dirty="0"/>
              <a:t>使用类几乎可以模拟任何东西，例如一个表示小狗的简单类。</a:t>
            </a:r>
            <a:endParaRPr lang="en-US" altLang="zh-CN" sz="2000" dirty="0"/>
          </a:p>
          <a:p>
            <a:pPr marL="0" indent="0">
              <a:lnSpc>
                <a:spcPct val="125000"/>
              </a:lnSpc>
              <a:buNone/>
            </a:pPr>
            <a:r>
              <a:rPr lang="zh-CN" altLang="en-US" sz="2000" dirty="0"/>
              <a:t>为了创建这样一个简单类，我们需要找找</a:t>
            </a:r>
            <a:r>
              <a:rPr lang="zh-CN" altLang="en-US" sz="2000" dirty="0">
                <a:solidFill>
                  <a:srgbClr val="FF0000"/>
                </a:solidFill>
              </a:rPr>
              <a:t>小狗们</a:t>
            </a:r>
            <a:r>
              <a:rPr lang="zh-CN" altLang="en-US" sz="2000" dirty="0"/>
              <a:t>的</a:t>
            </a:r>
            <a:r>
              <a:rPr lang="zh-CN" altLang="en-US" sz="2000" b="1" dirty="0">
                <a:solidFill>
                  <a:srgbClr val="FF0000"/>
                </a:solidFill>
              </a:rPr>
              <a:t>共性</a:t>
            </a:r>
            <a:r>
              <a:rPr lang="zh-CN" altLang="en-US" sz="2000" dirty="0"/>
              <a:t>，比如说大多数宠物狗都有</a:t>
            </a:r>
            <a:r>
              <a:rPr lang="zh-CN" altLang="en-US" sz="2000" dirty="0">
                <a:solidFill>
                  <a:srgbClr val="FF0000"/>
                </a:solidFill>
              </a:rPr>
              <a:t>名字</a:t>
            </a:r>
            <a:r>
              <a:rPr lang="zh-CN" altLang="en-US" sz="2000" dirty="0"/>
              <a:t>和</a:t>
            </a:r>
            <a:r>
              <a:rPr lang="zh-CN" altLang="en-US" sz="2000" dirty="0">
                <a:solidFill>
                  <a:srgbClr val="FF0000"/>
                </a:solidFill>
              </a:rPr>
              <a:t>年龄</a:t>
            </a:r>
            <a:r>
              <a:rPr lang="zh-CN" altLang="en-US" sz="2000" dirty="0"/>
              <a:t>，同时我们假设它们都会</a:t>
            </a:r>
            <a:r>
              <a:rPr lang="zh-CN" altLang="en-US" sz="2000" dirty="0">
                <a:solidFill>
                  <a:srgbClr val="FF0000"/>
                </a:solidFill>
              </a:rPr>
              <a:t>坐下</a:t>
            </a:r>
            <a:r>
              <a:rPr lang="zh-CN" altLang="en-US" sz="2000" dirty="0"/>
              <a:t>和</a:t>
            </a:r>
            <a:r>
              <a:rPr lang="zh-CN" altLang="en-US" sz="2000">
                <a:solidFill>
                  <a:srgbClr val="FF0000"/>
                </a:solidFill>
              </a:rPr>
              <a:t>打滚</a:t>
            </a:r>
            <a:r>
              <a:rPr lang="zh-CN" altLang="en-US" sz="2000"/>
              <a:t>。</a:t>
            </a:r>
            <a:endParaRPr lang="en-US" altLang="zh-CN" sz="2000"/>
          </a:p>
          <a:p>
            <a:pPr marL="0" indent="0">
              <a:lnSpc>
                <a:spcPct val="125000"/>
              </a:lnSpc>
              <a:buNone/>
            </a:pPr>
            <a:r>
              <a:rPr lang="zh-CN" altLang="en-US" sz="2000"/>
              <a:t>接下来我们将创建的 </a:t>
            </a:r>
            <a:r>
              <a:rPr lang="en-US" altLang="zh-CN" sz="2000"/>
              <a:t>Dog </a:t>
            </a:r>
            <a:r>
              <a:rPr lang="zh-CN" altLang="en-US" sz="2000"/>
              <a:t>类，会包含上述</a:t>
            </a:r>
            <a:r>
              <a:rPr lang="zh-CN" altLang="en-US" sz="2000">
                <a:highlight>
                  <a:srgbClr val="F6E979"/>
                </a:highlight>
              </a:rPr>
              <a:t>两项信息和两种行为</a:t>
            </a:r>
            <a:r>
              <a:rPr lang="zh-CN" altLang="en-US" sz="2000"/>
              <a:t>，通过这个类，</a:t>
            </a:r>
            <a:r>
              <a:rPr lang="en-US" altLang="zh-CN" sz="2000"/>
              <a:t>Python </a:t>
            </a:r>
            <a:r>
              <a:rPr lang="zh-CN" altLang="en-US" sz="2000"/>
              <a:t>能让知道如何创建表示小狗的实例对象。</a:t>
            </a:r>
            <a:endParaRPr lang="en-US" altLang="zh-CN" sz="2000"/>
          </a:p>
          <a:p>
            <a:pPr marL="0" indent="0">
              <a:lnSpc>
                <a:spcPct val="125000"/>
              </a:lnSpc>
              <a:buNone/>
            </a:pPr>
            <a:endParaRPr lang="en-US" altLang="zh-CN" sz="2000" dirty="0"/>
          </a:p>
        </p:txBody>
      </p:sp>
      <p:pic>
        <p:nvPicPr>
          <p:cNvPr id="13" name="图片 12">
            <a:hlinkClick r:id="rId3"/>
            <a:extLst>
              <a:ext uri="{FF2B5EF4-FFF2-40B4-BE49-F238E27FC236}">
                <a16:creationId xmlns:a16="http://schemas.microsoft.com/office/drawing/2014/main" xmlns="" id="{BB59B60C-3A60-3044-AF9D-5917562919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397" y="3543728"/>
            <a:ext cx="4431519" cy="215629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xmlns="" id="{0345D977-AAB3-6E78-4EBF-EFB77F8CCDAC}"/>
              </a:ext>
            </a:extLst>
          </p:cNvPr>
          <p:cNvSpPr txBox="1"/>
          <p:nvPr/>
        </p:nvSpPr>
        <p:spPr>
          <a:xfrm>
            <a:off x="6103088" y="2852476"/>
            <a:ext cx="5834119" cy="378565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rgbClr val="9E58A3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class </a:t>
            </a:r>
            <a:r>
              <a:rPr lang="en-US" altLang="zh-CN" sz="1600" b="1" dirty="0">
                <a:solidFill>
                  <a:srgbClr val="333333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Dog</a:t>
            </a:r>
            <a:r>
              <a:rPr lang="en-US" altLang="zh-CN" sz="1600" b="1" dirty="0">
                <a:solidFill>
                  <a:srgbClr val="A71D5D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:</a:t>
            </a:r>
            <a:br>
              <a:rPr lang="en-US" altLang="zh-CN" sz="1600" b="1" dirty="0">
                <a:solidFill>
                  <a:srgbClr val="A71D5D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</a:br>
            <a:r>
              <a:rPr lang="en-US" altLang="zh-CN" sz="1600" b="1" dirty="0">
                <a:solidFill>
                  <a:srgbClr val="A71D5D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   </a:t>
            </a:r>
            <a:r>
              <a:rPr lang="en-US" altLang="zh-CN" sz="1600" b="1" dirty="0">
                <a:solidFill>
                  <a:srgbClr val="969896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"""</a:t>
            </a:r>
            <a:r>
              <a:rPr lang="zh-CN" altLang="en-US" sz="1600" b="1" dirty="0">
                <a:solidFill>
                  <a:srgbClr val="969896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一次模拟小狗的简单尝试</a:t>
            </a:r>
            <a:r>
              <a:rPr lang="en-US" altLang="zh-CN" sz="1600" b="1" dirty="0">
                <a:solidFill>
                  <a:srgbClr val="969896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"""</a:t>
            </a:r>
            <a:br>
              <a:rPr lang="en-US" altLang="zh-CN" sz="1600" b="1" dirty="0">
                <a:solidFill>
                  <a:srgbClr val="969896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</a:br>
            <a:r>
              <a:rPr lang="en-US" altLang="zh-CN" sz="1600" b="1" dirty="0">
                <a:solidFill>
                  <a:srgbClr val="969896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/>
            </a:r>
            <a:br>
              <a:rPr lang="en-US" altLang="zh-CN" sz="1600" b="1" dirty="0">
                <a:solidFill>
                  <a:srgbClr val="969896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</a:br>
            <a:r>
              <a:rPr lang="en-US" altLang="zh-CN" sz="1600" b="1" dirty="0">
                <a:solidFill>
                  <a:srgbClr val="969896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   </a:t>
            </a:r>
            <a:r>
              <a:rPr lang="en-US" altLang="zh-CN" sz="1600" b="1" dirty="0">
                <a:solidFill>
                  <a:srgbClr val="9E58A3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def </a:t>
            </a:r>
            <a:r>
              <a:rPr lang="en-US" altLang="zh-CN" sz="1600" b="1" dirty="0">
                <a:solidFill>
                  <a:srgbClr val="0086B3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__</a:t>
            </a:r>
            <a:r>
              <a:rPr lang="en-US" altLang="zh-CN" sz="1600" b="1" dirty="0" err="1">
                <a:solidFill>
                  <a:srgbClr val="0086B3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init</a:t>
            </a:r>
            <a:r>
              <a:rPr lang="en-US" altLang="zh-CN" sz="1600" b="1" dirty="0">
                <a:solidFill>
                  <a:srgbClr val="0086B3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__</a:t>
            </a:r>
            <a:r>
              <a:rPr lang="en-US" altLang="zh-CN" sz="1600" b="1" dirty="0">
                <a:solidFill>
                  <a:srgbClr val="3F910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(</a:t>
            </a:r>
            <a:r>
              <a:rPr lang="en-US" altLang="zh-CN" sz="1600" b="1" dirty="0">
                <a:solidFill>
                  <a:srgbClr val="94558D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self</a:t>
            </a:r>
            <a:r>
              <a:rPr lang="en-US" altLang="zh-CN" sz="1600" b="1" dirty="0">
                <a:solidFill>
                  <a:srgbClr val="63A35C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, </a:t>
            </a:r>
            <a:r>
              <a:rPr lang="en-US" altLang="zh-CN" sz="1600" b="1" dirty="0">
                <a:solidFill>
                  <a:srgbClr val="0086B3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name</a:t>
            </a:r>
            <a:r>
              <a:rPr lang="en-US" altLang="zh-CN" sz="1600" b="1" dirty="0">
                <a:solidFill>
                  <a:srgbClr val="63A35C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, </a:t>
            </a:r>
            <a:r>
              <a:rPr lang="en-US" altLang="zh-CN" sz="1600" b="1" dirty="0">
                <a:solidFill>
                  <a:srgbClr val="0086B3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age</a:t>
            </a:r>
            <a:r>
              <a:rPr lang="en-US" altLang="zh-CN" sz="1600" b="1" dirty="0">
                <a:solidFill>
                  <a:srgbClr val="3F910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)</a:t>
            </a:r>
            <a:r>
              <a:rPr lang="en-US" altLang="zh-CN" sz="1600" b="1" dirty="0">
                <a:solidFill>
                  <a:srgbClr val="A71D5D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:</a:t>
            </a:r>
            <a:br>
              <a:rPr lang="en-US" altLang="zh-CN" sz="1600" b="1" dirty="0">
                <a:solidFill>
                  <a:srgbClr val="A71D5D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</a:br>
            <a:r>
              <a:rPr lang="en-US" altLang="zh-CN" sz="1600" b="1" dirty="0">
                <a:solidFill>
                  <a:srgbClr val="A71D5D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       </a:t>
            </a:r>
            <a:r>
              <a:rPr lang="en-US" altLang="zh-CN" sz="1600" b="1" dirty="0">
                <a:solidFill>
                  <a:srgbClr val="969896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"""</a:t>
            </a:r>
            <a:r>
              <a:rPr lang="zh-CN" altLang="en-US" sz="1600" b="1" dirty="0">
                <a:solidFill>
                  <a:srgbClr val="969896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初始化属性 </a:t>
            </a:r>
            <a:r>
              <a:rPr lang="en-US" altLang="zh-CN" sz="1600" b="1" dirty="0">
                <a:solidFill>
                  <a:srgbClr val="969896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name </a:t>
            </a:r>
            <a:r>
              <a:rPr lang="zh-CN" altLang="en-US" sz="1600" b="1" dirty="0">
                <a:solidFill>
                  <a:srgbClr val="969896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和 </a:t>
            </a:r>
            <a:r>
              <a:rPr lang="en-US" altLang="zh-CN" sz="1600" b="1" dirty="0">
                <a:solidFill>
                  <a:srgbClr val="969896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age"""</a:t>
            </a:r>
            <a:br>
              <a:rPr lang="en-US" altLang="zh-CN" sz="1600" b="1" dirty="0">
                <a:solidFill>
                  <a:srgbClr val="969896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</a:br>
            <a:r>
              <a:rPr lang="en-US" altLang="zh-CN" sz="1600" b="1" dirty="0">
                <a:solidFill>
                  <a:srgbClr val="969896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       </a:t>
            </a:r>
            <a:r>
              <a:rPr lang="en-US" altLang="zh-CN" sz="1600" b="1" dirty="0">
                <a:solidFill>
                  <a:srgbClr val="94558D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self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.</a:t>
            </a:r>
            <a:r>
              <a:rPr lang="en-US" altLang="zh-CN" sz="1600" b="1" dirty="0">
                <a:solidFill>
                  <a:srgbClr val="333333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name </a:t>
            </a:r>
            <a:r>
              <a:rPr lang="en-US" altLang="zh-CN" sz="1600" b="1" dirty="0">
                <a:solidFill>
                  <a:srgbClr val="A71D5D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= </a:t>
            </a:r>
            <a:r>
              <a:rPr lang="en-US" altLang="zh-CN" sz="1600" b="1" dirty="0">
                <a:solidFill>
                  <a:srgbClr val="0086B3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name</a:t>
            </a:r>
            <a:br>
              <a:rPr lang="en-US" altLang="zh-CN" sz="1600" b="1" dirty="0">
                <a:solidFill>
                  <a:srgbClr val="0086B3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</a:br>
            <a:r>
              <a:rPr lang="en-US" altLang="zh-CN" sz="1600" b="1" dirty="0">
                <a:solidFill>
                  <a:srgbClr val="0086B3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       </a:t>
            </a:r>
            <a:r>
              <a:rPr lang="en-US" altLang="zh-CN" sz="1600" b="1" dirty="0" err="1">
                <a:solidFill>
                  <a:srgbClr val="94558D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self</a:t>
            </a:r>
            <a:r>
              <a:rPr lang="en-US" altLang="zh-CN" sz="1600" b="1" dirty="0" err="1">
                <a:solidFill>
                  <a:srgbClr val="0000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.</a:t>
            </a:r>
            <a:r>
              <a:rPr lang="en-US" altLang="zh-CN" sz="1600" b="1" dirty="0" err="1">
                <a:solidFill>
                  <a:srgbClr val="333333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age</a:t>
            </a:r>
            <a:r>
              <a:rPr lang="en-US" altLang="zh-CN" sz="1600" b="1" dirty="0">
                <a:solidFill>
                  <a:srgbClr val="333333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</a:t>
            </a:r>
            <a:r>
              <a:rPr lang="en-US" altLang="zh-CN" sz="1600" b="1" dirty="0">
                <a:solidFill>
                  <a:srgbClr val="A71D5D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= </a:t>
            </a:r>
            <a:r>
              <a:rPr lang="en-US" altLang="zh-CN" sz="1600" b="1" dirty="0">
                <a:solidFill>
                  <a:srgbClr val="0086B3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age</a:t>
            </a:r>
            <a:br>
              <a:rPr lang="en-US" altLang="zh-CN" sz="1600" b="1" dirty="0">
                <a:solidFill>
                  <a:srgbClr val="0086B3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</a:br>
            <a:r>
              <a:rPr lang="en-US" altLang="zh-CN" sz="1600" b="1" dirty="0">
                <a:solidFill>
                  <a:srgbClr val="0086B3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/>
            </a:r>
            <a:br>
              <a:rPr lang="en-US" altLang="zh-CN" sz="1600" b="1" dirty="0">
                <a:solidFill>
                  <a:srgbClr val="0086B3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</a:br>
            <a:r>
              <a:rPr lang="en-US" altLang="zh-CN" sz="1600" b="1" dirty="0">
                <a:solidFill>
                  <a:srgbClr val="0086B3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   </a:t>
            </a:r>
            <a:r>
              <a:rPr lang="en-US" altLang="zh-CN" sz="1600" b="1" dirty="0">
                <a:solidFill>
                  <a:srgbClr val="9E58A3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def </a:t>
            </a:r>
            <a:r>
              <a:rPr lang="en-US" altLang="zh-CN" sz="1600" b="1" dirty="0">
                <a:solidFill>
                  <a:srgbClr val="795DA3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sit</a:t>
            </a:r>
            <a:r>
              <a:rPr lang="en-US" altLang="zh-CN" sz="1600" b="1" dirty="0">
                <a:solidFill>
                  <a:srgbClr val="3F910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(</a:t>
            </a:r>
            <a:r>
              <a:rPr lang="en-US" altLang="zh-CN" sz="1600" b="1" dirty="0">
                <a:solidFill>
                  <a:srgbClr val="94558D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self</a:t>
            </a:r>
            <a:r>
              <a:rPr lang="en-US" altLang="zh-CN" sz="1600" b="1" dirty="0">
                <a:solidFill>
                  <a:srgbClr val="3F910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)</a:t>
            </a:r>
            <a:r>
              <a:rPr lang="en-US" altLang="zh-CN" sz="1600" b="1" dirty="0">
                <a:solidFill>
                  <a:srgbClr val="A71D5D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:</a:t>
            </a:r>
            <a:br>
              <a:rPr lang="en-US" altLang="zh-CN" sz="1600" b="1" dirty="0">
                <a:solidFill>
                  <a:srgbClr val="A71D5D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</a:br>
            <a:r>
              <a:rPr lang="en-US" altLang="zh-CN" sz="1600" b="1" dirty="0">
                <a:solidFill>
                  <a:srgbClr val="A71D5D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       </a:t>
            </a:r>
            <a:r>
              <a:rPr lang="en-US" altLang="zh-CN" sz="1600" b="1" dirty="0">
                <a:solidFill>
                  <a:srgbClr val="969896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"""</a:t>
            </a:r>
            <a:r>
              <a:rPr lang="zh-CN" altLang="en-US" sz="1600" b="1" dirty="0">
                <a:solidFill>
                  <a:srgbClr val="969896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模拟小狗收到命令时坐下</a:t>
            </a:r>
            <a:r>
              <a:rPr lang="en-US" altLang="zh-CN" sz="1600" b="1" dirty="0">
                <a:solidFill>
                  <a:srgbClr val="969896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"""</a:t>
            </a:r>
            <a:br>
              <a:rPr lang="en-US" altLang="zh-CN" sz="1600" b="1" dirty="0">
                <a:solidFill>
                  <a:srgbClr val="969896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</a:br>
            <a:r>
              <a:rPr lang="en-US" altLang="zh-CN" sz="1600" b="1" dirty="0">
                <a:solidFill>
                  <a:srgbClr val="969896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       </a:t>
            </a:r>
            <a:r>
              <a:rPr lang="en-US" altLang="zh-CN" sz="1600" b="1" dirty="0">
                <a:solidFill>
                  <a:srgbClr val="0200BD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print</a:t>
            </a:r>
            <a:r>
              <a:rPr lang="en-US" altLang="zh-CN" sz="1600" b="1" dirty="0">
                <a:solidFill>
                  <a:srgbClr val="3F910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(</a:t>
            </a:r>
            <a:r>
              <a:rPr lang="en-US" altLang="zh-CN" sz="1600" b="1" dirty="0">
                <a:solidFill>
                  <a:srgbClr val="F2612A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f"</a:t>
            </a:r>
            <a:r>
              <a:rPr lang="en-US" altLang="zh-CN" sz="1600" b="1" dirty="0">
                <a:solidFill>
                  <a:srgbClr val="3F910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{</a:t>
            </a:r>
            <a:r>
              <a:rPr lang="en-US" altLang="zh-CN" sz="1600" b="1" dirty="0">
                <a:solidFill>
                  <a:srgbClr val="94558D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self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.</a:t>
            </a:r>
            <a:r>
              <a:rPr lang="en-US" altLang="zh-CN" sz="1600" b="1" dirty="0">
                <a:solidFill>
                  <a:srgbClr val="333333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name</a:t>
            </a:r>
            <a:r>
              <a:rPr lang="en-US" altLang="zh-CN" sz="1600" b="1" dirty="0">
                <a:solidFill>
                  <a:srgbClr val="3F910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}</a:t>
            </a:r>
            <a:r>
              <a:rPr lang="en-US" altLang="zh-CN" sz="1600" b="1" dirty="0">
                <a:solidFill>
                  <a:srgbClr val="F2612A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is now sitting."</a:t>
            </a:r>
            <a:r>
              <a:rPr lang="en-US" altLang="zh-CN" sz="1600" b="1" dirty="0">
                <a:solidFill>
                  <a:srgbClr val="3F910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)</a:t>
            </a:r>
            <a:br>
              <a:rPr lang="en-US" altLang="zh-CN" sz="1600" b="1" dirty="0">
                <a:solidFill>
                  <a:srgbClr val="3F910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</a:br>
            <a:r>
              <a:rPr lang="en-US" altLang="zh-CN" sz="1600" b="1" dirty="0">
                <a:solidFill>
                  <a:srgbClr val="3F910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/>
            </a:r>
            <a:br>
              <a:rPr lang="en-US" altLang="zh-CN" sz="1600" b="1" dirty="0">
                <a:solidFill>
                  <a:srgbClr val="3F910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</a:br>
            <a:r>
              <a:rPr lang="en-US" altLang="zh-CN" sz="1600" b="1" dirty="0">
                <a:solidFill>
                  <a:srgbClr val="3F910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   </a:t>
            </a:r>
            <a:r>
              <a:rPr lang="en-US" altLang="zh-CN" sz="1600" b="1" dirty="0">
                <a:solidFill>
                  <a:srgbClr val="9E58A3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def </a:t>
            </a:r>
            <a:r>
              <a:rPr lang="en-US" altLang="zh-CN" sz="1600" b="1" dirty="0" err="1">
                <a:solidFill>
                  <a:srgbClr val="795DA3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roll_over</a:t>
            </a:r>
            <a:r>
              <a:rPr lang="en-US" altLang="zh-CN" sz="1600" b="1" dirty="0">
                <a:solidFill>
                  <a:srgbClr val="3F910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(</a:t>
            </a:r>
            <a:r>
              <a:rPr lang="en-US" altLang="zh-CN" sz="1600" b="1" dirty="0">
                <a:solidFill>
                  <a:srgbClr val="94558D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self</a:t>
            </a:r>
            <a:r>
              <a:rPr lang="en-US" altLang="zh-CN" sz="1600" b="1" dirty="0">
                <a:solidFill>
                  <a:srgbClr val="3F910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)</a:t>
            </a:r>
            <a:r>
              <a:rPr lang="en-US" altLang="zh-CN" sz="1600" b="1" dirty="0">
                <a:solidFill>
                  <a:srgbClr val="A71D5D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:</a:t>
            </a:r>
            <a:br>
              <a:rPr lang="en-US" altLang="zh-CN" sz="1600" b="1" dirty="0">
                <a:solidFill>
                  <a:srgbClr val="A71D5D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</a:br>
            <a:r>
              <a:rPr lang="en-US" altLang="zh-CN" sz="1600" b="1" dirty="0">
                <a:solidFill>
                  <a:srgbClr val="A71D5D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       </a:t>
            </a:r>
            <a:r>
              <a:rPr lang="en-US" altLang="zh-CN" sz="1600" b="1" dirty="0">
                <a:solidFill>
                  <a:srgbClr val="969896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"""</a:t>
            </a:r>
            <a:r>
              <a:rPr lang="zh-CN" altLang="en-US" sz="1600" b="1" dirty="0">
                <a:solidFill>
                  <a:srgbClr val="969896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模拟小狗收到命令时打滚</a:t>
            </a:r>
            <a:r>
              <a:rPr lang="en-US" altLang="zh-CN" sz="1600" b="1" dirty="0">
                <a:solidFill>
                  <a:srgbClr val="969896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"""</a:t>
            </a:r>
            <a:br>
              <a:rPr lang="en-US" altLang="zh-CN" sz="1600" b="1" dirty="0">
                <a:solidFill>
                  <a:srgbClr val="969896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</a:br>
            <a:r>
              <a:rPr lang="en-US" altLang="zh-CN" sz="1600" b="1" dirty="0">
                <a:solidFill>
                  <a:srgbClr val="969896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       </a:t>
            </a:r>
            <a:r>
              <a:rPr lang="en-US" altLang="zh-CN" sz="1600" b="1" dirty="0">
                <a:solidFill>
                  <a:srgbClr val="0200BD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print</a:t>
            </a:r>
            <a:r>
              <a:rPr lang="en-US" altLang="zh-CN" sz="1600" b="1" dirty="0">
                <a:solidFill>
                  <a:srgbClr val="3F910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(</a:t>
            </a:r>
            <a:r>
              <a:rPr lang="en-US" altLang="zh-CN" sz="1600" b="1" dirty="0">
                <a:solidFill>
                  <a:srgbClr val="F2612A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f"</a:t>
            </a:r>
            <a:r>
              <a:rPr lang="en-US" altLang="zh-CN" sz="1600" b="1" dirty="0">
                <a:solidFill>
                  <a:srgbClr val="3F910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{</a:t>
            </a:r>
            <a:r>
              <a:rPr lang="en-US" altLang="zh-CN" sz="1600" b="1" dirty="0">
                <a:solidFill>
                  <a:srgbClr val="94558D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self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.</a:t>
            </a:r>
            <a:r>
              <a:rPr lang="en-US" altLang="zh-CN" sz="1600" b="1" dirty="0">
                <a:solidFill>
                  <a:srgbClr val="333333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name</a:t>
            </a:r>
            <a:r>
              <a:rPr lang="en-US" altLang="zh-CN" sz="1600" b="1" dirty="0">
                <a:solidFill>
                  <a:srgbClr val="3F910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}</a:t>
            </a:r>
            <a:r>
              <a:rPr lang="en-US" altLang="zh-CN" sz="1600" b="1" dirty="0">
                <a:solidFill>
                  <a:srgbClr val="F2612A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rolled over!"</a:t>
            </a:r>
            <a:r>
              <a:rPr lang="en-US" altLang="zh-CN" sz="1600" b="1" dirty="0">
                <a:solidFill>
                  <a:srgbClr val="3F910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)</a:t>
            </a:r>
            <a:endParaRPr lang="en-US" altLang="zh-CN" sz="1600" b="1" dirty="0">
              <a:solidFill>
                <a:prstClr val="white">
                  <a:lumMod val="75000"/>
                </a:prstClr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xmlns="" id="{EE42EE97-AABC-12A7-5A0D-D71CE66458FC}"/>
              </a:ext>
            </a:extLst>
          </p:cNvPr>
          <p:cNvSpPr txBox="1"/>
          <p:nvPr/>
        </p:nvSpPr>
        <p:spPr>
          <a:xfrm>
            <a:off x="-19491" y="6488668"/>
            <a:ext cx="61084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>
                <a:solidFill>
                  <a:prstClr val="black"/>
                </a:solidFill>
              </a:rPr>
              <a:t>《Python </a:t>
            </a:r>
            <a:r>
              <a:rPr lang="zh-CN" altLang="en-US">
                <a:solidFill>
                  <a:prstClr val="black"/>
                </a:solidFill>
              </a:rPr>
              <a:t>编程：从入门到实践（第三版）</a:t>
            </a:r>
            <a:r>
              <a:rPr lang="en-US" altLang="zh-CN">
                <a:solidFill>
                  <a:prstClr val="black"/>
                </a:solidFill>
              </a:rPr>
              <a:t>》</a:t>
            </a:r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87970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箭头: 右 4">
            <a:extLst>
              <a:ext uri="{FF2B5EF4-FFF2-40B4-BE49-F238E27FC236}">
                <a16:creationId xmlns:a16="http://schemas.microsoft.com/office/drawing/2014/main" xmlns="" id="{96DCA8E1-9C28-C82F-06F8-259F93B2A3DE}"/>
              </a:ext>
            </a:extLst>
          </p:cNvPr>
          <p:cNvSpPr/>
          <p:nvPr/>
        </p:nvSpPr>
        <p:spPr>
          <a:xfrm>
            <a:off x="4456525" y="1624883"/>
            <a:ext cx="296298" cy="18524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 altLang="en-US" sz="1050" dirty="0">
              <a:solidFill>
                <a:prstClr val="white"/>
              </a:solidFill>
            </a:endParaRPr>
          </a:p>
        </p:txBody>
      </p:sp>
      <p:sp>
        <p:nvSpPr>
          <p:cNvPr id="9" name="内容占位符 6">
            <a:extLst>
              <a:ext uri="{FF2B5EF4-FFF2-40B4-BE49-F238E27FC236}">
                <a16:creationId xmlns:a16="http://schemas.microsoft.com/office/drawing/2014/main" xmlns="" id="{9F2F9E59-EB7D-87F2-D6CD-F742AD726F5F}"/>
              </a:ext>
            </a:extLst>
          </p:cNvPr>
          <p:cNvSpPr txBox="1">
            <a:spLocks/>
          </p:cNvSpPr>
          <p:nvPr/>
        </p:nvSpPr>
        <p:spPr>
          <a:xfrm>
            <a:off x="1517777" y="512118"/>
            <a:ext cx="3522125" cy="286849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  <a:defRPr/>
            </a:pPr>
            <a:endParaRPr lang="en-US" altLang="zh-CN" sz="1600" b="1" dirty="0">
              <a:solidFill>
                <a:srgbClr val="0086B3"/>
              </a:solidFill>
              <a:latin typeface="Consolas" panose="020B0609020204030204" pitchFamily="49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n-US" altLang="zh-CN" sz="1600" b="1" dirty="0">
              <a:solidFill>
                <a:srgbClr val="0086B3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n-US" altLang="zh-CN" sz="1600" b="1" dirty="0">
              <a:solidFill>
                <a:srgbClr val="0086B3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n-US" altLang="zh-CN" sz="1600" b="1" dirty="0">
              <a:solidFill>
                <a:srgbClr val="0086B3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n-US" altLang="zh-CN" sz="1600" b="1" dirty="0">
              <a:solidFill>
                <a:srgbClr val="0086B3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n-US" altLang="zh-CN" sz="16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n-US" altLang="zh-CN" sz="16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ctr">
              <a:spcBef>
                <a:spcPts val="1600"/>
              </a:spcBef>
              <a:buFont typeface="Arial" panose="020B0604020202020204" pitchFamily="34" charset="0"/>
              <a:buNone/>
              <a:defRPr/>
            </a:pP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属性（</a:t>
            </a:r>
            <a:r>
              <a:rPr lang="en-US" altLang="zh-CN" sz="1600" b="1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attribute</a:t>
            </a: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6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zh-CN" altLang="en-US" sz="1600" dirty="0">
              <a:solidFill>
                <a:prstClr val="black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xmlns="" id="{BDAC1939-F6E2-CCBB-DA93-D3B320955BEE}"/>
              </a:ext>
            </a:extLst>
          </p:cNvPr>
          <p:cNvSpPr txBox="1"/>
          <p:nvPr/>
        </p:nvSpPr>
        <p:spPr>
          <a:xfrm>
            <a:off x="4979582" y="566678"/>
            <a:ext cx="4462130" cy="286232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1200" b="1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class Dog:</a:t>
            </a:r>
            <a:br>
              <a:rPr lang="en-US" altLang="zh-CN" sz="1200" b="1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</a:br>
            <a:r>
              <a:rPr lang="en-US" altLang="zh-CN" sz="1200" b="1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   """</a:t>
            </a:r>
            <a:r>
              <a:rPr lang="zh-CN" altLang="en-US" sz="1200" b="1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一次模拟小狗的简单尝试</a:t>
            </a:r>
            <a:r>
              <a:rPr lang="en-US" altLang="zh-CN" sz="1200" b="1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"""</a:t>
            </a:r>
            <a:br>
              <a:rPr lang="en-US" altLang="zh-CN" sz="1200" b="1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</a:br>
            <a:r>
              <a:rPr lang="en-US" altLang="zh-CN" sz="1200" b="1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/>
            </a:r>
            <a:br>
              <a:rPr lang="en-US" altLang="zh-CN" sz="1200" b="1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</a:br>
            <a:r>
              <a:rPr lang="en-US" altLang="zh-CN" sz="1200" b="1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   def __</a:t>
            </a:r>
            <a:r>
              <a:rPr lang="en-US" altLang="zh-CN" sz="1200" b="1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init</a:t>
            </a:r>
            <a:r>
              <a:rPr lang="en-US" altLang="zh-CN" sz="1200" b="1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__(self, name, age):</a:t>
            </a:r>
            <a:r>
              <a:rPr lang="en-US" altLang="zh-CN" sz="1200" b="1" dirty="0">
                <a:solidFill>
                  <a:srgbClr val="A71D5D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/>
            </a:r>
            <a:br>
              <a:rPr lang="en-US" altLang="zh-CN" sz="1200" b="1" dirty="0">
                <a:solidFill>
                  <a:srgbClr val="A71D5D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</a:br>
            <a:r>
              <a:rPr lang="en-US" altLang="zh-CN" sz="1200" b="1" dirty="0">
                <a:solidFill>
                  <a:srgbClr val="A71D5D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       </a:t>
            </a:r>
            <a:r>
              <a:rPr lang="en-US" altLang="zh-CN" sz="1200" b="1" dirty="0">
                <a:solidFill>
                  <a:srgbClr val="969896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"""</a:t>
            </a:r>
            <a:r>
              <a:rPr lang="zh-CN" altLang="en-US" sz="1200" b="1" dirty="0">
                <a:solidFill>
                  <a:srgbClr val="969896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初始化属性 </a:t>
            </a:r>
            <a:r>
              <a:rPr lang="en-US" altLang="zh-CN" sz="1200" b="1" dirty="0">
                <a:solidFill>
                  <a:srgbClr val="969896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name </a:t>
            </a:r>
            <a:r>
              <a:rPr lang="zh-CN" altLang="en-US" sz="1200" b="1" dirty="0">
                <a:solidFill>
                  <a:srgbClr val="969896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和 </a:t>
            </a:r>
            <a:r>
              <a:rPr lang="en-US" altLang="zh-CN" sz="1200" b="1" dirty="0">
                <a:solidFill>
                  <a:srgbClr val="969896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age"""</a:t>
            </a:r>
            <a:br>
              <a:rPr lang="en-US" altLang="zh-CN" sz="1200" b="1" dirty="0">
                <a:solidFill>
                  <a:srgbClr val="969896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</a:br>
            <a:r>
              <a:rPr lang="en-US" altLang="zh-CN" sz="1200" b="1" dirty="0">
                <a:solidFill>
                  <a:srgbClr val="969896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       </a:t>
            </a:r>
            <a:r>
              <a:rPr lang="en-US" altLang="zh-CN" sz="1200" b="1" dirty="0">
                <a:solidFill>
                  <a:srgbClr val="94558D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self</a:t>
            </a:r>
            <a:r>
              <a:rPr lang="en-US" altLang="zh-CN" sz="1200" b="1" dirty="0">
                <a:solidFill>
                  <a:srgbClr val="0000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.</a:t>
            </a:r>
            <a:r>
              <a:rPr lang="en-US" altLang="zh-CN" sz="1200" b="1" dirty="0">
                <a:solidFill>
                  <a:srgbClr val="333333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name </a:t>
            </a:r>
            <a:r>
              <a:rPr lang="en-US" altLang="zh-CN" sz="1200" b="1" dirty="0">
                <a:solidFill>
                  <a:srgbClr val="A71D5D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= </a:t>
            </a:r>
            <a:r>
              <a:rPr lang="en-US" altLang="zh-CN" sz="1200" b="1" dirty="0">
                <a:solidFill>
                  <a:srgbClr val="0086B3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name</a:t>
            </a:r>
            <a:br>
              <a:rPr lang="en-US" altLang="zh-CN" sz="1200" b="1" dirty="0">
                <a:solidFill>
                  <a:srgbClr val="0086B3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</a:br>
            <a:r>
              <a:rPr lang="en-US" altLang="zh-CN" sz="1200" b="1" dirty="0">
                <a:solidFill>
                  <a:srgbClr val="0086B3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       </a:t>
            </a:r>
            <a:r>
              <a:rPr lang="en-US" altLang="zh-CN" sz="1200" b="1" dirty="0" err="1">
                <a:solidFill>
                  <a:srgbClr val="94558D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self</a:t>
            </a:r>
            <a:r>
              <a:rPr lang="en-US" altLang="zh-CN" sz="1200" b="1" dirty="0" err="1">
                <a:solidFill>
                  <a:srgbClr val="0000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.</a:t>
            </a:r>
            <a:r>
              <a:rPr lang="en-US" altLang="zh-CN" sz="1200" b="1" dirty="0" err="1">
                <a:solidFill>
                  <a:srgbClr val="333333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age</a:t>
            </a:r>
            <a:r>
              <a:rPr lang="en-US" altLang="zh-CN" sz="1200" b="1" dirty="0">
                <a:solidFill>
                  <a:srgbClr val="333333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</a:t>
            </a:r>
            <a:r>
              <a:rPr lang="en-US" altLang="zh-CN" sz="1200" b="1" dirty="0">
                <a:solidFill>
                  <a:srgbClr val="A71D5D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= </a:t>
            </a:r>
            <a:r>
              <a:rPr lang="en-US" altLang="zh-CN" sz="1200" b="1" dirty="0">
                <a:solidFill>
                  <a:srgbClr val="0086B3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age</a:t>
            </a:r>
            <a:br>
              <a:rPr lang="en-US" altLang="zh-CN" sz="1200" b="1" dirty="0">
                <a:solidFill>
                  <a:srgbClr val="0086B3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</a:br>
            <a:r>
              <a:rPr lang="en-US" altLang="zh-CN" sz="1200" b="1" dirty="0">
                <a:solidFill>
                  <a:srgbClr val="0086B3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/>
            </a:r>
            <a:br>
              <a:rPr lang="en-US" altLang="zh-CN" sz="1200" b="1" dirty="0">
                <a:solidFill>
                  <a:srgbClr val="0086B3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</a:br>
            <a:r>
              <a:rPr lang="en-US" altLang="zh-CN" sz="1200" b="1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   def sit(self):</a:t>
            </a:r>
            <a:br>
              <a:rPr lang="en-US" altLang="zh-CN" sz="1200" b="1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</a:br>
            <a:r>
              <a:rPr lang="en-US" altLang="zh-CN" sz="1200" b="1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       """</a:t>
            </a:r>
            <a:r>
              <a:rPr lang="zh-CN" altLang="en-US" sz="1200" b="1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模拟小狗收到命令时坐下</a:t>
            </a:r>
            <a:r>
              <a:rPr lang="en-US" altLang="zh-CN" sz="1200" b="1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"""</a:t>
            </a:r>
            <a:br>
              <a:rPr lang="en-US" altLang="zh-CN" sz="1200" b="1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</a:br>
            <a:r>
              <a:rPr lang="en-US" altLang="zh-CN" sz="1200" b="1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       print(f"{self.name} is now sitting.")</a:t>
            </a:r>
            <a:br>
              <a:rPr lang="en-US" altLang="zh-CN" sz="1200" b="1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</a:br>
            <a:r>
              <a:rPr lang="en-US" altLang="zh-CN" sz="1200" b="1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/>
            </a:r>
            <a:br>
              <a:rPr lang="en-US" altLang="zh-CN" sz="1200" b="1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</a:br>
            <a:r>
              <a:rPr lang="en-US" altLang="zh-CN" sz="1200" b="1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   def </a:t>
            </a:r>
            <a:r>
              <a:rPr lang="en-US" altLang="zh-CN" sz="1200" b="1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roll_over</a:t>
            </a:r>
            <a:r>
              <a:rPr lang="en-US" altLang="zh-CN" sz="1200" b="1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(self):</a:t>
            </a:r>
            <a:br>
              <a:rPr lang="en-US" altLang="zh-CN" sz="1200" b="1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</a:br>
            <a:r>
              <a:rPr lang="en-US" altLang="zh-CN" sz="1200" b="1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       """</a:t>
            </a:r>
            <a:r>
              <a:rPr lang="zh-CN" altLang="en-US" sz="1200" b="1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模拟小狗收到命令时打滚</a:t>
            </a:r>
            <a:r>
              <a:rPr lang="en-US" altLang="zh-CN" sz="1200" b="1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"""</a:t>
            </a:r>
            <a:br>
              <a:rPr lang="en-US" altLang="zh-CN" sz="1200" b="1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</a:br>
            <a:r>
              <a:rPr lang="en-US" altLang="zh-CN" sz="1200" b="1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       print(f"{self.name} rolled over!")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xmlns="" id="{B7CE596F-8162-43AB-DED8-91BACC66B23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332626" y="683077"/>
            <a:ext cx="1880437" cy="2254100"/>
          </a:xfrm>
          <a:prstGeom prst="rect">
            <a:avLst/>
          </a:prstGeom>
        </p:spPr>
      </p:pic>
      <p:sp>
        <p:nvSpPr>
          <p:cNvPr id="16" name="箭头: 右 15">
            <a:extLst>
              <a:ext uri="{FF2B5EF4-FFF2-40B4-BE49-F238E27FC236}">
                <a16:creationId xmlns:a16="http://schemas.microsoft.com/office/drawing/2014/main" xmlns="" id="{C7055160-3E04-5C21-F269-2C2D264E6EE9}"/>
              </a:ext>
            </a:extLst>
          </p:cNvPr>
          <p:cNvSpPr/>
          <p:nvPr/>
        </p:nvSpPr>
        <p:spPr>
          <a:xfrm>
            <a:off x="4458195" y="5140495"/>
            <a:ext cx="294627" cy="18524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 altLang="en-US" sz="1200" dirty="0">
              <a:solidFill>
                <a:prstClr val="white"/>
              </a:solidFill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79EEC0AD-6D56-BA8C-E852-E4B7E6525B12}"/>
              </a:ext>
            </a:extLst>
          </p:cNvPr>
          <p:cNvSpPr txBox="1"/>
          <p:nvPr/>
        </p:nvSpPr>
        <p:spPr>
          <a:xfrm>
            <a:off x="4979583" y="3529006"/>
            <a:ext cx="4462130" cy="286232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1200" b="1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class Dog:</a:t>
            </a:r>
            <a:br>
              <a:rPr lang="en-US" altLang="zh-CN" sz="1200" b="1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</a:br>
            <a:r>
              <a:rPr lang="en-US" altLang="zh-CN" sz="1200" b="1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   """</a:t>
            </a:r>
            <a:r>
              <a:rPr lang="zh-CN" altLang="en-US" sz="1200" b="1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一次模拟小狗的简单尝试</a:t>
            </a:r>
            <a:r>
              <a:rPr lang="en-US" altLang="zh-CN" sz="1200" b="1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"""</a:t>
            </a:r>
            <a:br>
              <a:rPr lang="en-US" altLang="zh-CN" sz="1200" b="1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</a:br>
            <a:r>
              <a:rPr lang="en-US" altLang="zh-CN" sz="1200" b="1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/>
            </a:r>
            <a:br>
              <a:rPr lang="en-US" altLang="zh-CN" sz="1200" b="1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</a:br>
            <a:r>
              <a:rPr lang="en-US" altLang="zh-CN" sz="1200" b="1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   def __</a:t>
            </a:r>
            <a:r>
              <a:rPr lang="en-US" altLang="zh-CN" sz="1200" b="1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init</a:t>
            </a:r>
            <a:r>
              <a:rPr lang="en-US" altLang="zh-CN" sz="1200" b="1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__(self, name, age):</a:t>
            </a:r>
            <a:br>
              <a:rPr lang="en-US" altLang="zh-CN" sz="1200" b="1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</a:br>
            <a:r>
              <a:rPr lang="en-US" altLang="zh-CN" sz="1200" b="1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       """</a:t>
            </a:r>
            <a:r>
              <a:rPr lang="zh-CN" altLang="en-US" sz="1200" b="1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初始化属性 </a:t>
            </a:r>
            <a:r>
              <a:rPr lang="en-US" altLang="zh-CN" sz="1200" b="1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name </a:t>
            </a:r>
            <a:r>
              <a:rPr lang="zh-CN" altLang="en-US" sz="1200" b="1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和 </a:t>
            </a:r>
            <a:r>
              <a:rPr lang="en-US" altLang="zh-CN" sz="1200" b="1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age"""</a:t>
            </a:r>
            <a:br>
              <a:rPr lang="en-US" altLang="zh-CN" sz="1200" b="1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</a:br>
            <a:r>
              <a:rPr lang="en-US" altLang="zh-CN" sz="1200" b="1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       self.name = name</a:t>
            </a:r>
            <a:br>
              <a:rPr lang="en-US" altLang="zh-CN" sz="1200" b="1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</a:br>
            <a:r>
              <a:rPr lang="en-US" altLang="zh-CN" sz="1200" b="1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       </a:t>
            </a:r>
            <a:r>
              <a:rPr lang="en-US" altLang="zh-CN" sz="1200" b="1" dirty="0" err="1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self.age</a:t>
            </a:r>
            <a:r>
              <a:rPr lang="en-US" altLang="zh-CN" sz="1200" b="1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= age</a:t>
            </a:r>
            <a:r>
              <a:rPr lang="en-US" altLang="zh-CN" sz="1200" b="1" dirty="0">
                <a:solidFill>
                  <a:srgbClr val="0086B3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/>
            </a:r>
            <a:br>
              <a:rPr lang="en-US" altLang="zh-CN" sz="1200" b="1" dirty="0">
                <a:solidFill>
                  <a:srgbClr val="0086B3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</a:br>
            <a:r>
              <a:rPr lang="en-US" altLang="zh-CN" sz="1200" b="1" dirty="0">
                <a:solidFill>
                  <a:srgbClr val="0086B3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/>
            </a:r>
            <a:br>
              <a:rPr lang="en-US" altLang="zh-CN" sz="1200" b="1" dirty="0">
                <a:solidFill>
                  <a:srgbClr val="0086B3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</a:br>
            <a:r>
              <a:rPr lang="en-US" altLang="zh-CN" sz="1200" b="1" dirty="0">
                <a:solidFill>
                  <a:srgbClr val="0086B3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   </a:t>
            </a:r>
            <a:r>
              <a:rPr lang="en-US" altLang="zh-CN" sz="1200" b="1" dirty="0">
                <a:solidFill>
                  <a:srgbClr val="9E58A3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def </a:t>
            </a:r>
            <a:r>
              <a:rPr lang="en-US" altLang="zh-CN" sz="1200" b="1" dirty="0">
                <a:solidFill>
                  <a:srgbClr val="795DA3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sit</a:t>
            </a:r>
            <a:r>
              <a:rPr lang="en-US" altLang="zh-CN" sz="1200" b="1" dirty="0">
                <a:solidFill>
                  <a:srgbClr val="3F910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(</a:t>
            </a:r>
            <a:r>
              <a:rPr lang="en-US" altLang="zh-CN" sz="1200" b="1" dirty="0">
                <a:solidFill>
                  <a:srgbClr val="94558D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self</a:t>
            </a:r>
            <a:r>
              <a:rPr lang="en-US" altLang="zh-CN" sz="1200" b="1" dirty="0">
                <a:solidFill>
                  <a:srgbClr val="3F910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)</a:t>
            </a:r>
            <a:r>
              <a:rPr lang="en-US" altLang="zh-CN" sz="1200" b="1" dirty="0">
                <a:solidFill>
                  <a:srgbClr val="A71D5D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:</a:t>
            </a:r>
            <a:br>
              <a:rPr lang="en-US" altLang="zh-CN" sz="1200" b="1" dirty="0">
                <a:solidFill>
                  <a:srgbClr val="A71D5D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</a:br>
            <a:r>
              <a:rPr lang="en-US" altLang="zh-CN" sz="1200" b="1" dirty="0">
                <a:solidFill>
                  <a:srgbClr val="A71D5D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       </a:t>
            </a:r>
            <a:r>
              <a:rPr lang="en-US" altLang="zh-CN" sz="1200" b="1" dirty="0">
                <a:solidFill>
                  <a:srgbClr val="969896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"""</a:t>
            </a:r>
            <a:r>
              <a:rPr lang="zh-CN" altLang="en-US" sz="1200" b="1" dirty="0">
                <a:solidFill>
                  <a:srgbClr val="969896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模拟小狗收到命令时坐下</a:t>
            </a:r>
            <a:r>
              <a:rPr lang="en-US" altLang="zh-CN" sz="1200" b="1" dirty="0">
                <a:solidFill>
                  <a:srgbClr val="969896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"""</a:t>
            </a:r>
            <a:br>
              <a:rPr lang="en-US" altLang="zh-CN" sz="1200" b="1" dirty="0">
                <a:solidFill>
                  <a:srgbClr val="969896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</a:br>
            <a:r>
              <a:rPr lang="en-US" altLang="zh-CN" sz="1200" b="1" dirty="0">
                <a:solidFill>
                  <a:srgbClr val="969896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       </a:t>
            </a:r>
            <a:r>
              <a:rPr lang="en-US" altLang="zh-CN" sz="1200" b="1" dirty="0">
                <a:solidFill>
                  <a:srgbClr val="0200BD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print</a:t>
            </a:r>
            <a:r>
              <a:rPr lang="en-US" altLang="zh-CN" sz="1200" b="1" dirty="0">
                <a:solidFill>
                  <a:srgbClr val="3F910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(</a:t>
            </a:r>
            <a:r>
              <a:rPr lang="en-US" altLang="zh-CN" sz="1200" b="1" dirty="0">
                <a:solidFill>
                  <a:srgbClr val="F2612A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f"</a:t>
            </a:r>
            <a:r>
              <a:rPr lang="en-US" altLang="zh-CN" sz="1200" b="1" dirty="0">
                <a:solidFill>
                  <a:srgbClr val="3F910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{</a:t>
            </a:r>
            <a:r>
              <a:rPr lang="en-US" altLang="zh-CN" sz="1200" b="1" dirty="0">
                <a:solidFill>
                  <a:srgbClr val="94558D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self</a:t>
            </a:r>
            <a:r>
              <a:rPr lang="en-US" altLang="zh-CN" sz="1200" b="1" dirty="0">
                <a:solidFill>
                  <a:srgbClr val="0000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.</a:t>
            </a:r>
            <a:r>
              <a:rPr lang="en-US" altLang="zh-CN" sz="1200" b="1" dirty="0">
                <a:solidFill>
                  <a:srgbClr val="333333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name</a:t>
            </a:r>
            <a:r>
              <a:rPr lang="en-US" altLang="zh-CN" sz="1200" b="1" dirty="0">
                <a:solidFill>
                  <a:srgbClr val="3F910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}</a:t>
            </a:r>
            <a:r>
              <a:rPr lang="en-US" altLang="zh-CN" sz="1200" b="1" dirty="0">
                <a:solidFill>
                  <a:srgbClr val="F2612A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is now sitting."</a:t>
            </a:r>
            <a:r>
              <a:rPr lang="en-US" altLang="zh-CN" sz="1200" b="1" dirty="0">
                <a:solidFill>
                  <a:srgbClr val="3F910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)</a:t>
            </a:r>
            <a:br>
              <a:rPr lang="en-US" altLang="zh-CN" sz="1200" b="1" dirty="0">
                <a:solidFill>
                  <a:srgbClr val="3F910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</a:br>
            <a:r>
              <a:rPr lang="en-US" altLang="zh-CN" sz="1200" b="1" dirty="0">
                <a:solidFill>
                  <a:srgbClr val="3F910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/>
            </a:r>
            <a:br>
              <a:rPr lang="en-US" altLang="zh-CN" sz="1200" b="1" dirty="0">
                <a:solidFill>
                  <a:srgbClr val="3F910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</a:br>
            <a:r>
              <a:rPr lang="en-US" altLang="zh-CN" sz="1200" b="1" dirty="0">
                <a:solidFill>
                  <a:srgbClr val="3F910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   </a:t>
            </a:r>
            <a:r>
              <a:rPr lang="en-US" altLang="zh-CN" sz="1200" b="1" dirty="0">
                <a:solidFill>
                  <a:srgbClr val="9E58A3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def </a:t>
            </a:r>
            <a:r>
              <a:rPr lang="en-US" altLang="zh-CN" sz="1200" b="1" dirty="0" err="1">
                <a:solidFill>
                  <a:srgbClr val="795DA3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roll_over</a:t>
            </a:r>
            <a:r>
              <a:rPr lang="en-US" altLang="zh-CN" sz="1200" b="1" dirty="0">
                <a:solidFill>
                  <a:srgbClr val="3F910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(</a:t>
            </a:r>
            <a:r>
              <a:rPr lang="en-US" altLang="zh-CN" sz="1200" b="1" dirty="0">
                <a:solidFill>
                  <a:srgbClr val="94558D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self</a:t>
            </a:r>
            <a:r>
              <a:rPr lang="en-US" altLang="zh-CN" sz="1200" b="1" dirty="0">
                <a:solidFill>
                  <a:srgbClr val="3F910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)</a:t>
            </a:r>
            <a:r>
              <a:rPr lang="en-US" altLang="zh-CN" sz="1200" b="1" dirty="0">
                <a:solidFill>
                  <a:srgbClr val="A71D5D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:</a:t>
            </a:r>
            <a:br>
              <a:rPr lang="en-US" altLang="zh-CN" sz="1200" b="1" dirty="0">
                <a:solidFill>
                  <a:srgbClr val="A71D5D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</a:br>
            <a:r>
              <a:rPr lang="en-US" altLang="zh-CN" sz="1200" b="1" dirty="0">
                <a:solidFill>
                  <a:srgbClr val="A71D5D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       </a:t>
            </a:r>
            <a:r>
              <a:rPr lang="en-US" altLang="zh-CN" sz="1200" b="1" dirty="0">
                <a:solidFill>
                  <a:srgbClr val="969896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"""</a:t>
            </a:r>
            <a:r>
              <a:rPr lang="zh-CN" altLang="en-US" sz="1200" b="1" dirty="0">
                <a:solidFill>
                  <a:srgbClr val="969896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模拟小狗收到命令时打滚</a:t>
            </a:r>
            <a:r>
              <a:rPr lang="en-US" altLang="zh-CN" sz="1200" b="1" dirty="0">
                <a:solidFill>
                  <a:srgbClr val="969896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"""</a:t>
            </a:r>
            <a:br>
              <a:rPr lang="en-US" altLang="zh-CN" sz="1200" b="1" dirty="0">
                <a:solidFill>
                  <a:srgbClr val="969896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</a:br>
            <a:r>
              <a:rPr lang="en-US" altLang="zh-CN" sz="1200" b="1" dirty="0">
                <a:solidFill>
                  <a:srgbClr val="969896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       </a:t>
            </a:r>
            <a:r>
              <a:rPr lang="en-US" altLang="zh-CN" sz="1200" b="1" dirty="0">
                <a:solidFill>
                  <a:srgbClr val="0200BD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print</a:t>
            </a:r>
            <a:r>
              <a:rPr lang="en-US" altLang="zh-CN" sz="1200" b="1" dirty="0">
                <a:solidFill>
                  <a:srgbClr val="3F910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(</a:t>
            </a:r>
            <a:r>
              <a:rPr lang="en-US" altLang="zh-CN" sz="1200" b="1" dirty="0">
                <a:solidFill>
                  <a:srgbClr val="F2612A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f"</a:t>
            </a:r>
            <a:r>
              <a:rPr lang="en-US" altLang="zh-CN" sz="1200" b="1" dirty="0">
                <a:solidFill>
                  <a:srgbClr val="3F910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{</a:t>
            </a:r>
            <a:r>
              <a:rPr lang="en-US" altLang="zh-CN" sz="1200" b="1" dirty="0">
                <a:solidFill>
                  <a:srgbClr val="94558D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self</a:t>
            </a:r>
            <a:r>
              <a:rPr lang="en-US" altLang="zh-CN" sz="1200" b="1" dirty="0">
                <a:solidFill>
                  <a:srgbClr val="0000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.</a:t>
            </a:r>
            <a:r>
              <a:rPr lang="en-US" altLang="zh-CN" sz="1200" b="1" dirty="0">
                <a:solidFill>
                  <a:srgbClr val="333333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name</a:t>
            </a:r>
            <a:r>
              <a:rPr lang="en-US" altLang="zh-CN" sz="1200" b="1" dirty="0">
                <a:solidFill>
                  <a:srgbClr val="3F910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}</a:t>
            </a:r>
            <a:r>
              <a:rPr lang="en-US" altLang="zh-CN" sz="1200" b="1" dirty="0">
                <a:solidFill>
                  <a:srgbClr val="F2612A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rolled over!"</a:t>
            </a:r>
            <a:r>
              <a:rPr lang="en-US" altLang="zh-CN" sz="1200" b="1" dirty="0">
                <a:solidFill>
                  <a:srgbClr val="3F910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)</a:t>
            </a:r>
            <a:endParaRPr lang="en-US" altLang="zh-CN" sz="1200" b="1" dirty="0">
              <a:solidFill>
                <a:srgbClr val="333333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18" name="箭头: 右 17">
            <a:extLst>
              <a:ext uri="{FF2B5EF4-FFF2-40B4-BE49-F238E27FC236}">
                <a16:creationId xmlns:a16="http://schemas.microsoft.com/office/drawing/2014/main" xmlns="" id="{40E4EB25-11BB-7FEA-A5D0-B122BF48CF91}"/>
              </a:ext>
            </a:extLst>
          </p:cNvPr>
          <p:cNvSpPr/>
          <p:nvPr/>
        </p:nvSpPr>
        <p:spPr>
          <a:xfrm>
            <a:off x="4471518" y="5822193"/>
            <a:ext cx="281303" cy="18524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 altLang="en-US" sz="1200" dirty="0">
              <a:solidFill>
                <a:prstClr val="white"/>
              </a:solidFill>
            </a:endParaRP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xmlns="" id="{CDFDA64E-DDEB-13AA-9785-DFDF0215122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49867" y="3753567"/>
            <a:ext cx="1802977" cy="2161248"/>
          </a:xfrm>
          <a:prstGeom prst="rect">
            <a:avLst/>
          </a:prstGeom>
        </p:spPr>
      </p:pic>
      <p:sp>
        <p:nvSpPr>
          <p:cNvPr id="20" name="内容占位符 6">
            <a:extLst>
              <a:ext uri="{FF2B5EF4-FFF2-40B4-BE49-F238E27FC236}">
                <a16:creationId xmlns:a16="http://schemas.microsoft.com/office/drawing/2014/main" xmlns="" id="{65128737-5CFD-9425-F3B6-F0A4693FE783}"/>
              </a:ext>
            </a:extLst>
          </p:cNvPr>
          <p:cNvSpPr txBox="1">
            <a:spLocks/>
          </p:cNvSpPr>
          <p:nvPr/>
        </p:nvSpPr>
        <p:spPr>
          <a:xfrm>
            <a:off x="1370757" y="3883320"/>
            <a:ext cx="3387842" cy="297468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  <a:defRPr/>
            </a:pPr>
            <a:endParaRPr lang="en-US" altLang="zh-CN" sz="2000" b="1" dirty="0">
              <a:solidFill>
                <a:srgbClr val="0086B3"/>
              </a:solidFill>
              <a:latin typeface="Consolas" panose="020B0609020204030204" pitchFamily="49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n-US" altLang="zh-CN" sz="2000" b="1" dirty="0">
              <a:solidFill>
                <a:srgbClr val="0086B3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n-US" altLang="zh-CN" sz="2000" b="1" dirty="0">
              <a:solidFill>
                <a:srgbClr val="0086B3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n-US" altLang="zh-CN" sz="2000" b="1" dirty="0">
              <a:solidFill>
                <a:srgbClr val="0086B3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n-US" altLang="zh-CN" sz="2000" b="1" dirty="0">
              <a:solidFill>
                <a:srgbClr val="0086B3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pPr marL="0" indent="0" algn="ctr">
              <a:spcBef>
                <a:spcPts val="1600"/>
              </a:spcBef>
              <a:buFont typeface="Arial" panose="020B0604020202020204" pitchFamily="34" charset="0"/>
              <a:buNone/>
              <a:defRPr/>
            </a:pPr>
            <a:r>
              <a:rPr lang="zh-CN" altLang="en-US" sz="2000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b="1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method</a:t>
            </a: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20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zh-CN" altLang="en-US" sz="2000" dirty="0">
              <a:solidFill>
                <a:prstClr val="black"/>
              </a:solidFill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xmlns="" id="{0B844B7D-84D9-3D53-1AD3-B0D067D037D9}"/>
              </a:ext>
            </a:extLst>
          </p:cNvPr>
          <p:cNvSpPr txBox="1"/>
          <p:nvPr/>
        </p:nvSpPr>
        <p:spPr>
          <a:xfrm>
            <a:off x="-252523" y="6553622"/>
            <a:ext cx="61084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>
                <a:solidFill>
                  <a:prstClr val="black"/>
                </a:solidFill>
              </a:rPr>
              <a:t>《Python </a:t>
            </a:r>
            <a:r>
              <a:rPr lang="zh-CN" altLang="en-US">
                <a:solidFill>
                  <a:prstClr val="black"/>
                </a:solidFill>
              </a:rPr>
              <a:t>编程：从入门到实践（第三版）</a:t>
            </a:r>
            <a:r>
              <a:rPr lang="en-US" altLang="zh-CN">
                <a:solidFill>
                  <a:prstClr val="black"/>
                </a:solidFill>
              </a:rPr>
              <a:t>》</a:t>
            </a:r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6161741"/>
      </p:ext>
    </p:extLst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0E2FC508-1AFD-A957-52F2-FA1DEF2A9D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5038" y="1019070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/>
              <a:t>可以根据类创建任意数量的实例：</a:t>
            </a:r>
            <a:endParaRPr lang="en-US" altLang="zh-CN" sz="2400" dirty="0"/>
          </a:p>
        </p:txBody>
      </p:sp>
      <p:sp>
        <p:nvSpPr>
          <p:cNvPr id="5" name="箭头: 右 4">
            <a:extLst>
              <a:ext uri="{FF2B5EF4-FFF2-40B4-BE49-F238E27FC236}">
                <a16:creationId xmlns:a16="http://schemas.microsoft.com/office/drawing/2014/main" xmlns="" id="{96DCA8E1-9C28-C82F-06F8-259F93B2A3DE}"/>
              </a:ext>
            </a:extLst>
          </p:cNvPr>
          <p:cNvSpPr/>
          <p:nvPr/>
        </p:nvSpPr>
        <p:spPr>
          <a:xfrm>
            <a:off x="690564" y="2757318"/>
            <a:ext cx="363415" cy="29014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xmlns="" id="{3CF8B244-0465-98FA-67B0-35486CA50CAD}"/>
              </a:ext>
            </a:extLst>
          </p:cNvPr>
          <p:cNvSpPr txBox="1"/>
          <p:nvPr/>
        </p:nvSpPr>
        <p:spPr>
          <a:xfrm>
            <a:off x="1148453" y="1590687"/>
            <a:ext cx="6166594" cy="3816429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1600" b="1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class Dog:</a:t>
            </a:r>
            <a:r>
              <a:rPr lang="en-US" altLang="zh-CN" sz="1600" b="1" dirty="0">
                <a:solidFill>
                  <a:srgbClr val="A71D5D"/>
                </a:solidFill>
                <a:latin typeface="Consolas" panose="020B0609020204030204" pitchFamily="49" charset="0"/>
              </a:rPr>
              <a:t/>
            </a:r>
            <a:br>
              <a:rPr lang="en-US" altLang="zh-CN" sz="1600" b="1" dirty="0">
                <a:solidFill>
                  <a:srgbClr val="A71D5D"/>
                </a:solidFill>
                <a:latin typeface="Consolas" panose="020B0609020204030204" pitchFamily="49" charset="0"/>
              </a:rPr>
            </a:br>
            <a:r>
              <a:rPr lang="en-US" altLang="zh-CN" sz="1600" b="1" dirty="0">
                <a:solidFill>
                  <a:srgbClr val="A71D5D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600" b="1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...</a:t>
            </a:r>
          </a:p>
          <a:p>
            <a:pPr>
              <a:defRPr/>
            </a:pPr>
            <a:endParaRPr lang="en-US" altLang="zh-CN" sz="1600" b="1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pPr>
              <a:defRPr/>
            </a:pPr>
            <a:r>
              <a:rPr lang="en-US" altLang="zh-CN" sz="1600" b="1" dirty="0" err="1">
                <a:solidFill>
                  <a:srgbClr val="333333"/>
                </a:solidFill>
                <a:latin typeface="Consolas" panose="020B0609020204030204" pitchFamily="49" charset="0"/>
              </a:rPr>
              <a:t>my_dog</a:t>
            </a:r>
            <a:r>
              <a:rPr lang="en-US" altLang="zh-CN" sz="1600" b="1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b="1" dirty="0">
                <a:solidFill>
                  <a:srgbClr val="A71D5D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600" b="1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b="1" dirty="0">
                <a:solidFill>
                  <a:srgbClr val="258DFF"/>
                </a:solidFill>
                <a:latin typeface="Consolas" panose="020B0609020204030204" pitchFamily="49" charset="0"/>
              </a:rPr>
              <a:t>Dog</a:t>
            </a:r>
            <a:r>
              <a:rPr lang="en-US" altLang="zh-CN" sz="1600" b="1" dirty="0">
                <a:solidFill>
                  <a:srgbClr val="3F9101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600" b="1" dirty="0">
                <a:solidFill>
                  <a:srgbClr val="F2612A"/>
                </a:solidFill>
                <a:latin typeface="Consolas" panose="020B0609020204030204" pitchFamily="49" charset="0"/>
              </a:rPr>
              <a:t>'Willie'</a:t>
            </a:r>
            <a:r>
              <a:rPr lang="en-US" altLang="zh-CN" sz="1600" b="1" dirty="0">
                <a:solidFill>
                  <a:srgbClr val="3F9101"/>
                </a:solidFill>
                <a:latin typeface="Consolas" panose="020B0609020204030204" pitchFamily="49" charset="0"/>
              </a:rPr>
              <a:t>,</a:t>
            </a:r>
            <a:r>
              <a:rPr lang="en-US" altLang="zh-CN" sz="1600" b="1" dirty="0">
                <a:solidFill>
                  <a:prstClr val="white">
                    <a:lumMod val="75000"/>
                  </a:prstClr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b="1" dirty="0">
                <a:solidFill>
                  <a:srgbClr val="2E6446"/>
                </a:solidFill>
                <a:latin typeface="Consolas" panose="020B0609020204030204" pitchFamily="49" charset="0"/>
              </a:rPr>
              <a:t>6</a:t>
            </a:r>
            <a:r>
              <a:rPr lang="en-US" altLang="zh-CN" sz="1600" b="1" dirty="0">
                <a:solidFill>
                  <a:srgbClr val="3F9101"/>
                </a:solidFill>
                <a:latin typeface="Consolas" panose="020B0609020204030204" pitchFamily="49" charset="0"/>
              </a:rPr>
              <a:t>)</a:t>
            </a:r>
            <a:br>
              <a:rPr lang="en-US" altLang="zh-CN" sz="1600" b="1" dirty="0">
                <a:solidFill>
                  <a:srgbClr val="3F9101"/>
                </a:solidFill>
                <a:latin typeface="Consolas" panose="020B0609020204030204" pitchFamily="49" charset="0"/>
              </a:rPr>
            </a:br>
            <a:r>
              <a:rPr lang="en-US" altLang="zh-CN" sz="1600" b="1" dirty="0" err="1">
                <a:solidFill>
                  <a:srgbClr val="333333"/>
                </a:solidFill>
                <a:latin typeface="Consolas" panose="020B0609020204030204" pitchFamily="49" charset="0"/>
              </a:rPr>
              <a:t>your_dog</a:t>
            </a:r>
            <a:r>
              <a:rPr lang="en-US" altLang="zh-CN" sz="1600" b="1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b="1" dirty="0">
                <a:solidFill>
                  <a:srgbClr val="A71D5D"/>
                </a:solidFill>
                <a:latin typeface="Consolas" panose="020B0609020204030204" pitchFamily="49" charset="0"/>
              </a:rPr>
              <a:t>= </a:t>
            </a:r>
            <a:r>
              <a:rPr lang="en-US" altLang="zh-CN" sz="1600" b="1" dirty="0">
                <a:solidFill>
                  <a:srgbClr val="258DFF"/>
                </a:solidFill>
                <a:latin typeface="Consolas" panose="020B0609020204030204" pitchFamily="49" charset="0"/>
              </a:rPr>
              <a:t>Dog</a:t>
            </a:r>
            <a:r>
              <a:rPr lang="en-US" altLang="zh-CN" sz="1600" b="1" dirty="0">
                <a:solidFill>
                  <a:srgbClr val="3F9101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600" b="1" dirty="0">
                <a:solidFill>
                  <a:srgbClr val="F2612A"/>
                </a:solidFill>
                <a:latin typeface="Consolas" panose="020B0609020204030204" pitchFamily="49" charset="0"/>
              </a:rPr>
              <a:t>'Lucy'</a:t>
            </a:r>
            <a:r>
              <a:rPr lang="en-US" altLang="zh-CN" sz="1600" b="1" dirty="0">
                <a:solidFill>
                  <a:srgbClr val="63A35C"/>
                </a:solidFill>
                <a:latin typeface="Consolas" panose="020B0609020204030204" pitchFamily="49" charset="0"/>
              </a:rPr>
              <a:t>, </a:t>
            </a:r>
            <a:r>
              <a:rPr lang="en-US" altLang="zh-CN" sz="1600" b="1" dirty="0">
                <a:solidFill>
                  <a:srgbClr val="2E6446"/>
                </a:solidFill>
                <a:latin typeface="Consolas" panose="020B0609020204030204" pitchFamily="49" charset="0"/>
              </a:rPr>
              <a:t>3</a:t>
            </a:r>
            <a:r>
              <a:rPr lang="en-US" altLang="zh-CN" sz="1600" b="1" dirty="0">
                <a:solidFill>
                  <a:srgbClr val="3F9101"/>
                </a:solidFill>
                <a:latin typeface="Consolas" panose="020B0609020204030204" pitchFamily="49" charset="0"/>
              </a:rPr>
              <a:t>)</a:t>
            </a:r>
            <a:br>
              <a:rPr lang="en-US" altLang="zh-CN" sz="1600" b="1" dirty="0">
                <a:solidFill>
                  <a:srgbClr val="3F9101"/>
                </a:solidFill>
                <a:latin typeface="Consolas" panose="020B0609020204030204" pitchFamily="49" charset="0"/>
              </a:rPr>
            </a:br>
            <a:r>
              <a:rPr lang="en-US" altLang="zh-CN" sz="1600" b="1" dirty="0">
                <a:solidFill>
                  <a:srgbClr val="3F9101"/>
                </a:solidFill>
                <a:latin typeface="Consolas" panose="020B0609020204030204" pitchFamily="49" charset="0"/>
              </a:rPr>
              <a:t/>
            </a:r>
            <a:br>
              <a:rPr lang="en-US" altLang="zh-CN" sz="1600" b="1" dirty="0">
                <a:solidFill>
                  <a:srgbClr val="3F9101"/>
                </a:solidFill>
                <a:latin typeface="Consolas" panose="020B0609020204030204" pitchFamily="49" charset="0"/>
              </a:rPr>
            </a:br>
            <a:r>
              <a:rPr lang="en-US" altLang="zh-CN" sz="1600" b="1" dirty="0">
                <a:solidFill>
                  <a:srgbClr val="0200BD"/>
                </a:solidFill>
                <a:latin typeface="Consolas" panose="020B0609020204030204" pitchFamily="49" charset="0"/>
              </a:rPr>
              <a:t>print</a:t>
            </a:r>
            <a:r>
              <a:rPr lang="en-US" altLang="zh-CN" sz="1600" b="1" dirty="0">
                <a:solidFill>
                  <a:srgbClr val="3F9101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600" b="1" dirty="0" err="1">
                <a:solidFill>
                  <a:srgbClr val="F2612A"/>
                </a:solidFill>
                <a:latin typeface="Consolas" panose="020B0609020204030204" pitchFamily="49" charset="0"/>
              </a:rPr>
              <a:t>f"My</a:t>
            </a:r>
            <a:r>
              <a:rPr lang="en-US" altLang="zh-CN" sz="1600" b="1" dirty="0">
                <a:solidFill>
                  <a:srgbClr val="F2612A"/>
                </a:solidFill>
                <a:latin typeface="Consolas" panose="020B0609020204030204" pitchFamily="49" charset="0"/>
              </a:rPr>
              <a:t> dog's name is </a:t>
            </a:r>
            <a:r>
              <a:rPr lang="en-US" altLang="zh-CN" sz="1600" b="1" dirty="0">
                <a:solidFill>
                  <a:srgbClr val="3F9101"/>
                </a:solidFill>
                <a:latin typeface="Consolas" panose="020B0609020204030204" pitchFamily="49" charset="0"/>
              </a:rPr>
              <a:t>{</a:t>
            </a:r>
            <a:r>
              <a:rPr lang="en-US" altLang="zh-CN" sz="1600" b="1" dirty="0">
                <a:solidFill>
                  <a:srgbClr val="333333"/>
                </a:solidFill>
                <a:latin typeface="Consolas" panose="020B0609020204030204" pitchFamily="49" charset="0"/>
              </a:rPr>
              <a:t>my_dog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1600" b="1" dirty="0">
                <a:solidFill>
                  <a:srgbClr val="333333"/>
                </a:solidFill>
                <a:latin typeface="Consolas" panose="020B0609020204030204" pitchFamily="49" charset="0"/>
              </a:rPr>
              <a:t>name</a:t>
            </a:r>
            <a:r>
              <a:rPr lang="en-US" altLang="zh-CN" sz="1600" b="1" dirty="0">
                <a:solidFill>
                  <a:srgbClr val="3F9101"/>
                </a:solidFill>
                <a:latin typeface="Consolas" panose="020B0609020204030204" pitchFamily="49" charset="0"/>
              </a:rPr>
              <a:t>}</a:t>
            </a:r>
            <a:r>
              <a:rPr lang="en-US" altLang="zh-CN" sz="1600" b="1" dirty="0">
                <a:solidFill>
                  <a:srgbClr val="F2612A"/>
                </a:solidFill>
                <a:latin typeface="Consolas" panose="020B0609020204030204" pitchFamily="49" charset="0"/>
              </a:rPr>
              <a:t>."</a:t>
            </a:r>
            <a:r>
              <a:rPr lang="en-US" altLang="zh-CN" sz="1600" b="1" dirty="0">
                <a:solidFill>
                  <a:srgbClr val="3F9101"/>
                </a:solidFill>
                <a:latin typeface="Consolas" panose="020B0609020204030204" pitchFamily="49" charset="0"/>
              </a:rPr>
              <a:t>)</a:t>
            </a:r>
            <a:br>
              <a:rPr lang="en-US" altLang="zh-CN" sz="1600" b="1" dirty="0">
                <a:solidFill>
                  <a:srgbClr val="3F9101"/>
                </a:solidFill>
                <a:latin typeface="Consolas" panose="020B0609020204030204" pitchFamily="49" charset="0"/>
              </a:rPr>
            </a:br>
            <a:r>
              <a:rPr lang="en-US" altLang="zh-CN" sz="1600" b="1" dirty="0">
                <a:solidFill>
                  <a:srgbClr val="0200BD"/>
                </a:solidFill>
                <a:latin typeface="Consolas" panose="020B0609020204030204" pitchFamily="49" charset="0"/>
              </a:rPr>
              <a:t>print</a:t>
            </a:r>
            <a:r>
              <a:rPr lang="en-US" altLang="zh-CN" sz="1600" b="1" dirty="0">
                <a:solidFill>
                  <a:srgbClr val="3F9101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600" b="1" dirty="0" err="1">
                <a:solidFill>
                  <a:srgbClr val="F2612A"/>
                </a:solidFill>
                <a:latin typeface="Consolas" panose="020B0609020204030204" pitchFamily="49" charset="0"/>
              </a:rPr>
              <a:t>f"My</a:t>
            </a:r>
            <a:r>
              <a:rPr lang="en-US" altLang="zh-CN" sz="1600" b="1" dirty="0">
                <a:solidFill>
                  <a:srgbClr val="F2612A"/>
                </a:solidFill>
                <a:latin typeface="Consolas" panose="020B0609020204030204" pitchFamily="49" charset="0"/>
              </a:rPr>
              <a:t> dog is </a:t>
            </a:r>
            <a:r>
              <a:rPr lang="en-US" altLang="zh-CN" sz="1600" b="1" dirty="0">
                <a:solidFill>
                  <a:srgbClr val="3F9101"/>
                </a:solidFill>
                <a:latin typeface="Consolas" panose="020B0609020204030204" pitchFamily="49" charset="0"/>
              </a:rPr>
              <a:t>{</a:t>
            </a:r>
            <a:r>
              <a:rPr lang="en-US" altLang="zh-CN" sz="1600" b="1" dirty="0" err="1">
                <a:solidFill>
                  <a:srgbClr val="333333"/>
                </a:solidFill>
                <a:latin typeface="Consolas" panose="020B0609020204030204" pitchFamily="49" charset="0"/>
              </a:rPr>
              <a:t>my_dog</a:t>
            </a:r>
            <a:r>
              <a:rPr lang="en-US" altLang="zh-CN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1600" b="1" dirty="0" err="1">
                <a:solidFill>
                  <a:srgbClr val="333333"/>
                </a:solidFill>
                <a:latin typeface="Consolas" panose="020B0609020204030204" pitchFamily="49" charset="0"/>
              </a:rPr>
              <a:t>age</a:t>
            </a:r>
            <a:r>
              <a:rPr lang="en-US" altLang="zh-CN" sz="1600" b="1" dirty="0">
                <a:solidFill>
                  <a:srgbClr val="3F9101"/>
                </a:solidFill>
                <a:latin typeface="Consolas" panose="020B0609020204030204" pitchFamily="49" charset="0"/>
              </a:rPr>
              <a:t>}</a:t>
            </a:r>
            <a:r>
              <a:rPr lang="en-US" altLang="zh-CN" sz="1600" b="1" dirty="0">
                <a:solidFill>
                  <a:srgbClr val="F2612A"/>
                </a:solidFill>
                <a:latin typeface="Consolas" panose="020B0609020204030204" pitchFamily="49" charset="0"/>
              </a:rPr>
              <a:t> years old."</a:t>
            </a:r>
            <a:r>
              <a:rPr lang="en-US" altLang="zh-CN" sz="1600" b="1" dirty="0">
                <a:solidFill>
                  <a:srgbClr val="3F9101"/>
                </a:solidFill>
                <a:latin typeface="Consolas" panose="020B0609020204030204" pitchFamily="49" charset="0"/>
              </a:rPr>
              <a:t>)</a:t>
            </a:r>
            <a:br>
              <a:rPr lang="en-US" altLang="zh-CN" sz="1600" b="1" dirty="0">
                <a:solidFill>
                  <a:srgbClr val="3F9101"/>
                </a:solidFill>
                <a:latin typeface="Consolas" panose="020B0609020204030204" pitchFamily="49" charset="0"/>
              </a:rPr>
            </a:br>
            <a:r>
              <a:rPr lang="en-US" altLang="zh-CN" sz="1600" b="1" dirty="0" err="1">
                <a:solidFill>
                  <a:srgbClr val="333333"/>
                </a:solidFill>
                <a:latin typeface="Consolas" panose="020B0609020204030204" pitchFamily="49" charset="0"/>
              </a:rPr>
              <a:t>my_dog</a:t>
            </a:r>
            <a:r>
              <a:rPr lang="en-US" altLang="zh-CN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1600" b="1" err="1">
                <a:solidFill>
                  <a:srgbClr val="258DFF"/>
                </a:solidFill>
                <a:latin typeface="Consolas" panose="020B0609020204030204" pitchFamily="49" charset="0"/>
              </a:rPr>
              <a:t>sit</a:t>
            </a:r>
            <a:r>
              <a:rPr lang="en-US" altLang="zh-CN" sz="1600" b="1">
                <a:solidFill>
                  <a:srgbClr val="3F9101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altLang="zh-CN" sz="1600" b="1">
                <a:solidFill>
                  <a:prstClr val="black"/>
                </a:solidFill>
                <a:latin typeface="Consolas" panose="020B0609020204030204" pitchFamily="49" charset="0"/>
              </a:rPr>
              <a:t>my_dog.</a:t>
            </a:r>
            <a:r>
              <a:rPr lang="en-US" altLang="zh-CN" sz="1600" b="1">
                <a:solidFill>
                  <a:srgbClr val="258DFF"/>
                </a:solidFill>
                <a:latin typeface="Consolas" panose="020B0609020204030204" pitchFamily="49" charset="0"/>
              </a:rPr>
              <a:t>roll_over</a:t>
            </a:r>
            <a:r>
              <a:rPr lang="en-US" altLang="zh-CN" sz="1600" b="1">
                <a:solidFill>
                  <a:srgbClr val="3F9101"/>
                </a:solidFill>
                <a:latin typeface="Consolas" panose="020B0609020204030204" pitchFamily="49" charset="0"/>
              </a:rPr>
              <a:t>()</a:t>
            </a:r>
            <a:r>
              <a:rPr lang="en-US" altLang="zh-CN" sz="1600" b="1" dirty="0">
                <a:solidFill>
                  <a:srgbClr val="3F9101"/>
                </a:solidFill>
                <a:latin typeface="Consolas" panose="020B0609020204030204" pitchFamily="49" charset="0"/>
              </a:rPr>
              <a:t/>
            </a:r>
            <a:br>
              <a:rPr lang="en-US" altLang="zh-CN" sz="1600" b="1" dirty="0">
                <a:solidFill>
                  <a:srgbClr val="3F9101"/>
                </a:solidFill>
                <a:latin typeface="Consolas" panose="020B0609020204030204" pitchFamily="49" charset="0"/>
              </a:rPr>
            </a:br>
            <a:r>
              <a:rPr lang="en-US" altLang="zh-CN" sz="1600" b="1" dirty="0">
                <a:solidFill>
                  <a:srgbClr val="3F9101"/>
                </a:solidFill>
                <a:latin typeface="Consolas" panose="020B0609020204030204" pitchFamily="49" charset="0"/>
              </a:rPr>
              <a:t/>
            </a:r>
            <a:br>
              <a:rPr lang="en-US" altLang="zh-CN" sz="1600" b="1" dirty="0">
                <a:solidFill>
                  <a:srgbClr val="3F9101"/>
                </a:solidFill>
                <a:latin typeface="Consolas" panose="020B0609020204030204" pitchFamily="49" charset="0"/>
              </a:rPr>
            </a:br>
            <a:r>
              <a:rPr lang="en-US" altLang="zh-CN" sz="1600" b="1" dirty="0">
                <a:solidFill>
                  <a:srgbClr val="0200BD"/>
                </a:solidFill>
                <a:latin typeface="Consolas" panose="020B0609020204030204" pitchFamily="49" charset="0"/>
              </a:rPr>
              <a:t>print</a:t>
            </a:r>
            <a:r>
              <a:rPr lang="en-US" altLang="zh-CN" sz="1600" b="1" dirty="0">
                <a:solidFill>
                  <a:srgbClr val="3F9101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600" b="1" dirty="0">
                <a:solidFill>
                  <a:srgbClr val="F2612A"/>
                </a:solidFill>
                <a:latin typeface="Consolas" panose="020B0609020204030204" pitchFamily="49" charset="0"/>
              </a:rPr>
              <a:t>f"</a:t>
            </a:r>
            <a:r>
              <a:rPr lang="en-US" altLang="zh-CN" sz="1600" b="1" dirty="0">
                <a:solidFill>
                  <a:srgbClr val="183691"/>
                </a:solidFill>
                <a:latin typeface="Consolas" panose="020B0609020204030204" pitchFamily="49" charset="0"/>
              </a:rPr>
              <a:t>\</a:t>
            </a:r>
            <a:r>
              <a:rPr lang="en-US" altLang="zh-CN" sz="1600" b="1" dirty="0" err="1">
                <a:solidFill>
                  <a:srgbClr val="183691"/>
                </a:solidFill>
                <a:latin typeface="Consolas" panose="020B0609020204030204" pitchFamily="49" charset="0"/>
              </a:rPr>
              <a:t>n</a:t>
            </a:r>
            <a:r>
              <a:rPr lang="en-US" altLang="zh-CN" sz="1600" b="1" dirty="0" err="1">
                <a:solidFill>
                  <a:srgbClr val="F2612A"/>
                </a:solidFill>
                <a:latin typeface="Consolas" panose="020B0609020204030204" pitchFamily="49" charset="0"/>
              </a:rPr>
              <a:t>Your</a:t>
            </a:r>
            <a:r>
              <a:rPr lang="en-US" altLang="zh-CN" sz="1600" b="1" dirty="0">
                <a:solidFill>
                  <a:srgbClr val="F2612A"/>
                </a:solidFill>
                <a:latin typeface="Consolas" panose="020B0609020204030204" pitchFamily="49" charset="0"/>
              </a:rPr>
              <a:t> dog's name is </a:t>
            </a:r>
            <a:r>
              <a:rPr lang="en-US" altLang="zh-CN" sz="1600" b="1" dirty="0">
                <a:solidFill>
                  <a:srgbClr val="3F9101"/>
                </a:solidFill>
                <a:latin typeface="Consolas" panose="020B0609020204030204" pitchFamily="49" charset="0"/>
              </a:rPr>
              <a:t>{</a:t>
            </a:r>
            <a:r>
              <a:rPr lang="en-US" altLang="zh-CN" sz="1600" b="1" dirty="0">
                <a:solidFill>
                  <a:srgbClr val="333333"/>
                </a:solidFill>
                <a:latin typeface="Consolas" panose="020B0609020204030204" pitchFamily="49" charset="0"/>
              </a:rPr>
              <a:t>your_dog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1600" b="1" dirty="0">
                <a:solidFill>
                  <a:srgbClr val="333333"/>
                </a:solidFill>
                <a:latin typeface="Consolas" panose="020B0609020204030204" pitchFamily="49" charset="0"/>
              </a:rPr>
              <a:t>name</a:t>
            </a:r>
            <a:r>
              <a:rPr lang="en-US" altLang="zh-CN" sz="1600" b="1" dirty="0">
                <a:solidFill>
                  <a:srgbClr val="3F9101"/>
                </a:solidFill>
                <a:latin typeface="Consolas" panose="020B0609020204030204" pitchFamily="49" charset="0"/>
              </a:rPr>
              <a:t>}</a:t>
            </a:r>
            <a:r>
              <a:rPr lang="en-US" altLang="zh-CN" sz="1600" b="1" dirty="0">
                <a:solidFill>
                  <a:srgbClr val="F2612A"/>
                </a:solidFill>
                <a:latin typeface="Consolas" panose="020B0609020204030204" pitchFamily="49" charset="0"/>
              </a:rPr>
              <a:t>."</a:t>
            </a:r>
            <a:r>
              <a:rPr lang="en-US" altLang="zh-CN" sz="1600" b="1" dirty="0">
                <a:solidFill>
                  <a:srgbClr val="3F9101"/>
                </a:solidFill>
                <a:latin typeface="Consolas" panose="020B0609020204030204" pitchFamily="49" charset="0"/>
              </a:rPr>
              <a:t>)</a:t>
            </a:r>
            <a:br>
              <a:rPr lang="en-US" altLang="zh-CN" sz="1600" b="1" dirty="0">
                <a:solidFill>
                  <a:srgbClr val="3F9101"/>
                </a:solidFill>
                <a:latin typeface="Consolas" panose="020B0609020204030204" pitchFamily="49" charset="0"/>
              </a:rPr>
            </a:br>
            <a:r>
              <a:rPr lang="en-US" altLang="zh-CN" sz="1600" b="1" dirty="0">
                <a:solidFill>
                  <a:srgbClr val="0200BD"/>
                </a:solidFill>
                <a:latin typeface="Consolas" panose="020B0609020204030204" pitchFamily="49" charset="0"/>
              </a:rPr>
              <a:t>print</a:t>
            </a:r>
            <a:r>
              <a:rPr lang="en-US" altLang="zh-CN" sz="1600" b="1" dirty="0">
                <a:solidFill>
                  <a:srgbClr val="3F9101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600" b="1" dirty="0" err="1">
                <a:solidFill>
                  <a:srgbClr val="F2612A"/>
                </a:solidFill>
                <a:latin typeface="Consolas" panose="020B0609020204030204" pitchFamily="49" charset="0"/>
              </a:rPr>
              <a:t>f"Your</a:t>
            </a:r>
            <a:r>
              <a:rPr lang="en-US" altLang="zh-CN" sz="1600" b="1" dirty="0">
                <a:solidFill>
                  <a:srgbClr val="F2612A"/>
                </a:solidFill>
                <a:latin typeface="Consolas" panose="020B0609020204030204" pitchFamily="49" charset="0"/>
              </a:rPr>
              <a:t> dog is </a:t>
            </a:r>
            <a:r>
              <a:rPr lang="en-US" altLang="zh-CN" sz="1600" b="1" dirty="0">
                <a:solidFill>
                  <a:srgbClr val="3F9101"/>
                </a:solidFill>
                <a:latin typeface="Consolas" panose="020B0609020204030204" pitchFamily="49" charset="0"/>
              </a:rPr>
              <a:t>{</a:t>
            </a:r>
            <a:r>
              <a:rPr lang="en-US" altLang="zh-CN" sz="1600" b="1" dirty="0" err="1">
                <a:solidFill>
                  <a:srgbClr val="333333"/>
                </a:solidFill>
                <a:latin typeface="Consolas" panose="020B0609020204030204" pitchFamily="49" charset="0"/>
              </a:rPr>
              <a:t>your_dog</a:t>
            </a:r>
            <a:r>
              <a:rPr lang="en-US" altLang="zh-CN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1600" b="1" dirty="0" err="1">
                <a:solidFill>
                  <a:srgbClr val="333333"/>
                </a:solidFill>
                <a:latin typeface="Consolas" panose="020B0609020204030204" pitchFamily="49" charset="0"/>
              </a:rPr>
              <a:t>age</a:t>
            </a:r>
            <a:r>
              <a:rPr lang="en-US" altLang="zh-CN" sz="1600" b="1" dirty="0">
                <a:solidFill>
                  <a:srgbClr val="3F9101"/>
                </a:solidFill>
                <a:latin typeface="Consolas" panose="020B0609020204030204" pitchFamily="49" charset="0"/>
              </a:rPr>
              <a:t>}</a:t>
            </a:r>
            <a:r>
              <a:rPr lang="en-US" altLang="zh-CN" sz="1600" b="1" dirty="0">
                <a:solidFill>
                  <a:srgbClr val="F2612A"/>
                </a:solidFill>
                <a:latin typeface="Consolas" panose="020B0609020204030204" pitchFamily="49" charset="0"/>
              </a:rPr>
              <a:t> years old."</a:t>
            </a:r>
            <a:r>
              <a:rPr lang="en-US" altLang="zh-CN" sz="1600" b="1" dirty="0">
                <a:solidFill>
                  <a:srgbClr val="3F9101"/>
                </a:solidFill>
                <a:latin typeface="Consolas" panose="020B0609020204030204" pitchFamily="49" charset="0"/>
              </a:rPr>
              <a:t>)</a:t>
            </a:r>
            <a:br>
              <a:rPr lang="en-US" altLang="zh-CN" sz="1600" b="1" dirty="0">
                <a:solidFill>
                  <a:srgbClr val="3F9101"/>
                </a:solidFill>
                <a:latin typeface="Consolas" panose="020B0609020204030204" pitchFamily="49" charset="0"/>
              </a:rPr>
            </a:br>
            <a:r>
              <a:rPr lang="en-US" altLang="zh-CN" sz="1600" b="1" dirty="0" err="1">
                <a:solidFill>
                  <a:srgbClr val="333333"/>
                </a:solidFill>
                <a:latin typeface="Consolas" panose="020B0609020204030204" pitchFamily="49" charset="0"/>
              </a:rPr>
              <a:t>your_dog</a:t>
            </a:r>
            <a:r>
              <a:rPr lang="en-US" altLang="zh-CN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1600" b="1" err="1">
                <a:solidFill>
                  <a:srgbClr val="258DFF"/>
                </a:solidFill>
                <a:latin typeface="Consolas" panose="020B0609020204030204" pitchFamily="49" charset="0"/>
              </a:rPr>
              <a:t>sit</a:t>
            </a:r>
            <a:r>
              <a:rPr lang="en-US" altLang="zh-CN" sz="1600" b="1">
                <a:solidFill>
                  <a:srgbClr val="3F9101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altLang="zh-CN" sz="1600" b="1">
                <a:solidFill>
                  <a:prstClr val="black"/>
                </a:solidFill>
                <a:latin typeface="Consolas" panose="020B0609020204030204" pitchFamily="49" charset="0"/>
              </a:rPr>
              <a:t>your_dog.</a:t>
            </a:r>
            <a:r>
              <a:rPr lang="en-US" altLang="zh-CN" sz="1600" b="1">
                <a:solidFill>
                  <a:srgbClr val="258DFF"/>
                </a:solidFill>
                <a:latin typeface="Consolas" panose="020B0609020204030204" pitchFamily="49" charset="0"/>
              </a:rPr>
              <a:t>roll_over</a:t>
            </a:r>
            <a:r>
              <a:rPr lang="en-US" altLang="zh-CN" sz="1600" b="1">
                <a:solidFill>
                  <a:srgbClr val="3F9101"/>
                </a:solidFill>
                <a:latin typeface="Consolas" panose="020B0609020204030204" pitchFamily="49" charset="0"/>
              </a:rPr>
              <a:t>()</a:t>
            </a:r>
            <a:endParaRPr lang="en-US" altLang="zh-CN" sz="1600" b="1" dirty="0">
              <a:solidFill>
                <a:srgbClr val="333333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xmlns="" id="{11648431-B0F7-C6AA-9866-11705568A531}"/>
              </a:ext>
            </a:extLst>
          </p:cNvPr>
          <p:cNvSpPr txBox="1"/>
          <p:nvPr/>
        </p:nvSpPr>
        <p:spPr>
          <a:xfrm>
            <a:off x="7723753" y="2557130"/>
            <a:ext cx="3576885" cy="2646878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b="1" dirty="0">
                <a:solidFill>
                  <a:srgbClr val="333333"/>
                </a:solidFill>
                <a:highlight>
                  <a:srgbClr val="C0C0C0"/>
                </a:highlight>
                <a:latin typeface="Consolas" panose="020B0609020204030204" pitchFamily="49" charset="0"/>
                <a:ea typeface="微软雅黑" panose="020B0503020204020204" pitchFamily="34" charset="-122"/>
              </a:rPr>
              <a:t>运行结果</a:t>
            </a:r>
            <a:endParaRPr lang="en-US" altLang="zh-CN" b="1" dirty="0">
              <a:solidFill>
                <a:srgbClr val="333333"/>
              </a:solidFill>
              <a:highlight>
                <a:srgbClr val="C0C0C0"/>
              </a:highlight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en-US" altLang="zh-CN" sz="1600" dirty="0">
                <a:solidFill>
                  <a:srgbClr val="333333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My dog's name is Willie.</a:t>
            </a:r>
          </a:p>
          <a:p>
            <a:pPr>
              <a:defRPr/>
            </a:pPr>
            <a:r>
              <a:rPr lang="en-US" altLang="zh-CN" sz="1600" dirty="0">
                <a:solidFill>
                  <a:srgbClr val="333333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My dog is 6 years old.</a:t>
            </a:r>
          </a:p>
          <a:p>
            <a:pPr>
              <a:defRPr/>
            </a:pPr>
            <a:r>
              <a:rPr lang="en-US" altLang="zh-CN" sz="1600" dirty="0">
                <a:solidFill>
                  <a:srgbClr val="333333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Willie is now </a:t>
            </a:r>
            <a:r>
              <a:rPr lang="en-US" altLang="zh-CN" sz="1600">
                <a:solidFill>
                  <a:srgbClr val="333333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sitting.</a:t>
            </a:r>
          </a:p>
          <a:p>
            <a:r>
              <a:rPr lang="en-US" altLang="zh-CN" sz="1600">
                <a:solidFill>
                  <a:srgbClr val="333333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Willie rolled over!</a:t>
            </a:r>
            <a:endParaRPr lang="en-US" altLang="zh-CN" sz="1600" dirty="0">
              <a:solidFill>
                <a:srgbClr val="333333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pPr>
              <a:defRPr/>
            </a:pPr>
            <a:endParaRPr lang="en-US" altLang="zh-CN" sz="1600" dirty="0">
              <a:solidFill>
                <a:srgbClr val="333333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en-US" altLang="zh-CN" sz="1600" dirty="0">
                <a:solidFill>
                  <a:srgbClr val="333333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Your dog's name is Lucy.</a:t>
            </a:r>
          </a:p>
          <a:p>
            <a:pPr>
              <a:defRPr/>
            </a:pPr>
            <a:r>
              <a:rPr lang="en-US" altLang="zh-CN" sz="1600" dirty="0">
                <a:solidFill>
                  <a:srgbClr val="333333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Your dog is 3 years old.</a:t>
            </a:r>
          </a:p>
          <a:p>
            <a:pPr>
              <a:defRPr/>
            </a:pPr>
            <a:r>
              <a:rPr lang="en-US" altLang="zh-CN" sz="1600" dirty="0">
                <a:solidFill>
                  <a:srgbClr val="333333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Lucy is now </a:t>
            </a:r>
            <a:r>
              <a:rPr lang="en-US" altLang="zh-CN" sz="1600">
                <a:solidFill>
                  <a:srgbClr val="333333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sitting.</a:t>
            </a:r>
          </a:p>
          <a:p>
            <a:r>
              <a:rPr lang="en-US" altLang="zh-CN" sz="1600">
                <a:solidFill>
                  <a:srgbClr val="333333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Lucy rolled over!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xmlns="" id="{EA653385-3F52-2F04-F902-050983E9E7A6}"/>
              </a:ext>
            </a:extLst>
          </p:cNvPr>
          <p:cNvSpPr txBox="1"/>
          <p:nvPr/>
        </p:nvSpPr>
        <p:spPr>
          <a:xfrm>
            <a:off x="-65566" y="6488668"/>
            <a:ext cx="61084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>
                <a:solidFill>
                  <a:prstClr val="black"/>
                </a:solidFill>
              </a:rPr>
              <a:t>《Python </a:t>
            </a:r>
            <a:r>
              <a:rPr lang="zh-CN" altLang="en-US">
                <a:solidFill>
                  <a:prstClr val="black"/>
                </a:solidFill>
              </a:rPr>
              <a:t>编程：从入门到实践（第三版）</a:t>
            </a:r>
            <a:r>
              <a:rPr lang="en-US" altLang="zh-CN">
                <a:solidFill>
                  <a:prstClr val="black"/>
                </a:solidFill>
              </a:rPr>
              <a:t>》</a:t>
            </a:r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24347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二、面向对象的程序设计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1123422"/>
            <a:ext cx="10858500" cy="5003800"/>
          </a:xfrm>
        </p:spPr>
        <p:txBody>
          <a:bodyPr>
            <a:normAutofit fontScale="92500" lnSpcReduction="20000"/>
          </a:bodyPr>
          <a:lstStyle/>
          <a:p>
            <a:r>
              <a:rPr lang="en-US" altLang="zh-CN"/>
              <a:t>1. </a:t>
            </a:r>
            <a:r>
              <a:rPr lang="zh-CN" altLang="en-US"/>
              <a:t>新创建</a:t>
            </a:r>
            <a:r>
              <a:rPr lang="en-US" altLang="zh-CN"/>
              <a:t>class</a:t>
            </a:r>
          </a:p>
          <a:p>
            <a:pPr lvl="1">
              <a:spcBef>
                <a:spcPts val="1200"/>
              </a:spcBef>
            </a:pPr>
            <a:r>
              <a:rPr lang="en-US" altLang="zh-CN"/>
              <a:t>(1)</a:t>
            </a:r>
            <a:r>
              <a:rPr lang="zh-CN" altLang="en-US"/>
              <a:t>新建</a:t>
            </a:r>
            <a:r>
              <a:rPr lang="en-US" altLang="zh-CN"/>
              <a:t>class</a:t>
            </a:r>
            <a:r>
              <a:rPr lang="zh-CN" altLang="en-US"/>
              <a:t>的格式</a:t>
            </a:r>
            <a:endParaRPr lang="en-US" altLang="zh-CN"/>
          </a:p>
          <a:p>
            <a:pPr lvl="2">
              <a:spcBef>
                <a:spcPts val="1200"/>
              </a:spcBef>
            </a:pPr>
            <a:r>
              <a:rPr lang="zh-CN" altLang="en-US"/>
              <a:t>以</a:t>
            </a:r>
            <a:r>
              <a:rPr lang="en-US" altLang="zh-CN"/>
              <a:t>class</a:t>
            </a:r>
            <a:r>
              <a:rPr lang="zh-CN" altLang="en-US"/>
              <a:t>为标记，：代表程序块</a:t>
            </a:r>
            <a:endParaRPr lang="en-US" altLang="zh-CN"/>
          </a:p>
          <a:p>
            <a:pPr lvl="2">
              <a:spcBef>
                <a:spcPts val="1200"/>
              </a:spcBef>
            </a:pPr>
            <a:r>
              <a:rPr lang="zh-CN" altLang="en-US"/>
              <a:t>定义初始化函数</a:t>
            </a:r>
            <a:r>
              <a:rPr lang="en-US" altLang="zh-CN"/>
              <a:t>_ _init_ _</a:t>
            </a:r>
          </a:p>
          <a:p>
            <a:pPr lvl="3">
              <a:spcBef>
                <a:spcPts val="1200"/>
              </a:spcBef>
            </a:pPr>
            <a:r>
              <a:rPr lang="zh-CN" altLang="en-US">
                <a:solidFill>
                  <a:srgbClr val="FF0000"/>
                </a:solidFill>
              </a:rPr>
              <a:t>双下划线</a:t>
            </a:r>
            <a:endParaRPr lang="en-US" altLang="zh-CN">
              <a:solidFill>
                <a:srgbClr val="FF0000"/>
              </a:solidFill>
            </a:endParaRPr>
          </a:p>
          <a:p>
            <a:pPr lvl="3">
              <a:spcBef>
                <a:spcPts val="1200"/>
              </a:spcBef>
            </a:pPr>
            <a:r>
              <a:rPr lang="zh-CN" altLang="en-US"/>
              <a:t>用于创建对象时使用，构造函数</a:t>
            </a:r>
            <a:endParaRPr lang="en-US" altLang="zh-CN"/>
          </a:p>
          <a:p>
            <a:pPr lvl="2">
              <a:spcBef>
                <a:spcPts val="1200"/>
              </a:spcBef>
            </a:pPr>
            <a:r>
              <a:rPr lang="zh-CN" altLang="en-US"/>
              <a:t>每个自定义方法中必带</a:t>
            </a:r>
            <a:r>
              <a:rPr lang="en-US" altLang="zh-CN"/>
              <a:t>self</a:t>
            </a:r>
            <a:r>
              <a:rPr lang="zh-CN" altLang="en-US"/>
              <a:t>参数</a:t>
            </a:r>
            <a:endParaRPr lang="en-US" altLang="zh-CN"/>
          </a:p>
          <a:p>
            <a:pPr lvl="3">
              <a:spcBef>
                <a:spcPts val="1200"/>
              </a:spcBef>
            </a:pPr>
            <a:r>
              <a:rPr lang="zh-CN" altLang="en-US"/>
              <a:t>调用时不需要有实参匹配</a:t>
            </a:r>
            <a:r>
              <a:rPr lang="en-US" altLang="zh-CN"/>
              <a:t>self</a:t>
            </a:r>
          </a:p>
          <a:p>
            <a:pPr lvl="2">
              <a:spcBef>
                <a:spcPts val="1200"/>
              </a:spcBef>
            </a:pPr>
            <a:r>
              <a:rPr lang="zh-CN" altLang="en-US"/>
              <a:t>在</a:t>
            </a:r>
            <a:r>
              <a:rPr lang="en-US" altLang="zh-CN"/>
              <a:t>Class</a:t>
            </a:r>
            <a:r>
              <a:rPr lang="zh-CN" altLang="en-US"/>
              <a:t>中：</a:t>
            </a:r>
            <a:endParaRPr lang="en-US" altLang="zh-CN"/>
          </a:p>
          <a:p>
            <a:pPr lvl="3">
              <a:spcBef>
                <a:spcPts val="1200"/>
              </a:spcBef>
            </a:pPr>
            <a:r>
              <a:rPr lang="zh-CN" altLang="en-US" b="1"/>
              <a:t>成员变量</a:t>
            </a:r>
            <a:r>
              <a:rPr lang="en-US" altLang="zh-CN"/>
              <a:t>——</a:t>
            </a:r>
            <a:r>
              <a:rPr lang="zh-CN" altLang="en-US"/>
              <a:t>对象的静态属性</a:t>
            </a:r>
            <a:endParaRPr lang="en-US" altLang="zh-CN"/>
          </a:p>
          <a:p>
            <a:pPr lvl="4">
              <a:spcBef>
                <a:spcPts val="1200"/>
              </a:spcBef>
            </a:pPr>
            <a:r>
              <a:rPr lang="zh-CN" altLang="en-US"/>
              <a:t>在</a:t>
            </a:r>
            <a:r>
              <a:rPr lang="en-US" altLang="zh-CN"/>
              <a:t>init</a:t>
            </a:r>
            <a:r>
              <a:rPr lang="zh-CN" altLang="en-US"/>
              <a:t>定义，以</a:t>
            </a:r>
            <a:r>
              <a:rPr lang="en-US" altLang="zh-CN"/>
              <a:t>self</a:t>
            </a:r>
            <a:r>
              <a:rPr lang="zh-CN" altLang="en-US"/>
              <a:t>标注</a:t>
            </a:r>
            <a:endParaRPr lang="en-US" altLang="zh-CN"/>
          </a:p>
          <a:p>
            <a:pPr lvl="3">
              <a:spcBef>
                <a:spcPts val="1200"/>
              </a:spcBef>
            </a:pPr>
            <a:r>
              <a:rPr lang="zh-CN" altLang="en-US" b="1"/>
              <a:t>类变量</a:t>
            </a:r>
            <a:r>
              <a:rPr lang="en-US" altLang="zh-CN"/>
              <a:t>——</a:t>
            </a:r>
            <a:r>
              <a:rPr lang="zh-CN" altLang="en-US"/>
              <a:t>类的属性</a:t>
            </a:r>
            <a:endParaRPr lang="en-US" altLang="zh-CN"/>
          </a:p>
          <a:p>
            <a:pPr lvl="4">
              <a:spcBef>
                <a:spcPts val="1200"/>
              </a:spcBef>
            </a:pPr>
            <a:r>
              <a:rPr lang="zh-CN" altLang="en-US"/>
              <a:t>只隶属于</a:t>
            </a:r>
            <a:r>
              <a:rPr lang="en-US" altLang="zh-CN"/>
              <a:t>class</a:t>
            </a:r>
            <a:r>
              <a:rPr lang="zh-CN" altLang="en-US"/>
              <a:t>，顶部</a:t>
            </a:r>
            <a:endParaRPr lang="en-US" altLang="zh-CN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xmlns="" id="{6E88F25B-2E43-23AE-E06D-0F6E9961CEF5}"/>
              </a:ext>
            </a:extLst>
          </p:cNvPr>
          <p:cNvSpPr txBox="1"/>
          <p:nvPr/>
        </p:nvSpPr>
        <p:spPr>
          <a:xfrm>
            <a:off x="4398329" y="1189930"/>
            <a:ext cx="3168503" cy="4884539"/>
          </a:xfrm>
          <a:prstGeom prst="round2Diag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40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altLang="zh-CN" sz="140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>
                <a:solidFill>
                  <a:srgbClr val="267F99"/>
                </a:solidFill>
                <a:latin typeface="Consolas" panose="020B0609020204030204" pitchFamily="49" charset="0"/>
              </a:rPr>
              <a:t>MySanJiao</a:t>
            </a:r>
            <a:r>
              <a:rPr lang="en-US" altLang="zh-CN" sz="1400">
                <a:solidFill>
                  <a:srgbClr val="3B3B3B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altLang="zh-CN" sz="140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en-US" altLang="zh-CN" sz="1400">
                <a:solidFill>
                  <a:srgbClr val="001080"/>
                </a:solidFill>
                <a:latin typeface="Consolas" panose="020B0609020204030204" pitchFamily="49" charset="0"/>
              </a:rPr>
              <a:t>character</a:t>
            </a:r>
            <a:r>
              <a:rPr lang="en-US" altLang="zh-CN" sz="140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400">
                <a:solidFill>
                  <a:srgbClr val="A31515"/>
                </a:solidFill>
                <a:latin typeface="Consolas" panose="020B0609020204030204" pitchFamily="49" charset="0"/>
              </a:rPr>
              <a:t>''</a:t>
            </a:r>
            <a:endParaRPr lang="en-US" altLang="zh-CN" sz="140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US" altLang="zh-CN" sz="140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en-US" altLang="zh-CN" sz="1400">
                <a:solidFill>
                  <a:srgbClr val="001080"/>
                </a:solidFill>
                <a:latin typeface="Consolas" panose="020B0609020204030204" pitchFamily="49" charset="0"/>
              </a:rPr>
              <a:t>type</a:t>
            </a:r>
            <a:r>
              <a:rPr lang="en-US" altLang="zh-CN" sz="140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400">
                <a:solidFill>
                  <a:srgbClr val="A31515"/>
                </a:solidFill>
                <a:latin typeface="Consolas" panose="020B0609020204030204" pitchFamily="49" charset="0"/>
              </a:rPr>
              <a:t>''</a:t>
            </a:r>
            <a:endParaRPr lang="en-US" altLang="zh-CN" sz="140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US" altLang="zh-CN" sz="140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</a:p>
          <a:p>
            <a:r>
              <a:rPr lang="en-US" altLang="zh-CN" sz="140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en-US" altLang="zh-CN" sz="1400" err="1">
                <a:solidFill>
                  <a:srgbClr val="0000FF"/>
                </a:solidFill>
                <a:latin typeface="Consolas" panose="020B0609020204030204" pitchFamily="49" charset="0"/>
              </a:rPr>
              <a:t>def</a:t>
            </a:r>
            <a:r>
              <a:rPr lang="en-US" altLang="zh-CN" sz="1400" err="1">
                <a:solidFill>
                  <a:srgbClr val="795E26"/>
                </a:solidFill>
                <a:latin typeface="Consolas" panose="020B0609020204030204" pitchFamily="49" charset="0"/>
              </a:rPr>
              <a:t>__init</a:t>
            </a:r>
            <a:r>
              <a:rPr lang="en-US" altLang="zh-CN" sz="1400">
                <a:solidFill>
                  <a:srgbClr val="795E26"/>
                </a:solidFill>
                <a:latin typeface="Consolas" panose="020B0609020204030204" pitchFamily="49" charset="0"/>
              </a:rPr>
              <a:t>__</a:t>
            </a:r>
            <a:r>
              <a:rPr lang="en-US" altLang="zh-CN" sz="140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>
                <a:solidFill>
                  <a:srgbClr val="001080"/>
                </a:solidFill>
                <a:latin typeface="Consolas" panose="020B0609020204030204" pitchFamily="49" charset="0"/>
              </a:rPr>
              <a:t>self</a:t>
            </a:r>
            <a:r>
              <a:rPr lang="en-US" altLang="zh-CN" sz="1400">
                <a:solidFill>
                  <a:srgbClr val="3B3B3B"/>
                </a:solidFill>
                <a:latin typeface="Consolas" panose="020B0609020204030204" pitchFamily="49" charset="0"/>
              </a:rPr>
              <a:t>,</a:t>
            </a:r>
            <a:r>
              <a:rPr lang="en-US" altLang="zh-CN" sz="1400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en-US" altLang="zh-CN" sz="1400">
                <a:solidFill>
                  <a:srgbClr val="3B3B3B"/>
                </a:solidFill>
                <a:latin typeface="Consolas" panose="020B0609020204030204" pitchFamily="49" charset="0"/>
              </a:rPr>
              <a:t>,</a:t>
            </a:r>
            <a:r>
              <a:rPr lang="en-US" altLang="zh-CN" sz="1400">
                <a:solidFill>
                  <a:srgbClr val="001080"/>
                </a:solidFill>
                <a:latin typeface="Consolas" panose="020B0609020204030204" pitchFamily="49" charset="0"/>
              </a:rPr>
              <a:t>y</a:t>
            </a:r>
            <a:r>
              <a:rPr lang="en-US" altLang="zh-CN" sz="1400">
                <a:solidFill>
                  <a:srgbClr val="3B3B3B"/>
                </a:solidFill>
                <a:latin typeface="Consolas" panose="020B0609020204030204" pitchFamily="49" charset="0"/>
              </a:rPr>
              <a:t>,</a:t>
            </a:r>
            <a:r>
              <a:rPr lang="en-US" altLang="zh-CN" sz="1400">
                <a:solidFill>
                  <a:srgbClr val="001080"/>
                </a:solidFill>
                <a:latin typeface="Consolas" panose="020B0609020204030204" pitchFamily="49" charset="0"/>
              </a:rPr>
              <a:t>z</a:t>
            </a:r>
            <a:r>
              <a:rPr lang="en-US" altLang="zh-CN" sz="1400">
                <a:solidFill>
                  <a:srgbClr val="3B3B3B"/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en-US" altLang="zh-CN" sz="140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zh-CN" sz="1400">
                <a:solidFill>
                  <a:srgbClr val="001080"/>
                </a:solidFill>
                <a:latin typeface="Consolas" panose="020B0609020204030204" pitchFamily="49" charset="0"/>
              </a:rPr>
              <a:t>self</a:t>
            </a:r>
            <a:r>
              <a:rPr lang="en-US" altLang="zh-CN" sz="1400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1400">
                <a:solidFill>
                  <a:srgbClr val="001080"/>
                </a:solidFill>
                <a:latin typeface="Consolas" panose="020B0609020204030204" pitchFamily="49" charset="0"/>
              </a:rPr>
              <a:t>a</a:t>
            </a:r>
            <a:r>
              <a:rPr lang="en-US" altLang="zh-CN" sz="140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40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endParaRPr lang="en-US" altLang="zh-CN" sz="140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US" altLang="zh-CN" sz="140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zh-CN" sz="1400">
                <a:solidFill>
                  <a:srgbClr val="001080"/>
                </a:solidFill>
                <a:latin typeface="Consolas" panose="020B0609020204030204" pitchFamily="49" charset="0"/>
              </a:rPr>
              <a:t>self</a:t>
            </a:r>
            <a:r>
              <a:rPr lang="en-US" altLang="zh-CN" sz="1400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1400">
                <a:solidFill>
                  <a:srgbClr val="001080"/>
                </a:solidFill>
                <a:latin typeface="Consolas" panose="020B0609020204030204" pitchFamily="49" charset="0"/>
              </a:rPr>
              <a:t>b</a:t>
            </a:r>
            <a:r>
              <a:rPr lang="en-US" altLang="zh-CN" sz="140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40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>
                <a:solidFill>
                  <a:srgbClr val="001080"/>
                </a:solidFill>
                <a:latin typeface="Consolas" panose="020B0609020204030204" pitchFamily="49" charset="0"/>
              </a:rPr>
              <a:t>y</a:t>
            </a:r>
            <a:endParaRPr lang="en-US" altLang="zh-CN" sz="140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US" altLang="zh-CN" sz="140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zh-CN" sz="1400">
                <a:solidFill>
                  <a:srgbClr val="001080"/>
                </a:solidFill>
                <a:latin typeface="Consolas" panose="020B0609020204030204" pitchFamily="49" charset="0"/>
              </a:rPr>
              <a:t>self</a:t>
            </a:r>
            <a:r>
              <a:rPr lang="en-US" altLang="zh-CN" sz="1400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1400">
                <a:solidFill>
                  <a:srgbClr val="001080"/>
                </a:solidFill>
                <a:latin typeface="Consolas" panose="020B0609020204030204" pitchFamily="49" charset="0"/>
              </a:rPr>
              <a:t>c</a:t>
            </a:r>
            <a:r>
              <a:rPr lang="en-US" altLang="zh-CN" sz="140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40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>
                <a:solidFill>
                  <a:srgbClr val="001080"/>
                </a:solidFill>
                <a:latin typeface="Consolas" panose="020B0609020204030204" pitchFamily="49" charset="0"/>
              </a:rPr>
              <a:t>z</a:t>
            </a:r>
          </a:p>
          <a:p>
            <a:endParaRPr lang="en-US" altLang="zh-CN" sz="140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US" altLang="zh-CN" sz="140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en-US" altLang="zh-CN" sz="1400">
                <a:solidFill>
                  <a:srgbClr val="0000FF"/>
                </a:solidFill>
                <a:latin typeface="Consolas" panose="020B0609020204030204" pitchFamily="49" charset="0"/>
              </a:rPr>
              <a:t>def</a:t>
            </a:r>
            <a:r>
              <a:rPr lang="en-US" altLang="zh-CN" sz="140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>
                <a:solidFill>
                  <a:srgbClr val="795E26"/>
                </a:solidFill>
                <a:latin typeface="Consolas" panose="020B0609020204030204" pitchFamily="49" charset="0"/>
              </a:rPr>
              <a:t>getMax</a:t>
            </a:r>
            <a:r>
              <a:rPr lang="en-US" altLang="zh-CN" sz="140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>
                <a:solidFill>
                  <a:srgbClr val="001080"/>
                </a:solidFill>
                <a:latin typeface="Consolas" panose="020B0609020204030204" pitchFamily="49" charset="0"/>
              </a:rPr>
              <a:t>self</a:t>
            </a:r>
            <a:r>
              <a:rPr lang="en-US" altLang="zh-CN" sz="1400">
                <a:solidFill>
                  <a:srgbClr val="3B3B3B"/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en-US" altLang="zh-CN" sz="140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zh-CN" sz="1400">
                <a:solidFill>
                  <a:srgbClr val="001080"/>
                </a:solidFill>
                <a:latin typeface="Consolas" panose="020B0609020204030204" pitchFamily="49" charset="0"/>
              </a:rPr>
              <a:t>maxx</a:t>
            </a:r>
            <a:r>
              <a:rPr lang="en-US" altLang="zh-CN" sz="140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40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>
                <a:solidFill>
                  <a:srgbClr val="001080"/>
                </a:solidFill>
                <a:latin typeface="Consolas" panose="020B0609020204030204" pitchFamily="49" charset="0"/>
              </a:rPr>
              <a:t>self</a:t>
            </a:r>
            <a:r>
              <a:rPr lang="en-US" altLang="zh-CN" sz="1400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1400">
                <a:solidFill>
                  <a:srgbClr val="001080"/>
                </a:solidFill>
                <a:latin typeface="Consolas" panose="020B0609020204030204" pitchFamily="49" charset="0"/>
              </a:rPr>
              <a:t>a</a:t>
            </a:r>
            <a:endParaRPr lang="en-US" altLang="zh-CN" sz="140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US" altLang="zh-CN" sz="140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zh-CN" sz="1400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en-US" altLang="zh-CN" sz="140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>
                <a:solidFill>
                  <a:srgbClr val="001080"/>
                </a:solidFill>
                <a:latin typeface="Consolas" panose="020B0609020204030204" pitchFamily="49" charset="0"/>
              </a:rPr>
              <a:t>self</a:t>
            </a:r>
            <a:r>
              <a:rPr lang="en-US" altLang="zh-CN" sz="1400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1400">
                <a:solidFill>
                  <a:srgbClr val="001080"/>
                </a:solidFill>
                <a:latin typeface="Consolas" panose="020B0609020204030204" pitchFamily="49" charset="0"/>
              </a:rPr>
              <a:t>b</a:t>
            </a:r>
            <a:r>
              <a:rPr lang="en-US" altLang="zh-CN" sz="140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  <a:r>
              <a:rPr lang="en-US" altLang="zh-CN" sz="1400">
                <a:solidFill>
                  <a:srgbClr val="001080"/>
                </a:solidFill>
                <a:latin typeface="Consolas" panose="020B0609020204030204" pitchFamily="49" charset="0"/>
              </a:rPr>
              <a:t>maxx</a:t>
            </a:r>
            <a:r>
              <a:rPr lang="en-US" altLang="zh-CN" sz="1400">
                <a:solidFill>
                  <a:srgbClr val="3B3B3B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altLang="zh-CN" sz="1400">
                <a:solidFill>
                  <a:srgbClr val="3B3B3B"/>
                </a:solidFill>
                <a:latin typeface="Consolas" panose="020B0609020204030204" pitchFamily="49" charset="0"/>
              </a:rPr>
              <a:t>            </a:t>
            </a:r>
            <a:r>
              <a:rPr lang="en-US" altLang="zh-CN" sz="1400">
                <a:solidFill>
                  <a:srgbClr val="001080"/>
                </a:solidFill>
                <a:latin typeface="Consolas" panose="020B0609020204030204" pitchFamily="49" charset="0"/>
              </a:rPr>
              <a:t>maxx</a:t>
            </a:r>
            <a:r>
              <a:rPr lang="en-US" altLang="zh-CN" sz="140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40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>
                <a:solidFill>
                  <a:srgbClr val="001080"/>
                </a:solidFill>
                <a:latin typeface="Consolas" panose="020B0609020204030204" pitchFamily="49" charset="0"/>
              </a:rPr>
              <a:t>self</a:t>
            </a:r>
            <a:r>
              <a:rPr lang="en-US" altLang="zh-CN" sz="1400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1400">
                <a:solidFill>
                  <a:srgbClr val="001080"/>
                </a:solidFill>
                <a:latin typeface="Consolas" panose="020B0609020204030204" pitchFamily="49" charset="0"/>
              </a:rPr>
              <a:t>b</a:t>
            </a:r>
            <a:endParaRPr lang="en-US" altLang="zh-CN" sz="140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US" altLang="zh-CN" sz="140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zh-CN" sz="1400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en-US" altLang="zh-CN" sz="140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>
                <a:solidFill>
                  <a:srgbClr val="001080"/>
                </a:solidFill>
                <a:latin typeface="Consolas" panose="020B0609020204030204" pitchFamily="49" charset="0"/>
              </a:rPr>
              <a:t>self</a:t>
            </a:r>
            <a:r>
              <a:rPr lang="en-US" altLang="zh-CN" sz="1400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1400">
                <a:solidFill>
                  <a:srgbClr val="001080"/>
                </a:solidFill>
                <a:latin typeface="Consolas" panose="020B0609020204030204" pitchFamily="49" charset="0"/>
              </a:rPr>
              <a:t>c</a:t>
            </a:r>
            <a:r>
              <a:rPr lang="en-US" altLang="zh-CN" sz="140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  <a:r>
              <a:rPr lang="en-US" altLang="zh-CN" sz="1400">
                <a:solidFill>
                  <a:srgbClr val="001080"/>
                </a:solidFill>
                <a:latin typeface="Consolas" panose="020B0609020204030204" pitchFamily="49" charset="0"/>
              </a:rPr>
              <a:t>maxx</a:t>
            </a:r>
            <a:r>
              <a:rPr lang="en-US" altLang="zh-CN" sz="1400">
                <a:solidFill>
                  <a:srgbClr val="3B3B3B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altLang="zh-CN" sz="1400">
                <a:solidFill>
                  <a:srgbClr val="3B3B3B"/>
                </a:solidFill>
                <a:latin typeface="Consolas" panose="020B0609020204030204" pitchFamily="49" charset="0"/>
              </a:rPr>
              <a:t>            </a:t>
            </a:r>
            <a:r>
              <a:rPr lang="en-US" altLang="zh-CN" sz="1400">
                <a:solidFill>
                  <a:srgbClr val="001080"/>
                </a:solidFill>
                <a:latin typeface="Consolas" panose="020B0609020204030204" pitchFamily="49" charset="0"/>
              </a:rPr>
              <a:t>maxx</a:t>
            </a:r>
            <a:r>
              <a:rPr lang="en-US" altLang="zh-CN" sz="140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40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>
                <a:solidFill>
                  <a:srgbClr val="001080"/>
                </a:solidFill>
                <a:latin typeface="Consolas" panose="020B0609020204030204" pitchFamily="49" charset="0"/>
              </a:rPr>
              <a:t>self</a:t>
            </a:r>
            <a:r>
              <a:rPr lang="en-US" altLang="zh-CN" sz="1400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1400">
                <a:solidFill>
                  <a:srgbClr val="001080"/>
                </a:solidFill>
                <a:latin typeface="Consolas" panose="020B0609020204030204" pitchFamily="49" charset="0"/>
              </a:rPr>
              <a:t>c</a:t>
            </a:r>
            <a:endParaRPr lang="en-US" altLang="zh-CN" sz="140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US" altLang="zh-CN" sz="1400">
                <a:solidFill>
                  <a:srgbClr val="3B3B3B"/>
                </a:solidFill>
                <a:latin typeface="Consolas" panose="020B0609020204030204" pitchFamily="49" charset="0"/>
              </a:rPr>
              <a:t>            </a:t>
            </a:r>
            <a:r>
              <a:rPr lang="en-US" altLang="zh-CN" sz="140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 altLang="zh-CN" sz="140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>
                <a:solidFill>
                  <a:srgbClr val="001080"/>
                </a:solidFill>
                <a:latin typeface="Consolas" panose="020B0609020204030204" pitchFamily="49" charset="0"/>
              </a:rPr>
              <a:t>maxx</a:t>
            </a:r>
            <a:endParaRPr lang="en-US" altLang="zh-CN" sz="140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US" altLang="zh-CN" sz="140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</a:p>
          <a:p>
            <a:r>
              <a:rPr lang="en-US" altLang="zh-CN" sz="1400">
                <a:solidFill>
                  <a:srgbClr val="001080"/>
                </a:solidFill>
                <a:latin typeface="Consolas" panose="020B0609020204030204" pitchFamily="49" charset="0"/>
              </a:rPr>
              <a:t>ww</a:t>
            </a:r>
            <a:r>
              <a:rPr lang="en-US" altLang="zh-CN" sz="140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40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>
                <a:solidFill>
                  <a:srgbClr val="267F99"/>
                </a:solidFill>
                <a:latin typeface="Consolas" panose="020B0609020204030204" pitchFamily="49" charset="0"/>
              </a:rPr>
              <a:t>MySanJiao</a:t>
            </a:r>
            <a:r>
              <a:rPr lang="en-US" altLang="zh-CN" sz="140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altLang="zh-CN" sz="1400">
                <a:solidFill>
                  <a:srgbClr val="3B3B3B"/>
                </a:solidFill>
                <a:latin typeface="Consolas" panose="020B0609020204030204" pitchFamily="49" charset="0"/>
              </a:rPr>
              <a:t>,</a:t>
            </a:r>
            <a:r>
              <a:rPr lang="en-US" altLang="zh-CN" sz="1400">
                <a:solidFill>
                  <a:srgbClr val="098658"/>
                </a:solidFill>
                <a:latin typeface="Consolas" panose="020B0609020204030204" pitchFamily="49" charset="0"/>
              </a:rPr>
              <a:t>4</a:t>
            </a:r>
            <a:r>
              <a:rPr lang="en-US" altLang="zh-CN" sz="1400">
                <a:solidFill>
                  <a:srgbClr val="3B3B3B"/>
                </a:solidFill>
                <a:latin typeface="Consolas" panose="020B0609020204030204" pitchFamily="49" charset="0"/>
              </a:rPr>
              <a:t>,</a:t>
            </a:r>
            <a:r>
              <a:rPr lang="en-US" altLang="zh-CN" sz="1400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en-US" altLang="zh-CN" sz="140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zh-CN" sz="1400">
                <a:solidFill>
                  <a:srgbClr val="795E26"/>
                </a:solidFill>
                <a:latin typeface="Consolas" panose="020B0609020204030204" pitchFamily="49" charset="0"/>
              </a:rPr>
              <a:t>print</a:t>
            </a:r>
            <a:r>
              <a:rPr lang="en-US" altLang="zh-CN" sz="140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>
                <a:solidFill>
                  <a:srgbClr val="001080"/>
                </a:solidFill>
                <a:latin typeface="Consolas" panose="020B0609020204030204" pitchFamily="49" charset="0"/>
              </a:rPr>
              <a:t>ww</a:t>
            </a:r>
            <a:r>
              <a:rPr lang="en-US" altLang="zh-CN" sz="1400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1400">
                <a:solidFill>
                  <a:srgbClr val="001080"/>
                </a:solidFill>
                <a:latin typeface="Consolas" panose="020B0609020204030204" pitchFamily="49" charset="0"/>
              </a:rPr>
              <a:t>a</a:t>
            </a:r>
            <a:r>
              <a:rPr lang="en-US" altLang="zh-CN" sz="140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en-US" altLang="zh-CN" sz="1400">
                <a:solidFill>
                  <a:srgbClr val="001080"/>
                </a:solidFill>
                <a:latin typeface="Consolas" panose="020B0609020204030204" pitchFamily="49" charset="0"/>
              </a:rPr>
              <a:t>ww</a:t>
            </a:r>
            <a:r>
              <a:rPr lang="en-US" altLang="zh-CN" sz="1400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1400">
                <a:solidFill>
                  <a:srgbClr val="001080"/>
                </a:solidFill>
                <a:latin typeface="Consolas" panose="020B0609020204030204" pitchFamily="49" charset="0"/>
              </a:rPr>
              <a:t>b</a:t>
            </a:r>
            <a:r>
              <a:rPr lang="en-US" altLang="zh-CN" sz="140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en-US" altLang="zh-CN" sz="1400">
                <a:solidFill>
                  <a:srgbClr val="001080"/>
                </a:solidFill>
                <a:latin typeface="Consolas" panose="020B0609020204030204" pitchFamily="49" charset="0"/>
              </a:rPr>
              <a:t>ww</a:t>
            </a:r>
            <a:r>
              <a:rPr lang="en-US" altLang="zh-CN" sz="1400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1400">
                <a:solidFill>
                  <a:srgbClr val="001080"/>
                </a:solidFill>
                <a:latin typeface="Consolas" panose="020B0609020204030204" pitchFamily="49" charset="0"/>
              </a:rPr>
              <a:t>c</a:t>
            </a:r>
            <a:r>
              <a:rPr lang="en-US" altLang="zh-CN" sz="140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zh-CN" sz="1400">
                <a:solidFill>
                  <a:srgbClr val="001080"/>
                </a:solidFill>
                <a:latin typeface="Consolas" panose="020B0609020204030204" pitchFamily="49" charset="0"/>
              </a:rPr>
              <a:t>mm</a:t>
            </a:r>
            <a:r>
              <a:rPr lang="en-US" altLang="zh-CN" sz="140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40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>
                <a:solidFill>
                  <a:srgbClr val="001080"/>
                </a:solidFill>
                <a:latin typeface="Consolas" panose="020B0609020204030204" pitchFamily="49" charset="0"/>
              </a:rPr>
              <a:t>ww</a:t>
            </a:r>
            <a:r>
              <a:rPr lang="en-US" altLang="zh-CN" sz="1400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1400">
                <a:solidFill>
                  <a:srgbClr val="795E26"/>
                </a:solidFill>
                <a:latin typeface="Consolas" panose="020B0609020204030204" pitchFamily="49" charset="0"/>
              </a:rPr>
              <a:t>getMax</a:t>
            </a:r>
            <a:r>
              <a:rPr lang="en-US" altLang="zh-CN" sz="1400">
                <a:solidFill>
                  <a:srgbClr val="3B3B3B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altLang="zh-CN" sz="1400">
                <a:solidFill>
                  <a:srgbClr val="795E26"/>
                </a:solidFill>
                <a:latin typeface="Consolas" panose="020B0609020204030204" pitchFamily="49" charset="0"/>
              </a:rPr>
              <a:t>print</a:t>
            </a:r>
            <a:r>
              <a:rPr lang="en-US" altLang="zh-CN" sz="140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>
                <a:solidFill>
                  <a:srgbClr val="001080"/>
                </a:solidFill>
                <a:latin typeface="Consolas" panose="020B0609020204030204" pitchFamily="49" charset="0"/>
              </a:rPr>
              <a:t>mm</a:t>
            </a:r>
            <a:r>
              <a:rPr lang="en-US" altLang="zh-CN" sz="140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xmlns="" id="{3BE4CA35-F3BE-AABC-001F-F4E4BEAEE948}"/>
              </a:ext>
            </a:extLst>
          </p:cNvPr>
          <p:cNvSpPr txBox="1"/>
          <p:nvPr/>
        </p:nvSpPr>
        <p:spPr>
          <a:xfrm>
            <a:off x="7641265" y="225028"/>
            <a:ext cx="4550735" cy="6068080"/>
          </a:xfrm>
          <a:prstGeom prst="round2DiagRect">
            <a:avLst/>
          </a:prstGeom>
          <a:solidFill>
            <a:srgbClr val="FAFAFA"/>
          </a:solidFill>
        </p:spPr>
        <p:txBody>
          <a:bodyPr wrap="square">
            <a:spAutoFit/>
          </a:bodyPr>
          <a:lstStyle/>
          <a:p>
            <a:r>
              <a:rPr lang="en-US" altLang="zh-CN" sz="120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200">
                <a:solidFill>
                  <a:srgbClr val="267F99"/>
                </a:solidFill>
                <a:latin typeface="Consolas" panose="020B0609020204030204" pitchFamily="49" charset="0"/>
              </a:rPr>
              <a:t>Dog</a:t>
            </a:r>
            <a: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en-US" altLang="zh-CN" sz="1200">
                <a:solidFill>
                  <a:srgbClr val="A31515"/>
                </a:solidFill>
                <a:latin typeface="Consolas" panose="020B0609020204030204" pitchFamily="49" charset="0"/>
              </a:rPr>
              <a:t>“”“</a:t>
            </a:r>
            <a:r>
              <a:rPr lang="zh-CN" altLang="en-US" sz="1200">
                <a:solidFill>
                  <a:srgbClr val="A31515"/>
                </a:solidFill>
                <a:latin typeface="Consolas" panose="020B0609020204030204" pitchFamily="49" charset="0"/>
              </a:rPr>
              <a:t>一次模拟小狗的简单尝试</a:t>
            </a:r>
            <a:r>
              <a:rPr lang="en-US" altLang="zh-CN" sz="1200">
                <a:solidFill>
                  <a:srgbClr val="A31515"/>
                </a:solidFill>
                <a:latin typeface="Consolas" panose="020B0609020204030204" pitchFamily="49" charset="0"/>
              </a:rPr>
              <a:t>."""</a:t>
            </a:r>
            <a:endParaRPr lang="en-US" altLang="zh-CN" sz="120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  <a:t/>
            </a:r>
            <a:b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en-US" altLang="zh-CN" sz="1200">
                <a:solidFill>
                  <a:srgbClr val="0000FF"/>
                </a:solidFill>
                <a:latin typeface="Consolas" panose="020B0609020204030204" pitchFamily="49" charset="0"/>
              </a:rPr>
              <a:t>def</a:t>
            </a:r>
            <a: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200">
                <a:solidFill>
                  <a:srgbClr val="795E26"/>
                </a:solidFill>
                <a:latin typeface="Consolas" panose="020B0609020204030204" pitchFamily="49" charset="0"/>
              </a:rPr>
              <a:t>__init__</a:t>
            </a:r>
            <a: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200">
                <a:solidFill>
                  <a:srgbClr val="001080"/>
                </a:solidFill>
                <a:latin typeface="Consolas" panose="020B0609020204030204" pitchFamily="49" charset="0"/>
              </a:rPr>
              <a:t>self</a:t>
            </a:r>
            <a: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en-US" altLang="zh-CN" sz="1200">
                <a:solidFill>
                  <a:srgbClr val="001080"/>
                </a:solidFill>
                <a:latin typeface="Consolas" panose="020B0609020204030204" pitchFamily="49" charset="0"/>
              </a:rPr>
              <a:t>name</a:t>
            </a:r>
            <a: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en-US" altLang="zh-CN" sz="1200">
                <a:solidFill>
                  <a:srgbClr val="001080"/>
                </a:solidFill>
                <a:latin typeface="Consolas" panose="020B0609020204030204" pitchFamily="49" charset="0"/>
              </a:rPr>
              <a:t>age</a:t>
            </a:r>
            <a: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zh-CN" sz="1200">
                <a:solidFill>
                  <a:srgbClr val="A31515"/>
                </a:solidFill>
                <a:latin typeface="Consolas" panose="020B0609020204030204" pitchFamily="49" charset="0"/>
              </a:rPr>
              <a:t>“”“</a:t>
            </a:r>
            <a:r>
              <a:rPr lang="zh-CN" altLang="en-US" sz="1200">
                <a:solidFill>
                  <a:srgbClr val="A31515"/>
                </a:solidFill>
                <a:latin typeface="Consolas" panose="020B0609020204030204" pitchFamily="49" charset="0"/>
              </a:rPr>
              <a:t>初始化属性</a:t>
            </a:r>
            <a:r>
              <a:rPr lang="en-US" altLang="zh-CN" sz="1200">
                <a:solidFill>
                  <a:srgbClr val="A31515"/>
                </a:solidFill>
                <a:latin typeface="Consolas" panose="020B0609020204030204" pitchFamily="49" charset="0"/>
              </a:rPr>
              <a:t> name </a:t>
            </a:r>
            <a:r>
              <a:rPr lang="zh-CN" altLang="en-US" sz="1200">
                <a:solidFill>
                  <a:srgbClr val="A31515"/>
                </a:solidFill>
                <a:latin typeface="Consolas" panose="020B0609020204030204" pitchFamily="49" charset="0"/>
              </a:rPr>
              <a:t>和</a:t>
            </a:r>
            <a:r>
              <a:rPr lang="en-US" altLang="zh-CN" sz="1200">
                <a:solidFill>
                  <a:srgbClr val="A31515"/>
                </a:solidFill>
                <a:latin typeface="Consolas" panose="020B0609020204030204" pitchFamily="49" charset="0"/>
              </a:rPr>
              <a:t> age."""</a:t>
            </a:r>
            <a:endParaRPr lang="en-US" altLang="zh-CN" sz="120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zh-CN" sz="1200">
                <a:solidFill>
                  <a:srgbClr val="001080"/>
                </a:solidFill>
                <a:latin typeface="Consolas" panose="020B0609020204030204" pitchFamily="49" charset="0"/>
              </a:rPr>
              <a:t>self</a:t>
            </a:r>
            <a: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1200">
                <a:solidFill>
                  <a:srgbClr val="001080"/>
                </a:solidFill>
                <a:latin typeface="Consolas" panose="020B0609020204030204" pitchFamily="49" charset="0"/>
              </a:rPr>
              <a:t>name</a:t>
            </a:r>
            <a: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20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200">
                <a:solidFill>
                  <a:srgbClr val="001080"/>
                </a:solidFill>
                <a:latin typeface="Consolas" panose="020B0609020204030204" pitchFamily="49" charset="0"/>
              </a:rPr>
              <a:t>name</a:t>
            </a:r>
            <a:endParaRPr lang="en-US" altLang="zh-CN" sz="120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zh-CN" sz="1200">
                <a:solidFill>
                  <a:srgbClr val="001080"/>
                </a:solidFill>
                <a:latin typeface="Consolas" panose="020B0609020204030204" pitchFamily="49" charset="0"/>
              </a:rPr>
              <a:t>self</a:t>
            </a:r>
            <a: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1200">
                <a:solidFill>
                  <a:srgbClr val="001080"/>
                </a:solidFill>
                <a:latin typeface="Consolas" panose="020B0609020204030204" pitchFamily="49" charset="0"/>
              </a:rPr>
              <a:t>age</a:t>
            </a:r>
            <a: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20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200">
                <a:solidFill>
                  <a:srgbClr val="001080"/>
                </a:solidFill>
                <a:latin typeface="Consolas" panose="020B0609020204030204" pitchFamily="49" charset="0"/>
              </a:rPr>
              <a:t>age</a:t>
            </a:r>
            <a:endParaRPr lang="en-US" altLang="zh-CN" sz="120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  <a:t/>
            </a:r>
            <a:b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en-US" altLang="zh-CN" sz="1200">
                <a:solidFill>
                  <a:srgbClr val="0000FF"/>
                </a:solidFill>
                <a:latin typeface="Consolas" panose="020B0609020204030204" pitchFamily="49" charset="0"/>
              </a:rPr>
              <a:t>def</a:t>
            </a:r>
            <a: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200">
                <a:solidFill>
                  <a:srgbClr val="795E26"/>
                </a:solidFill>
                <a:latin typeface="Consolas" panose="020B0609020204030204" pitchFamily="49" charset="0"/>
              </a:rPr>
              <a:t>sit</a:t>
            </a:r>
            <a: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200">
                <a:solidFill>
                  <a:srgbClr val="001080"/>
                </a:solidFill>
                <a:latin typeface="Consolas" panose="020B0609020204030204" pitchFamily="49" charset="0"/>
              </a:rPr>
              <a:t>self</a:t>
            </a:r>
            <a: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zh-CN" sz="1200">
                <a:solidFill>
                  <a:srgbClr val="A31515"/>
                </a:solidFill>
                <a:latin typeface="Consolas" panose="020B0609020204030204" pitchFamily="49" charset="0"/>
              </a:rPr>
              <a:t>“”“</a:t>
            </a:r>
            <a:r>
              <a:rPr lang="zh-CN" altLang="en-US" sz="1200">
                <a:solidFill>
                  <a:srgbClr val="A31515"/>
                </a:solidFill>
                <a:latin typeface="Consolas" panose="020B0609020204030204" pitchFamily="49" charset="0"/>
              </a:rPr>
              <a:t>模拟小狗收到命令时坐下</a:t>
            </a:r>
            <a:r>
              <a:rPr lang="en-US" altLang="zh-CN" sz="1200">
                <a:solidFill>
                  <a:srgbClr val="A31515"/>
                </a:solidFill>
                <a:latin typeface="Consolas" panose="020B0609020204030204" pitchFamily="49" charset="0"/>
              </a:rPr>
              <a:t>."""</a:t>
            </a:r>
            <a:endParaRPr lang="en-US" altLang="zh-CN" sz="120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zh-CN" sz="1200">
                <a:solidFill>
                  <a:srgbClr val="795E26"/>
                </a:solidFill>
                <a:latin typeface="Consolas" panose="020B0609020204030204" pitchFamily="49" charset="0"/>
              </a:rPr>
              <a:t>print</a:t>
            </a:r>
            <a: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200">
                <a:solidFill>
                  <a:srgbClr val="0000FF"/>
                </a:solidFill>
                <a:latin typeface="Consolas" panose="020B0609020204030204" pitchFamily="49" charset="0"/>
              </a:rPr>
              <a:t>f</a:t>
            </a:r>
            <a:r>
              <a:rPr lang="en-US" altLang="zh-CN" sz="120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altLang="zh-CN" sz="1200">
                <a:solidFill>
                  <a:srgbClr val="0000FF"/>
                </a:solidFill>
                <a:latin typeface="Consolas" panose="020B0609020204030204" pitchFamily="49" charset="0"/>
              </a:rPr>
              <a:t>{</a:t>
            </a:r>
            <a:r>
              <a:rPr lang="en-US" altLang="zh-CN" sz="1200">
                <a:solidFill>
                  <a:srgbClr val="001080"/>
                </a:solidFill>
                <a:latin typeface="Consolas" panose="020B0609020204030204" pitchFamily="49" charset="0"/>
              </a:rPr>
              <a:t>self</a:t>
            </a:r>
            <a: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1200">
                <a:solidFill>
                  <a:srgbClr val="001080"/>
                </a:solidFill>
                <a:latin typeface="Consolas" panose="020B0609020204030204" pitchFamily="49" charset="0"/>
              </a:rPr>
              <a:t>name</a:t>
            </a:r>
            <a:r>
              <a:rPr lang="en-US" altLang="zh-CN" sz="1200">
                <a:solidFill>
                  <a:srgbClr val="0000FF"/>
                </a:solidFill>
                <a:latin typeface="Consolas" panose="020B0609020204030204" pitchFamily="49" charset="0"/>
              </a:rPr>
              <a:t>}</a:t>
            </a:r>
            <a:r>
              <a:rPr lang="en-US" altLang="zh-CN" sz="1200">
                <a:solidFill>
                  <a:srgbClr val="A31515"/>
                </a:solidFill>
                <a:latin typeface="Consolas" panose="020B0609020204030204" pitchFamily="49" charset="0"/>
              </a:rPr>
              <a:t> is now sitting."</a:t>
            </a:r>
            <a: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  <a:t/>
            </a:r>
            <a:b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en-US" altLang="zh-CN" sz="1200">
                <a:solidFill>
                  <a:srgbClr val="0000FF"/>
                </a:solidFill>
                <a:latin typeface="Consolas" panose="020B0609020204030204" pitchFamily="49" charset="0"/>
              </a:rPr>
              <a:t>def</a:t>
            </a:r>
            <a: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200">
                <a:solidFill>
                  <a:srgbClr val="795E26"/>
                </a:solidFill>
                <a:latin typeface="Consolas" panose="020B0609020204030204" pitchFamily="49" charset="0"/>
              </a:rPr>
              <a:t>roll_over</a:t>
            </a:r>
            <a: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200">
                <a:solidFill>
                  <a:srgbClr val="001080"/>
                </a:solidFill>
                <a:latin typeface="Consolas" panose="020B0609020204030204" pitchFamily="49" charset="0"/>
              </a:rPr>
              <a:t>self</a:t>
            </a:r>
            <a: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zh-CN" sz="1200">
                <a:solidFill>
                  <a:srgbClr val="A31515"/>
                </a:solidFill>
                <a:latin typeface="Consolas" panose="020B0609020204030204" pitchFamily="49" charset="0"/>
              </a:rPr>
              <a:t>“”“</a:t>
            </a:r>
            <a:r>
              <a:rPr lang="zh-CN" altLang="en-US" sz="1200">
                <a:solidFill>
                  <a:srgbClr val="A31515"/>
                </a:solidFill>
                <a:latin typeface="Consolas" panose="020B0609020204030204" pitchFamily="49" charset="0"/>
              </a:rPr>
              <a:t>模拟小狗收到命令时打滚</a:t>
            </a:r>
            <a:r>
              <a:rPr lang="en-US" altLang="zh-CN" sz="1200">
                <a:solidFill>
                  <a:srgbClr val="A31515"/>
                </a:solidFill>
                <a:latin typeface="Consolas" panose="020B0609020204030204" pitchFamily="49" charset="0"/>
              </a:rPr>
              <a:t>."""</a:t>
            </a:r>
            <a:endParaRPr lang="en-US" altLang="zh-CN" sz="120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zh-CN" sz="1200">
                <a:solidFill>
                  <a:srgbClr val="795E26"/>
                </a:solidFill>
                <a:latin typeface="Consolas" panose="020B0609020204030204" pitchFamily="49" charset="0"/>
              </a:rPr>
              <a:t>print</a:t>
            </a:r>
            <a: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200">
                <a:solidFill>
                  <a:srgbClr val="0000FF"/>
                </a:solidFill>
                <a:latin typeface="Consolas" panose="020B0609020204030204" pitchFamily="49" charset="0"/>
              </a:rPr>
              <a:t>f</a:t>
            </a:r>
            <a:r>
              <a:rPr lang="en-US" altLang="zh-CN" sz="120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altLang="zh-CN" sz="1200">
                <a:solidFill>
                  <a:srgbClr val="0000FF"/>
                </a:solidFill>
                <a:latin typeface="Consolas" panose="020B0609020204030204" pitchFamily="49" charset="0"/>
              </a:rPr>
              <a:t>{</a:t>
            </a:r>
            <a:r>
              <a:rPr lang="en-US" altLang="zh-CN" sz="1200">
                <a:solidFill>
                  <a:srgbClr val="001080"/>
                </a:solidFill>
                <a:latin typeface="Consolas" panose="020B0609020204030204" pitchFamily="49" charset="0"/>
              </a:rPr>
              <a:t>self</a:t>
            </a:r>
            <a: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1200">
                <a:solidFill>
                  <a:srgbClr val="001080"/>
                </a:solidFill>
                <a:latin typeface="Consolas" panose="020B0609020204030204" pitchFamily="49" charset="0"/>
              </a:rPr>
              <a:t>name</a:t>
            </a:r>
            <a:r>
              <a:rPr lang="en-US" altLang="zh-CN" sz="1200">
                <a:solidFill>
                  <a:srgbClr val="0000FF"/>
                </a:solidFill>
                <a:latin typeface="Consolas" panose="020B0609020204030204" pitchFamily="49" charset="0"/>
              </a:rPr>
              <a:t>}</a:t>
            </a:r>
            <a:r>
              <a:rPr lang="en-US" altLang="zh-CN" sz="1200">
                <a:solidFill>
                  <a:srgbClr val="A31515"/>
                </a:solidFill>
                <a:latin typeface="Consolas" panose="020B0609020204030204" pitchFamily="49" charset="0"/>
              </a:rPr>
              <a:t> rolled over!"</a:t>
            </a:r>
            <a: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  <a:t/>
            </a:r>
            <a:b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  <a:t/>
            </a:r>
            <a:b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en-US" altLang="zh-CN" sz="1200">
                <a:solidFill>
                  <a:srgbClr val="001080"/>
                </a:solidFill>
                <a:latin typeface="Consolas" panose="020B0609020204030204" pitchFamily="49" charset="0"/>
              </a:rPr>
              <a:t>my_dog</a:t>
            </a:r>
            <a: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20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200">
                <a:solidFill>
                  <a:srgbClr val="267F99"/>
                </a:solidFill>
                <a:latin typeface="Consolas" panose="020B0609020204030204" pitchFamily="49" charset="0"/>
              </a:rPr>
              <a:t>Dog</a:t>
            </a:r>
            <a: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200">
                <a:solidFill>
                  <a:srgbClr val="A31515"/>
                </a:solidFill>
                <a:latin typeface="Consolas" panose="020B0609020204030204" pitchFamily="49" charset="0"/>
              </a:rPr>
              <a:t>'Willie'</a:t>
            </a:r>
            <a: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en-US" altLang="zh-CN" sz="1200">
                <a:solidFill>
                  <a:srgbClr val="098658"/>
                </a:solidFill>
                <a:latin typeface="Consolas" panose="020B0609020204030204" pitchFamily="49" charset="0"/>
              </a:rPr>
              <a:t>6</a:t>
            </a:r>
            <a: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zh-CN" sz="1200">
                <a:solidFill>
                  <a:srgbClr val="001080"/>
                </a:solidFill>
                <a:latin typeface="Consolas" panose="020B0609020204030204" pitchFamily="49" charset="0"/>
              </a:rPr>
              <a:t>your_dog</a:t>
            </a:r>
            <a: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20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200">
                <a:solidFill>
                  <a:srgbClr val="267F99"/>
                </a:solidFill>
                <a:latin typeface="Consolas" panose="020B0609020204030204" pitchFamily="49" charset="0"/>
              </a:rPr>
              <a:t>Dog</a:t>
            </a:r>
            <a: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200">
                <a:solidFill>
                  <a:srgbClr val="A31515"/>
                </a:solidFill>
                <a:latin typeface="Consolas" panose="020B0609020204030204" pitchFamily="49" charset="0"/>
              </a:rPr>
              <a:t>'Lucy'</a:t>
            </a:r>
            <a: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en-US" altLang="zh-CN" sz="120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  <a:t/>
            </a:r>
            <a:b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en-US" altLang="zh-CN" sz="1200">
                <a:solidFill>
                  <a:srgbClr val="795E26"/>
                </a:solidFill>
                <a:latin typeface="Consolas" panose="020B0609020204030204" pitchFamily="49" charset="0"/>
              </a:rPr>
              <a:t>print</a:t>
            </a:r>
            <a: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200">
                <a:solidFill>
                  <a:srgbClr val="0000FF"/>
                </a:solidFill>
                <a:latin typeface="Consolas" panose="020B0609020204030204" pitchFamily="49" charset="0"/>
              </a:rPr>
              <a:t>f</a:t>
            </a:r>
            <a:r>
              <a:rPr lang="en-US" altLang="zh-CN" sz="1200">
                <a:solidFill>
                  <a:srgbClr val="A31515"/>
                </a:solidFill>
                <a:latin typeface="Consolas" panose="020B0609020204030204" pitchFamily="49" charset="0"/>
              </a:rPr>
              <a:t>"My dog's name is </a:t>
            </a:r>
            <a:r>
              <a:rPr lang="en-US" altLang="zh-CN" sz="1200">
                <a:solidFill>
                  <a:srgbClr val="0000FF"/>
                </a:solidFill>
                <a:latin typeface="Consolas" panose="020B0609020204030204" pitchFamily="49" charset="0"/>
              </a:rPr>
              <a:t>{</a:t>
            </a:r>
            <a:r>
              <a:rPr lang="en-US" altLang="zh-CN" sz="1200">
                <a:solidFill>
                  <a:srgbClr val="001080"/>
                </a:solidFill>
                <a:latin typeface="Consolas" panose="020B0609020204030204" pitchFamily="49" charset="0"/>
              </a:rPr>
              <a:t>my_dog</a:t>
            </a:r>
            <a: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1200">
                <a:solidFill>
                  <a:srgbClr val="001080"/>
                </a:solidFill>
                <a:latin typeface="Consolas" panose="020B0609020204030204" pitchFamily="49" charset="0"/>
              </a:rPr>
              <a:t>name</a:t>
            </a:r>
            <a:r>
              <a:rPr lang="en-US" altLang="zh-CN" sz="1200">
                <a:solidFill>
                  <a:srgbClr val="0000FF"/>
                </a:solidFill>
                <a:latin typeface="Consolas" panose="020B0609020204030204" pitchFamily="49" charset="0"/>
              </a:rPr>
              <a:t>}</a:t>
            </a:r>
            <a:r>
              <a:rPr lang="en-US" altLang="zh-CN" sz="1200">
                <a:solidFill>
                  <a:srgbClr val="A31515"/>
                </a:solidFill>
                <a:latin typeface="Consolas" panose="020B0609020204030204" pitchFamily="49" charset="0"/>
              </a:rPr>
              <a:t>."</a:t>
            </a:r>
            <a: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zh-CN" sz="1200">
                <a:solidFill>
                  <a:srgbClr val="795E26"/>
                </a:solidFill>
                <a:latin typeface="Consolas" panose="020B0609020204030204" pitchFamily="49" charset="0"/>
              </a:rPr>
              <a:t>print</a:t>
            </a:r>
            <a: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200">
                <a:solidFill>
                  <a:srgbClr val="0000FF"/>
                </a:solidFill>
                <a:latin typeface="Consolas" panose="020B0609020204030204" pitchFamily="49" charset="0"/>
              </a:rPr>
              <a:t>f</a:t>
            </a:r>
            <a:r>
              <a:rPr lang="en-US" altLang="zh-CN" sz="1200">
                <a:solidFill>
                  <a:srgbClr val="A31515"/>
                </a:solidFill>
                <a:latin typeface="Consolas" panose="020B0609020204030204" pitchFamily="49" charset="0"/>
              </a:rPr>
              <a:t>"My dog is </a:t>
            </a:r>
            <a:r>
              <a:rPr lang="en-US" altLang="zh-CN" sz="1200">
                <a:solidFill>
                  <a:srgbClr val="0000FF"/>
                </a:solidFill>
                <a:latin typeface="Consolas" panose="020B0609020204030204" pitchFamily="49" charset="0"/>
              </a:rPr>
              <a:t>{</a:t>
            </a:r>
            <a:r>
              <a:rPr lang="en-US" altLang="zh-CN" sz="1200">
                <a:solidFill>
                  <a:srgbClr val="001080"/>
                </a:solidFill>
                <a:latin typeface="Consolas" panose="020B0609020204030204" pitchFamily="49" charset="0"/>
              </a:rPr>
              <a:t>my_dog</a:t>
            </a:r>
            <a: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1200">
                <a:solidFill>
                  <a:srgbClr val="001080"/>
                </a:solidFill>
                <a:latin typeface="Consolas" panose="020B0609020204030204" pitchFamily="49" charset="0"/>
              </a:rPr>
              <a:t>age</a:t>
            </a:r>
            <a:r>
              <a:rPr lang="en-US" altLang="zh-CN" sz="1200">
                <a:solidFill>
                  <a:srgbClr val="0000FF"/>
                </a:solidFill>
                <a:latin typeface="Consolas" panose="020B0609020204030204" pitchFamily="49" charset="0"/>
              </a:rPr>
              <a:t>}</a:t>
            </a:r>
            <a:r>
              <a:rPr lang="en-US" altLang="zh-CN" sz="1200">
                <a:solidFill>
                  <a:srgbClr val="A31515"/>
                </a:solidFill>
                <a:latin typeface="Consolas" panose="020B0609020204030204" pitchFamily="49" charset="0"/>
              </a:rPr>
              <a:t> years old."</a:t>
            </a:r>
            <a: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zh-CN" sz="1200">
                <a:solidFill>
                  <a:srgbClr val="001080"/>
                </a:solidFill>
                <a:latin typeface="Consolas" panose="020B0609020204030204" pitchFamily="49" charset="0"/>
              </a:rPr>
              <a:t>my_dog</a:t>
            </a:r>
            <a: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1200">
                <a:solidFill>
                  <a:srgbClr val="795E26"/>
                </a:solidFill>
                <a:latin typeface="Consolas" panose="020B0609020204030204" pitchFamily="49" charset="0"/>
              </a:rPr>
              <a:t>sit</a:t>
            </a:r>
            <a: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altLang="zh-CN" sz="1200">
                <a:solidFill>
                  <a:srgbClr val="001080"/>
                </a:solidFill>
                <a:latin typeface="Consolas" panose="020B0609020204030204" pitchFamily="49" charset="0"/>
              </a:rPr>
              <a:t>my_dog</a:t>
            </a:r>
            <a: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1200">
                <a:solidFill>
                  <a:srgbClr val="795E26"/>
                </a:solidFill>
                <a:latin typeface="Consolas" panose="020B0609020204030204" pitchFamily="49" charset="0"/>
              </a:rPr>
              <a:t>roll_over</a:t>
            </a:r>
            <a: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  <a:t/>
            </a:r>
            <a:b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en-US" altLang="zh-CN" sz="1200">
                <a:solidFill>
                  <a:srgbClr val="795E26"/>
                </a:solidFill>
                <a:latin typeface="Consolas" panose="020B0609020204030204" pitchFamily="49" charset="0"/>
              </a:rPr>
              <a:t>print</a:t>
            </a:r>
            <a: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200">
                <a:solidFill>
                  <a:srgbClr val="0000FF"/>
                </a:solidFill>
                <a:latin typeface="Consolas" panose="020B0609020204030204" pitchFamily="49" charset="0"/>
              </a:rPr>
              <a:t>f</a:t>
            </a:r>
            <a:r>
              <a:rPr lang="en-US" altLang="zh-CN" sz="120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altLang="zh-CN" sz="1200">
                <a:solidFill>
                  <a:srgbClr val="EE0000"/>
                </a:solidFill>
                <a:latin typeface="Consolas" panose="020B0609020204030204" pitchFamily="49" charset="0"/>
              </a:rPr>
              <a:t>\n</a:t>
            </a:r>
            <a:r>
              <a:rPr lang="en-US" altLang="zh-CN" sz="1200">
                <a:solidFill>
                  <a:srgbClr val="A31515"/>
                </a:solidFill>
                <a:latin typeface="Consolas" panose="020B0609020204030204" pitchFamily="49" charset="0"/>
              </a:rPr>
              <a:t>Your dog's name is </a:t>
            </a:r>
            <a:r>
              <a:rPr lang="en-US" altLang="zh-CN" sz="1200">
                <a:solidFill>
                  <a:srgbClr val="0000FF"/>
                </a:solidFill>
                <a:latin typeface="Consolas" panose="020B0609020204030204" pitchFamily="49" charset="0"/>
              </a:rPr>
              <a:t>{</a:t>
            </a:r>
            <a:r>
              <a:rPr lang="en-US" altLang="zh-CN" sz="1200">
                <a:solidFill>
                  <a:srgbClr val="001080"/>
                </a:solidFill>
                <a:latin typeface="Consolas" panose="020B0609020204030204" pitchFamily="49" charset="0"/>
              </a:rPr>
              <a:t>your_dog</a:t>
            </a:r>
            <a: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1200">
                <a:solidFill>
                  <a:srgbClr val="001080"/>
                </a:solidFill>
                <a:latin typeface="Consolas" panose="020B0609020204030204" pitchFamily="49" charset="0"/>
              </a:rPr>
              <a:t>name</a:t>
            </a:r>
            <a:r>
              <a:rPr lang="en-US" altLang="zh-CN" sz="1200">
                <a:solidFill>
                  <a:srgbClr val="0000FF"/>
                </a:solidFill>
                <a:latin typeface="Consolas" panose="020B0609020204030204" pitchFamily="49" charset="0"/>
              </a:rPr>
              <a:t>}</a:t>
            </a:r>
            <a:r>
              <a:rPr lang="en-US" altLang="zh-CN" sz="1200">
                <a:solidFill>
                  <a:srgbClr val="A31515"/>
                </a:solidFill>
                <a:latin typeface="Consolas" panose="020B0609020204030204" pitchFamily="49" charset="0"/>
              </a:rPr>
              <a:t>."</a:t>
            </a:r>
            <a: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zh-CN" sz="1200">
                <a:solidFill>
                  <a:srgbClr val="795E26"/>
                </a:solidFill>
                <a:latin typeface="Consolas" panose="020B0609020204030204" pitchFamily="49" charset="0"/>
              </a:rPr>
              <a:t>print</a:t>
            </a:r>
            <a: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200">
                <a:solidFill>
                  <a:srgbClr val="0000FF"/>
                </a:solidFill>
                <a:latin typeface="Consolas" panose="020B0609020204030204" pitchFamily="49" charset="0"/>
              </a:rPr>
              <a:t>f</a:t>
            </a:r>
            <a:r>
              <a:rPr lang="en-US" altLang="zh-CN" sz="1200">
                <a:solidFill>
                  <a:srgbClr val="A31515"/>
                </a:solidFill>
                <a:latin typeface="Consolas" panose="020B0609020204030204" pitchFamily="49" charset="0"/>
              </a:rPr>
              <a:t>"Your dog is </a:t>
            </a:r>
            <a:r>
              <a:rPr lang="en-US" altLang="zh-CN" sz="1200">
                <a:solidFill>
                  <a:srgbClr val="0000FF"/>
                </a:solidFill>
                <a:latin typeface="Consolas" panose="020B0609020204030204" pitchFamily="49" charset="0"/>
              </a:rPr>
              <a:t>{</a:t>
            </a:r>
            <a:r>
              <a:rPr lang="en-US" altLang="zh-CN" sz="1200">
                <a:solidFill>
                  <a:srgbClr val="001080"/>
                </a:solidFill>
                <a:latin typeface="Consolas" panose="020B0609020204030204" pitchFamily="49" charset="0"/>
              </a:rPr>
              <a:t>your_dog</a:t>
            </a:r>
            <a: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1200">
                <a:solidFill>
                  <a:srgbClr val="001080"/>
                </a:solidFill>
                <a:latin typeface="Consolas" panose="020B0609020204030204" pitchFamily="49" charset="0"/>
              </a:rPr>
              <a:t>age</a:t>
            </a:r>
            <a:r>
              <a:rPr lang="en-US" altLang="zh-CN" sz="1200">
                <a:solidFill>
                  <a:srgbClr val="0000FF"/>
                </a:solidFill>
                <a:latin typeface="Consolas" panose="020B0609020204030204" pitchFamily="49" charset="0"/>
              </a:rPr>
              <a:t>}</a:t>
            </a:r>
            <a:r>
              <a:rPr lang="en-US" altLang="zh-CN" sz="1200">
                <a:solidFill>
                  <a:srgbClr val="A31515"/>
                </a:solidFill>
                <a:latin typeface="Consolas" panose="020B0609020204030204" pitchFamily="49" charset="0"/>
              </a:rPr>
              <a:t> years old."</a:t>
            </a:r>
            <a: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zh-CN" sz="1200">
                <a:solidFill>
                  <a:srgbClr val="001080"/>
                </a:solidFill>
                <a:latin typeface="Consolas" panose="020B0609020204030204" pitchFamily="49" charset="0"/>
              </a:rPr>
              <a:t>your_dog</a:t>
            </a:r>
            <a: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1200">
                <a:solidFill>
                  <a:srgbClr val="795E26"/>
                </a:solidFill>
                <a:latin typeface="Consolas" panose="020B0609020204030204" pitchFamily="49" charset="0"/>
              </a:rPr>
              <a:t>sit</a:t>
            </a:r>
            <a: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altLang="zh-CN" sz="1200">
                <a:solidFill>
                  <a:srgbClr val="001080"/>
                </a:solidFill>
                <a:latin typeface="Consolas" panose="020B0609020204030204" pitchFamily="49" charset="0"/>
              </a:rPr>
              <a:t>your_dog</a:t>
            </a:r>
            <a: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1200">
                <a:solidFill>
                  <a:srgbClr val="795E26"/>
                </a:solidFill>
                <a:latin typeface="Consolas" panose="020B0609020204030204" pitchFamily="49" charset="0"/>
              </a:rPr>
              <a:t>roll_over</a:t>
            </a:r>
            <a: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3614706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58F325CB-8EAD-3E8E-0D5C-DCB7227F9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xmlns="" id="{93309AEE-3577-C86B-1983-0E901C8D73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6245" y="927100"/>
            <a:ext cx="2629936" cy="5003800"/>
          </a:xfr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xmlns="" id="{2E20C143-65CA-2534-CB0C-FB82415465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0846" y="4025827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zh-CN">
              <a:solidFill>
                <a:srgbClr val="2F2F2F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xmlns="" id="{3E828327-D5FD-D2F5-BB3F-686596C75FEC}"/>
              </a:ext>
            </a:extLst>
          </p:cNvPr>
          <p:cNvSpPr txBox="1"/>
          <p:nvPr/>
        </p:nvSpPr>
        <p:spPr>
          <a:xfrm>
            <a:off x="0" y="883108"/>
            <a:ext cx="5128881" cy="54852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b="1">
                <a:solidFill>
                  <a:srgbClr val="2F2F2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类函数</a:t>
            </a:r>
            <a:r>
              <a:rPr lang="zh-CN" altLang="en-US">
                <a:solidFill>
                  <a:srgbClr val="2F2F2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的定义格式，在普通函数的前面添加装饰器 </a:t>
            </a:r>
            <a:r>
              <a:rPr lang="en-US" altLang="zh-CN">
                <a:solidFill>
                  <a:srgbClr val="2F2F2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@classmethod</a:t>
            </a:r>
            <a:r>
              <a:rPr lang="zh-CN" altLang="en-US">
                <a:solidFill>
                  <a:srgbClr val="2F2F2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，该函数就会转换为类函数，同时函数的第一个参数默认是 </a:t>
            </a:r>
            <a:r>
              <a:rPr lang="en-US" altLang="zh-CN">
                <a:solidFill>
                  <a:srgbClr val="2F2F2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cls</a:t>
            </a:r>
            <a:r>
              <a:rPr lang="zh-CN" altLang="en-US">
                <a:solidFill>
                  <a:srgbClr val="2F2F2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，该变量名可以任意，建议使用成 </a:t>
            </a:r>
            <a:r>
              <a:rPr lang="en-US" altLang="zh-CN">
                <a:solidFill>
                  <a:srgbClr val="2F2F2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cls</a:t>
            </a:r>
            <a:r>
              <a:rPr lang="zh-CN" altLang="en-US">
                <a:solidFill>
                  <a:srgbClr val="2F2F2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，这个是程序员之间的约定。</a:t>
            </a:r>
            <a:endParaRPr lang="en-US" altLang="zh-CN">
              <a:solidFill>
                <a:srgbClr val="2F2F2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rgbClr val="2F2F2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同时类函数在调用的时候，可以通过 </a:t>
            </a:r>
            <a:r>
              <a: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类名</a:t>
            </a:r>
            <a:r>
              <a:rPr lang="en-US" altLang="zh-CN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>
                <a:solidFill>
                  <a:srgbClr val="2F2F2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的形式进行调用，也可以通过 </a:t>
            </a:r>
            <a:r>
              <a: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r>
              <a:rPr lang="en-US" altLang="zh-CN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>
                <a:solidFill>
                  <a:srgbClr val="2F2F2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的形式调用，不过这两种调用都只是将类传递到了函数内部，不存在差异。</a:t>
            </a:r>
          </a:p>
          <a:p>
            <a:pPr marL="342900" indent="-342900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rgbClr val="2F2F2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类函数不能调用实例变量，</a:t>
            </a:r>
            <a:r>
              <a: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只能调用类变量</a:t>
            </a:r>
            <a:r>
              <a:rPr lang="zh-CN" altLang="en-US">
                <a:solidFill>
                  <a:srgbClr val="2F2F2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，所谓类变量就是在类中独立声明，不在任何函数中出现的变量</a:t>
            </a:r>
            <a:endParaRPr lang="en-US" altLang="zh-CN">
              <a:solidFill>
                <a:srgbClr val="2F2F2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b="1">
                <a:solidFill>
                  <a:srgbClr val="2F2F2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静态函数</a:t>
            </a:r>
            <a:r>
              <a:rPr lang="zh-CN" altLang="en-US">
                <a:solidFill>
                  <a:srgbClr val="2F2F2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的第一个参数不是实例对象 </a:t>
            </a:r>
            <a:r>
              <a:rPr lang="en-US" altLang="zh-CN">
                <a:solidFill>
                  <a:srgbClr val="2F2F2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self</a:t>
            </a:r>
            <a:r>
              <a:rPr lang="zh-CN" altLang="en-US">
                <a:solidFill>
                  <a:srgbClr val="2F2F2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，或者可以理解为</a:t>
            </a:r>
            <a:r>
              <a: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静态函数没有隐形参数</a:t>
            </a:r>
            <a:r>
              <a:rPr lang="zh-CN" altLang="en-US">
                <a:solidFill>
                  <a:srgbClr val="2F2F2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，如需要传递参数，在参数列表中声明即可。 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xmlns="" id="{35A4EE0D-31DF-2DAD-0C06-FA54DB7AF4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8881" y="959919"/>
            <a:ext cx="4163036" cy="3792833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xmlns="" id="{06FEFA69-9CE6-27CA-6559-01CE05AC015A}"/>
              </a:ext>
            </a:extLst>
          </p:cNvPr>
          <p:cNvSpPr txBox="1"/>
          <p:nvPr/>
        </p:nvSpPr>
        <p:spPr>
          <a:xfrm>
            <a:off x="8938438" y="6629180"/>
            <a:ext cx="325356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>
                <a:solidFill>
                  <a:srgbClr val="2F2F2F"/>
                </a:solidFill>
              </a:rPr>
              <a:t>https://segmentfault.com/a/1190000041181395</a:t>
            </a:r>
            <a:endParaRPr lang="zh-CN" altLang="en-US" sz="1100">
              <a:solidFill>
                <a:srgbClr val="2F2F2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87442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二、面向对象的程序设计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1130300"/>
            <a:ext cx="10858500" cy="5003800"/>
          </a:xfrm>
        </p:spPr>
        <p:txBody>
          <a:bodyPr>
            <a:normAutofit/>
          </a:bodyPr>
          <a:lstStyle/>
          <a:p>
            <a:r>
              <a:rPr lang="en-US" altLang="zh-CN"/>
              <a:t>1. </a:t>
            </a:r>
            <a:r>
              <a:rPr lang="zh-CN" altLang="en-US"/>
              <a:t>新创建</a:t>
            </a:r>
            <a:r>
              <a:rPr lang="en-US" altLang="zh-CN"/>
              <a:t>class</a:t>
            </a:r>
          </a:p>
          <a:p>
            <a:pPr lvl="1">
              <a:spcBef>
                <a:spcPts val="1200"/>
              </a:spcBef>
            </a:pPr>
            <a:r>
              <a:rPr lang="en-US" altLang="zh-CN"/>
              <a:t>(2)</a:t>
            </a:r>
            <a:r>
              <a:rPr lang="zh-CN" altLang="en-US"/>
              <a:t>基于</a:t>
            </a:r>
            <a:r>
              <a:rPr lang="en-US" altLang="zh-CN"/>
              <a:t>class</a:t>
            </a:r>
            <a:r>
              <a:rPr lang="zh-CN" altLang="en-US"/>
              <a:t>的对象</a:t>
            </a:r>
            <a:endParaRPr lang="en-US" altLang="zh-CN"/>
          </a:p>
          <a:p>
            <a:pPr lvl="2">
              <a:spcBef>
                <a:spcPts val="1200"/>
              </a:spcBef>
            </a:pPr>
            <a:r>
              <a:rPr lang="zh-CN" altLang="en-US"/>
              <a:t>新建对象</a:t>
            </a:r>
            <a:r>
              <a:rPr lang="en-US" altLang="zh-CN"/>
              <a:t>	</a:t>
            </a:r>
          </a:p>
          <a:p>
            <a:pPr lvl="3">
              <a:spcBef>
                <a:spcPts val="1200"/>
              </a:spcBef>
            </a:pPr>
            <a:r>
              <a:rPr lang="zh-CN" altLang="en-US"/>
              <a:t>变量名</a:t>
            </a:r>
            <a:r>
              <a:rPr lang="en-US" altLang="zh-CN"/>
              <a:t>=class</a:t>
            </a:r>
            <a:r>
              <a:rPr lang="zh-CN" altLang="en-US"/>
              <a:t>名</a:t>
            </a:r>
            <a:r>
              <a:rPr lang="en-US" altLang="zh-CN"/>
              <a:t>(</a:t>
            </a:r>
            <a:r>
              <a:rPr lang="zh-CN" altLang="en-US"/>
              <a:t>参数表</a:t>
            </a:r>
            <a:r>
              <a:rPr lang="en-US" altLang="zh-CN"/>
              <a:t>)</a:t>
            </a:r>
          </a:p>
          <a:p>
            <a:pPr lvl="2">
              <a:spcBef>
                <a:spcPts val="1200"/>
              </a:spcBef>
            </a:pPr>
            <a:r>
              <a:rPr lang="zh-CN" altLang="en-US"/>
              <a:t>使用对象的静态变量值</a:t>
            </a:r>
            <a:endParaRPr lang="en-US" altLang="zh-CN"/>
          </a:p>
          <a:p>
            <a:pPr lvl="3">
              <a:spcBef>
                <a:spcPts val="1200"/>
              </a:spcBef>
            </a:pPr>
            <a:r>
              <a:rPr lang="zh-CN" altLang="en-US"/>
              <a:t>对象名</a:t>
            </a:r>
            <a:r>
              <a:rPr lang="en-US" altLang="zh-CN"/>
              <a:t>.</a:t>
            </a:r>
            <a:r>
              <a:rPr lang="zh-CN" altLang="en-US"/>
              <a:t>属性名</a:t>
            </a:r>
            <a:endParaRPr lang="en-US" altLang="zh-CN"/>
          </a:p>
          <a:p>
            <a:pPr lvl="3">
              <a:spcBef>
                <a:spcPts val="1200"/>
              </a:spcBef>
            </a:pPr>
            <a:r>
              <a:rPr lang="zh-CN" altLang="en-US"/>
              <a:t>即：</a:t>
            </a:r>
            <a:r>
              <a:rPr lang="zh-CN" altLang="en-US">
                <a:solidFill>
                  <a:srgbClr val="FF0000"/>
                </a:solidFill>
              </a:rPr>
              <a:t>对象名</a:t>
            </a:r>
            <a:r>
              <a:rPr lang="en-US" altLang="zh-CN">
                <a:solidFill>
                  <a:srgbClr val="FF0000"/>
                </a:solidFill>
              </a:rPr>
              <a:t>.</a:t>
            </a:r>
            <a:r>
              <a:rPr lang="zh-CN" altLang="en-US">
                <a:solidFill>
                  <a:srgbClr val="FF0000"/>
                </a:solidFill>
              </a:rPr>
              <a:t>成员变量名</a:t>
            </a:r>
            <a:endParaRPr lang="en-US" altLang="zh-CN">
              <a:solidFill>
                <a:srgbClr val="FF0000"/>
              </a:solidFill>
            </a:endParaRPr>
          </a:p>
          <a:p>
            <a:pPr lvl="2">
              <a:spcBef>
                <a:spcPts val="1200"/>
              </a:spcBef>
            </a:pPr>
            <a:r>
              <a:rPr lang="zh-CN" altLang="en-US"/>
              <a:t>调用对象的方法体</a:t>
            </a:r>
            <a:endParaRPr lang="en-US" altLang="zh-CN"/>
          </a:p>
          <a:p>
            <a:pPr lvl="3">
              <a:spcBef>
                <a:spcPts val="1200"/>
              </a:spcBef>
            </a:pPr>
            <a:r>
              <a:rPr lang="zh-CN" altLang="en-US">
                <a:solidFill>
                  <a:srgbClr val="FF0000"/>
                </a:solidFill>
              </a:rPr>
              <a:t>对象名</a:t>
            </a:r>
            <a:r>
              <a:rPr lang="en-US" altLang="zh-CN">
                <a:solidFill>
                  <a:srgbClr val="FF0000"/>
                </a:solidFill>
              </a:rPr>
              <a:t>.</a:t>
            </a:r>
            <a:r>
              <a:rPr lang="zh-CN" altLang="en-US">
                <a:solidFill>
                  <a:srgbClr val="FF0000"/>
                </a:solidFill>
              </a:rPr>
              <a:t>方法名</a:t>
            </a:r>
            <a:r>
              <a:rPr lang="en-US" altLang="zh-CN">
                <a:solidFill>
                  <a:srgbClr val="FF0000"/>
                </a:solidFill>
              </a:rPr>
              <a:t>(</a:t>
            </a:r>
            <a:r>
              <a:rPr lang="zh-CN" altLang="en-US">
                <a:solidFill>
                  <a:srgbClr val="FF0000"/>
                </a:solidFill>
              </a:rPr>
              <a:t>参数表</a:t>
            </a:r>
            <a:r>
              <a:rPr lang="en-US" altLang="zh-CN">
                <a:solidFill>
                  <a:srgbClr val="FF0000"/>
                </a:solidFill>
              </a:rPr>
              <a:t>)</a:t>
            </a:r>
          </a:p>
          <a:p>
            <a:pPr lvl="3">
              <a:spcBef>
                <a:spcPts val="1200"/>
              </a:spcBef>
            </a:pPr>
            <a:r>
              <a:rPr lang="zh-CN" altLang="en-US">
                <a:solidFill>
                  <a:srgbClr val="FF0000"/>
                </a:solidFill>
              </a:rPr>
              <a:t>方法名的括号不能省略。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xmlns="" id="{BF73EF1D-E9A5-777B-DA14-CCA7B54CD7B8}"/>
              </a:ext>
            </a:extLst>
          </p:cNvPr>
          <p:cNvSpPr txBox="1"/>
          <p:nvPr/>
        </p:nvSpPr>
        <p:spPr>
          <a:xfrm>
            <a:off x="4242391" y="1249561"/>
            <a:ext cx="3168503" cy="4884539"/>
          </a:xfrm>
          <a:prstGeom prst="round2Diag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40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altLang="zh-CN" sz="140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>
                <a:solidFill>
                  <a:srgbClr val="267F99"/>
                </a:solidFill>
                <a:latin typeface="Consolas" panose="020B0609020204030204" pitchFamily="49" charset="0"/>
              </a:rPr>
              <a:t>MySanJiao</a:t>
            </a:r>
            <a:r>
              <a:rPr lang="en-US" altLang="zh-CN" sz="1400">
                <a:solidFill>
                  <a:srgbClr val="3B3B3B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altLang="zh-CN" sz="140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en-US" altLang="zh-CN" sz="1400">
                <a:solidFill>
                  <a:srgbClr val="001080"/>
                </a:solidFill>
                <a:latin typeface="Consolas" panose="020B0609020204030204" pitchFamily="49" charset="0"/>
              </a:rPr>
              <a:t>character</a:t>
            </a:r>
            <a:r>
              <a:rPr lang="en-US" altLang="zh-CN" sz="140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400">
                <a:solidFill>
                  <a:srgbClr val="A31515"/>
                </a:solidFill>
                <a:latin typeface="Consolas" panose="020B0609020204030204" pitchFamily="49" charset="0"/>
              </a:rPr>
              <a:t>''</a:t>
            </a:r>
            <a:endParaRPr lang="en-US" altLang="zh-CN" sz="140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US" altLang="zh-CN" sz="140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en-US" altLang="zh-CN" sz="1400">
                <a:solidFill>
                  <a:srgbClr val="001080"/>
                </a:solidFill>
                <a:latin typeface="Consolas" panose="020B0609020204030204" pitchFamily="49" charset="0"/>
              </a:rPr>
              <a:t>type</a:t>
            </a:r>
            <a:r>
              <a:rPr lang="en-US" altLang="zh-CN" sz="140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400">
                <a:solidFill>
                  <a:srgbClr val="A31515"/>
                </a:solidFill>
                <a:latin typeface="Consolas" panose="020B0609020204030204" pitchFamily="49" charset="0"/>
              </a:rPr>
              <a:t>''</a:t>
            </a:r>
            <a:endParaRPr lang="en-US" altLang="zh-CN" sz="140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US" altLang="zh-CN" sz="140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</a:p>
          <a:p>
            <a:r>
              <a:rPr lang="en-US" altLang="zh-CN" sz="140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en-US" altLang="zh-CN" sz="1400">
                <a:solidFill>
                  <a:srgbClr val="0000FF"/>
                </a:solidFill>
                <a:latin typeface="Consolas" panose="020B0609020204030204" pitchFamily="49" charset="0"/>
              </a:rPr>
              <a:t>def</a:t>
            </a:r>
            <a:r>
              <a:rPr lang="en-US" altLang="zh-CN" sz="1400">
                <a:solidFill>
                  <a:srgbClr val="795E26"/>
                </a:solidFill>
                <a:latin typeface="Consolas" panose="020B0609020204030204" pitchFamily="49" charset="0"/>
              </a:rPr>
              <a:t>__init__</a:t>
            </a:r>
            <a:r>
              <a:rPr lang="en-US" altLang="zh-CN" sz="140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>
                <a:solidFill>
                  <a:srgbClr val="001080"/>
                </a:solidFill>
                <a:latin typeface="Consolas" panose="020B0609020204030204" pitchFamily="49" charset="0"/>
              </a:rPr>
              <a:t>self</a:t>
            </a:r>
            <a:r>
              <a:rPr lang="en-US" altLang="zh-CN" sz="1400">
                <a:solidFill>
                  <a:srgbClr val="3B3B3B"/>
                </a:solidFill>
                <a:latin typeface="Consolas" panose="020B0609020204030204" pitchFamily="49" charset="0"/>
              </a:rPr>
              <a:t>,</a:t>
            </a:r>
            <a:r>
              <a:rPr lang="en-US" altLang="zh-CN" sz="1400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en-US" altLang="zh-CN" sz="1400">
                <a:solidFill>
                  <a:srgbClr val="3B3B3B"/>
                </a:solidFill>
                <a:latin typeface="Consolas" panose="020B0609020204030204" pitchFamily="49" charset="0"/>
              </a:rPr>
              <a:t>,</a:t>
            </a:r>
            <a:r>
              <a:rPr lang="en-US" altLang="zh-CN" sz="1400">
                <a:solidFill>
                  <a:srgbClr val="001080"/>
                </a:solidFill>
                <a:latin typeface="Consolas" panose="020B0609020204030204" pitchFamily="49" charset="0"/>
              </a:rPr>
              <a:t>y</a:t>
            </a:r>
            <a:r>
              <a:rPr lang="en-US" altLang="zh-CN" sz="1400">
                <a:solidFill>
                  <a:srgbClr val="3B3B3B"/>
                </a:solidFill>
                <a:latin typeface="Consolas" panose="020B0609020204030204" pitchFamily="49" charset="0"/>
              </a:rPr>
              <a:t>,</a:t>
            </a:r>
            <a:r>
              <a:rPr lang="en-US" altLang="zh-CN" sz="1400">
                <a:solidFill>
                  <a:srgbClr val="001080"/>
                </a:solidFill>
                <a:latin typeface="Consolas" panose="020B0609020204030204" pitchFamily="49" charset="0"/>
              </a:rPr>
              <a:t>z</a:t>
            </a:r>
            <a:r>
              <a:rPr lang="en-US" altLang="zh-CN" sz="1400">
                <a:solidFill>
                  <a:srgbClr val="3B3B3B"/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en-US" altLang="zh-CN" sz="140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zh-CN" sz="1400">
                <a:solidFill>
                  <a:srgbClr val="001080"/>
                </a:solidFill>
                <a:latin typeface="Consolas" panose="020B0609020204030204" pitchFamily="49" charset="0"/>
              </a:rPr>
              <a:t>self</a:t>
            </a:r>
            <a:r>
              <a:rPr lang="en-US" altLang="zh-CN" sz="1400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1400">
                <a:solidFill>
                  <a:srgbClr val="001080"/>
                </a:solidFill>
                <a:latin typeface="Consolas" panose="020B0609020204030204" pitchFamily="49" charset="0"/>
              </a:rPr>
              <a:t>a</a:t>
            </a:r>
            <a:r>
              <a:rPr lang="en-US" altLang="zh-CN" sz="140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40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endParaRPr lang="en-US" altLang="zh-CN" sz="140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US" altLang="zh-CN" sz="140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zh-CN" sz="1400">
                <a:solidFill>
                  <a:srgbClr val="001080"/>
                </a:solidFill>
                <a:latin typeface="Consolas" panose="020B0609020204030204" pitchFamily="49" charset="0"/>
              </a:rPr>
              <a:t>self</a:t>
            </a:r>
            <a:r>
              <a:rPr lang="en-US" altLang="zh-CN" sz="1400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1400">
                <a:solidFill>
                  <a:srgbClr val="001080"/>
                </a:solidFill>
                <a:latin typeface="Consolas" panose="020B0609020204030204" pitchFamily="49" charset="0"/>
              </a:rPr>
              <a:t>b</a:t>
            </a:r>
            <a:r>
              <a:rPr lang="en-US" altLang="zh-CN" sz="140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40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>
                <a:solidFill>
                  <a:srgbClr val="001080"/>
                </a:solidFill>
                <a:latin typeface="Consolas" panose="020B0609020204030204" pitchFamily="49" charset="0"/>
              </a:rPr>
              <a:t>y</a:t>
            </a:r>
            <a:endParaRPr lang="en-US" altLang="zh-CN" sz="140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US" altLang="zh-CN" sz="140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zh-CN" sz="1400">
                <a:solidFill>
                  <a:srgbClr val="001080"/>
                </a:solidFill>
                <a:latin typeface="Consolas" panose="020B0609020204030204" pitchFamily="49" charset="0"/>
              </a:rPr>
              <a:t>self</a:t>
            </a:r>
            <a:r>
              <a:rPr lang="en-US" altLang="zh-CN" sz="1400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1400">
                <a:solidFill>
                  <a:srgbClr val="001080"/>
                </a:solidFill>
                <a:latin typeface="Consolas" panose="020B0609020204030204" pitchFamily="49" charset="0"/>
              </a:rPr>
              <a:t>c</a:t>
            </a:r>
            <a:r>
              <a:rPr lang="en-US" altLang="zh-CN" sz="140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40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>
                <a:solidFill>
                  <a:srgbClr val="001080"/>
                </a:solidFill>
                <a:latin typeface="Consolas" panose="020B0609020204030204" pitchFamily="49" charset="0"/>
              </a:rPr>
              <a:t>z</a:t>
            </a:r>
            <a:endParaRPr lang="en-US" altLang="zh-CN" sz="140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US" altLang="zh-CN" sz="140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en-US" altLang="zh-CN" sz="1400">
                <a:solidFill>
                  <a:srgbClr val="0000FF"/>
                </a:solidFill>
                <a:latin typeface="Consolas" panose="020B0609020204030204" pitchFamily="49" charset="0"/>
              </a:rPr>
              <a:t>def</a:t>
            </a:r>
            <a:r>
              <a:rPr lang="en-US" altLang="zh-CN" sz="140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>
                <a:solidFill>
                  <a:srgbClr val="795E26"/>
                </a:solidFill>
                <a:latin typeface="Consolas" panose="020B0609020204030204" pitchFamily="49" charset="0"/>
              </a:rPr>
              <a:t>getMax</a:t>
            </a:r>
            <a:r>
              <a:rPr lang="en-US" altLang="zh-CN" sz="140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>
                <a:solidFill>
                  <a:srgbClr val="001080"/>
                </a:solidFill>
                <a:latin typeface="Consolas" panose="020B0609020204030204" pitchFamily="49" charset="0"/>
              </a:rPr>
              <a:t>self</a:t>
            </a:r>
            <a:r>
              <a:rPr lang="en-US" altLang="zh-CN" sz="1400">
                <a:solidFill>
                  <a:srgbClr val="3B3B3B"/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en-US" altLang="zh-CN" sz="140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zh-CN" sz="1400">
                <a:solidFill>
                  <a:srgbClr val="001080"/>
                </a:solidFill>
                <a:latin typeface="Consolas" panose="020B0609020204030204" pitchFamily="49" charset="0"/>
              </a:rPr>
              <a:t>maxx</a:t>
            </a:r>
            <a:r>
              <a:rPr lang="en-US" altLang="zh-CN" sz="140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40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>
                <a:solidFill>
                  <a:srgbClr val="001080"/>
                </a:solidFill>
                <a:latin typeface="Consolas" panose="020B0609020204030204" pitchFamily="49" charset="0"/>
              </a:rPr>
              <a:t>self</a:t>
            </a:r>
            <a:r>
              <a:rPr lang="en-US" altLang="zh-CN" sz="1400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1400">
                <a:solidFill>
                  <a:srgbClr val="001080"/>
                </a:solidFill>
                <a:latin typeface="Consolas" panose="020B0609020204030204" pitchFamily="49" charset="0"/>
              </a:rPr>
              <a:t>a</a:t>
            </a:r>
            <a:endParaRPr lang="en-US" altLang="zh-CN" sz="140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US" altLang="zh-CN" sz="140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zh-CN" sz="1400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en-US" altLang="zh-CN" sz="140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>
                <a:solidFill>
                  <a:srgbClr val="001080"/>
                </a:solidFill>
                <a:latin typeface="Consolas" panose="020B0609020204030204" pitchFamily="49" charset="0"/>
              </a:rPr>
              <a:t>self</a:t>
            </a:r>
            <a:r>
              <a:rPr lang="en-US" altLang="zh-CN" sz="1400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1400">
                <a:solidFill>
                  <a:srgbClr val="001080"/>
                </a:solidFill>
                <a:latin typeface="Consolas" panose="020B0609020204030204" pitchFamily="49" charset="0"/>
              </a:rPr>
              <a:t>b</a:t>
            </a:r>
            <a:r>
              <a:rPr lang="en-US" altLang="zh-CN" sz="140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  <a:r>
              <a:rPr lang="en-US" altLang="zh-CN" sz="1400">
                <a:solidFill>
                  <a:srgbClr val="001080"/>
                </a:solidFill>
                <a:latin typeface="Consolas" panose="020B0609020204030204" pitchFamily="49" charset="0"/>
              </a:rPr>
              <a:t>maxx</a:t>
            </a:r>
            <a:r>
              <a:rPr lang="en-US" altLang="zh-CN" sz="1400">
                <a:solidFill>
                  <a:srgbClr val="3B3B3B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altLang="zh-CN" sz="1400">
                <a:solidFill>
                  <a:srgbClr val="3B3B3B"/>
                </a:solidFill>
                <a:latin typeface="Consolas" panose="020B0609020204030204" pitchFamily="49" charset="0"/>
              </a:rPr>
              <a:t>            </a:t>
            </a:r>
            <a:r>
              <a:rPr lang="en-US" altLang="zh-CN" sz="1400">
                <a:solidFill>
                  <a:srgbClr val="001080"/>
                </a:solidFill>
                <a:latin typeface="Consolas" panose="020B0609020204030204" pitchFamily="49" charset="0"/>
              </a:rPr>
              <a:t>maxx</a:t>
            </a:r>
            <a:r>
              <a:rPr lang="en-US" altLang="zh-CN" sz="140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40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>
                <a:solidFill>
                  <a:srgbClr val="001080"/>
                </a:solidFill>
                <a:latin typeface="Consolas" panose="020B0609020204030204" pitchFamily="49" charset="0"/>
              </a:rPr>
              <a:t>self</a:t>
            </a:r>
            <a:r>
              <a:rPr lang="en-US" altLang="zh-CN" sz="1400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1400">
                <a:solidFill>
                  <a:srgbClr val="001080"/>
                </a:solidFill>
                <a:latin typeface="Consolas" panose="020B0609020204030204" pitchFamily="49" charset="0"/>
              </a:rPr>
              <a:t>b</a:t>
            </a:r>
            <a:endParaRPr lang="en-US" altLang="zh-CN" sz="140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US" altLang="zh-CN" sz="140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zh-CN" sz="1400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en-US" altLang="zh-CN" sz="140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>
                <a:solidFill>
                  <a:srgbClr val="001080"/>
                </a:solidFill>
                <a:latin typeface="Consolas" panose="020B0609020204030204" pitchFamily="49" charset="0"/>
              </a:rPr>
              <a:t>self</a:t>
            </a:r>
            <a:r>
              <a:rPr lang="en-US" altLang="zh-CN" sz="1400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1400">
                <a:solidFill>
                  <a:srgbClr val="001080"/>
                </a:solidFill>
                <a:latin typeface="Consolas" panose="020B0609020204030204" pitchFamily="49" charset="0"/>
              </a:rPr>
              <a:t>c</a:t>
            </a:r>
            <a:r>
              <a:rPr lang="en-US" altLang="zh-CN" sz="140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  <a:r>
              <a:rPr lang="en-US" altLang="zh-CN" sz="1400">
                <a:solidFill>
                  <a:srgbClr val="001080"/>
                </a:solidFill>
                <a:latin typeface="Consolas" panose="020B0609020204030204" pitchFamily="49" charset="0"/>
              </a:rPr>
              <a:t>maxx</a:t>
            </a:r>
            <a:r>
              <a:rPr lang="en-US" altLang="zh-CN" sz="1400">
                <a:solidFill>
                  <a:srgbClr val="3B3B3B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altLang="zh-CN" sz="1400">
                <a:solidFill>
                  <a:srgbClr val="3B3B3B"/>
                </a:solidFill>
                <a:latin typeface="Consolas" panose="020B0609020204030204" pitchFamily="49" charset="0"/>
              </a:rPr>
              <a:t>            </a:t>
            </a:r>
            <a:r>
              <a:rPr lang="en-US" altLang="zh-CN" sz="1400">
                <a:solidFill>
                  <a:srgbClr val="001080"/>
                </a:solidFill>
                <a:latin typeface="Consolas" panose="020B0609020204030204" pitchFamily="49" charset="0"/>
              </a:rPr>
              <a:t>maxx</a:t>
            </a:r>
            <a:r>
              <a:rPr lang="en-US" altLang="zh-CN" sz="140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40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>
                <a:solidFill>
                  <a:srgbClr val="001080"/>
                </a:solidFill>
                <a:latin typeface="Consolas" panose="020B0609020204030204" pitchFamily="49" charset="0"/>
              </a:rPr>
              <a:t>self</a:t>
            </a:r>
            <a:r>
              <a:rPr lang="en-US" altLang="zh-CN" sz="1400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1400">
                <a:solidFill>
                  <a:srgbClr val="001080"/>
                </a:solidFill>
                <a:latin typeface="Consolas" panose="020B0609020204030204" pitchFamily="49" charset="0"/>
              </a:rPr>
              <a:t>c</a:t>
            </a:r>
            <a:endParaRPr lang="en-US" altLang="zh-CN" sz="140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US" altLang="zh-CN" sz="1400">
                <a:solidFill>
                  <a:srgbClr val="3B3B3B"/>
                </a:solidFill>
                <a:latin typeface="Consolas" panose="020B0609020204030204" pitchFamily="49" charset="0"/>
              </a:rPr>
              <a:t>            </a:t>
            </a:r>
            <a:r>
              <a:rPr lang="en-US" altLang="zh-CN" sz="140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 altLang="zh-CN" sz="140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>
                <a:solidFill>
                  <a:srgbClr val="001080"/>
                </a:solidFill>
                <a:latin typeface="Consolas" panose="020B0609020204030204" pitchFamily="49" charset="0"/>
              </a:rPr>
              <a:t>maxx</a:t>
            </a:r>
            <a:endParaRPr lang="en-US" altLang="zh-CN" sz="140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US" altLang="zh-CN" sz="140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</a:p>
          <a:p>
            <a:r>
              <a:rPr lang="en-US" altLang="zh-CN" sz="1400">
                <a:solidFill>
                  <a:srgbClr val="001080"/>
                </a:solidFill>
                <a:latin typeface="Consolas" panose="020B0609020204030204" pitchFamily="49" charset="0"/>
              </a:rPr>
              <a:t>ww</a:t>
            </a:r>
            <a:r>
              <a:rPr lang="en-US" altLang="zh-CN" sz="140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40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>
                <a:solidFill>
                  <a:srgbClr val="267F99"/>
                </a:solidFill>
                <a:latin typeface="Consolas" panose="020B0609020204030204" pitchFamily="49" charset="0"/>
              </a:rPr>
              <a:t>MySanJiao</a:t>
            </a:r>
            <a:r>
              <a:rPr lang="en-US" altLang="zh-CN" sz="140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altLang="zh-CN" sz="1400">
                <a:solidFill>
                  <a:srgbClr val="3B3B3B"/>
                </a:solidFill>
                <a:latin typeface="Consolas" panose="020B0609020204030204" pitchFamily="49" charset="0"/>
              </a:rPr>
              <a:t>,</a:t>
            </a:r>
            <a:r>
              <a:rPr lang="en-US" altLang="zh-CN" sz="1400">
                <a:solidFill>
                  <a:srgbClr val="098658"/>
                </a:solidFill>
                <a:latin typeface="Consolas" panose="020B0609020204030204" pitchFamily="49" charset="0"/>
              </a:rPr>
              <a:t>4</a:t>
            </a:r>
            <a:r>
              <a:rPr lang="en-US" altLang="zh-CN" sz="1400">
                <a:solidFill>
                  <a:srgbClr val="3B3B3B"/>
                </a:solidFill>
                <a:latin typeface="Consolas" panose="020B0609020204030204" pitchFamily="49" charset="0"/>
              </a:rPr>
              <a:t>,</a:t>
            </a:r>
            <a:r>
              <a:rPr lang="en-US" altLang="zh-CN" sz="1400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en-US" altLang="zh-CN" sz="140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zh-CN" sz="1400">
                <a:solidFill>
                  <a:srgbClr val="795E26"/>
                </a:solidFill>
                <a:latin typeface="Consolas" panose="020B0609020204030204" pitchFamily="49" charset="0"/>
              </a:rPr>
              <a:t>print</a:t>
            </a:r>
            <a:r>
              <a:rPr lang="en-US" altLang="zh-CN" sz="140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>
                <a:solidFill>
                  <a:srgbClr val="001080"/>
                </a:solidFill>
                <a:latin typeface="Consolas" panose="020B0609020204030204" pitchFamily="49" charset="0"/>
              </a:rPr>
              <a:t>ww</a:t>
            </a:r>
            <a:r>
              <a:rPr lang="en-US" altLang="zh-CN" sz="1400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1400">
                <a:solidFill>
                  <a:srgbClr val="001080"/>
                </a:solidFill>
                <a:latin typeface="Consolas" panose="020B0609020204030204" pitchFamily="49" charset="0"/>
              </a:rPr>
              <a:t>a</a:t>
            </a:r>
            <a:r>
              <a:rPr lang="en-US" altLang="zh-CN" sz="140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en-US" altLang="zh-CN" sz="1400">
                <a:solidFill>
                  <a:srgbClr val="001080"/>
                </a:solidFill>
                <a:latin typeface="Consolas" panose="020B0609020204030204" pitchFamily="49" charset="0"/>
              </a:rPr>
              <a:t>ww</a:t>
            </a:r>
            <a:r>
              <a:rPr lang="en-US" altLang="zh-CN" sz="1400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1400">
                <a:solidFill>
                  <a:srgbClr val="001080"/>
                </a:solidFill>
                <a:latin typeface="Consolas" panose="020B0609020204030204" pitchFamily="49" charset="0"/>
              </a:rPr>
              <a:t>b</a:t>
            </a:r>
            <a:r>
              <a:rPr lang="en-US" altLang="zh-CN" sz="140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en-US" altLang="zh-CN" sz="1400">
                <a:solidFill>
                  <a:srgbClr val="001080"/>
                </a:solidFill>
                <a:latin typeface="Consolas" panose="020B0609020204030204" pitchFamily="49" charset="0"/>
              </a:rPr>
              <a:t>ww</a:t>
            </a:r>
            <a:r>
              <a:rPr lang="en-US" altLang="zh-CN" sz="1400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1400">
                <a:solidFill>
                  <a:srgbClr val="001080"/>
                </a:solidFill>
                <a:latin typeface="Consolas" panose="020B0609020204030204" pitchFamily="49" charset="0"/>
              </a:rPr>
              <a:t>c</a:t>
            </a:r>
            <a:r>
              <a:rPr lang="en-US" altLang="zh-CN" sz="140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zh-CN" sz="1400">
                <a:solidFill>
                  <a:srgbClr val="001080"/>
                </a:solidFill>
                <a:latin typeface="Consolas" panose="020B0609020204030204" pitchFamily="49" charset="0"/>
              </a:rPr>
              <a:t>mm</a:t>
            </a:r>
            <a:r>
              <a:rPr lang="en-US" altLang="zh-CN" sz="140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40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>
                <a:solidFill>
                  <a:srgbClr val="001080"/>
                </a:solidFill>
                <a:latin typeface="Consolas" panose="020B0609020204030204" pitchFamily="49" charset="0"/>
              </a:rPr>
              <a:t>ww</a:t>
            </a:r>
            <a:r>
              <a:rPr lang="en-US" altLang="zh-CN" sz="1400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1400">
                <a:solidFill>
                  <a:srgbClr val="795E26"/>
                </a:solidFill>
                <a:latin typeface="Consolas" panose="020B0609020204030204" pitchFamily="49" charset="0"/>
              </a:rPr>
              <a:t>getMax</a:t>
            </a:r>
            <a:r>
              <a:rPr lang="en-US" altLang="zh-CN" sz="1400">
                <a:solidFill>
                  <a:srgbClr val="3B3B3B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altLang="zh-CN" sz="1400">
                <a:solidFill>
                  <a:srgbClr val="795E26"/>
                </a:solidFill>
                <a:latin typeface="Consolas" panose="020B0609020204030204" pitchFamily="49" charset="0"/>
              </a:rPr>
              <a:t>print</a:t>
            </a:r>
            <a:r>
              <a:rPr lang="en-US" altLang="zh-CN" sz="140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>
                <a:solidFill>
                  <a:srgbClr val="001080"/>
                </a:solidFill>
                <a:latin typeface="Consolas" panose="020B0609020204030204" pitchFamily="49" charset="0"/>
              </a:rPr>
              <a:t>mm</a:t>
            </a:r>
            <a:r>
              <a:rPr lang="en-US" altLang="zh-CN" sz="140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xmlns="" id="{A0842C2B-86D7-9AD3-101B-9E672E642EA1}"/>
              </a:ext>
            </a:extLst>
          </p:cNvPr>
          <p:cNvSpPr txBox="1"/>
          <p:nvPr/>
        </p:nvSpPr>
        <p:spPr>
          <a:xfrm>
            <a:off x="7641265" y="225028"/>
            <a:ext cx="4550735" cy="6068080"/>
          </a:xfrm>
          <a:prstGeom prst="round2DiagRect">
            <a:avLst/>
          </a:prstGeom>
          <a:solidFill>
            <a:srgbClr val="FAFAFA"/>
          </a:solidFill>
        </p:spPr>
        <p:txBody>
          <a:bodyPr wrap="square">
            <a:spAutoFit/>
          </a:bodyPr>
          <a:lstStyle/>
          <a:p>
            <a:r>
              <a:rPr lang="en-US" altLang="zh-CN" sz="120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200">
                <a:solidFill>
                  <a:srgbClr val="267F99"/>
                </a:solidFill>
                <a:latin typeface="Consolas" panose="020B0609020204030204" pitchFamily="49" charset="0"/>
              </a:rPr>
              <a:t>Dog</a:t>
            </a:r>
            <a: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en-US" altLang="zh-CN" sz="1200">
                <a:solidFill>
                  <a:srgbClr val="A31515"/>
                </a:solidFill>
                <a:latin typeface="Consolas" panose="020B0609020204030204" pitchFamily="49" charset="0"/>
              </a:rPr>
              <a:t>“”“</a:t>
            </a:r>
            <a:r>
              <a:rPr lang="zh-CN" altLang="en-US" sz="1200">
                <a:solidFill>
                  <a:srgbClr val="A31515"/>
                </a:solidFill>
                <a:latin typeface="Consolas" panose="020B0609020204030204" pitchFamily="49" charset="0"/>
              </a:rPr>
              <a:t>一次模拟小狗的简单尝试</a:t>
            </a:r>
            <a:r>
              <a:rPr lang="en-US" altLang="zh-CN" sz="1200">
                <a:solidFill>
                  <a:srgbClr val="A31515"/>
                </a:solidFill>
                <a:latin typeface="Consolas" panose="020B0609020204030204" pitchFamily="49" charset="0"/>
              </a:rPr>
              <a:t>."""</a:t>
            </a:r>
            <a:endParaRPr lang="en-US" altLang="zh-CN" sz="120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  <a:t/>
            </a:r>
            <a:b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en-US" altLang="zh-CN" sz="1200">
                <a:solidFill>
                  <a:srgbClr val="0000FF"/>
                </a:solidFill>
                <a:latin typeface="Consolas" panose="020B0609020204030204" pitchFamily="49" charset="0"/>
              </a:rPr>
              <a:t>def</a:t>
            </a:r>
            <a: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200">
                <a:solidFill>
                  <a:srgbClr val="795E26"/>
                </a:solidFill>
                <a:latin typeface="Consolas" panose="020B0609020204030204" pitchFamily="49" charset="0"/>
              </a:rPr>
              <a:t>__init__</a:t>
            </a:r>
            <a: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200">
                <a:solidFill>
                  <a:srgbClr val="001080"/>
                </a:solidFill>
                <a:latin typeface="Consolas" panose="020B0609020204030204" pitchFamily="49" charset="0"/>
              </a:rPr>
              <a:t>self</a:t>
            </a:r>
            <a: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en-US" altLang="zh-CN" sz="1200">
                <a:solidFill>
                  <a:srgbClr val="001080"/>
                </a:solidFill>
                <a:latin typeface="Consolas" panose="020B0609020204030204" pitchFamily="49" charset="0"/>
              </a:rPr>
              <a:t>name</a:t>
            </a:r>
            <a: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en-US" altLang="zh-CN" sz="1200">
                <a:solidFill>
                  <a:srgbClr val="001080"/>
                </a:solidFill>
                <a:latin typeface="Consolas" panose="020B0609020204030204" pitchFamily="49" charset="0"/>
              </a:rPr>
              <a:t>age</a:t>
            </a:r>
            <a: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zh-CN" sz="1200">
                <a:solidFill>
                  <a:srgbClr val="A31515"/>
                </a:solidFill>
                <a:latin typeface="Consolas" panose="020B0609020204030204" pitchFamily="49" charset="0"/>
              </a:rPr>
              <a:t>“”“</a:t>
            </a:r>
            <a:r>
              <a:rPr lang="zh-CN" altLang="en-US" sz="1200">
                <a:solidFill>
                  <a:srgbClr val="A31515"/>
                </a:solidFill>
                <a:latin typeface="Consolas" panose="020B0609020204030204" pitchFamily="49" charset="0"/>
              </a:rPr>
              <a:t>初始化属性</a:t>
            </a:r>
            <a:r>
              <a:rPr lang="en-US" altLang="zh-CN" sz="1200">
                <a:solidFill>
                  <a:srgbClr val="A31515"/>
                </a:solidFill>
                <a:latin typeface="Consolas" panose="020B0609020204030204" pitchFamily="49" charset="0"/>
              </a:rPr>
              <a:t> name </a:t>
            </a:r>
            <a:r>
              <a:rPr lang="zh-CN" altLang="en-US" sz="1200">
                <a:solidFill>
                  <a:srgbClr val="A31515"/>
                </a:solidFill>
                <a:latin typeface="Consolas" panose="020B0609020204030204" pitchFamily="49" charset="0"/>
              </a:rPr>
              <a:t>和</a:t>
            </a:r>
            <a:r>
              <a:rPr lang="en-US" altLang="zh-CN" sz="1200">
                <a:solidFill>
                  <a:srgbClr val="A31515"/>
                </a:solidFill>
                <a:latin typeface="Consolas" panose="020B0609020204030204" pitchFamily="49" charset="0"/>
              </a:rPr>
              <a:t> age."""</a:t>
            </a:r>
            <a:endParaRPr lang="en-US" altLang="zh-CN" sz="120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zh-CN" sz="1200">
                <a:solidFill>
                  <a:srgbClr val="001080"/>
                </a:solidFill>
                <a:latin typeface="Consolas" panose="020B0609020204030204" pitchFamily="49" charset="0"/>
              </a:rPr>
              <a:t>self</a:t>
            </a:r>
            <a: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1200">
                <a:solidFill>
                  <a:srgbClr val="001080"/>
                </a:solidFill>
                <a:latin typeface="Consolas" panose="020B0609020204030204" pitchFamily="49" charset="0"/>
              </a:rPr>
              <a:t>name</a:t>
            </a:r>
            <a: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20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200">
                <a:solidFill>
                  <a:srgbClr val="001080"/>
                </a:solidFill>
                <a:latin typeface="Consolas" panose="020B0609020204030204" pitchFamily="49" charset="0"/>
              </a:rPr>
              <a:t>name</a:t>
            </a:r>
            <a:endParaRPr lang="en-US" altLang="zh-CN" sz="120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zh-CN" sz="1200">
                <a:solidFill>
                  <a:srgbClr val="001080"/>
                </a:solidFill>
                <a:latin typeface="Consolas" panose="020B0609020204030204" pitchFamily="49" charset="0"/>
              </a:rPr>
              <a:t>self</a:t>
            </a:r>
            <a: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1200">
                <a:solidFill>
                  <a:srgbClr val="001080"/>
                </a:solidFill>
                <a:latin typeface="Consolas" panose="020B0609020204030204" pitchFamily="49" charset="0"/>
              </a:rPr>
              <a:t>age</a:t>
            </a:r>
            <a: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20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200">
                <a:solidFill>
                  <a:srgbClr val="001080"/>
                </a:solidFill>
                <a:latin typeface="Consolas" panose="020B0609020204030204" pitchFamily="49" charset="0"/>
              </a:rPr>
              <a:t>age</a:t>
            </a:r>
            <a:endParaRPr lang="en-US" altLang="zh-CN" sz="120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  <a:t/>
            </a:r>
            <a:b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en-US" altLang="zh-CN" sz="1200">
                <a:solidFill>
                  <a:srgbClr val="0000FF"/>
                </a:solidFill>
                <a:latin typeface="Consolas" panose="020B0609020204030204" pitchFamily="49" charset="0"/>
              </a:rPr>
              <a:t>def</a:t>
            </a:r>
            <a: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200">
                <a:solidFill>
                  <a:srgbClr val="795E26"/>
                </a:solidFill>
                <a:latin typeface="Consolas" panose="020B0609020204030204" pitchFamily="49" charset="0"/>
              </a:rPr>
              <a:t>sit</a:t>
            </a:r>
            <a: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200">
                <a:solidFill>
                  <a:srgbClr val="001080"/>
                </a:solidFill>
                <a:latin typeface="Consolas" panose="020B0609020204030204" pitchFamily="49" charset="0"/>
              </a:rPr>
              <a:t>self</a:t>
            </a:r>
            <a: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zh-CN" sz="1200">
                <a:solidFill>
                  <a:srgbClr val="A31515"/>
                </a:solidFill>
                <a:latin typeface="Consolas" panose="020B0609020204030204" pitchFamily="49" charset="0"/>
              </a:rPr>
              <a:t>“”“</a:t>
            </a:r>
            <a:r>
              <a:rPr lang="zh-CN" altLang="en-US" sz="1200">
                <a:solidFill>
                  <a:srgbClr val="A31515"/>
                </a:solidFill>
                <a:latin typeface="Consolas" panose="020B0609020204030204" pitchFamily="49" charset="0"/>
              </a:rPr>
              <a:t>模拟小狗收到命令时坐下</a:t>
            </a:r>
            <a:r>
              <a:rPr lang="en-US" altLang="zh-CN" sz="1200">
                <a:solidFill>
                  <a:srgbClr val="A31515"/>
                </a:solidFill>
                <a:latin typeface="Consolas" panose="020B0609020204030204" pitchFamily="49" charset="0"/>
              </a:rPr>
              <a:t>."""</a:t>
            </a:r>
            <a:endParaRPr lang="en-US" altLang="zh-CN" sz="120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zh-CN" sz="1200">
                <a:solidFill>
                  <a:srgbClr val="795E26"/>
                </a:solidFill>
                <a:latin typeface="Consolas" panose="020B0609020204030204" pitchFamily="49" charset="0"/>
              </a:rPr>
              <a:t>print</a:t>
            </a:r>
            <a: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200">
                <a:solidFill>
                  <a:srgbClr val="0000FF"/>
                </a:solidFill>
                <a:latin typeface="Consolas" panose="020B0609020204030204" pitchFamily="49" charset="0"/>
              </a:rPr>
              <a:t>f</a:t>
            </a:r>
            <a:r>
              <a:rPr lang="en-US" altLang="zh-CN" sz="120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altLang="zh-CN" sz="1200">
                <a:solidFill>
                  <a:srgbClr val="0000FF"/>
                </a:solidFill>
                <a:latin typeface="Consolas" panose="020B0609020204030204" pitchFamily="49" charset="0"/>
              </a:rPr>
              <a:t>{</a:t>
            </a:r>
            <a:r>
              <a:rPr lang="en-US" altLang="zh-CN" sz="1200">
                <a:solidFill>
                  <a:srgbClr val="001080"/>
                </a:solidFill>
                <a:latin typeface="Consolas" panose="020B0609020204030204" pitchFamily="49" charset="0"/>
              </a:rPr>
              <a:t>self</a:t>
            </a:r>
            <a: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1200">
                <a:solidFill>
                  <a:srgbClr val="001080"/>
                </a:solidFill>
                <a:latin typeface="Consolas" panose="020B0609020204030204" pitchFamily="49" charset="0"/>
              </a:rPr>
              <a:t>name</a:t>
            </a:r>
            <a:r>
              <a:rPr lang="en-US" altLang="zh-CN" sz="1200">
                <a:solidFill>
                  <a:srgbClr val="0000FF"/>
                </a:solidFill>
                <a:latin typeface="Consolas" panose="020B0609020204030204" pitchFamily="49" charset="0"/>
              </a:rPr>
              <a:t>}</a:t>
            </a:r>
            <a:r>
              <a:rPr lang="en-US" altLang="zh-CN" sz="1200">
                <a:solidFill>
                  <a:srgbClr val="A31515"/>
                </a:solidFill>
                <a:latin typeface="Consolas" panose="020B0609020204030204" pitchFamily="49" charset="0"/>
              </a:rPr>
              <a:t> is now sitting."</a:t>
            </a:r>
            <a: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  <a:t/>
            </a:r>
            <a:b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en-US" altLang="zh-CN" sz="1200">
                <a:solidFill>
                  <a:srgbClr val="0000FF"/>
                </a:solidFill>
                <a:latin typeface="Consolas" panose="020B0609020204030204" pitchFamily="49" charset="0"/>
              </a:rPr>
              <a:t>def</a:t>
            </a:r>
            <a: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200">
                <a:solidFill>
                  <a:srgbClr val="795E26"/>
                </a:solidFill>
                <a:latin typeface="Consolas" panose="020B0609020204030204" pitchFamily="49" charset="0"/>
              </a:rPr>
              <a:t>roll_over</a:t>
            </a:r>
            <a: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200">
                <a:solidFill>
                  <a:srgbClr val="001080"/>
                </a:solidFill>
                <a:latin typeface="Consolas" panose="020B0609020204030204" pitchFamily="49" charset="0"/>
              </a:rPr>
              <a:t>self</a:t>
            </a:r>
            <a: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zh-CN" sz="1200">
                <a:solidFill>
                  <a:srgbClr val="A31515"/>
                </a:solidFill>
                <a:latin typeface="Consolas" panose="020B0609020204030204" pitchFamily="49" charset="0"/>
              </a:rPr>
              <a:t>“”“</a:t>
            </a:r>
            <a:r>
              <a:rPr lang="zh-CN" altLang="en-US" sz="1200">
                <a:solidFill>
                  <a:srgbClr val="A31515"/>
                </a:solidFill>
                <a:latin typeface="Consolas" panose="020B0609020204030204" pitchFamily="49" charset="0"/>
              </a:rPr>
              <a:t>模拟小狗收到命令时打滚</a:t>
            </a:r>
            <a:r>
              <a:rPr lang="en-US" altLang="zh-CN" sz="1200">
                <a:solidFill>
                  <a:srgbClr val="A31515"/>
                </a:solidFill>
                <a:latin typeface="Consolas" panose="020B0609020204030204" pitchFamily="49" charset="0"/>
              </a:rPr>
              <a:t>."""</a:t>
            </a:r>
            <a:endParaRPr lang="en-US" altLang="zh-CN" sz="120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zh-CN" sz="1200">
                <a:solidFill>
                  <a:srgbClr val="795E26"/>
                </a:solidFill>
                <a:latin typeface="Consolas" panose="020B0609020204030204" pitchFamily="49" charset="0"/>
              </a:rPr>
              <a:t>print</a:t>
            </a:r>
            <a: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200">
                <a:solidFill>
                  <a:srgbClr val="0000FF"/>
                </a:solidFill>
                <a:latin typeface="Consolas" panose="020B0609020204030204" pitchFamily="49" charset="0"/>
              </a:rPr>
              <a:t>f</a:t>
            </a:r>
            <a:r>
              <a:rPr lang="en-US" altLang="zh-CN" sz="120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altLang="zh-CN" sz="1200">
                <a:solidFill>
                  <a:srgbClr val="0000FF"/>
                </a:solidFill>
                <a:latin typeface="Consolas" panose="020B0609020204030204" pitchFamily="49" charset="0"/>
              </a:rPr>
              <a:t>{</a:t>
            </a:r>
            <a:r>
              <a:rPr lang="en-US" altLang="zh-CN" sz="1200">
                <a:solidFill>
                  <a:srgbClr val="001080"/>
                </a:solidFill>
                <a:latin typeface="Consolas" panose="020B0609020204030204" pitchFamily="49" charset="0"/>
              </a:rPr>
              <a:t>self</a:t>
            </a:r>
            <a: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1200">
                <a:solidFill>
                  <a:srgbClr val="001080"/>
                </a:solidFill>
                <a:latin typeface="Consolas" panose="020B0609020204030204" pitchFamily="49" charset="0"/>
              </a:rPr>
              <a:t>name</a:t>
            </a:r>
            <a:r>
              <a:rPr lang="en-US" altLang="zh-CN" sz="1200">
                <a:solidFill>
                  <a:srgbClr val="0000FF"/>
                </a:solidFill>
                <a:latin typeface="Consolas" panose="020B0609020204030204" pitchFamily="49" charset="0"/>
              </a:rPr>
              <a:t>}</a:t>
            </a:r>
            <a:r>
              <a:rPr lang="en-US" altLang="zh-CN" sz="1200">
                <a:solidFill>
                  <a:srgbClr val="A31515"/>
                </a:solidFill>
                <a:latin typeface="Consolas" panose="020B0609020204030204" pitchFamily="49" charset="0"/>
              </a:rPr>
              <a:t> rolled over!"</a:t>
            </a:r>
            <a: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  <a:t/>
            </a:r>
            <a:b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  <a:t/>
            </a:r>
            <a:b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en-US" altLang="zh-CN" sz="1200">
                <a:solidFill>
                  <a:srgbClr val="001080"/>
                </a:solidFill>
                <a:latin typeface="Consolas" panose="020B0609020204030204" pitchFamily="49" charset="0"/>
              </a:rPr>
              <a:t>my_dog</a:t>
            </a:r>
            <a: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20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200">
                <a:solidFill>
                  <a:srgbClr val="267F99"/>
                </a:solidFill>
                <a:latin typeface="Consolas" panose="020B0609020204030204" pitchFamily="49" charset="0"/>
              </a:rPr>
              <a:t>Dog</a:t>
            </a:r>
            <a: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200">
                <a:solidFill>
                  <a:srgbClr val="A31515"/>
                </a:solidFill>
                <a:latin typeface="Consolas" panose="020B0609020204030204" pitchFamily="49" charset="0"/>
              </a:rPr>
              <a:t>'Willie'</a:t>
            </a:r>
            <a: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en-US" altLang="zh-CN" sz="1200">
                <a:solidFill>
                  <a:srgbClr val="098658"/>
                </a:solidFill>
                <a:latin typeface="Consolas" panose="020B0609020204030204" pitchFamily="49" charset="0"/>
              </a:rPr>
              <a:t>6</a:t>
            </a:r>
            <a: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zh-CN" sz="1200">
                <a:solidFill>
                  <a:srgbClr val="001080"/>
                </a:solidFill>
                <a:latin typeface="Consolas" panose="020B0609020204030204" pitchFamily="49" charset="0"/>
              </a:rPr>
              <a:t>your_dog</a:t>
            </a:r>
            <a: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20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200">
                <a:solidFill>
                  <a:srgbClr val="267F99"/>
                </a:solidFill>
                <a:latin typeface="Consolas" panose="020B0609020204030204" pitchFamily="49" charset="0"/>
              </a:rPr>
              <a:t>Dog</a:t>
            </a:r>
            <a: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200">
                <a:solidFill>
                  <a:srgbClr val="A31515"/>
                </a:solidFill>
                <a:latin typeface="Consolas" panose="020B0609020204030204" pitchFamily="49" charset="0"/>
              </a:rPr>
              <a:t>'Lucy'</a:t>
            </a:r>
            <a: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en-US" altLang="zh-CN" sz="120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  <a:t/>
            </a:r>
            <a:b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en-US" altLang="zh-CN" sz="1200">
                <a:solidFill>
                  <a:srgbClr val="795E26"/>
                </a:solidFill>
                <a:latin typeface="Consolas" panose="020B0609020204030204" pitchFamily="49" charset="0"/>
              </a:rPr>
              <a:t>print</a:t>
            </a:r>
            <a: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200">
                <a:solidFill>
                  <a:srgbClr val="0000FF"/>
                </a:solidFill>
                <a:latin typeface="Consolas" panose="020B0609020204030204" pitchFamily="49" charset="0"/>
              </a:rPr>
              <a:t>f</a:t>
            </a:r>
            <a:r>
              <a:rPr lang="en-US" altLang="zh-CN" sz="1200">
                <a:solidFill>
                  <a:srgbClr val="A31515"/>
                </a:solidFill>
                <a:latin typeface="Consolas" panose="020B0609020204030204" pitchFamily="49" charset="0"/>
              </a:rPr>
              <a:t>"My dog's name is </a:t>
            </a:r>
            <a:r>
              <a:rPr lang="en-US" altLang="zh-CN" sz="1200">
                <a:solidFill>
                  <a:srgbClr val="0000FF"/>
                </a:solidFill>
                <a:latin typeface="Consolas" panose="020B0609020204030204" pitchFamily="49" charset="0"/>
              </a:rPr>
              <a:t>{</a:t>
            </a:r>
            <a:r>
              <a:rPr lang="en-US" altLang="zh-CN" sz="1200">
                <a:solidFill>
                  <a:srgbClr val="001080"/>
                </a:solidFill>
                <a:latin typeface="Consolas" panose="020B0609020204030204" pitchFamily="49" charset="0"/>
              </a:rPr>
              <a:t>my_dog</a:t>
            </a:r>
            <a: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1200">
                <a:solidFill>
                  <a:srgbClr val="001080"/>
                </a:solidFill>
                <a:latin typeface="Consolas" panose="020B0609020204030204" pitchFamily="49" charset="0"/>
              </a:rPr>
              <a:t>name</a:t>
            </a:r>
            <a:r>
              <a:rPr lang="en-US" altLang="zh-CN" sz="1200">
                <a:solidFill>
                  <a:srgbClr val="0000FF"/>
                </a:solidFill>
                <a:latin typeface="Consolas" panose="020B0609020204030204" pitchFamily="49" charset="0"/>
              </a:rPr>
              <a:t>}</a:t>
            </a:r>
            <a:r>
              <a:rPr lang="en-US" altLang="zh-CN" sz="1200">
                <a:solidFill>
                  <a:srgbClr val="A31515"/>
                </a:solidFill>
                <a:latin typeface="Consolas" panose="020B0609020204030204" pitchFamily="49" charset="0"/>
              </a:rPr>
              <a:t>."</a:t>
            </a:r>
            <a: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zh-CN" sz="1200">
                <a:solidFill>
                  <a:srgbClr val="795E26"/>
                </a:solidFill>
                <a:latin typeface="Consolas" panose="020B0609020204030204" pitchFamily="49" charset="0"/>
              </a:rPr>
              <a:t>print</a:t>
            </a:r>
            <a: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200">
                <a:solidFill>
                  <a:srgbClr val="0000FF"/>
                </a:solidFill>
                <a:latin typeface="Consolas" panose="020B0609020204030204" pitchFamily="49" charset="0"/>
              </a:rPr>
              <a:t>f</a:t>
            </a:r>
            <a:r>
              <a:rPr lang="en-US" altLang="zh-CN" sz="1200">
                <a:solidFill>
                  <a:srgbClr val="A31515"/>
                </a:solidFill>
                <a:latin typeface="Consolas" panose="020B0609020204030204" pitchFamily="49" charset="0"/>
              </a:rPr>
              <a:t>"My dog is </a:t>
            </a:r>
            <a:r>
              <a:rPr lang="en-US" altLang="zh-CN" sz="1200">
                <a:solidFill>
                  <a:srgbClr val="0000FF"/>
                </a:solidFill>
                <a:latin typeface="Consolas" panose="020B0609020204030204" pitchFamily="49" charset="0"/>
              </a:rPr>
              <a:t>{</a:t>
            </a:r>
            <a:r>
              <a:rPr lang="en-US" altLang="zh-CN" sz="1200">
                <a:solidFill>
                  <a:srgbClr val="001080"/>
                </a:solidFill>
                <a:latin typeface="Consolas" panose="020B0609020204030204" pitchFamily="49" charset="0"/>
              </a:rPr>
              <a:t>my_dog</a:t>
            </a:r>
            <a: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1200">
                <a:solidFill>
                  <a:srgbClr val="001080"/>
                </a:solidFill>
                <a:latin typeface="Consolas" panose="020B0609020204030204" pitchFamily="49" charset="0"/>
              </a:rPr>
              <a:t>age</a:t>
            </a:r>
            <a:r>
              <a:rPr lang="en-US" altLang="zh-CN" sz="1200">
                <a:solidFill>
                  <a:srgbClr val="0000FF"/>
                </a:solidFill>
                <a:latin typeface="Consolas" panose="020B0609020204030204" pitchFamily="49" charset="0"/>
              </a:rPr>
              <a:t>}</a:t>
            </a:r>
            <a:r>
              <a:rPr lang="en-US" altLang="zh-CN" sz="1200">
                <a:solidFill>
                  <a:srgbClr val="A31515"/>
                </a:solidFill>
                <a:latin typeface="Consolas" panose="020B0609020204030204" pitchFamily="49" charset="0"/>
              </a:rPr>
              <a:t> years old."</a:t>
            </a:r>
            <a: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zh-CN" sz="1200">
                <a:solidFill>
                  <a:srgbClr val="001080"/>
                </a:solidFill>
                <a:latin typeface="Consolas" panose="020B0609020204030204" pitchFamily="49" charset="0"/>
              </a:rPr>
              <a:t>my_dog</a:t>
            </a:r>
            <a: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1200">
                <a:solidFill>
                  <a:srgbClr val="795E26"/>
                </a:solidFill>
                <a:latin typeface="Consolas" panose="020B0609020204030204" pitchFamily="49" charset="0"/>
              </a:rPr>
              <a:t>sit</a:t>
            </a:r>
            <a: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altLang="zh-CN" sz="1200">
                <a:solidFill>
                  <a:srgbClr val="001080"/>
                </a:solidFill>
                <a:latin typeface="Consolas" panose="020B0609020204030204" pitchFamily="49" charset="0"/>
              </a:rPr>
              <a:t>my_dog</a:t>
            </a:r>
            <a: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1200">
                <a:solidFill>
                  <a:srgbClr val="795E26"/>
                </a:solidFill>
                <a:latin typeface="Consolas" panose="020B0609020204030204" pitchFamily="49" charset="0"/>
              </a:rPr>
              <a:t>roll_over</a:t>
            </a:r>
            <a: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  <a:t/>
            </a:r>
            <a:b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en-US" altLang="zh-CN" sz="1200">
                <a:solidFill>
                  <a:srgbClr val="795E26"/>
                </a:solidFill>
                <a:latin typeface="Consolas" panose="020B0609020204030204" pitchFamily="49" charset="0"/>
              </a:rPr>
              <a:t>print</a:t>
            </a:r>
            <a: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200">
                <a:solidFill>
                  <a:srgbClr val="0000FF"/>
                </a:solidFill>
                <a:latin typeface="Consolas" panose="020B0609020204030204" pitchFamily="49" charset="0"/>
              </a:rPr>
              <a:t>f</a:t>
            </a:r>
            <a:r>
              <a:rPr lang="en-US" altLang="zh-CN" sz="120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altLang="zh-CN" sz="1200">
                <a:solidFill>
                  <a:srgbClr val="EE0000"/>
                </a:solidFill>
                <a:latin typeface="Consolas" panose="020B0609020204030204" pitchFamily="49" charset="0"/>
              </a:rPr>
              <a:t>\n</a:t>
            </a:r>
            <a:r>
              <a:rPr lang="en-US" altLang="zh-CN" sz="1200">
                <a:solidFill>
                  <a:srgbClr val="A31515"/>
                </a:solidFill>
                <a:latin typeface="Consolas" panose="020B0609020204030204" pitchFamily="49" charset="0"/>
              </a:rPr>
              <a:t>Your dog's name is </a:t>
            </a:r>
            <a:r>
              <a:rPr lang="en-US" altLang="zh-CN" sz="1200">
                <a:solidFill>
                  <a:srgbClr val="0000FF"/>
                </a:solidFill>
                <a:latin typeface="Consolas" panose="020B0609020204030204" pitchFamily="49" charset="0"/>
              </a:rPr>
              <a:t>{</a:t>
            </a:r>
            <a:r>
              <a:rPr lang="en-US" altLang="zh-CN" sz="1200">
                <a:solidFill>
                  <a:srgbClr val="001080"/>
                </a:solidFill>
                <a:latin typeface="Consolas" panose="020B0609020204030204" pitchFamily="49" charset="0"/>
              </a:rPr>
              <a:t>your_dog</a:t>
            </a:r>
            <a: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1200">
                <a:solidFill>
                  <a:srgbClr val="001080"/>
                </a:solidFill>
                <a:latin typeface="Consolas" panose="020B0609020204030204" pitchFamily="49" charset="0"/>
              </a:rPr>
              <a:t>name</a:t>
            </a:r>
            <a:r>
              <a:rPr lang="en-US" altLang="zh-CN" sz="1200">
                <a:solidFill>
                  <a:srgbClr val="0000FF"/>
                </a:solidFill>
                <a:latin typeface="Consolas" panose="020B0609020204030204" pitchFamily="49" charset="0"/>
              </a:rPr>
              <a:t>}</a:t>
            </a:r>
            <a:r>
              <a:rPr lang="en-US" altLang="zh-CN" sz="1200">
                <a:solidFill>
                  <a:srgbClr val="A31515"/>
                </a:solidFill>
                <a:latin typeface="Consolas" panose="020B0609020204030204" pitchFamily="49" charset="0"/>
              </a:rPr>
              <a:t>."</a:t>
            </a:r>
            <a: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zh-CN" sz="1200">
                <a:solidFill>
                  <a:srgbClr val="795E26"/>
                </a:solidFill>
                <a:latin typeface="Consolas" panose="020B0609020204030204" pitchFamily="49" charset="0"/>
              </a:rPr>
              <a:t>print</a:t>
            </a:r>
            <a: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200">
                <a:solidFill>
                  <a:srgbClr val="0000FF"/>
                </a:solidFill>
                <a:latin typeface="Consolas" panose="020B0609020204030204" pitchFamily="49" charset="0"/>
              </a:rPr>
              <a:t>f</a:t>
            </a:r>
            <a:r>
              <a:rPr lang="en-US" altLang="zh-CN" sz="1200">
                <a:solidFill>
                  <a:srgbClr val="A31515"/>
                </a:solidFill>
                <a:latin typeface="Consolas" panose="020B0609020204030204" pitchFamily="49" charset="0"/>
              </a:rPr>
              <a:t>"Your dog is </a:t>
            </a:r>
            <a:r>
              <a:rPr lang="en-US" altLang="zh-CN" sz="1200">
                <a:solidFill>
                  <a:srgbClr val="0000FF"/>
                </a:solidFill>
                <a:latin typeface="Consolas" panose="020B0609020204030204" pitchFamily="49" charset="0"/>
              </a:rPr>
              <a:t>{</a:t>
            </a:r>
            <a:r>
              <a:rPr lang="en-US" altLang="zh-CN" sz="1200">
                <a:solidFill>
                  <a:srgbClr val="001080"/>
                </a:solidFill>
                <a:latin typeface="Consolas" panose="020B0609020204030204" pitchFamily="49" charset="0"/>
              </a:rPr>
              <a:t>your_dog</a:t>
            </a:r>
            <a: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1200">
                <a:solidFill>
                  <a:srgbClr val="001080"/>
                </a:solidFill>
                <a:latin typeface="Consolas" panose="020B0609020204030204" pitchFamily="49" charset="0"/>
              </a:rPr>
              <a:t>age</a:t>
            </a:r>
            <a:r>
              <a:rPr lang="en-US" altLang="zh-CN" sz="1200">
                <a:solidFill>
                  <a:srgbClr val="0000FF"/>
                </a:solidFill>
                <a:latin typeface="Consolas" panose="020B0609020204030204" pitchFamily="49" charset="0"/>
              </a:rPr>
              <a:t>}</a:t>
            </a:r>
            <a:r>
              <a:rPr lang="en-US" altLang="zh-CN" sz="1200">
                <a:solidFill>
                  <a:srgbClr val="A31515"/>
                </a:solidFill>
                <a:latin typeface="Consolas" panose="020B0609020204030204" pitchFamily="49" charset="0"/>
              </a:rPr>
              <a:t> years old."</a:t>
            </a:r>
            <a: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zh-CN" sz="1200">
                <a:solidFill>
                  <a:srgbClr val="001080"/>
                </a:solidFill>
                <a:latin typeface="Consolas" panose="020B0609020204030204" pitchFamily="49" charset="0"/>
              </a:rPr>
              <a:t>your_dog</a:t>
            </a:r>
            <a: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1200">
                <a:solidFill>
                  <a:srgbClr val="795E26"/>
                </a:solidFill>
                <a:latin typeface="Consolas" panose="020B0609020204030204" pitchFamily="49" charset="0"/>
              </a:rPr>
              <a:t>sit</a:t>
            </a:r>
            <a: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altLang="zh-CN" sz="1200">
                <a:solidFill>
                  <a:srgbClr val="001080"/>
                </a:solidFill>
                <a:latin typeface="Consolas" panose="020B0609020204030204" pitchFamily="49" charset="0"/>
              </a:rPr>
              <a:t>your_dog</a:t>
            </a:r>
            <a: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1200">
                <a:solidFill>
                  <a:srgbClr val="795E26"/>
                </a:solidFill>
                <a:latin typeface="Consolas" panose="020B0609020204030204" pitchFamily="49" charset="0"/>
              </a:rPr>
              <a:t>roll_over</a:t>
            </a:r>
            <a:r>
              <a:rPr lang="en-US" altLang="zh-CN" sz="1200">
                <a:solidFill>
                  <a:srgbClr val="3B3B3B"/>
                </a:solidFill>
                <a:latin typeface="Consolas" panose="020B06090202040302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5442877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二、面向对象的程序设计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2. </a:t>
            </a:r>
            <a:r>
              <a:rPr lang="zh-CN" altLang="en-US"/>
              <a:t>实例型程序</a:t>
            </a:r>
            <a:endParaRPr lang="en-US" altLang="zh-CN"/>
          </a:p>
          <a:p>
            <a:pPr lvl="1">
              <a:spcBef>
                <a:spcPts val="1200"/>
              </a:spcBef>
            </a:pPr>
            <a:r>
              <a:rPr lang="en-US" altLang="zh-CN"/>
              <a:t>(1)</a:t>
            </a:r>
            <a:r>
              <a:rPr lang="zh-CN" altLang="en-US"/>
              <a:t>三角形</a:t>
            </a:r>
            <a:r>
              <a:rPr lang="en-US" altLang="zh-CN"/>
              <a:t>class</a:t>
            </a:r>
            <a:r>
              <a:rPr lang="zh-CN" altLang="en-US"/>
              <a:t>及其对象</a:t>
            </a:r>
            <a:endParaRPr lang="en-US" altLang="zh-CN"/>
          </a:p>
          <a:p>
            <a:pPr lvl="1">
              <a:spcBef>
                <a:spcPts val="1200"/>
              </a:spcBef>
            </a:pPr>
            <a:r>
              <a:rPr lang="en-US" altLang="zh-CN"/>
              <a:t>(2)</a:t>
            </a:r>
            <a:r>
              <a:rPr lang="zh-CN" altLang="en-US"/>
              <a:t>无圆心的圆的程序</a:t>
            </a:r>
            <a:endParaRPr lang="en-US" altLang="zh-CN"/>
          </a:p>
          <a:p>
            <a:pPr lvl="1">
              <a:spcBef>
                <a:spcPts val="1200"/>
              </a:spcBef>
            </a:pPr>
            <a:r>
              <a:rPr lang="en-US" altLang="zh-CN"/>
              <a:t>(3)</a:t>
            </a:r>
            <a:r>
              <a:rPr lang="zh-CN" altLang="en-US"/>
              <a:t>带有圆心的圆的程序</a:t>
            </a:r>
            <a:r>
              <a:rPr lang="en-US" altLang="zh-CN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8619721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xmlns="" id="{4B6C541C-1831-78B5-F2A2-72E80CEBB60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/>
              <a:t>THANK YOU !</a:t>
            </a:r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0384304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HEME" val="https://www.islide.cc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HEME" val="https://www.islide.cc;"/>
</p:tagLst>
</file>

<file path=ppt/theme/theme1.xml><?xml version="1.0" encoding="utf-8"?>
<a:theme xmlns:a="http://schemas.openxmlformats.org/drawingml/2006/main" name="51PPT模板网">
  <a:themeElements>
    <a:clrScheme name="蓝色几何">
      <a:dk1>
        <a:srgbClr val="2F2F2F"/>
      </a:dk1>
      <a:lt1>
        <a:srgbClr val="FFFFFF"/>
      </a:lt1>
      <a:dk2>
        <a:srgbClr val="778495"/>
      </a:dk2>
      <a:lt2>
        <a:srgbClr val="F0F0F0"/>
      </a:lt2>
      <a:accent1>
        <a:srgbClr val="3848A8"/>
      </a:accent1>
      <a:accent2>
        <a:srgbClr val="DDDEE0"/>
      </a:accent2>
      <a:accent3>
        <a:srgbClr val="7A85B8"/>
      </a:accent3>
      <a:accent4>
        <a:srgbClr val="9CA3BD"/>
      </a:accent4>
      <a:accent5>
        <a:srgbClr val="242431"/>
      </a:accent5>
      <a:accent6>
        <a:srgbClr val="F4B919"/>
      </a:accent6>
      <a:hlink>
        <a:srgbClr val="F84D4D"/>
      </a:hlink>
      <a:folHlink>
        <a:srgbClr val="979797"/>
      </a:folHlink>
    </a:clrScheme>
    <a:fontScheme name="自定义 1">
      <a:majorFont>
        <a:latin typeface="思源黑体 CN Bold"/>
        <a:ea typeface="思源黑体 CN Bold"/>
        <a:cs typeface=""/>
      </a:majorFont>
      <a:minorFont>
        <a:latin typeface="思源黑体 CN Normal"/>
        <a:ea typeface="思源黑体 CN Norm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Default.potx" id="{1D9758C4-BF53-48D5-9F51-21F468A6C710}" vid="{F0E1EFAF-5478-48F0-8152-DA9350739AFC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2266</Words>
  <Application>Microsoft Office PowerPoint</Application>
  <PresentationFormat>宽屏</PresentationFormat>
  <Paragraphs>255</Paragraphs>
  <Slides>25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25</vt:i4>
      </vt:variant>
    </vt:vector>
  </HeadingPairs>
  <TitlesOfParts>
    <vt:vector size="44" baseType="lpstr">
      <vt:lpstr>-apple-system</vt:lpstr>
      <vt:lpstr>FZSSJW--GB1-0</vt:lpstr>
      <vt:lpstr>PingFang SC</vt:lpstr>
      <vt:lpstr>TheSansMonoCondensed-</vt:lpstr>
      <vt:lpstr>TimesNewRoman</vt:lpstr>
      <vt:lpstr>等线</vt:lpstr>
      <vt:lpstr>黑体</vt:lpstr>
      <vt:lpstr>华文琥珀</vt:lpstr>
      <vt:lpstr>思源黑体 CN Bold</vt:lpstr>
      <vt:lpstr>思源黑体 CN Normal</vt:lpstr>
      <vt:lpstr>宋体</vt:lpstr>
      <vt:lpstr>微软雅黑</vt:lpstr>
      <vt:lpstr>Arial</vt:lpstr>
      <vt:lpstr>Arial Black</vt:lpstr>
      <vt:lpstr>Calibri</vt:lpstr>
      <vt:lpstr>Consolas</vt:lpstr>
      <vt:lpstr>Verdana</vt:lpstr>
      <vt:lpstr>51PPT模板网</vt:lpstr>
      <vt:lpstr>Office 主题​​</vt:lpstr>
      <vt:lpstr>第8讲1 结构化程序综合应用</vt:lpstr>
      <vt:lpstr>PowerPoint 演示文稿</vt:lpstr>
      <vt:lpstr>函数&amp;循环分支程序</vt:lpstr>
      <vt:lpstr>函数&amp;循环分支程序</vt:lpstr>
      <vt:lpstr>函数&amp;循环分支程序</vt:lpstr>
      <vt:lpstr>递归程序设计</vt:lpstr>
      <vt:lpstr>汉诺塔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递归程序设计</vt:lpstr>
      <vt:lpstr>PowerPoint 演示文稿</vt:lpstr>
      <vt:lpstr>第8讲2 面向对象程序的概念</vt:lpstr>
      <vt:lpstr>PowerPoint 演示文稿</vt:lpstr>
      <vt:lpstr>PowerPoint 演示文稿</vt:lpstr>
      <vt:lpstr>创建和使用类</vt:lpstr>
      <vt:lpstr>PowerPoint 演示文稿</vt:lpstr>
      <vt:lpstr>PowerPoint 演示文稿</vt:lpstr>
      <vt:lpstr>二、面向对象的程序设计</vt:lpstr>
      <vt:lpstr>PowerPoint 演示文稿</vt:lpstr>
      <vt:lpstr>二、面向对象的程序设计</vt:lpstr>
      <vt:lpstr>二、面向对象的程序设计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第8讲1 结构化程序综合应用</dc:title>
  <dc:creator>dell</dc:creator>
  <cp:lastModifiedBy>dell</cp:lastModifiedBy>
  <cp:revision>1</cp:revision>
  <dcterms:created xsi:type="dcterms:W3CDTF">2023-11-02T07:29:53Z</dcterms:created>
  <dcterms:modified xsi:type="dcterms:W3CDTF">2023-11-02T07:31:28Z</dcterms:modified>
</cp:coreProperties>
</file>