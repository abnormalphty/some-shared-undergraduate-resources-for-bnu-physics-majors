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34ACC1"/>
          </a:solidFill>
          <a:ln>
            <a:solidFill>
              <a:srgbClr val="34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481328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空间光调制器原理及其在无序系统中的拓展模拟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88036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DCE9F7"/>
                </a:solidFill>
                <a:latin typeface="Microsoft YaHei"/>
              </a:rPr>
              <a:t>近代物理实验期末汇报 | 汇报人：学生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096512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C2E1E8"/>
                </a:solidFill>
                <a:latin typeface="Microsoft YaHei"/>
              </a:rPr>
              <a:t>从液晶相位调制出发，连接二维晶格、k 空间与安德森局域化的光学模拟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7B3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23D"/>
                </a:solidFill>
                <a:latin typeface="Microsoft YaHei"/>
              </a:rPr>
              <a:t>实验基础与 SLM 调制机制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170432"/>
            <a:ext cx="1086307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73152" cy="5166360"/>
          </a:xfrm>
          <a:prstGeom prst="rect">
            <a:avLst/>
          </a:prstGeom>
          <a:solidFill>
            <a:srgbClr val="2A67B3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81328"/>
            <a:ext cx="998524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1C2734"/>
                </a:solidFill>
                <a:latin typeface="Microsoft YaHei"/>
              </a:defRPr>
            </a:pPr>
            <a:r>
              <a:t>向列型液晶分子具有介电各向异性：外加电场改变分子取向，从而改变有效折射率。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1C2734"/>
                </a:solidFill>
                <a:latin typeface="Microsoft YaHei"/>
              </a:defRPr>
            </a:pPr>
            <a:r>
              <a:t>入射偏振光在液晶层中积累相位延迟，延迟量由液晶层厚度、双折射与工作波长决定。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1C2734"/>
                </a:solidFill>
                <a:latin typeface="Microsoft YaHei"/>
              </a:defRPr>
            </a:pPr>
            <a:r>
              <a:t>灰度值经驱动电压映射到相位响应曲线，实现逐像素、可编程的相位调制。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1C2734"/>
                </a:solidFill>
                <a:latin typeface="Microsoft YaHei"/>
              </a:defRPr>
            </a:pPr>
            <a:r>
              <a:t>通过偏振器或复振幅编码，SLM 不只改变相位，也可等效实现振幅与相位联合控制。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4617720"/>
            <a:ext cx="4663440" cy="475488"/>
          </a:xfrm>
          <a:prstGeom prst="roundRect">
            <a:avLst/>
          </a:prstGeom>
          <a:solidFill>
            <a:srgbClr val="EAF6F9"/>
          </a:solidFill>
          <a:ln w="12700">
            <a:solidFill>
              <a:srgbClr val="34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23D"/>
                </a:solidFill>
                <a:latin typeface="Aptos"/>
              </a:rPr>
              <a:t>Gamma = 2*pi*d*Delta_n / lambda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462272"/>
            <a:ext cx="4407408" cy="841248"/>
          </a:xfrm>
          <a:prstGeom prst="roundRect">
            <a:avLst/>
          </a:prstGeom>
          <a:solidFill>
            <a:srgbClr val="EBF2FF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2223D"/>
                </a:solidFill>
                <a:latin typeface="Microsoft YaHei"/>
              </a:rPr>
              <a:t>SLM 提供了一个可通过计算机精确控制的二维复振幅调制场。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73952"/>
            <a:ext cx="10241280" cy="9144"/>
          </a:xfrm>
          <a:prstGeom prst="rect">
            <a:avLst/>
          </a:prstGeom>
          <a:solidFill>
            <a:srgbClr val="D2DBE8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Microsoft YaHei"/>
              </a:rPr>
              <a:t>近代物理实验 | SLM 与无序系统光学模拟 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7B3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23D"/>
                </a:solidFill>
                <a:latin typeface="Microsoft YaHei"/>
              </a:rPr>
              <a:t>物理图像的跨学科同构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E6C84"/>
                </a:solidFill>
                <a:latin typeface="Microsoft YaHei"/>
              </a:rPr>
              <a:t>像素网格与傅里叶光学把“光场”翻译成“晶格波函数”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32180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73152" cy="4389120"/>
          </a:xfrm>
          <a:prstGeom prst="rect">
            <a:avLst/>
          </a:prstGeom>
          <a:solidFill>
            <a:srgbClr val="34ACC1"/>
          </a:solidFill>
          <a:ln>
            <a:solidFill>
              <a:srgbClr val="34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910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4ACC1"/>
                </a:solidFill>
                <a:latin typeface="Microsoft YaHei"/>
              </a:rPr>
              <a:t>光学表述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2180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73152" cy="4389120"/>
          </a:xfrm>
          <a:prstGeom prst="rect">
            <a:avLst/>
          </a:prstGeom>
          <a:solidFill>
            <a:srgbClr val="E69442"/>
          </a:solidFill>
          <a:ln>
            <a:solidFill>
              <a:srgbClr val="E6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910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9442"/>
                </a:solidFill>
                <a:latin typeface="Microsoft YaHei"/>
              </a:rPr>
              <a:t>固体物理表述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874519"/>
            <a:ext cx="464515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SLM 像素间隙形成黑栅效应，天然引入周期采样结构。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4f 系统后焦面对应输入光场的傅里叶面，可直接观察空间频率分布。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空间滤波选择特定衍射级，相当于在动量空间裁剪与重构光场。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1874519"/>
            <a:ext cx="464515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二维像素阵列可映射为二维晶格，灰度相位对应格点势场或跃迁相位。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后焦面坐标映射到 k 空间（倒易空间），衍射峰对应晶格动量选择定则。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C2734"/>
                </a:solidFill>
                <a:latin typeface="Microsoft YaHei"/>
              </a:defRPr>
            </a:pPr>
            <a:r>
              <a:t>周期结构的倒易格矢定义第一布里渊区，决定可观测的布拉格衍射图样。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2" y="5779008"/>
            <a:ext cx="9646920" cy="475488"/>
          </a:xfrm>
          <a:prstGeom prst="roundRect">
            <a:avLst/>
          </a:prstGeom>
          <a:solidFill>
            <a:srgbClr val="E8F6F1"/>
          </a:solidFill>
          <a:ln>
            <a:solidFill>
              <a:srgbClr val="4C9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C967C"/>
                </a:solidFill>
                <a:latin typeface="Microsoft YaHei"/>
              </a:rPr>
              <a:t>这种同构使 SLM 成为天然的光学薛定谔方程模拟器。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73952"/>
            <a:ext cx="10241280" cy="9144"/>
          </a:xfrm>
          <a:prstGeom prst="rect">
            <a:avLst/>
          </a:prstGeom>
          <a:solidFill>
            <a:srgbClr val="D2DBE8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Microsoft YaHei"/>
              </a:rPr>
              <a:t>近代物理实验 | SLM 与无序系统光学模拟 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7B3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23D"/>
                </a:solidFill>
                <a:latin typeface="Microsoft YaHei"/>
              </a:rPr>
              <a:t>核心拓展方案：光学安德森局域化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170432"/>
            <a:ext cx="1086307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73152" cy="5166360"/>
          </a:xfrm>
          <a:prstGeom prst="rect">
            <a:avLst/>
          </a:prstGeom>
          <a:solidFill>
            <a:srgbClr val="4C967C"/>
          </a:solidFill>
          <a:ln>
            <a:solidFill>
              <a:srgbClr val="4C9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17320"/>
            <a:ext cx="10012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C2734"/>
                </a:solidFill>
                <a:latin typeface="Microsoft YaHei"/>
              </a:defRPr>
            </a:pPr>
            <a:r>
              <a:t>势场模型：在周期相位光栅 V_periodic(x,y) 上叠加随机相噪矩阵 W*R(x,y)，模拟晶格缺陷与无序势。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C2734"/>
                </a:solidFill>
                <a:latin typeface="Microsoft YaHei"/>
              </a:defRPr>
            </a:pPr>
            <a:r>
              <a:t>无序度 W 控制随机势强度：W 越大，晶格平移对称性破缺越明显，平均自由程缩短。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C2734"/>
                </a:solidFill>
                <a:latin typeface="Microsoft YaHei"/>
              </a:defRPr>
            </a:pPr>
            <a:r>
              <a:t>传播过程可写作光学近似下的薛定谔方程：i*d psi/dz = [-1/(2k0)*nabla_perp^2 + V(x,y)]*psi。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C2734"/>
                </a:solidFill>
                <a:latin typeface="Microsoft YaHei"/>
              </a:defRPr>
            </a:pPr>
            <a:r>
              <a:t>观测量从实空间强度 I(x,y) 与倒空间功率谱 |FFT{psi}|^2 两个维度同时提取。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4690872"/>
            <a:ext cx="5349240" cy="475488"/>
          </a:xfrm>
          <a:prstGeom prst="roundRect">
            <a:avLst/>
          </a:prstGeom>
          <a:solidFill>
            <a:srgbClr val="EAF6F9"/>
          </a:solidFill>
          <a:ln w="12700">
            <a:solidFill>
              <a:srgbClr val="4C9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2223D"/>
                </a:solidFill>
                <a:latin typeface="Aptos"/>
              </a:rPr>
              <a:t>V(x,y) = V_periodic(x,y) + W*R(x,y)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4370832"/>
            <a:ext cx="3794760" cy="1133856"/>
          </a:xfrm>
          <a:prstGeom prst="roundRect">
            <a:avLst/>
          </a:prstGeom>
          <a:solidFill>
            <a:srgbClr val="FFF6EC"/>
          </a:solidFill>
          <a:ln>
            <a:solidFill>
              <a:srgbClr val="E6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69442"/>
                </a:solidFill>
                <a:latin typeface="Microsoft YaHei"/>
              </a:rPr>
              <a:t>预期现象</a:t>
            </a:r>
          </a:p>
          <a:p>
            <a:pPr>
              <a:defRPr sz="1300">
                <a:solidFill>
                  <a:srgbClr val="1C2734"/>
                </a:solidFill>
                <a:latin typeface="Microsoft YaHei"/>
              </a:defRPr>
            </a:pPr>
            <a:r>
              <a:t>尖锐布拉格衍射峰（布洛赫扩展态）逐渐演化为随机散斑场（波函数局域化）。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73952"/>
            <a:ext cx="10241280" cy="9144"/>
          </a:xfrm>
          <a:prstGeom prst="rect">
            <a:avLst/>
          </a:prstGeom>
          <a:solidFill>
            <a:srgbClr val="D2DBE8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Microsoft YaHei"/>
              </a:rPr>
              <a:t>近代物理实验 | SLM 与无序系统光学模拟  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7B3"/>
          </a:solidFill>
          <a:ln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23D"/>
                </a:solidFill>
                <a:latin typeface="Microsoft YaHei"/>
              </a:rPr>
              <a:t>MATLAB 预演与数据处理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E6C84"/>
                </a:solidFill>
                <a:latin typeface="Microsoft YaHei"/>
              </a:rPr>
              <a:t>用仿真先验证无序度、采样周期与傅里叶谱之间的关系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303520" cy="4160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C9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4C967C"/>
                </a:solidFill>
                <a:latin typeface="Microsoft YaHei"/>
              </a:rPr>
              <a:t>请在此处插入</a:t>
            </a:r>
            <a:br/>
            <a:r>
              <a:t>实空间无序相图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353312"/>
            <a:ext cx="5303520" cy="4160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A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2A67B3"/>
                </a:solidFill>
                <a:latin typeface="Microsoft YaHei"/>
              </a:rPr>
              <a:t>请在此处插入</a:t>
            </a:r>
            <a:br/>
            <a:r>
              <a:t>倒空间 FFT 散斑图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5669280"/>
            <a:ext cx="10104120" cy="566928"/>
          </a:xfrm>
          <a:prstGeom prst="roundRect">
            <a:avLst/>
          </a:prstGeom>
          <a:solidFill>
            <a:srgbClr val="EBF2FF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223D"/>
                </a:solidFill>
                <a:latin typeface="Microsoft YaHei"/>
              </a:rPr>
              <a:t>通过 2D FFT 计算空间功率谱，分析衍射斑的展宽与衰减。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0241280" cy="9144"/>
          </a:xfrm>
          <a:prstGeom prst="rect">
            <a:avLst/>
          </a:prstGeom>
          <a:solidFill>
            <a:srgbClr val="D2DBE8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Microsoft YaHei"/>
              </a:rPr>
              <a:t>近代物理实验 | SLM 与无序系统光学模拟 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23D"/>
                </a:solidFill>
                <a:latin typeface="Microsoft YaHei"/>
              </a:rPr>
              <a:t>总结与致谢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1965960"/>
            <a:ext cx="9555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2223D"/>
                </a:solidFill>
                <a:latin typeface="Microsoft YaHei"/>
              </a:rPr>
              <a:t>从基础图像处理升维到凝聚态拓扑现象的模拟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3886200"/>
            <a:ext cx="5897880" cy="749808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感谢聆听，欢迎提问。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0241280" cy="9144"/>
          </a:xfrm>
          <a:prstGeom prst="rect">
            <a:avLst/>
          </a:prstGeom>
          <a:solidFill>
            <a:srgbClr val="D2DBE8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0789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Microsoft YaHei"/>
              </a:rPr>
              <a:t>近代物理实验 | SLM 与无序系统光学模拟 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