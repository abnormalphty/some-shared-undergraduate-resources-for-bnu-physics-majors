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</p:sldMasterIdLst>
  <p:notesMasterIdLst>
    <p:notesMasterId r:id="rId22"/>
  </p:notesMasterIdLst>
  <p:sldIdLst>
    <p:sldId id="339" r:id="rId3"/>
    <p:sldId id="1867" r:id="rId4"/>
    <p:sldId id="1868" r:id="rId5"/>
    <p:sldId id="1845" r:id="rId6"/>
    <p:sldId id="1882" r:id="rId7"/>
    <p:sldId id="1874" r:id="rId8"/>
    <p:sldId id="1856" r:id="rId9"/>
    <p:sldId id="1873" r:id="rId10"/>
    <p:sldId id="1883" r:id="rId11"/>
    <p:sldId id="1884" r:id="rId12"/>
    <p:sldId id="1869" r:id="rId13"/>
    <p:sldId id="1875" r:id="rId14"/>
    <p:sldId id="1877" r:id="rId15"/>
    <p:sldId id="1870" r:id="rId16"/>
    <p:sldId id="1878" r:id="rId17"/>
    <p:sldId id="1879" r:id="rId18"/>
    <p:sldId id="1871" r:id="rId19"/>
    <p:sldId id="1880" r:id="rId20"/>
    <p:sldId id="1844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orient="horz" pos="935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0E1"/>
    <a:srgbClr val="229FDC"/>
    <a:srgbClr val="0B7EE2"/>
    <a:srgbClr val="0480E1"/>
    <a:srgbClr val="0C7EE2"/>
    <a:srgbClr val="B7FFFC"/>
    <a:srgbClr val="E9FFFE"/>
    <a:srgbClr val="4CC4D7"/>
    <a:srgbClr val="FFFFFF"/>
    <a:srgbClr val="509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96" y="76"/>
      </p:cViewPr>
      <p:guideLst>
        <p:guide pos="416"/>
        <p:guide pos="7242"/>
        <p:guide orient="horz" pos="1661"/>
        <p:guide orient="horz" pos="935"/>
        <p:guide orient="horz" pos="3929"/>
        <p:guide orient="horz" pos="390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3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48D04-835A-452C-992E-5A42CB908460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5535B-18B8-41A7-B6F1-8B34A6C9EB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5535B-18B8-41A7-B6F1-8B34A6C9EB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00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297457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5335219" y="1388817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1600" b="1" spc="3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930454" y="515787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5492252" y="1329454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EFDCBC30-90EF-4999-935C-6C70C356BF1D}"/>
              </a:ext>
            </a:extLst>
          </p:cNvPr>
          <p:cNvSpPr/>
          <p:nvPr userDrawn="1"/>
        </p:nvSpPr>
        <p:spPr>
          <a:xfrm>
            <a:off x="7088699" y="708505"/>
            <a:ext cx="841374" cy="84137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8EE616F-83DC-4396-941A-CE7E028BCB75}"/>
              </a:ext>
            </a:extLst>
          </p:cNvPr>
          <p:cNvSpPr/>
          <p:nvPr userDrawn="1"/>
        </p:nvSpPr>
        <p:spPr>
          <a:xfrm>
            <a:off x="7662504" y="1236460"/>
            <a:ext cx="319651" cy="319651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61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-905369" y="-648426"/>
            <a:ext cx="5738706" cy="6535941"/>
          </a:xfrm>
          <a:custGeom>
            <a:avLst/>
            <a:gdLst>
              <a:gd name="connsiteX0" fmla="*/ 0 w 5738706"/>
              <a:gd name="connsiteY0" fmla="*/ 1691248 h 6535941"/>
              <a:gd name="connsiteX1" fmla="*/ 3736904 w 5738706"/>
              <a:gd name="connsiteY1" fmla="*/ 0 h 6535941"/>
              <a:gd name="connsiteX2" fmla="*/ 5209490 w 5738706"/>
              <a:gd name="connsiteY2" fmla="*/ 0 h 6535941"/>
              <a:gd name="connsiteX3" fmla="*/ 5738706 w 5738706"/>
              <a:gd name="connsiteY3" fmla="*/ 529215 h 6535941"/>
              <a:gd name="connsiteX4" fmla="*/ 5738705 w 5738706"/>
              <a:gd name="connsiteY4" fmla="*/ 6006726 h 6535941"/>
              <a:gd name="connsiteX5" fmla="*/ 5209490 w 5738706"/>
              <a:gd name="connsiteY5" fmla="*/ 6535941 h 6535941"/>
              <a:gd name="connsiteX6" fmla="*/ 2192610 w 5738706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8706" h="6535941">
                <a:moveTo>
                  <a:pt x="0" y="1691248"/>
                </a:moveTo>
                <a:lnTo>
                  <a:pt x="3736904" y="0"/>
                </a:lnTo>
                <a:lnTo>
                  <a:pt x="5209490" y="0"/>
                </a:lnTo>
                <a:cubicBezTo>
                  <a:pt x="5501767" y="0"/>
                  <a:pt x="5738705" y="236938"/>
                  <a:pt x="5738706" y="529215"/>
                </a:cubicBezTo>
                <a:lnTo>
                  <a:pt x="5738705" y="6006726"/>
                </a:lnTo>
                <a:cubicBezTo>
                  <a:pt x="5738705" y="6299003"/>
                  <a:pt x="5501767" y="6535941"/>
                  <a:pt x="5209490" y="6535941"/>
                </a:cubicBezTo>
                <a:lnTo>
                  <a:pt x="2192610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2923317" y="-1389685"/>
            <a:ext cx="10578993" cy="8422484"/>
          </a:xfrm>
          <a:custGeom>
            <a:avLst/>
            <a:gdLst>
              <a:gd name="connsiteX0" fmla="*/ 0 w 10578993"/>
              <a:gd name="connsiteY0" fmla="*/ 3508089 h 8422484"/>
              <a:gd name="connsiteX1" fmla="*/ 7751314 w 10578993"/>
              <a:gd name="connsiteY1" fmla="*/ 0 h 8422484"/>
              <a:gd name="connsiteX2" fmla="*/ 10578993 w 10578993"/>
              <a:gd name="connsiteY2" fmla="*/ 6247912 h 8422484"/>
              <a:gd name="connsiteX3" fmla="*/ 5774156 w 10578993"/>
              <a:gd name="connsiteY3" fmla="*/ 8422484 h 8422484"/>
              <a:gd name="connsiteX4" fmla="*/ 746456 w 10578993"/>
              <a:gd name="connsiteY4" fmla="*/ 8422484 h 8422484"/>
              <a:gd name="connsiteX5" fmla="*/ 0 w 10578993"/>
              <a:gd name="connsiteY5" fmla="*/ 7676028 h 842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78993" h="8422484">
                <a:moveTo>
                  <a:pt x="0" y="3508089"/>
                </a:moveTo>
                <a:lnTo>
                  <a:pt x="7751314" y="0"/>
                </a:lnTo>
                <a:lnTo>
                  <a:pt x="10578993" y="6247912"/>
                </a:lnTo>
                <a:lnTo>
                  <a:pt x="5774156" y="8422484"/>
                </a:lnTo>
                <a:lnTo>
                  <a:pt x="746456" y="8422484"/>
                </a:lnTo>
                <a:cubicBezTo>
                  <a:pt x="334200" y="8422484"/>
                  <a:pt x="1" y="8088284"/>
                  <a:pt x="0" y="76760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514966" y="-398236"/>
            <a:ext cx="4721210" cy="4046278"/>
          </a:xfrm>
          <a:custGeom>
            <a:avLst/>
            <a:gdLst>
              <a:gd name="connsiteX0" fmla="*/ 1 w 4721210"/>
              <a:gd name="connsiteY0" fmla="*/ 1307931 h 4046278"/>
              <a:gd name="connsiteX1" fmla="*/ 2889946 w 4721210"/>
              <a:gd name="connsiteY1" fmla="*/ 0 h 4046278"/>
              <a:gd name="connsiteX2" fmla="*/ 4721210 w 4721210"/>
              <a:gd name="connsiteY2" fmla="*/ 4046278 h 4046278"/>
              <a:gd name="connsiteX3" fmla="*/ 529215 w 4721210"/>
              <a:gd name="connsiteY3" fmla="*/ 4046278 h 4046278"/>
              <a:gd name="connsiteX4" fmla="*/ 0 w 4721210"/>
              <a:gd name="connsiteY4" fmla="*/ 3517063 h 404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1210" h="4046278">
                <a:moveTo>
                  <a:pt x="1" y="1307931"/>
                </a:moveTo>
                <a:lnTo>
                  <a:pt x="2889946" y="0"/>
                </a:lnTo>
                <a:lnTo>
                  <a:pt x="4721210" y="4046278"/>
                </a:lnTo>
                <a:lnTo>
                  <a:pt x="529215" y="4046278"/>
                </a:lnTo>
                <a:cubicBezTo>
                  <a:pt x="236938" y="4046278"/>
                  <a:pt x="0" y="3809340"/>
                  <a:pt x="0" y="351706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28446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6CEB83-52D0-4C35-B39F-58B8958F0B9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1491" y="806220"/>
            <a:ext cx="103602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BE67CEC5-F540-49F0-33BC-E6B7CDF17F36}"/>
              </a:ext>
            </a:extLst>
          </p:cNvPr>
          <p:cNvGrpSpPr/>
          <p:nvPr userDrawn="1"/>
        </p:nvGrpSpPr>
        <p:grpSpPr>
          <a:xfrm>
            <a:off x="298035" y="118833"/>
            <a:ext cx="893456" cy="847606"/>
            <a:chOff x="350117" y="385533"/>
            <a:chExt cx="893456" cy="847606"/>
          </a:xfrm>
        </p:grpSpPr>
        <p:sp>
          <p:nvSpPr>
            <p:cNvPr id="5" name="椭圆 4">
              <a:hlinkClick r:id="" action="ppaction://noaction"/>
              <a:extLst>
                <a:ext uri="{FF2B5EF4-FFF2-40B4-BE49-F238E27FC236}">
                  <a16:creationId xmlns:a16="http://schemas.microsoft.com/office/drawing/2014/main" id="{E3E2AAF1-BC00-F5BB-3EEB-05EC91817748}"/>
                </a:ext>
              </a:extLst>
            </p:cNvPr>
            <p:cNvSpPr/>
            <p:nvPr userDrawn="1"/>
          </p:nvSpPr>
          <p:spPr>
            <a:xfrm>
              <a:off x="350117" y="385533"/>
              <a:ext cx="841374" cy="841374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hlinkClick r:id="" action="ppaction://noaction"/>
              <a:extLst>
                <a:ext uri="{FF2B5EF4-FFF2-40B4-BE49-F238E27FC236}">
                  <a16:creationId xmlns:a16="http://schemas.microsoft.com/office/drawing/2014/main" id="{FA5FE3E4-BA35-784B-0BF6-46AC9DEC73DC}"/>
                </a:ext>
              </a:extLst>
            </p:cNvPr>
            <p:cNvSpPr/>
            <p:nvPr userDrawn="1"/>
          </p:nvSpPr>
          <p:spPr>
            <a:xfrm>
              <a:off x="923922" y="913488"/>
              <a:ext cx="319651" cy="319651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50" y="6250927"/>
            <a:ext cx="2743200" cy="461665"/>
          </a:xfrm>
        </p:spPr>
        <p:txBody>
          <a:bodyPr/>
          <a:lstStyle>
            <a:lvl1pPr>
              <a:defRPr kumimoji="0" lang="zh-CN" altLang="en-US" sz="2400" b="0" i="0" u="none" strike="noStrike" kern="1200" cap="none" spc="0" normalizeH="0" baseline="0" smtClean="0">
                <a:ln>
                  <a:noFill/>
                </a:ln>
                <a:gradFill>
                  <a:gsLst>
                    <a:gs pos="49000">
                      <a:srgbClr val="2AA7DC"/>
                    </a:gs>
                    <a:gs pos="0">
                      <a:srgbClr val="66DDD5"/>
                    </a:gs>
                    <a:gs pos="100000">
                      <a:srgbClr val="8160EB"/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0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68568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prstGeom prst="roundRect">
            <a:avLst>
              <a:gd name="adj" fmla="val 806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prstGeom prst="roundRect">
            <a:avLst>
              <a:gd name="adj" fmla="val 813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prstGeom prst="roundRect">
            <a:avLst>
              <a:gd name="adj" fmla="val 5116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5621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824767" y="3463801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1600" b="1" spc="3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28794" y="2590771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981800" y="3404438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164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3755140" y="-356669"/>
            <a:ext cx="8532557" cy="7142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3562706" y="-1820090"/>
            <a:ext cx="11744819" cy="9312052"/>
          </a:xfrm>
          <a:prstGeom prst="roundRect">
            <a:avLst>
              <a:gd name="adj" fmla="val 1913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771527" y="-353675"/>
            <a:ext cx="5695918" cy="4867429"/>
          </a:xfrm>
          <a:prstGeom prst="roundRect">
            <a:avLst>
              <a:gd name="adj" fmla="val 3890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008637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hlinkClick r:id="" action="ppaction://noaction"/>
            <a:extLst>
              <a:ext uri="{FF2B5EF4-FFF2-40B4-BE49-F238E27FC236}">
                <a16:creationId xmlns:a16="http://schemas.microsoft.com/office/drawing/2014/main" id="{482E827E-84EC-6E36-FA77-8791F5090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04" t="2131"/>
          <a:stretch/>
        </p:blipFill>
        <p:spPr>
          <a:xfrm>
            <a:off x="-1" y="-1"/>
            <a:ext cx="1275483" cy="804442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1226" y="6283338"/>
            <a:ext cx="2743200" cy="461665"/>
          </a:xfrm>
        </p:spPr>
        <p:txBody>
          <a:bodyPr/>
          <a:lstStyle>
            <a:lvl1pPr>
              <a:defRPr kumimoji="0" lang="zh-CN" altLang="en-US" sz="2400" b="1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647B0E-1A9D-27D0-0971-D7BECFCF8F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810" y="146608"/>
            <a:ext cx="2290030" cy="734033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77468E-4EF5-D8B2-9E43-C91B9E4182A8}"/>
              </a:ext>
            </a:extLst>
          </p:cNvPr>
          <p:cNvCxnSpPr/>
          <p:nvPr userDrawn="1"/>
        </p:nvCxnSpPr>
        <p:spPr>
          <a:xfrm>
            <a:off x="600807" y="973016"/>
            <a:ext cx="1099038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28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846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7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5" r:id="rId3"/>
    <p:sldLayoutId id="2147483656" r:id="rId4"/>
    <p:sldLayoutId id="214748366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27037C7-0C6C-47C2-A50D-7532CF72FB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1299" y="4619751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736BDC45-43F2-2CEC-9CE2-845897612459}"/>
              </a:ext>
            </a:extLst>
          </p:cNvPr>
          <p:cNvSpPr txBox="1">
            <a:spLocks/>
          </p:cNvSpPr>
          <p:nvPr/>
        </p:nvSpPr>
        <p:spPr>
          <a:xfrm>
            <a:off x="2814320" y="1007594"/>
            <a:ext cx="9377680" cy="110799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Non-contact Resistance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EDABD5B-D36C-8260-A0AF-EB2A9AA2C90B}"/>
              </a:ext>
            </a:extLst>
          </p:cNvPr>
          <p:cNvCxnSpPr>
            <a:cxnSpLocks/>
          </p:cNvCxnSpPr>
          <p:nvPr/>
        </p:nvCxnSpPr>
        <p:spPr>
          <a:xfrm>
            <a:off x="4297840" y="2439416"/>
            <a:ext cx="66348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6">
            <a:extLst>
              <a:ext uri="{FF2B5EF4-FFF2-40B4-BE49-F238E27FC236}">
                <a16:creationId xmlns:a16="http://schemas.microsoft.com/office/drawing/2014/main" id="{6A4D61CA-89BE-5B2C-6649-1100985AE299}"/>
              </a:ext>
            </a:extLst>
          </p:cNvPr>
          <p:cNvSpPr txBox="1">
            <a:spLocks/>
          </p:cNvSpPr>
          <p:nvPr/>
        </p:nvSpPr>
        <p:spPr>
          <a:xfrm>
            <a:off x="3822286" y="3033796"/>
            <a:ext cx="7874973" cy="52322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队员：李雅馨、姚夏臻、赵恩泽、张梓阳、学生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AB30A5F-93AD-2172-30E8-9CF776D682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1" t="573" r="14319" b="40227"/>
          <a:stretch/>
        </p:blipFill>
        <p:spPr>
          <a:xfrm>
            <a:off x="590855" y="500888"/>
            <a:ext cx="2121408" cy="212140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6846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E49EE41-094F-F273-FACE-3C6439F9DC8E}"/>
              </a:ext>
            </a:extLst>
          </p:cNvPr>
          <p:cNvGrpSpPr/>
          <p:nvPr/>
        </p:nvGrpSpPr>
        <p:grpSpPr>
          <a:xfrm>
            <a:off x="3697074" y="1200432"/>
            <a:ext cx="5561336" cy="635077"/>
            <a:chOff x="6096000" y="1080475"/>
            <a:chExt cx="5154584" cy="46451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BD29E90-A49C-9999-D51B-115CD3730DA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hlinkClick r:id="rId2" action="ppaction://hlinksldjump"/>
              <a:extLst>
                <a:ext uri="{FF2B5EF4-FFF2-40B4-BE49-F238E27FC236}">
                  <a16:creationId xmlns:a16="http://schemas.microsoft.com/office/drawing/2014/main" id="{C34F86C8-F46B-6BDC-F8A6-0F7A2ABE655C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题目</a:t>
              </a: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25198D-9FCF-6CE3-F25C-9AD9F6D184FB}"/>
              </a:ext>
            </a:extLst>
          </p:cNvPr>
          <p:cNvGrpSpPr/>
          <p:nvPr/>
        </p:nvGrpSpPr>
        <p:grpSpPr>
          <a:xfrm>
            <a:off x="3697074" y="2068064"/>
            <a:ext cx="5561336" cy="635077"/>
            <a:chOff x="6096000" y="1080475"/>
            <a:chExt cx="5154584" cy="464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EE782F4-4AB2-73DB-8D8F-B0141FFBBA6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BF5A0F46-D6BB-7191-6174-377D9707ADFB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正反方讨论焦点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AEE29B7-DCBF-FCFD-F07D-BA7CB1EE0444}"/>
              </a:ext>
            </a:extLst>
          </p:cNvPr>
          <p:cNvGrpSpPr/>
          <p:nvPr/>
        </p:nvGrpSpPr>
        <p:grpSpPr>
          <a:xfrm>
            <a:off x="3697074" y="2935696"/>
            <a:ext cx="5561336" cy="635077"/>
            <a:chOff x="6096000" y="1080475"/>
            <a:chExt cx="5154584" cy="46451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4FED1A7-1F9F-6439-CBA2-965E2F598F5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3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: 圆角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B632D31C-C1B5-F9F0-D06C-0AF441C988D0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正方</a:t>
              </a: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优缺点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4515405-B345-00C2-4B75-84A61A4AE79A}"/>
              </a:ext>
            </a:extLst>
          </p:cNvPr>
          <p:cNvGrpSpPr/>
          <p:nvPr/>
        </p:nvGrpSpPr>
        <p:grpSpPr>
          <a:xfrm>
            <a:off x="3700159" y="3802714"/>
            <a:ext cx="5561336" cy="635077"/>
            <a:chOff x="6096000" y="1080475"/>
            <a:chExt cx="5154584" cy="46451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8363245-66FA-79CC-37BA-7F12C86BFF2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: 圆角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808014F2-75FE-1141-F69E-354669FFE83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反方优缺点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A179A3-8531-C976-0AA0-BBEB0887AA1B}"/>
              </a:ext>
            </a:extLst>
          </p:cNvPr>
          <p:cNvGrpSpPr/>
          <p:nvPr/>
        </p:nvGrpSpPr>
        <p:grpSpPr>
          <a:xfrm>
            <a:off x="3697074" y="4671031"/>
            <a:ext cx="5561336" cy="635077"/>
            <a:chOff x="6096000" y="1080475"/>
            <a:chExt cx="5154584" cy="464516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70C2C75-8CA7-C451-D301-4A310518353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矩形: 圆角 24">
              <a:hlinkClick r:id="rId2" action="ppaction://hlinksldjump"/>
              <a:extLst>
                <a:ext uri="{FF2B5EF4-FFF2-40B4-BE49-F238E27FC236}">
                  <a16:creationId xmlns:a16="http://schemas.microsoft.com/office/drawing/2014/main" id="{19683FA7-2966-7FA8-84D5-CE6C4C3A061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对题目发展建议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755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题目重述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84442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544AA1-D684-8516-2AAA-72C191F0D9DC}"/>
              </a:ext>
            </a:extLst>
          </p:cNvPr>
          <p:cNvSpPr txBox="1"/>
          <p:nvPr/>
        </p:nvSpPr>
        <p:spPr>
          <a:xfrm>
            <a:off x="429380" y="989581"/>
            <a:ext cx="534090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responses of a LRC circuit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driven by an AC source can be changed by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inserting either a non-magnetic metal rod or a ferromagnetic rod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into the inductor coil. How can we obtain the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magnetic and electric properties 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of the inserted rod from the circuit’s responses?</a:t>
            </a:r>
          </a:p>
          <a:p>
            <a:pPr algn="just"/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通过在电感线圈中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插入非磁性金属棒或铁磁性棒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，可以改变由交流源驱动的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LRC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电路的响应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。我们如何从电路的响应中获得插入棒的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磁性和电学性质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en-US" sz="26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65D353-43D5-ACD4-8EFE-7CBE87131300}"/>
              </a:ext>
            </a:extLst>
          </p:cNvPr>
          <p:cNvSpPr txBox="1"/>
          <p:nvPr/>
        </p:nvSpPr>
        <p:spPr>
          <a:xfrm>
            <a:off x="6233806" y="1015500"/>
            <a:ext cx="1533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A7550FE-7EA9-F965-5A0C-54C6FCDE99DC}"/>
              </a:ext>
            </a:extLst>
          </p:cNvPr>
          <p:cNvGrpSpPr/>
          <p:nvPr/>
        </p:nvGrpSpPr>
        <p:grpSpPr>
          <a:xfrm>
            <a:off x="6186733" y="3464589"/>
            <a:ext cx="5828986" cy="1107996"/>
            <a:chOff x="6351511" y="1782756"/>
            <a:chExt cx="5170556" cy="1107996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2DE4C87-2896-C4A6-4D76-EC228A5565A0}"/>
                </a:ext>
              </a:extLst>
            </p:cNvPr>
            <p:cNvSpPr txBox="1"/>
            <p:nvPr/>
          </p:nvSpPr>
          <p:spPr>
            <a:xfrm>
              <a:off x="7223709" y="1782756"/>
              <a:ext cx="4298358" cy="1107996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“responses of a LRC circuit”</a:t>
              </a:r>
            </a:p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LRC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电路的响应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3A98F8C-6AF7-683E-7BB5-19D12031A8DE}"/>
                </a:ext>
              </a:extLst>
            </p:cNvPr>
            <p:cNvSpPr/>
            <p:nvPr/>
          </p:nvSpPr>
          <p:spPr>
            <a:xfrm>
              <a:off x="6351511" y="1955094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B047B3B-77C0-07AA-0AF9-A5231247DFCF}"/>
              </a:ext>
            </a:extLst>
          </p:cNvPr>
          <p:cNvCxnSpPr/>
          <p:nvPr/>
        </p:nvCxnSpPr>
        <p:spPr>
          <a:xfrm>
            <a:off x="5958195" y="1089720"/>
            <a:ext cx="0" cy="5399857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4007D34-45A4-9653-821D-B8E57BA67621}"/>
              </a:ext>
            </a:extLst>
          </p:cNvPr>
          <p:cNvGrpSpPr/>
          <p:nvPr/>
        </p:nvGrpSpPr>
        <p:grpSpPr>
          <a:xfrm>
            <a:off x="6169854" y="1869640"/>
            <a:ext cx="5862744" cy="1323439"/>
            <a:chOff x="6169531" y="1797931"/>
            <a:chExt cx="5131742" cy="1323439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172FAB1-69FA-DEBA-B877-80BF3B9F58FE}"/>
                </a:ext>
              </a:extLst>
            </p:cNvPr>
            <p:cNvSpPr txBox="1"/>
            <p:nvPr/>
          </p:nvSpPr>
          <p:spPr>
            <a:xfrm>
              <a:off x="7054010" y="1797931"/>
              <a:ext cx="4247263" cy="1323439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“inserting either a non-magnetic metal rod or a ferromagnetic rod”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插入非磁性金属棒或铁磁性棒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CBB38124-4A3A-A232-B2BC-C2EDBC0CE6BC}"/>
                </a:ext>
              </a:extLst>
            </p:cNvPr>
            <p:cNvSpPr/>
            <p:nvPr/>
          </p:nvSpPr>
          <p:spPr>
            <a:xfrm>
              <a:off x="6169531" y="2099650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99E5253C-E9CE-DBE8-D0C0-83B1F6415297}"/>
              </a:ext>
            </a:extLst>
          </p:cNvPr>
          <p:cNvSpPr/>
          <p:nvPr/>
        </p:nvSpPr>
        <p:spPr>
          <a:xfrm>
            <a:off x="146604" y="6236041"/>
            <a:ext cx="5811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27304F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Ref: Preparation to the Young Physicists’ Tournaments’ 2024</a:t>
            </a:r>
            <a:endParaRPr lang="zh-CN" altLang="en-US" dirty="0">
              <a:solidFill>
                <a:srgbClr val="27304F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BDAD087-A7CE-252A-CB6B-91117877AA0F}"/>
              </a:ext>
            </a:extLst>
          </p:cNvPr>
          <p:cNvGrpSpPr/>
          <p:nvPr/>
        </p:nvGrpSpPr>
        <p:grpSpPr>
          <a:xfrm>
            <a:off x="6163603" y="4903832"/>
            <a:ext cx="5862743" cy="1388140"/>
            <a:chOff x="6334010" y="1797931"/>
            <a:chExt cx="4967263" cy="1323439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A2C1CDE-434D-C1AF-74B5-6E6CDB7A3122}"/>
                </a:ext>
              </a:extLst>
            </p:cNvPr>
            <p:cNvSpPr txBox="1"/>
            <p:nvPr/>
          </p:nvSpPr>
          <p:spPr>
            <a:xfrm>
              <a:off x="7223708" y="1797931"/>
              <a:ext cx="4077565" cy="1323439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“magnetic and electric properties”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磁性和电学性质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D7E2BD7-219B-2EFD-D76E-DCBCF4024EBC}"/>
                </a:ext>
              </a:extLst>
            </p:cNvPr>
            <p:cNvSpPr/>
            <p:nvPr/>
          </p:nvSpPr>
          <p:spPr>
            <a:xfrm>
              <a:off x="6334010" y="2099650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402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0B58C9-BE6B-D3DD-0B1D-05E5DDDCEDB6}"/>
              </a:ext>
            </a:extLst>
          </p:cNvPr>
          <p:cNvGrpSpPr/>
          <p:nvPr/>
        </p:nvGrpSpPr>
        <p:grpSpPr>
          <a:xfrm>
            <a:off x="486288" y="1174512"/>
            <a:ext cx="5029957" cy="720000"/>
            <a:chOff x="486288" y="1174512"/>
            <a:chExt cx="5029957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35971" y="1291723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：关键词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BDEC63-9F41-3391-F6C3-638187908986}"/>
              </a:ext>
            </a:extLst>
          </p:cNvPr>
          <p:cNvGrpSpPr/>
          <p:nvPr/>
        </p:nvGrpSpPr>
        <p:grpSpPr>
          <a:xfrm>
            <a:off x="486288" y="3323159"/>
            <a:ext cx="10226057" cy="720000"/>
            <a:chOff x="486288" y="2575835"/>
            <a:chExt cx="10226057" cy="72000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2575835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35971" y="2705002"/>
              <a:ext cx="91763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预实验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现象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B8445C5-CB1A-4292-4E7F-D79826DE9C69}"/>
              </a:ext>
            </a:extLst>
          </p:cNvPr>
          <p:cNvGrpSpPr/>
          <p:nvPr/>
        </p:nvGrpSpPr>
        <p:grpSpPr>
          <a:xfrm>
            <a:off x="486288" y="5483764"/>
            <a:ext cx="9882964" cy="720000"/>
            <a:chOff x="486288" y="4199970"/>
            <a:chExt cx="9882964" cy="72000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4199970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35971" y="4329137"/>
              <a:ext cx="883328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：假设、重要公式、结论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599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A7D3FA-27EC-CA73-B5BF-4AFB67F591DE}"/>
              </a:ext>
            </a:extLst>
          </p:cNvPr>
          <p:cNvGrpSpPr/>
          <p:nvPr/>
        </p:nvGrpSpPr>
        <p:grpSpPr>
          <a:xfrm>
            <a:off x="486288" y="1174512"/>
            <a:ext cx="10877129" cy="720000"/>
            <a:chOff x="486288" y="1174512"/>
            <a:chExt cx="10877129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303679"/>
              <a:ext cx="9778686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正式实验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：探究变量及结论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014017A-663D-AB88-B2D2-4BFBF6E8A4F4}"/>
              </a:ext>
            </a:extLst>
          </p:cNvPr>
          <p:cNvGrpSpPr/>
          <p:nvPr/>
        </p:nvGrpSpPr>
        <p:grpSpPr>
          <a:xfrm>
            <a:off x="486288" y="3188924"/>
            <a:ext cx="10706914" cy="720000"/>
            <a:chOff x="486288" y="3772932"/>
            <a:chExt cx="10706914" cy="72000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377293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84731" y="3902099"/>
              <a:ext cx="960847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误差分析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：考虑因素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8AE289F-FA54-47A5-2F53-2D72FCDDF411}"/>
              </a:ext>
            </a:extLst>
          </p:cNvPr>
          <p:cNvGrpSpPr/>
          <p:nvPr/>
        </p:nvGrpSpPr>
        <p:grpSpPr>
          <a:xfrm>
            <a:off x="486288" y="5381515"/>
            <a:ext cx="11152337" cy="720000"/>
            <a:chOff x="486288" y="5923338"/>
            <a:chExt cx="11152337" cy="72000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5923338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84731" y="6052505"/>
              <a:ext cx="1005389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未来展望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：发展方向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6882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2662237" y="3727855"/>
            <a:ext cx="6867526" cy="2123658"/>
          </a:xfrm>
        </p:spPr>
        <p:txBody>
          <a:bodyPr>
            <a:spAutoFit/>
          </a:bodyPr>
          <a:lstStyle/>
          <a:p>
            <a:r>
              <a:rPr lang="zh-CN" altLang="en-US" sz="66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正反方讨论焦点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86789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2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反方讨论焦点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DF41B-A65F-0639-1366-1956A4B16445}"/>
              </a:ext>
            </a:extLst>
          </p:cNvPr>
          <p:cNvSpPr/>
          <p:nvPr/>
        </p:nvSpPr>
        <p:spPr>
          <a:xfrm>
            <a:off x="615211" y="111613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23BA4-460E-902A-F3CE-154A4CBB0B39}"/>
              </a:ext>
            </a:extLst>
          </p:cNvPr>
          <p:cNvSpPr txBox="1"/>
          <p:nvPr/>
        </p:nvSpPr>
        <p:spPr>
          <a:xfrm>
            <a:off x="1183691" y="100414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193620-3BCC-C0CA-C374-2A69482FAEE8}"/>
              </a:ext>
            </a:extLst>
          </p:cNvPr>
          <p:cNvSpPr/>
          <p:nvPr/>
        </p:nvSpPr>
        <p:spPr>
          <a:xfrm>
            <a:off x="1313537" y="173609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BB4A7-688A-DFE5-F59D-02299803FD46}"/>
              </a:ext>
            </a:extLst>
          </p:cNvPr>
          <p:cNvSpPr/>
          <p:nvPr/>
        </p:nvSpPr>
        <p:spPr>
          <a:xfrm>
            <a:off x="1313537" y="238379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E4923-3C0B-4FDD-AEEB-39DBBC39B475}"/>
              </a:ext>
            </a:extLst>
          </p:cNvPr>
          <p:cNvSpPr/>
          <p:nvPr/>
        </p:nvSpPr>
        <p:spPr>
          <a:xfrm>
            <a:off x="1313537" y="303149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A86EC5-D591-54FD-D5DE-56C288F6029F}"/>
              </a:ext>
            </a:extLst>
          </p:cNvPr>
          <p:cNvSpPr txBox="1"/>
          <p:nvPr/>
        </p:nvSpPr>
        <p:spPr>
          <a:xfrm>
            <a:off x="3221102" y="17322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C5CA0D-FFE6-618D-4AD5-78573373AC25}"/>
              </a:ext>
            </a:extLst>
          </p:cNvPr>
          <p:cNvSpPr txBox="1"/>
          <p:nvPr/>
        </p:nvSpPr>
        <p:spPr>
          <a:xfrm>
            <a:off x="3221102" y="240665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54C1E-BAB5-6FE5-7959-5822D921B0E6}"/>
              </a:ext>
            </a:extLst>
          </p:cNvPr>
          <p:cNvSpPr txBox="1"/>
          <p:nvPr/>
        </p:nvSpPr>
        <p:spPr>
          <a:xfrm>
            <a:off x="3221102" y="300953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B1AB2E-26F4-48BA-4D0E-7514A531B8CB}"/>
              </a:ext>
            </a:extLst>
          </p:cNvPr>
          <p:cNvSpPr/>
          <p:nvPr/>
        </p:nvSpPr>
        <p:spPr>
          <a:xfrm>
            <a:off x="567775" y="392956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3A5BB8-2C26-F8FB-B2E7-1416DCB17F3F}"/>
              </a:ext>
            </a:extLst>
          </p:cNvPr>
          <p:cNvSpPr txBox="1"/>
          <p:nvPr/>
        </p:nvSpPr>
        <p:spPr>
          <a:xfrm>
            <a:off x="1136255" y="381757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C31DF-CDA0-3950-C828-D2F452C99730}"/>
              </a:ext>
            </a:extLst>
          </p:cNvPr>
          <p:cNvSpPr/>
          <p:nvPr/>
        </p:nvSpPr>
        <p:spPr>
          <a:xfrm>
            <a:off x="1266101" y="454952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BAF40CD-40F6-F94D-8EDF-C3C0F3E952A4}"/>
              </a:ext>
            </a:extLst>
          </p:cNvPr>
          <p:cNvSpPr/>
          <p:nvPr/>
        </p:nvSpPr>
        <p:spPr>
          <a:xfrm>
            <a:off x="1266101" y="519722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B7395F-2101-E658-E8B8-BC394ECA198B}"/>
              </a:ext>
            </a:extLst>
          </p:cNvPr>
          <p:cNvSpPr/>
          <p:nvPr/>
        </p:nvSpPr>
        <p:spPr>
          <a:xfrm>
            <a:off x="1266101" y="584492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1EF48D-4CBA-517D-570F-1E81F9935504}"/>
              </a:ext>
            </a:extLst>
          </p:cNvPr>
          <p:cNvSpPr txBox="1"/>
          <p:nvPr/>
        </p:nvSpPr>
        <p:spPr>
          <a:xfrm>
            <a:off x="3173666" y="454571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A961B-4690-8AFE-0CB7-1A787ACAA0C7}"/>
              </a:ext>
            </a:extLst>
          </p:cNvPr>
          <p:cNvSpPr txBox="1"/>
          <p:nvPr/>
        </p:nvSpPr>
        <p:spPr>
          <a:xfrm>
            <a:off x="3173666" y="52200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7BB433-26F9-5B12-F507-BD87A9323046}"/>
              </a:ext>
            </a:extLst>
          </p:cNvPr>
          <p:cNvSpPr txBox="1"/>
          <p:nvPr/>
        </p:nvSpPr>
        <p:spPr>
          <a:xfrm>
            <a:off x="3173666" y="582296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</p:spTree>
    <p:extLst>
      <p:ext uri="{BB962C8B-B14F-4D97-AF65-F5344CB8AC3E}">
        <p14:creationId xmlns:p14="http://schemas.microsoft.com/office/powerpoint/2010/main" val="2848789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2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反方讨论焦点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DF41B-A65F-0639-1366-1956A4B16445}"/>
              </a:ext>
            </a:extLst>
          </p:cNvPr>
          <p:cNvSpPr/>
          <p:nvPr/>
        </p:nvSpPr>
        <p:spPr>
          <a:xfrm>
            <a:off x="615211" y="111613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23BA4-460E-902A-F3CE-154A4CBB0B39}"/>
              </a:ext>
            </a:extLst>
          </p:cNvPr>
          <p:cNvSpPr txBox="1"/>
          <p:nvPr/>
        </p:nvSpPr>
        <p:spPr>
          <a:xfrm>
            <a:off x="1183691" y="100414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193620-3BCC-C0CA-C374-2A69482FAEE8}"/>
              </a:ext>
            </a:extLst>
          </p:cNvPr>
          <p:cNvSpPr/>
          <p:nvPr/>
        </p:nvSpPr>
        <p:spPr>
          <a:xfrm>
            <a:off x="1313537" y="173609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BB4A7-688A-DFE5-F59D-02299803FD46}"/>
              </a:ext>
            </a:extLst>
          </p:cNvPr>
          <p:cNvSpPr/>
          <p:nvPr/>
        </p:nvSpPr>
        <p:spPr>
          <a:xfrm>
            <a:off x="1313537" y="238379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E4923-3C0B-4FDD-AEEB-39DBBC39B475}"/>
              </a:ext>
            </a:extLst>
          </p:cNvPr>
          <p:cNvSpPr/>
          <p:nvPr/>
        </p:nvSpPr>
        <p:spPr>
          <a:xfrm>
            <a:off x="1313537" y="303149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A86EC5-D591-54FD-D5DE-56C288F6029F}"/>
              </a:ext>
            </a:extLst>
          </p:cNvPr>
          <p:cNvSpPr txBox="1"/>
          <p:nvPr/>
        </p:nvSpPr>
        <p:spPr>
          <a:xfrm>
            <a:off x="3221102" y="17322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C5CA0D-FFE6-618D-4AD5-78573373AC25}"/>
              </a:ext>
            </a:extLst>
          </p:cNvPr>
          <p:cNvSpPr txBox="1"/>
          <p:nvPr/>
        </p:nvSpPr>
        <p:spPr>
          <a:xfrm>
            <a:off x="3221102" y="240665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54C1E-BAB5-6FE5-7959-5822D921B0E6}"/>
              </a:ext>
            </a:extLst>
          </p:cNvPr>
          <p:cNvSpPr txBox="1"/>
          <p:nvPr/>
        </p:nvSpPr>
        <p:spPr>
          <a:xfrm>
            <a:off x="3221102" y="300953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B1AB2E-26F4-48BA-4D0E-7514A531B8CB}"/>
              </a:ext>
            </a:extLst>
          </p:cNvPr>
          <p:cNvSpPr/>
          <p:nvPr/>
        </p:nvSpPr>
        <p:spPr>
          <a:xfrm>
            <a:off x="567775" y="392956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3A5BB8-2C26-F8FB-B2E7-1416DCB17F3F}"/>
              </a:ext>
            </a:extLst>
          </p:cNvPr>
          <p:cNvSpPr txBox="1"/>
          <p:nvPr/>
        </p:nvSpPr>
        <p:spPr>
          <a:xfrm>
            <a:off x="1136255" y="381757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C31DF-CDA0-3950-C828-D2F452C99730}"/>
              </a:ext>
            </a:extLst>
          </p:cNvPr>
          <p:cNvSpPr/>
          <p:nvPr/>
        </p:nvSpPr>
        <p:spPr>
          <a:xfrm>
            <a:off x="1266101" y="454952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BAF40CD-40F6-F94D-8EDF-C3C0F3E952A4}"/>
              </a:ext>
            </a:extLst>
          </p:cNvPr>
          <p:cNvSpPr/>
          <p:nvPr/>
        </p:nvSpPr>
        <p:spPr>
          <a:xfrm>
            <a:off x="1266101" y="519722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B7395F-2101-E658-E8B8-BC394ECA198B}"/>
              </a:ext>
            </a:extLst>
          </p:cNvPr>
          <p:cNvSpPr/>
          <p:nvPr/>
        </p:nvSpPr>
        <p:spPr>
          <a:xfrm>
            <a:off x="1266101" y="584492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1EF48D-4CBA-517D-570F-1E81F9935504}"/>
              </a:ext>
            </a:extLst>
          </p:cNvPr>
          <p:cNvSpPr txBox="1"/>
          <p:nvPr/>
        </p:nvSpPr>
        <p:spPr>
          <a:xfrm>
            <a:off x="3173666" y="454571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A961B-4690-8AFE-0CB7-1A787ACAA0C7}"/>
              </a:ext>
            </a:extLst>
          </p:cNvPr>
          <p:cNvSpPr txBox="1"/>
          <p:nvPr/>
        </p:nvSpPr>
        <p:spPr>
          <a:xfrm>
            <a:off x="3173666" y="52200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7BB433-26F9-5B12-F507-BD87A9323046}"/>
              </a:ext>
            </a:extLst>
          </p:cNvPr>
          <p:cNvSpPr txBox="1"/>
          <p:nvPr/>
        </p:nvSpPr>
        <p:spPr>
          <a:xfrm>
            <a:off x="3173666" y="582296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</p:spTree>
    <p:extLst>
      <p:ext uri="{BB962C8B-B14F-4D97-AF65-F5344CB8AC3E}">
        <p14:creationId xmlns:p14="http://schemas.microsoft.com/office/powerpoint/2010/main" val="1263048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2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反方讨论焦点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DF41B-A65F-0639-1366-1956A4B16445}"/>
              </a:ext>
            </a:extLst>
          </p:cNvPr>
          <p:cNvSpPr/>
          <p:nvPr/>
        </p:nvSpPr>
        <p:spPr>
          <a:xfrm>
            <a:off x="615211" y="111613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23BA4-460E-902A-F3CE-154A4CBB0B39}"/>
              </a:ext>
            </a:extLst>
          </p:cNvPr>
          <p:cNvSpPr txBox="1"/>
          <p:nvPr/>
        </p:nvSpPr>
        <p:spPr>
          <a:xfrm>
            <a:off x="1183691" y="100414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193620-3BCC-C0CA-C374-2A69482FAEE8}"/>
              </a:ext>
            </a:extLst>
          </p:cNvPr>
          <p:cNvSpPr/>
          <p:nvPr/>
        </p:nvSpPr>
        <p:spPr>
          <a:xfrm>
            <a:off x="1313537" y="173609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BB4A7-688A-DFE5-F59D-02299803FD46}"/>
              </a:ext>
            </a:extLst>
          </p:cNvPr>
          <p:cNvSpPr/>
          <p:nvPr/>
        </p:nvSpPr>
        <p:spPr>
          <a:xfrm>
            <a:off x="1313537" y="238379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E4923-3C0B-4FDD-AEEB-39DBBC39B475}"/>
              </a:ext>
            </a:extLst>
          </p:cNvPr>
          <p:cNvSpPr/>
          <p:nvPr/>
        </p:nvSpPr>
        <p:spPr>
          <a:xfrm>
            <a:off x="1313537" y="303149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A86EC5-D591-54FD-D5DE-56C288F6029F}"/>
              </a:ext>
            </a:extLst>
          </p:cNvPr>
          <p:cNvSpPr txBox="1"/>
          <p:nvPr/>
        </p:nvSpPr>
        <p:spPr>
          <a:xfrm>
            <a:off x="3221102" y="17322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C5CA0D-FFE6-618D-4AD5-78573373AC25}"/>
              </a:ext>
            </a:extLst>
          </p:cNvPr>
          <p:cNvSpPr txBox="1"/>
          <p:nvPr/>
        </p:nvSpPr>
        <p:spPr>
          <a:xfrm>
            <a:off x="3221102" y="240665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54C1E-BAB5-6FE5-7959-5822D921B0E6}"/>
              </a:ext>
            </a:extLst>
          </p:cNvPr>
          <p:cNvSpPr txBox="1"/>
          <p:nvPr/>
        </p:nvSpPr>
        <p:spPr>
          <a:xfrm>
            <a:off x="3221102" y="300953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B1AB2E-26F4-48BA-4D0E-7514A531B8CB}"/>
              </a:ext>
            </a:extLst>
          </p:cNvPr>
          <p:cNvSpPr/>
          <p:nvPr/>
        </p:nvSpPr>
        <p:spPr>
          <a:xfrm>
            <a:off x="567775" y="392956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3A5BB8-2C26-F8FB-B2E7-1416DCB17F3F}"/>
              </a:ext>
            </a:extLst>
          </p:cNvPr>
          <p:cNvSpPr txBox="1"/>
          <p:nvPr/>
        </p:nvSpPr>
        <p:spPr>
          <a:xfrm>
            <a:off x="1136255" y="381757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C31DF-CDA0-3950-C828-D2F452C99730}"/>
              </a:ext>
            </a:extLst>
          </p:cNvPr>
          <p:cNvSpPr/>
          <p:nvPr/>
        </p:nvSpPr>
        <p:spPr>
          <a:xfrm>
            <a:off x="1266101" y="454952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BAF40CD-40F6-F94D-8EDF-C3C0F3E952A4}"/>
              </a:ext>
            </a:extLst>
          </p:cNvPr>
          <p:cNvSpPr/>
          <p:nvPr/>
        </p:nvSpPr>
        <p:spPr>
          <a:xfrm>
            <a:off x="1266101" y="519722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B7395F-2101-E658-E8B8-BC394ECA198B}"/>
              </a:ext>
            </a:extLst>
          </p:cNvPr>
          <p:cNvSpPr/>
          <p:nvPr/>
        </p:nvSpPr>
        <p:spPr>
          <a:xfrm>
            <a:off x="1266101" y="584492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1EF48D-4CBA-517D-570F-1E81F9935504}"/>
              </a:ext>
            </a:extLst>
          </p:cNvPr>
          <p:cNvSpPr txBox="1"/>
          <p:nvPr/>
        </p:nvSpPr>
        <p:spPr>
          <a:xfrm>
            <a:off x="3173666" y="454571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A961B-4690-8AFE-0CB7-1A787ACAA0C7}"/>
              </a:ext>
            </a:extLst>
          </p:cNvPr>
          <p:cNvSpPr txBox="1"/>
          <p:nvPr/>
        </p:nvSpPr>
        <p:spPr>
          <a:xfrm>
            <a:off x="3173666" y="52200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7BB433-26F9-5B12-F507-BD87A9323046}"/>
              </a:ext>
            </a:extLst>
          </p:cNvPr>
          <p:cNvSpPr txBox="1"/>
          <p:nvPr/>
        </p:nvSpPr>
        <p:spPr>
          <a:xfrm>
            <a:off x="3173666" y="582296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</p:spTree>
    <p:extLst>
      <p:ext uri="{BB962C8B-B14F-4D97-AF65-F5344CB8AC3E}">
        <p14:creationId xmlns:p14="http://schemas.microsoft.com/office/powerpoint/2010/main" val="2933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正方优缺点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95853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</a:t>
            </a: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2AD785D-4E7E-E82B-99A6-D286439F9097}"/>
              </a:ext>
            </a:extLst>
          </p:cNvPr>
          <p:cNvGrpSpPr/>
          <p:nvPr/>
        </p:nvGrpSpPr>
        <p:grpSpPr>
          <a:xfrm>
            <a:off x="486288" y="1174512"/>
            <a:ext cx="5078717" cy="1462326"/>
            <a:chOff x="486288" y="1174512"/>
            <a:chExt cx="5078717" cy="146232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815672" cy="14623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250039"/>
              <a:ext cx="3980274" cy="1200329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合理地夸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尽力不用套话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FD5530B-18D6-DE94-E93F-E1FC2216D1B1}"/>
              </a:ext>
            </a:extLst>
          </p:cNvPr>
          <p:cNvGrpSpPr/>
          <p:nvPr/>
        </p:nvGrpSpPr>
        <p:grpSpPr>
          <a:xfrm>
            <a:off x="585830" y="4958379"/>
            <a:ext cx="4979175" cy="1073026"/>
            <a:chOff x="585830" y="4958379"/>
            <a:chExt cx="4979175" cy="107302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1CDFFCC-D7B2-9609-E21D-EBB514C392C0}"/>
                </a:ext>
              </a:extLst>
            </p:cNvPr>
            <p:cNvSpPr/>
            <p:nvPr/>
          </p:nvSpPr>
          <p:spPr>
            <a:xfrm>
              <a:off x="585830" y="4958379"/>
              <a:ext cx="616587" cy="107302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亮点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537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正方缺点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6083345-8E20-7389-9129-A18054FF13EF}"/>
              </a:ext>
            </a:extLst>
          </p:cNvPr>
          <p:cNvGrpSpPr/>
          <p:nvPr/>
        </p:nvGrpSpPr>
        <p:grpSpPr>
          <a:xfrm>
            <a:off x="486288" y="1174512"/>
            <a:ext cx="5078717" cy="1462326"/>
            <a:chOff x="486288" y="1174512"/>
            <a:chExt cx="5078717" cy="146232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815672" cy="14623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不足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305510"/>
              <a:ext cx="3980274" cy="1200329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合理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尖锐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D2461A5-B1C6-3652-43F7-E697CCABF599}"/>
              </a:ext>
            </a:extLst>
          </p:cNvPr>
          <p:cNvGrpSpPr/>
          <p:nvPr/>
        </p:nvGrpSpPr>
        <p:grpSpPr>
          <a:xfrm>
            <a:off x="394673" y="5000446"/>
            <a:ext cx="5170332" cy="1200329"/>
            <a:chOff x="394673" y="5000446"/>
            <a:chExt cx="5170332" cy="1200329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1CDFFCC-D7B2-9609-E21D-EBB514C392C0}"/>
                </a:ext>
              </a:extLst>
            </p:cNvPr>
            <p:cNvSpPr/>
            <p:nvPr/>
          </p:nvSpPr>
          <p:spPr>
            <a:xfrm>
              <a:off x="394673" y="5000446"/>
              <a:ext cx="998901" cy="1200329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改进建议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205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反方优缺点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707342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反方优点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7441EE7-6B05-4426-E4E8-4EBE9F979122}"/>
              </a:ext>
            </a:extLst>
          </p:cNvPr>
          <p:cNvSpPr/>
          <p:nvPr/>
        </p:nvSpPr>
        <p:spPr>
          <a:xfrm>
            <a:off x="486288" y="1174512"/>
            <a:ext cx="815672" cy="14623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03E73C-8EC3-7920-2350-897BFFD6D837}"/>
              </a:ext>
            </a:extLst>
          </p:cNvPr>
          <p:cNvSpPr txBox="1"/>
          <p:nvPr/>
        </p:nvSpPr>
        <p:spPr>
          <a:xfrm>
            <a:off x="1584731" y="1174512"/>
            <a:ext cx="3980274" cy="1200329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合理地夸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尽力不用套话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83BFD5-D483-64BF-FCE4-5A614B005B08}"/>
              </a:ext>
            </a:extLst>
          </p:cNvPr>
          <p:cNvSpPr txBox="1"/>
          <p:nvPr/>
        </p:nvSpPr>
        <p:spPr>
          <a:xfrm>
            <a:off x="1584731" y="5264060"/>
            <a:ext cx="3980274" cy="461665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有就写，没有就删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1CDFFCC-D7B2-9609-E21D-EBB514C392C0}"/>
              </a:ext>
            </a:extLst>
          </p:cNvPr>
          <p:cNvSpPr/>
          <p:nvPr/>
        </p:nvSpPr>
        <p:spPr>
          <a:xfrm>
            <a:off x="585830" y="4958379"/>
            <a:ext cx="616587" cy="107302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亮点</a:t>
            </a:r>
          </a:p>
        </p:txBody>
      </p:sp>
    </p:spTree>
    <p:extLst>
      <p:ext uri="{BB962C8B-B14F-4D97-AF65-F5344CB8AC3E}">
        <p14:creationId xmlns:p14="http://schemas.microsoft.com/office/powerpoint/2010/main" val="3814288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反方缺点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7441EE7-6B05-4426-E4E8-4EBE9F979122}"/>
              </a:ext>
            </a:extLst>
          </p:cNvPr>
          <p:cNvSpPr/>
          <p:nvPr/>
        </p:nvSpPr>
        <p:spPr>
          <a:xfrm>
            <a:off x="486288" y="1174512"/>
            <a:ext cx="815672" cy="14623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不足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03E73C-8EC3-7920-2350-897BFFD6D837}"/>
              </a:ext>
            </a:extLst>
          </p:cNvPr>
          <p:cNvSpPr txBox="1"/>
          <p:nvPr/>
        </p:nvSpPr>
        <p:spPr>
          <a:xfrm>
            <a:off x="1584731" y="1174512"/>
            <a:ext cx="3980274" cy="1200329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合理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尖锐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83BFD5-D483-64BF-FCE4-5A614B005B08}"/>
              </a:ext>
            </a:extLst>
          </p:cNvPr>
          <p:cNvSpPr txBox="1"/>
          <p:nvPr/>
        </p:nvSpPr>
        <p:spPr>
          <a:xfrm>
            <a:off x="1584731" y="5264060"/>
            <a:ext cx="3980274" cy="461665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有就写，没有就删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1CDFFCC-D7B2-9609-E21D-EBB514C392C0}"/>
              </a:ext>
            </a:extLst>
          </p:cNvPr>
          <p:cNvSpPr/>
          <p:nvPr/>
        </p:nvSpPr>
        <p:spPr>
          <a:xfrm>
            <a:off x="394673" y="5000446"/>
            <a:ext cx="998901" cy="120032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改进建议</a:t>
            </a:r>
          </a:p>
        </p:txBody>
      </p:sp>
    </p:spTree>
    <p:extLst>
      <p:ext uri="{BB962C8B-B14F-4D97-AF65-F5344CB8AC3E}">
        <p14:creationId xmlns:p14="http://schemas.microsoft.com/office/powerpoint/2010/main" val="2750951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题目发展建议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256335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72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对题目发展建议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6B5FA-17E2-21C1-65B4-F5177A7EC63A}"/>
              </a:ext>
            </a:extLst>
          </p:cNvPr>
          <p:cNvSpPr txBox="1"/>
          <p:nvPr/>
        </p:nvSpPr>
        <p:spPr>
          <a:xfrm>
            <a:off x="1225119" y="1288413"/>
            <a:ext cx="7412854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考虑。。。的影响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验证。。的合理性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99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1980-DA8F-4E9E-B450-4CDAE0D9C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57829" y="1181613"/>
            <a:ext cx="9043085" cy="1862048"/>
          </a:xfrm>
        </p:spPr>
        <p:txBody>
          <a:bodyPr>
            <a:spAutoFit/>
          </a:bodyPr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AE0C054F-ACA8-4C62-A1CC-E710A47045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6614" y="3629447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8456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2233</TotalTime>
  <Words>458</Words>
  <Application>Microsoft Office PowerPoint</Application>
  <PresentationFormat>宽屏</PresentationFormat>
  <Paragraphs>150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</vt:lpstr>
      <vt:lpstr>等线 Light</vt:lpstr>
      <vt:lpstr>宋体</vt:lpstr>
      <vt:lpstr>微软雅黑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Zhenyu Xu</dc:creator>
  <cp:lastModifiedBy>学生</cp:lastModifiedBy>
  <cp:revision>167</cp:revision>
  <dcterms:created xsi:type="dcterms:W3CDTF">2019-09-17T00:55:24Z</dcterms:created>
  <dcterms:modified xsi:type="dcterms:W3CDTF">2024-08-17T14:04:04Z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[邮箱已脱敏]</vt:lpwstr>
  </property>
  <property fmtid="{D5CDD505-2E9C-101B-9397-08002B2CF9AE}" pid="5" name="MSIP_Label_f42aa342-8706-4288-bd11-ebb85995028c_SetDate">
    <vt:lpwstr>2019-09-17T00:55:27.4921371Z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182648ba-116e-4ea7-b09c-ef40e8411546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