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39" r:id="rId2"/>
    <p:sldId id="347" r:id="rId3"/>
    <p:sldId id="337" r:id="rId4"/>
    <p:sldId id="1845" r:id="rId5"/>
    <p:sldId id="1856" r:id="rId6"/>
    <p:sldId id="1848" r:id="rId7"/>
    <p:sldId id="1862" r:id="rId8"/>
    <p:sldId id="1857" r:id="rId9"/>
    <p:sldId id="1855" r:id="rId10"/>
    <p:sldId id="1858" r:id="rId11"/>
    <p:sldId id="1850" r:id="rId12"/>
    <p:sldId id="1859" r:id="rId13"/>
    <p:sldId id="1854" r:id="rId14"/>
    <p:sldId id="1861" r:id="rId15"/>
    <p:sldId id="1860" r:id="rId16"/>
    <p:sldId id="1849" r:id="rId17"/>
    <p:sldId id="184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BEB"/>
    <a:srgbClr val="5E79EB"/>
    <a:srgbClr val="7B6BF5"/>
    <a:srgbClr val="4CC4D7"/>
    <a:srgbClr val="CCFFFF"/>
    <a:srgbClr val="FFFFFF"/>
    <a:srgbClr val="0480E1"/>
    <a:srgbClr val="0B7EE2"/>
    <a:srgbClr val="229FDC"/>
    <a:srgbClr val="0C7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7" autoAdjust="0"/>
    <p:restoredTop sz="71068" autoAdjust="0"/>
  </p:normalViewPr>
  <p:slideViewPr>
    <p:cSldViewPr snapToGrid="0">
      <p:cViewPr varScale="1">
        <p:scale>
          <a:sx n="83" d="100"/>
          <a:sy n="83" d="100"/>
        </p:scale>
        <p:origin x="1620" y="54"/>
      </p:cViewPr>
      <p:guideLst>
        <p:guide pos="416"/>
        <p:guide pos="7242"/>
        <p:guide orient="horz" pos="663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很显然的实验现象，确定合适的初始条件后，当有纸张覆盖时，尺子不会翻转，而当拿下纸张后，尺子被小球打下去。这和题目中所述的实验现象保持一致，我们由此为基础进行下一步研究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033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观察到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028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6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rId2" action="ppaction://hlinksldjump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203" y="6060669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97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5984" y="300617"/>
            <a:ext cx="9043085" cy="769441"/>
          </a:xfrm>
        </p:spPr>
        <p:txBody>
          <a:bodyPr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2024CUPT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04769" y="3846174"/>
            <a:ext cx="3924300" cy="523220"/>
          </a:xfrm>
        </p:spPr>
        <p:txBody>
          <a:bodyPr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7D587300-0BC3-1339-9074-F10689AC141E}"/>
              </a:ext>
            </a:extLst>
          </p:cNvPr>
          <p:cNvSpPr txBox="1">
            <a:spLocks/>
          </p:cNvSpPr>
          <p:nvPr/>
        </p:nvSpPr>
        <p:spPr>
          <a:xfrm>
            <a:off x="-1310640" y="915592"/>
            <a:ext cx="12239709" cy="120032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NO.14. </a:t>
            </a: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尺子把戏</a:t>
            </a:r>
            <a:endParaRPr lang="en-US" alt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4294190" y="2088497"/>
            <a:ext cx="6634879" cy="120032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14.Ruler Trick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398424" y="3134360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7D26412B-A069-A0AB-B120-B5D47525BB4B}"/>
              </a:ext>
            </a:extLst>
          </p:cNvPr>
          <p:cNvSpPr txBox="1">
            <a:spLocks/>
          </p:cNvSpPr>
          <p:nvPr/>
        </p:nvSpPr>
        <p:spPr>
          <a:xfrm>
            <a:off x="7004769" y="3354308"/>
            <a:ext cx="3924300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北京师范大学</a:t>
            </a:r>
            <a:r>
              <a:rPr lang="zh-CN" altLang="en-US" sz="2800" dirty="0">
                <a:latin typeface="黑                     "/>
                <a:ea typeface="宋体" panose="02010600030101010101" pitchFamily="2" charset="-122"/>
              </a:rPr>
              <a:t>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6846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1B3FDD60-2522-D754-3474-9FEFC01A96EA}"/>
              </a:ext>
            </a:extLst>
          </p:cNvPr>
          <p:cNvGrpSpPr/>
          <p:nvPr/>
        </p:nvGrpSpPr>
        <p:grpSpPr>
          <a:xfrm>
            <a:off x="4839062" y="1739291"/>
            <a:ext cx="2351316" cy="1015663"/>
            <a:chOff x="2230015" y="2491421"/>
            <a:chExt cx="2351316" cy="101566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7D9C961-EAE9-1B5B-0187-5FF69E7B3D08}"/>
                </a:ext>
              </a:extLst>
            </p:cNvPr>
            <p:cNvSpPr txBox="1"/>
            <p:nvPr/>
          </p:nvSpPr>
          <p:spPr>
            <a:xfrm>
              <a:off x="2836505" y="2737643"/>
              <a:ext cx="17448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题目回顾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64703C-DF77-0796-0082-F7E45DD122DE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gradFill>
                    <a:gsLst>
                      <a:gs pos="49000">
                        <a:srgbClr val="2AA7DC"/>
                      </a:gs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000" b="1" dirty="0">
                <a:gradFill>
                  <a:gsLst>
                    <a:gs pos="49000">
                      <a:srgbClr val="2AA7DC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98FBF7C-6197-81E0-779C-7306F5B3BCCE}"/>
              </a:ext>
            </a:extLst>
          </p:cNvPr>
          <p:cNvGrpSpPr/>
          <p:nvPr/>
        </p:nvGrpSpPr>
        <p:grpSpPr>
          <a:xfrm>
            <a:off x="4839062" y="2508756"/>
            <a:ext cx="2351316" cy="1015663"/>
            <a:chOff x="2230015" y="2491421"/>
            <a:chExt cx="2351316" cy="1015663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551DF-3600-E3FB-39B4-3A389008C13D}"/>
                </a:ext>
              </a:extLst>
            </p:cNvPr>
            <p:cNvSpPr txBox="1"/>
            <p:nvPr/>
          </p:nvSpPr>
          <p:spPr>
            <a:xfrm>
              <a:off x="2836505" y="2737643"/>
              <a:ext cx="17448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预实验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83DCD79-5EC9-6E8E-DAA9-BC1197EA132B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gradFill>
                    <a:gsLst>
                      <a:gs pos="49000">
                        <a:srgbClr val="2AA7DC"/>
                      </a:gs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000" b="1" dirty="0">
                <a:gradFill>
                  <a:gsLst>
                    <a:gs pos="49000">
                      <a:srgbClr val="2AA7DC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D8600E-F9A4-CD02-2EC9-97FCEFC00D9B}"/>
              </a:ext>
            </a:extLst>
          </p:cNvPr>
          <p:cNvGrpSpPr/>
          <p:nvPr/>
        </p:nvGrpSpPr>
        <p:grpSpPr>
          <a:xfrm>
            <a:off x="4839062" y="3278221"/>
            <a:ext cx="2351316" cy="1015663"/>
            <a:chOff x="2230015" y="2491421"/>
            <a:chExt cx="2351316" cy="1015663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125F96D-E2B5-E32F-5C9C-8492F8734361}"/>
                </a:ext>
              </a:extLst>
            </p:cNvPr>
            <p:cNvSpPr txBox="1"/>
            <p:nvPr/>
          </p:nvSpPr>
          <p:spPr>
            <a:xfrm>
              <a:off x="2836505" y="2737643"/>
              <a:ext cx="17448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理论分析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9BF83F0-7E9C-7B3D-9ADE-519DA93DE74F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gradFill>
                    <a:gsLst>
                      <a:gs pos="49000">
                        <a:srgbClr val="2AA7DC"/>
                      </a:gs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000" b="1" dirty="0">
                <a:gradFill>
                  <a:gsLst>
                    <a:gs pos="49000">
                      <a:srgbClr val="2AA7DC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F3D0DFA-406E-5962-6952-369A3F653453}"/>
              </a:ext>
            </a:extLst>
          </p:cNvPr>
          <p:cNvGrpSpPr/>
          <p:nvPr/>
        </p:nvGrpSpPr>
        <p:grpSpPr>
          <a:xfrm>
            <a:off x="4839062" y="4047686"/>
            <a:ext cx="2351316" cy="1015663"/>
            <a:chOff x="2230015" y="2491421"/>
            <a:chExt cx="2351316" cy="101566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BF7DEF2-2E48-C099-0812-B4C78F90185F}"/>
                </a:ext>
              </a:extLst>
            </p:cNvPr>
            <p:cNvSpPr txBox="1"/>
            <p:nvPr/>
          </p:nvSpPr>
          <p:spPr>
            <a:xfrm>
              <a:off x="2836505" y="2737643"/>
              <a:ext cx="17448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正式实验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44BB913-6661-6450-5EE5-7DD83C965E3E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gradFill>
                    <a:gsLst>
                      <a:gs pos="49000">
                        <a:srgbClr val="2AA7DC"/>
                      </a:gs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000" b="1" dirty="0">
                <a:gradFill>
                  <a:gsLst>
                    <a:gs pos="49000">
                      <a:srgbClr val="2AA7DC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D92F6C4-0D41-8C6A-E96F-BE5D8B165415}"/>
              </a:ext>
            </a:extLst>
          </p:cNvPr>
          <p:cNvGrpSpPr/>
          <p:nvPr/>
        </p:nvGrpSpPr>
        <p:grpSpPr>
          <a:xfrm>
            <a:off x="4839062" y="5586614"/>
            <a:ext cx="3066662" cy="1015663"/>
            <a:chOff x="2230015" y="2491421"/>
            <a:chExt cx="3066662" cy="1015663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10C42D0-4BE7-6672-982F-5361FF1B2413}"/>
                </a:ext>
              </a:extLst>
            </p:cNvPr>
            <p:cNvSpPr txBox="1"/>
            <p:nvPr/>
          </p:nvSpPr>
          <p:spPr>
            <a:xfrm>
              <a:off x="2836505" y="2737643"/>
              <a:ext cx="24601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总结与展望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8C11E81-C6A5-B79A-F4CB-1AB3F582B820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gradFill>
                    <a:gsLst>
                      <a:gs pos="49000">
                        <a:srgbClr val="2AA7DC"/>
                      </a:gs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6000" b="1" dirty="0">
                <a:gradFill>
                  <a:gsLst>
                    <a:gs pos="49000">
                      <a:srgbClr val="2AA7DC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0721308-B7E9-3302-4177-8758D3753208}"/>
              </a:ext>
            </a:extLst>
          </p:cNvPr>
          <p:cNvGrpSpPr/>
          <p:nvPr/>
        </p:nvGrpSpPr>
        <p:grpSpPr>
          <a:xfrm>
            <a:off x="4839062" y="4817151"/>
            <a:ext cx="3066662" cy="1015663"/>
            <a:chOff x="2230015" y="2491421"/>
            <a:chExt cx="3066662" cy="101566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7CE000A-ACFD-BDCF-983E-B495A6A24325}"/>
                </a:ext>
              </a:extLst>
            </p:cNvPr>
            <p:cNvSpPr txBox="1"/>
            <p:nvPr/>
          </p:nvSpPr>
          <p:spPr>
            <a:xfrm>
              <a:off x="2836505" y="2737643"/>
              <a:ext cx="24601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76CD246-BFBB-ED6B-7F08-DF2F5DE64522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gradFill>
                    <a:gsLst>
                      <a:gs pos="49000">
                        <a:srgbClr val="2AA7DC"/>
                      </a:gs>
                      <a:gs pos="0">
                        <a:schemeClr val="accent3"/>
                      </a:gs>
                      <a:gs pos="100000">
                        <a:schemeClr val="accent5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6000" b="1" dirty="0">
                <a:gradFill>
                  <a:gsLst>
                    <a:gs pos="49000">
                      <a:srgbClr val="2AA7DC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899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题目回顾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94979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44AA1-D684-8516-2AAA-72C191F0D9DC}"/>
              </a:ext>
            </a:extLst>
          </p:cNvPr>
          <p:cNvSpPr txBox="1"/>
          <p:nvPr/>
        </p:nvSpPr>
        <p:spPr>
          <a:xfrm>
            <a:off x="571841" y="1157915"/>
            <a:ext cx="552415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Place a ruler on the edge of a table, and throw a ball at its free </a:t>
            </a:r>
            <a:r>
              <a:rPr lang="en-US" altLang="zh-CN" sz="2000" b="0" i="0" dirty="0" err="1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end.The</a:t>
            </a:r>
            <a:r>
              <a:rPr lang="en-US" altLang="zh-CN" sz="2000" b="0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ruler will fall. However, if you </a:t>
            </a:r>
            <a:r>
              <a:rPr lang="en-US" altLang="zh-CN" sz="2000" b="1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cover a part of the ruler with a piece of paper</a:t>
            </a:r>
            <a:r>
              <a:rPr lang="en-US" altLang="zh-CN" sz="2000" b="0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and repeat the throw, then the ruler will </a:t>
            </a:r>
            <a:r>
              <a:rPr lang="en-US" altLang="zh-CN" sz="2000" b="1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remain on the table </a:t>
            </a:r>
            <a:r>
              <a:rPr lang="en-US" altLang="zh-CN" sz="2000" b="0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while the ball will bounce off it. Explain this phenomenon, and </a:t>
            </a:r>
            <a:r>
              <a:rPr lang="en-US" altLang="zh-CN" sz="2000" b="1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investigate the relevant parameters</a:t>
            </a:r>
            <a:r>
              <a:rPr lang="en-US" altLang="zh-CN" sz="2000" b="0" i="0" dirty="0">
                <a:solidFill>
                  <a:srgbClr val="64686D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r>
              <a:rPr lang="zh-CN" altLang="en-US" sz="24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一把尺子的一端放在桌子边缘，然后将一个球投向尺子的另一端，尺子将会落下。然而，如果你用一张纸盖住桌子上的尺子并重新投掷小球，那么尺子将保留在桌子上，而球会从尺子上弹开。解释这一现象，并研究相关参数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6096000" y="1157915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5711FB9-5CDE-F9B8-A5B4-D9EBA344C9C5}"/>
              </a:ext>
            </a:extLst>
          </p:cNvPr>
          <p:cNvGrpSpPr/>
          <p:nvPr/>
        </p:nvGrpSpPr>
        <p:grpSpPr>
          <a:xfrm>
            <a:off x="6096000" y="1784005"/>
            <a:ext cx="5524156" cy="719824"/>
            <a:chOff x="2230015" y="2491421"/>
            <a:chExt cx="2258349" cy="259317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2DE4C87-2896-C4A6-4D76-EC228A5565A0}"/>
                </a:ext>
              </a:extLst>
            </p:cNvPr>
            <p:cNvSpPr txBox="1"/>
            <p:nvPr/>
          </p:nvSpPr>
          <p:spPr>
            <a:xfrm>
              <a:off x="2520113" y="2534428"/>
              <a:ext cx="1968251" cy="2550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0" dirty="0">
                  <a:solidFill>
                    <a:srgbClr val="64686D"/>
                  </a:solidFill>
                  <a:effectLst/>
                  <a:highlight>
                    <a:srgbClr val="FF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cover a part of the ruler with a piece of paper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E991B8D-4979-6B61-61E5-82F692650C49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73F7241-6272-500D-641F-7DB42BBDF30E}"/>
              </a:ext>
            </a:extLst>
          </p:cNvPr>
          <p:cNvGrpSpPr/>
          <p:nvPr/>
        </p:nvGrpSpPr>
        <p:grpSpPr>
          <a:xfrm>
            <a:off x="6096000" y="2929955"/>
            <a:ext cx="3924748" cy="801998"/>
            <a:chOff x="2230015" y="2491421"/>
            <a:chExt cx="2129925" cy="80199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89826E6-8151-F0A7-5B07-DBB1A690C8AB}"/>
                </a:ext>
              </a:extLst>
            </p:cNvPr>
            <p:cNvSpPr txBox="1"/>
            <p:nvPr/>
          </p:nvSpPr>
          <p:spPr>
            <a:xfrm>
              <a:off x="2615114" y="2585533"/>
              <a:ext cx="1744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64686D"/>
                  </a:solidFill>
                  <a:highlight>
                    <a:srgbClr val="FF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remain on the table</a:t>
              </a:r>
            </a:p>
            <a:p>
              <a:endParaRPr lang="zh-CN" altLang="en-US" sz="2000" dirty="0">
                <a:solidFill>
                  <a:srgbClr val="64686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D558FF8-27BD-A4AD-E07F-1E6D43F1C437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CEAFDB8-E832-841B-91AD-4339726DE2D6}"/>
              </a:ext>
            </a:extLst>
          </p:cNvPr>
          <p:cNvGrpSpPr/>
          <p:nvPr/>
        </p:nvGrpSpPr>
        <p:grpSpPr>
          <a:xfrm>
            <a:off x="6095999" y="4051842"/>
            <a:ext cx="5464028" cy="1350667"/>
            <a:chOff x="2230015" y="2491421"/>
            <a:chExt cx="2595426" cy="70788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93438BE-A6D2-9541-0C93-38843CC84510}"/>
                </a:ext>
              </a:extLst>
            </p:cNvPr>
            <p:cNvSpPr txBox="1"/>
            <p:nvPr/>
          </p:nvSpPr>
          <p:spPr>
            <a:xfrm>
              <a:off x="2567082" y="2599143"/>
              <a:ext cx="2258359" cy="371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64686D"/>
                  </a:solidFill>
                  <a:highlight>
                    <a:srgbClr val="FF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investigate the relevant parameters</a:t>
              </a:r>
            </a:p>
            <a:p>
              <a:endParaRPr lang="zh-CN" altLang="en-US" sz="2000" dirty="0">
                <a:solidFill>
                  <a:srgbClr val="64686D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71B4079-7F4D-6C99-7D56-A2486B841AA1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CC0F83-3DDB-1F07-C220-D34833ED2080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C393A92-B2CD-A16D-34E0-99BA1B471ABA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C04917E-190B-BB8C-53D0-5EED0EFCDF87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3F7D2B-EFED-B592-0E38-678078417882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5F0A34-30E4-3368-3D14-5328845B6A9D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753BAB-F46E-BA71-BCA6-4C548B534AA9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81CA6B-C5D0-D8A2-BEBB-B32179AFACA3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37EA39-4403-B633-02B6-D0F6E163D4B1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D4D66F9-1F3D-7318-984A-ECDA49FD059A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306300A-36BF-0F4A-9977-FDB6BA7D1DF4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E319920-BFD2-C8B7-BB23-E[电话已脱敏]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4633A56-37E6-2606-5436-17C5BF1F85ED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02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预实验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A1E28-C96D-2F1B-E169-3D918F7FB0A9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602392-5202-35B0-648C-C063DD676DB6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2EE4FB-AB43-76FB-1E0F-E0A457F65D0F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AD0C082-084C-5019-20C0-61B98E58B0C6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2D129D-EA22-D0DC-7E4C-0B49363F6E74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8AF4E41-82AA-1FD1-D77F-E7AA605E4B57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935561-35BD-6449-E3FC-DF9A8D98BDDC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6148BD-6376-1682-D055-4DDED1B836C1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F51FFFC-4942-DB72-D897-0FB30FFFC1F1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25E196A-8863-EF8B-5701-B5DB6C813880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609EA2F-C6EE-DCD2-7115-736EB30E9BC8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049E19B-1A94-DC10-8106-CD43AD8B2E65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7A50A52-B625-0B0E-87FB-CAEEF384CFF8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A26044E-0C11-4902-8F49-03EC6E26F0CB}"/>
              </a:ext>
            </a:extLst>
          </p:cNvPr>
          <p:cNvSpPr txBox="1"/>
          <p:nvPr/>
        </p:nvSpPr>
        <p:spPr>
          <a:xfrm>
            <a:off x="1414687" y="1322614"/>
            <a:ext cx="487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实验一：复现实验现象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A63064-227C-C395-431B-26D77AFEB1BF}"/>
              </a:ext>
            </a:extLst>
          </p:cNvPr>
          <p:cNvSpPr txBox="1"/>
          <p:nvPr/>
        </p:nvSpPr>
        <p:spPr>
          <a:xfrm>
            <a:off x="1414686" y="5050971"/>
            <a:ext cx="59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实验一结论：实验现象可被复现，开始进一步研究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681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A1E28-C96D-2F1B-E169-3D918F7FB0A9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602392-5202-35B0-648C-C063DD676DB6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2EE4FB-AB43-76FB-1E0F-E0A457F65D0F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AD0C082-084C-5019-20C0-61B98E58B0C6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2D129D-EA22-D0DC-7E4C-0B49363F6E74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8AF4E41-82AA-1FD1-D77F-E7AA605E4B57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935561-35BD-6449-E3FC-DF9A8D98BDDC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6148BD-6376-1682-D055-4DDED1B836C1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F51FFFC-4942-DB72-D897-0FB30FFFC1F1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25E196A-8863-EF8B-5701-B5DB6C813880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609EA2F-C6EE-DCD2-7115-736EB30E9BC8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049E19B-1A94-DC10-8106-CD43AD8B2E65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7A50A52-B625-0B0E-87FB-CAEEF384CFF8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2E63D1E-0DC9-6E33-EA7F-665200BE3D01}"/>
              </a:ext>
            </a:extLst>
          </p:cNvPr>
          <p:cNvSpPr txBox="1"/>
          <p:nvPr/>
        </p:nvSpPr>
        <p:spPr>
          <a:xfrm>
            <a:off x="1414687" y="1322614"/>
            <a:ext cx="487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实验二：研究是否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0859E7-3B39-DC62-F4C0-51B1D93301C0}"/>
              </a:ext>
            </a:extLst>
          </p:cNvPr>
          <p:cNvSpPr txBox="1"/>
          <p:nvPr/>
        </p:nvSpPr>
        <p:spPr>
          <a:xfrm>
            <a:off x="1414686" y="5050971"/>
            <a:ext cx="595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实验二结论：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801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理论分析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9614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1D9C0E-15ED-90E8-F152-4C4EC6E30BB9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理论分析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8FE27B-4DE7-67F2-BE38-B343DDA5BF75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C933871-4767-842A-6E80-07EE55D6F8E1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4CFA0AC-5918-A097-F036-11F4A3F7B633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F90F25-C01C-F8E6-A223-1E63A5BBBC81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220C2E-D3D1-4F5D-2808-B1F01EBCEE52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5CEAC4-EEAF-9211-72AA-016A7A833FC5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11D095-7174-35DA-5CE0-FAA84E2DA52A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584A1C4-095B-7CE8-8C37-9B74D7AB48BC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DD1A36A-5A16-6113-065F-D05B0D60A17A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F319D8C-3659-B352-12BF-034D5679F781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7321015-8AA9-2B0F-6FAE-DB1649D53F99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33A5D76-E962-68DD-AFF5-84E69075BC28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88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正式实验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61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878D0B-AB97-EE49-5666-A3628BCD6B67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正式实验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6DCDD50-A318-E7BF-8F0A-661EA63C1AFE}"/>
                  </a:ext>
                </a:extLst>
              </p:cNvPr>
              <p:cNvSpPr txBox="1"/>
              <p:nvPr/>
            </p:nvSpPr>
            <p:spPr>
              <a:xfrm>
                <a:off x="8915968" y="1823720"/>
                <a:ext cx="1426912" cy="822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a:fld id="{825F15A7-03F4-43D7-82C5-3E23DA2F108C}" type="mathplaceholder">
                      <a:rPr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a:t>在此处键入公式。</a:t>
                    </a:fld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xxx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6DCDD50-A318-E7BF-8F0A-661EA63C1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968" y="1823720"/>
                <a:ext cx="1426912" cy="822469"/>
              </a:xfrm>
              <a:prstGeom prst="rect">
                <a:avLst/>
              </a:prstGeom>
              <a:blipFill>
                <a:blip r:embed="rId2"/>
                <a:stretch>
                  <a:fillRect l="-6838" r="-87607" b="-16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0769C3F9-C077-D70E-11A0-6390D0947762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6308C84-BDB4-9A99-84BE-DC7FEFF2A6B6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7F7DFAD-8D8A-2919-71B8-B891D1F7A8D2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76654B-5743-0848-3E9D-5F6C3116A8D6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FF5127-2229-2BDB-95FD-FA59A23608FD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43F5A3-358A-0313-8F95-6885368636FD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33C40B1-6057-1412-D247-129FE5D99FA5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5C2D75A-52E0-8771-B433-05A2508C042F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B52C9F1-6375-1C27-AC43-60588A88EC97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53A4C97-F176-247D-CF96-68A271D888F1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A2C32E7-BCD5-299F-1AA3-B38DB14BD7BB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D0C6796-ACD6-A705-6C5B-F0C5D0C1B072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830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误差分析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334679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C0577F-DEF9-C23C-7EED-B141AB96CDA0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5E3509-95AB-47E5-E311-0FFCC6A71D18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CBCF9F9-9CA2-824F-2A9F-5F03425BA964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F4C32A7-4790-0747-6964-67FD43FF51A4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1B108F-F790-1D2C-FE97-F02DF12AC502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DDA1CF3-2405-F0B3-85A3-54F4015A6F3E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2CDF92-7EEC-553E-FB29-E786B181091D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57A6DF3-E30A-20C3-8EEA-39F030CE37C7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8911227-2C31-23E2-7E9E-AE224C83E200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E863C61-F323-76E6-AEE6-EBB0EAB0AB65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08DA14A-ABEC-CE7F-4C57-AE01CE9DD39F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A5F07C6-112D-8D06-B4BF-6B2A921647FD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992BC7D-E230-0383-9704-601FDA9DE18E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57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总结展望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084379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583E49-1CB0-988B-2385-5B7F5F94DA7D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A66DA7-36C5-7481-EC39-0EDB4975757A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3C3DD57-0A8A-21D8-C63E-AC678C3AC7A7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CE119D1-EAAB-98D8-CD12-FCCD75243328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931D118-F723-9F95-5703-56375FD2AC2A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A7D2F5-941C-D829-D1E6-5D92BC50377A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661D20-D86D-6CC9-F3E0-E812A2F38CD1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334F1FD-8075-7CB1-8C2D-38688A3700D8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D992C7E-5FEE-F154-FB7C-812821AFE6FE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7B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022FCD1-A0A8-9633-DF3C-3ED16B337B72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C00F46-37A5-9104-7AEC-D7418CFF0F1F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7CF0249-8C0E-912F-4F83-2638970F23D0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8B9E0B0-EE94-4FF2-0EEC-CB405659AC65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294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095954-C38E-B73E-5EFE-8AD322408DC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思路回顾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2F657A-11B0-FB06-4CE7-3E021DD8137B}"/>
              </a:ext>
            </a:extLst>
          </p:cNvPr>
          <p:cNvSpPr/>
          <p:nvPr/>
        </p:nvSpPr>
        <p:spPr>
          <a:xfrm>
            <a:off x="0" y="6457891"/>
            <a:ext cx="12192000" cy="384334"/>
          </a:xfrm>
          <a:prstGeom prst="rect">
            <a:avLst/>
          </a:prstGeom>
          <a:noFill/>
          <a:ln w="19050">
            <a:solidFill>
              <a:srgbClr val="5E79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45A050-6DE8-F320-89FC-06B85A69A102}"/>
              </a:ext>
            </a:extLst>
          </p:cNvPr>
          <p:cNvCxnSpPr>
            <a:cxnSpLocks/>
          </p:cNvCxnSpPr>
          <p:nvPr/>
        </p:nvCxnSpPr>
        <p:spPr>
          <a:xfrm>
            <a:off x="2115636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8A0EAFB-1640-AFF8-80DE-081C220BDF07}"/>
              </a:ext>
            </a:extLst>
          </p:cNvPr>
          <p:cNvSpPr txBox="1"/>
          <p:nvPr/>
        </p:nvSpPr>
        <p:spPr>
          <a:xfrm>
            <a:off x="24152" y="6464017"/>
            <a:ext cx="21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C37B89-B147-F830-59C0-9255EC9A6172}"/>
              </a:ext>
            </a:extLst>
          </p:cNvPr>
          <p:cNvSpPr txBox="1"/>
          <p:nvPr/>
        </p:nvSpPr>
        <p:spPr>
          <a:xfrm>
            <a:off x="2050981" y="6457891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预实验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2513B3-6FDF-BABE-12E3-F1922E8C97AC}"/>
              </a:ext>
            </a:extLst>
          </p:cNvPr>
          <p:cNvSpPr txBox="1"/>
          <p:nvPr/>
        </p:nvSpPr>
        <p:spPr>
          <a:xfrm>
            <a:off x="4074157" y="6467325"/>
            <a:ext cx="20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理论分析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32387F-FB89-FBD8-33ED-CBF9CDD6BB77}"/>
              </a:ext>
            </a:extLst>
          </p:cNvPr>
          <p:cNvSpPr txBox="1"/>
          <p:nvPr/>
        </p:nvSpPr>
        <p:spPr>
          <a:xfrm>
            <a:off x="6218046" y="6472892"/>
            <a:ext cx="20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8FD479-9F7C-C820-C2DD-988CBA39EFE5}"/>
              </a:ext>
            </a:extLst>
          </p:cNvPr>
          <p:cNvSpPr txBox="1"/>
          <p:nvPr/>
        </p:nvSpPr>
        <p:spPr>
          <a:xfrm>
            <a:off x="8279935" y="6472892"/>
            <a:ext cx="199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误差分析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071FC6-FB2F-F58A-A9A6-7517AFD9B776}"/>
              </a:ext>
            </a:extLst>
          </p:cNvPr>
          <p:cNvSpPr txBox="1"/>
          <p:nvPr/>
        </p:nvSpPr>
        <p:spPr>
          <a:xfrm>
            <a:off x="10424260" y="6465392"/>
            <a:ext cx="181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2DB011D-2888-4EF5-0356-EF7E83B220EE}"/>
              </a:ext>
            </a:extLst>
          </p:cNvPr>
          <p:cNvCxnSpPr>
            <a:cxnSpLocks/>
          </p:cNvCxnSpPr>
          <p:nvPr/>
        </p:nvCxnSpPr>
        <p:spPr>
          <a:xfrm>
            <a:off x="3934790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C11593B-B285-E9C0-7C0C-B6741F87FCF2}"/>
              </a:ext>
            </a:extLst>
          </p:cNvPr>
          <p:cNvCxnSpPr>
            <a:cxnSpLocks/>
          </p:cNvCxnSpPr>
          <p:nvPr/>
        </p:nvCxnSpPr>
        <p:spPr>
          <a:xfrm>
            <a:off x="10264891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AF9349B-53D7-DA1A-2BF2-A9CB9F9010FA}"/>
              </a:ext>
            </a:extLst>
          </p:cNvPr>
          <p:cNvCxnSpPr>
            <a:cxnSpLocks/>
          </p:cNvCxnSpPr>
          <p:nvPr/>
        </p:nvCxnSpPr>
        <p:spPr>
          <a:xfrm>
            <a:off x="6198319" y="64946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87BD74C-63EB-FCF9-7369-B541F34FE96D}"/>
              </a:ext>
            </a:extLst>
          </p:cNvPr>
          <p:cNvCxnSpPr>
            <a:cxnSpLocks/>
          </p:cNvCxnSpPr>
          <p:nvPr/>
        </p:nvCxnSpPr>
        <p:spPr>
          <a:xfrm>
            <a:off x="8235463" y="6487128"/>
            <a:ext cx="0" cy="325860"/>
          </a:xfrm>
          <a:prstGeom prst="line">
            <a:avLst/>
          </a:prstGeom>
          <a:ln w="19050">
            <a:solidFill>
              <a:srgbClr val="0B7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231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谢谢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3019" y="3309407"/>
            <a:ext cx="3924300" cy="400110"/>
          </a:xfrm>
        </p:spPr>
        <p:txBody>
          <a:bodyPr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af-ZA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</TotalTime>
  <Words>426</Words>
  <Application>Microsoft Office PowerPoint</Application>
  <PresentationFormat>宽屏</PresentationFormat>
  <Paragraphs>113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等线 Light</vt:lpstr>
      <vt:lpstr>黑                     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161</cp:revision>
  <dcterms:created xsi:type="dcterms:W3CDTF">2019-09-17T00:55:24Z</dcterms:created>
  <dcterms:modified xsi:type="dcterms:W3CDTF">2024-05-31T16:29:01Z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