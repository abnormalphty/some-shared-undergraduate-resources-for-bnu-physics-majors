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339" r:id="rId2"/>
    <p:sldId id="347" r:id="rId3"/>
    <p:sldId id="337" r:id="rId4"/>
    <p:sldId id="1845" r:id="rId5"/>
    <p:sldId id="1856" r:id="rId6"/>
    <p:sldId id="1865" r:id="rId7"/>
    <p:sldId id="1866" r:id="rId8"/>
    <p:sldId id="1867" r:id="rId9"/>
    <p:sldId id="1901" r:id="rId10"/>
    <p:sldId id="1905" r:id="rId11"/>
    <p:sldId id="1870" r:id="rId12"/>
    <p:sldId id="1857" r:id="rId13"/>
    <p:sldId id="1900" r:id="rId14"/>
    <p:sldId id="1863" r:id="rId15"/>
    <p:sldId id="1871" r:id="rId16"/>
    <p:sldId id="1876" r:id="rId17"/>
    <p:sldId id="1880" r:id="rId18"/>
    <p:sldId id="1881" r:id="rId19"/>
    <p:sldId id="1886" r:id="rId20"/>
    <p:sldId id="1887" r:id="rId21"/>
    <p:sldId id="1888" r:id="rId22"/>
    <p:sldId id="1889" r:id="rId23"/>
    <p:sldId id="1891" r:id="rId24"/>
    <p:sldId id="1904" r:id="rId25"/>
    <p:sldId id="1858" r:id="rId26"/>
    <p:sldId id="1850" r:id="rId27"/>
    <p:sldId id="1884" r:id="rId28"/>
    <p:sldId id="1894" r:id="rId29"/>
    <p:sldId id="1895" r:id="rId30"/>
    <p:sldId id="1896" r:id="rId31"/>
    <p:sldId id="1897" r:id="rId32"/>
    <p:sldId id="1859" r:id="rId33"/>
    <p:sldId id="1854" r:id="rId34"/>
    <p:sldId id="1906" r:id="rId35"/>
    <p:sldId id="1898" r:id="rId36"/>
    <p:sldId id="1861" r:id="rId37"/>
    <p:sldId id="1860" r:id="rId38"/>
    <p:sldId id="1903" r:id="rId39"/>
    <p:sldId id="1902" r:id="rId40"/>
    <p:sldId id="1844" r:id="rId41"/>
    <p:sldId id="1872" r:id="rId42"/>
    <p:sldId id="1873" r:id="rId43"/>
    <p:sldId id="1874" r:id="rId44"/>
    <p:sldId id="1875" r:id="rId45"/>
    <p:sldId id="1877" r:id="rId46"/>
    <p:sldId id="1878" r:id="rId47"/>
    <p:sldId id="1879" r:id="rId48"/>
    <p:sldId id="1892" r:id="rId49"/>
    <p:sldId id="1893" r:id="rId50"/>
    <p:sldId id="1908" r:id="rId51"/>
    <p:sldId id="1907" r:id="rId52"/>
  </p:sldIdLst>
  <p:sldSz cx="12192000" cy="6858000"/>
  <p:notesSz cx="6858000" cy="9144000"/>
  <p:custDataLst>
    <p:tags r:id="rId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pos="7242" userDrawn="1">
          <p15:clr>
            <a:srgbClr val="A4A3A4"/>
          </p15:clr>
        </p15:guide>
        <p15:guide id="3" orient="horz" pos="663" userDrawn="1">
          <p15:clr>
            <a:srgbClr val="A4A3A4"/>
          </p15:clr>
        </p15:guide>
        <p15:guide id="4" orient="horz" pos="935" userDrawn="1">
          <p15:clr>
            <a:srgbClr val="A4A3A4"/>
          </p15:clr>
        </p15:guide>
        <p15:guide id="5" orient="horz" pos="3929" userDrawn="1">
          <p15:clr>
            <a:srgbClr val="A4A3A4"/>
          </p15:clr>
        </p15:guide>
        <p15:guide id="6" orient="horz" pos="390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848E60-C99A-A86A-B2A2-A697F9D59939}" name="梓阳 张" initials="梓张" userId="d28c54a110e4bf66"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蕴芊 林" initials="蕴林" lastIdx="22" clrIdx="0">
    <p:extLst>
      <p:ext uri="{19B8F6BF-5375-455C-9EA6-DF929625EA0E}">
        <p15:presenceInfo xmlns:p15="http://schemas.microsoft.com/office/powerpoint/2012/main" userId="4c291ff9c5a8431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7304F"/>
    <a:srgbClr val="CCFFFF"/>
    <a:srgbClr val="FFFFFF"/>
    <a:srgbClr val="4D85EB"/>
    <a:srgbClr val="229FDC"/>
    <a:srgbClr val="5B7BEB"/>
    <a:srgbClr val="5E79EB"/>
    <a:srgbClr val="7B6BF5"/>
    <a:srgbClr val="4CC4D7"/>
    <a:srgbClr val="0480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6" autoAdjust="0"/>
    <p:restoredTop sz="87217" autoAdjust="0"/>
  </p:normalViewPr>
  <p:slideViewPr>
    <p:cSldViewPr snapToGrid="0">
      <p:cViewPr varScale="1">
        <p:scale>
          <a:sx n="89" d="100"/>
          <a:sy n="89" d="100"/>
        </p:scale>
        <p:origin x="900" y="56"/>
      </p:cViewPr>
      <p:guideLst>
        <p:guide pos="415"/>
        <p:guide pos="7242"/>
        <p:guide orient="horz" pos="663"/>
        <p:guide orient="horz" pos="935"/>
        <p:guide orient="horz" pos="3929"/>
        <p:guide orient="horz" pos="3906"/>
      </p:guideLst>
    </p:cSldViewPr>
  </p:slideViewPr>
  <p:notesTextViewPr>
    <p:cViewPr>
      <p:scale>
        <a:sx n="3" d="2"/>
        <a:sy n="3" d="2"/>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648D04-835A-452C-992E-5A42CB908460}" type="datetimeFigureOut">
              <a:rPr lang="zh-CN" altLang="en-US" smtClean="0"/>
              <a:t>2024/8/21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45535B-18B8-41A7-B6F1-8B34A6C9EB4F}" type="slidenum">
              <a:rPr lang="zh-CN" altLang="en-US" smtClean="0"/>
              <a:t>‹#›</a:t>
            </a:fld>
            <a:endParaRPr lang="zh-CN" altLang="en-US"/>
          </a:p>
        </p:txBody>
      </p:sp>
    </p:spTree>
    <p:extLst>
      <p:ext uri="{BB962C8B-B14F-4D97-AF65-F5344CB8AC3E}">
        <p14:creationId xmlns:p14="http://schemas.microsoft.com/office/powerpoint/2010/main" val="382995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a:t>
            </a:fld>
            <a:endParaRPr lang="zh-CN" altLang="en-US"/>
          </a:p>
        </p:txBody>
      </p:sp>
    </p:spTree>
    <p:extLst>
      <p:ext uri="{BB962C8B-B14F-4D97-AF65-F5344CB8AC3E}">
        <p14:creationId xmlns:p14="http://schemas.microsoft.com/office/powerpoint/2010/main" val="2427001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13</a:t>
            </a:fld>
            <a:endParaRPr lang="zh-CN" altLang="en-US"/>
          </a:p>
        </p:txBody>
      </p:sp>
    </p:spTree>
    <p:extLst>
      <p:ext uri="{BB962C8B-B14F-4D97-AF65-F5344CB8AC3E}">
        <p14:creationId xmlns:p14="http://schemas.microsoft.com/office/powerpoint/2010/main" val="1466154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14</a:t>
            </a:fld>
            <a:endParaRPr lang="zh-CN" altLang="en-US"/>
          </a:p>
        </p:txBody>
      </p:sp>
    </p:spTree>
    <p:extLst>
      <p:ext uri="{BB962C8B-B14F-4D97-AF65-F5344CB8AC3E}">
        <p14:creationId xmlns:p14="http://schemas.microsoft.com/office/powerpoint/2010/main" val="1180356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15</a:t>
            </a:fld>
            <a:endParaRPr lang="zh-CN" altLang="en-US"/>
          </a:p>
        </p:txBody>
      </p:sp>
    </p:spTree>
    <p:extLst>
      <p:ext uri="{BB962C8B-B14F-4D97-AF65-F5344CB8AC3E}">
        <p14:creationId xmlns:p14="http://schemas.microsoft.com/office/powerpoint/2010/main" val="752721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16</a:t>
            </a:fld>
            <a:endParaRPr lang="zh-CN" altLang="en-US"/>
          </a:p>
        </p:txBody>
      </p:sp>
    </p:spTree>
    <p:extLst>
      <p:ext uri="{BB962C8B-B14F-4D97-AF65-F5344CB8AC3E}">
        <p14:creationId xmlns:p14="http://schemas.microsoft.com/office/powerpoint/2010/main" val="3743779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17</a:t>
            </a:fld>
            <a:endParaRPr lang="zh-CN" altLang="en-US"/>
          </a:p>
        </p:txBody>
      </p:sp>
    </p:spTree>
    <p:extLst>
      <p:ext uri="{BB962C8B-B14F-4D97-AF65-F5344CB8AC3E}">
        <p14:creationId xmlns:p14="http://schemas.microsoft.com/office/powerpoint/2010/main" val="4250244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18</a:t>
            </a:fld>
            <a:endParaRPr lang="zh-CN" altLang="en-US"/>
          </a:p>
        </p:txBody>
      </p:sp>
    </p:spTree>
    <p:extLst>
      <p:ext uri="{BB962C8B-B14F-4D97-AF65-F5344CB8AC3E}">
        <p14:creationId xmlns:p14="http://schemas.microsoft.com/office/powerpoint/2010/main" val="2477627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19</a:t>
            </a:fld>
            <a:endParaRPr lang="zh-CN" altLang="en-US"/>
          </a:p>
        </p:txBody>
      </p:sp>
    </p:spTree>
    <p:extLst>
      <p:ext uri="{BB962C8B-B14F-4D97-AF65-F5344CB8AC3E}">
        <p14:creationId xmlns:p14="http://schemas.microsoft.com/office/powerpoint/2010/main" val="3156615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20</a:t>
            </a:fld>
            <a:endParaRPr lang="zh-CN" altLang="en-US"/>
          </a:p>
        </p:txBody>
      </p:sp>
    </p:spTree>
    <p:extLst>
      <p:ext uri="{BB962C8B-B14F-4D97-AF65-F5344CB8AC3E}">
        <p14:creationId xmlns:p14="http://schemas.microsoft.com/office/powerpoint/2010/main" val="469784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21</a:t>
            </a:fld>
            <a:endParaRPr lang="zh-CN" altLang="en-US"/>
          </a:p>
        </p:txBody>
      </p:sp>
    </p:spTree>
    <p:extLst>
      <p:ext uri="{BB962C8B-B14F-4D97-AF65-F5344CB8AC3E}">
        <p14:creationId xmlns:p14="http://schemas.microsoft.com/office/powerpoint/2010/main" val="3061232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22</a:t>
            </a:fld>
            <a:endParaRPr lang="zh-CN" altLang="en-US"/>
          </a:p>
        </p:txBody>
      </p:sp>
    </p:spTree>
    <p:extLst>
      <p:ext uri="{BB962C8B-B14F-4D97-AF65-F5344CB8AC3E}">
        <p14:creationId xmlns:p14="http://schemas.microsoft.com/office/powerpoint/2010/main" val="40030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23</a:t>
            </a:fld>
            <a:endParaRPr lang="zh-CN" altLang="en-US"/>
          </a:p>
        </p:txBody>
      </p:sp>
    </p:spTree>
    <p:extLst>
      <p:ext uri="{BB962C8B-B14F-4D97-AF65-F5344CB8AC3E}">
        <p14:creationId xmlns:p14="http://schemas.microsoft.com/office/powerpoint/2010/main" val="1243914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24</a:t>
            </a:fld>
            <a:endParaRPr lang="zh-CN" altLang="en-US"/>
          </a:p>
        </p:txBody>
      </p:sp>
    </p:spTree>
    <p:extLst>
      <p:ext uri="{BB962C8B-B14F-4D97-AF65-F5344CB8AC3E}">
        <p14:creationId xmlns:p14="http://schemas.microsoft.com/office/powerpoint/2010/main" val="530757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30</a:t>
            </a:fld>
            <a:endParaRPr lang="zh-CN" altLang="en-US"/>
          </a:p>
        </p:txBody>
      </p:sp>
    </p:spTree>
    <p:extLst>
      <p:ext uri="{BB962C8B-B14F-4D97-AF65-F5344CB8AC3E}">
        <p14:creationId xmlns:p14="http://schemas.microsoft.com/office/powerpoint/2010/main" val="3338212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31</a:t>
            </a:fld>
            <a:endParaRPr lang="zh-CN" altLang="en-US"/>
          </a:p>
        </p:txBody>
      </p:sp>
    </p:spTree>
    <p:extLst>
      <p:ext uri="{BB962C8B-B14F-4D97-AF65-F5344CB8AC3E}">
        <p14:creationId xmlns:p14="http://schemas.microsoft.com/office/powerpoint/2010/main" val="3360255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42</a:t>
            </a:fld>
            <a:endParaRPr lang="zh-CN" altLang="en-US"/>
          </a:p>
        </p:txBody>
      </p:sp>
    </p:spTree>
    <p:extLst>
      <p:ext uri="{BB962C8B-B14F-4D97-AF65-F5344CB8AC3E}">
        <p14:creationId xmlns:p14="http://schemas.microsoft.com/office/powerpoint/2010/main" val="20900689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43</a:t>
            </a:fld>
            <a:endParaRPr lang="zh-CN" altLang="en-US"/>
          </a:p>
        </p:txBody>
      </p:sp>
    </p:spTree>
    <p:extLst>
      <p:ext uri="{BB962C8B-B14F-4D97-AF65-F5344CB8AC3E}">
        <p14:creationId xmlns:p14="http://schemas.microsoft.com/office/powerpoint/2010/main" val="3614328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44</a:t>
            </a:fld>
            <a:endParaRPr lang="zh-CN" altLang="en-US"/>
          </a:p>
        </p:txBody>
      </p:sp>
    </p:spTree>
    <p:extLst>
      <p:ext uri="{BB962C8B-B14F-4D97-AF65-F5344CB8AC3E}">
        <p14:creationId xmlns:p14="http://schemas.microsoft.com/office/powerpoint/2010/main" val="2999376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46</a:t>
            </a:fld>
            <a:endParaRPr lang="zh-CN" altLang="en-US"/>
          </a:p>
        </p:txBody>
      </p:sp>
    </p:spTree>
    <p:extLst>
      <p:ext uri="{BB962C8B-B14F-4D97-AF65-F5344CB8AC3E}">
        <p14:creationId xmlns:p14="http://schemas.microsoft.com/office/powerpoint/2010/main" val="893562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47</a:t>
            </a:fld>
            <a:endParaRPr lang="zh-CN" altLang="en-US"/>
          </a:p>
        </p:txBody>
      </p:sp>
    </p:spTree>
    <p:extLst>
      <p:ext uri="{BB962C8B-B14F-4D97-AF65-F5344CB8AC3E}">
        <p14:creationId xmlns:p14="http://schemas.microsoft.com/office/powerpoint/2010/main" val="3418860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49</a:t>
            </a:fld>
            <a:endParaRPr lang="zh-CN" altLang="en-US"/>
          </a:p>
        </p:txBody>
      </p:sp>
    </p:spTree>
    <p:extLst>
      <p:ext uri="{BB962C8B-B14F-4D97-AF65-F5344CB8AC3E}">
        <p14:creationId xmlns:p14="http://schemas.microsoft.com/office/powerpoint/2010/main" val="2048297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45535B-18B8-41A7-B6F1-8B34A6C9EB4F}" type="slidenum">
              <a:rPr lang="zh-CN" altLang="en-US" smtClean="0"/>
              <a:t>51</a:t>
            </a:fld>
            <a:endParaRPr lang="zh-CN" altLang="en-US"/>
          </a:p>
        </p:txBody>
      </p:sp>
    </p:spTree>
    <p:extLst>
      <p:ext uri="{BB962C8B-B14F-4D97-AF65-F5344CB8AC3E}">
        <p14:creationId xmlns:p14="http://schemas.microsoft.com/office/powerpoint/2010/main" val="270184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26C325E3-9A67-4205-8E7E-6EC9FEAC40F9}"/>
              </a:ext>
            </a:extLst>
          </p:cNvPr>
          <p:cNvSpPr/>
          <p:nvPr userDrawn="1"/>
        </p:nvSpPr>
        <p:spPr>
          <a:xfrm rot="1534757">
            <a:off x="-961648" y="-603802"/>
            <a:ext cx="5772470" cy="6535941"/>
          </a:xfrm>
          <a:prstGeom prst="roundRect">
            <a:avLst>
              <a:gd name="adj" fmla="val 8069"/>
            </a:avLst>
          </a:pr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圆角 5">
            <a:extLst>
              <a:ext uri="{FF2B5EF4-FFF2-40B4-BE49-F238E27FC236}">
                <a16:creationId xmlns:a16="http://schemas.microsoft.com/office/drawing/2014/main" id="{0C1A216E-368A-4FE7-B1D3-549CE5D3487C}"/>
              </a:ext>
            </a:extLst>
          </p:cNvPr>
          <p:cNvSpPr/>
          <p:nvPr userDrawn="1"/>
        </p:nvSpPr>
        <p:spPr>
          <a:xfrm rot="1534757">
            <a:off x="2508072" y="406960"/>
            <a:ext cx="10630047" cy="6535942"/>
          </a:xfrm>
          <a:prstGeom prst="roundRect">
            <a:avLst>
              <a:gd name="adj" fmla="val 8139"/>
            </a:avLst>
          </a:pr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矩形: 圆角 6">
            <a:extLst>
              <a:ext uri="{FF2B5EF4-FFF2-40B4-BE49-F238E27FC236}">
                <a16:creationId xmlns:a16="http://schemas.microsoft.com/office/drawing/2014/main" id="{D7E85841-083E-4151-9BD7-F6F7E770DEF2}"/>
              </a:ext>
            </a:extLst>
          </p:cNvPr>
          <p:cNvSpPr/>
          <p:nvPr userDrawn="1"/>
        </p:nvSpPr>
        <p:spPr>
          <a:xfrm rot="1534757">
            <a:off x="1618494" y="-2035876"/>
            <a:ext cx="11079226" cy="6878693"/>
          </a:xfrm>
          <a:prstGeom prst="roundRect">
            <a:avLst>
              <a:gd name="adj" fmla="val 5116"/>
            </a:avLst>
          </a:prstGeom>
          <a:gradFill flip="none" rotWithShape="1">
            <a:gsLst>
              <a:gs pos="0">
                <a:schemeClr val="accent3"/>
              </a:gs>
              <a:gs pos="53100">
                <a:srgbClr val="4988EB"/>
              </a:gs>
              <a:gs pos="100000">
                <a:srgbClr val="8160EB"/>
              </a:gs>
            </a:gsLst>
            <a:lin ang="8100000" scaled="1"/>
            <a:tileRect/>
          </a:gra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53AF6FBD-F21B-4092-993A-045253DDF332}"/>
              </a:ext>
            </a:extLst>
          </p:cNvPr>
          <p:cNvGrpSpPr/>
          <p:nvPr userDrawn="1"/>
        </p:nvGrpSpPr>
        <p:grpSpPr>
          <a:xfrm flipH="1" flipV="1">
            <a:off x="-3820047" y="2622701"/>
            <a:ext cx="6521450" cy="3311525"/>
            <a:chOff x="2946400" y="3860800"/>
            <a:chExt cx="6521450" cy="3311525"/>
          </a:xfrm>
        </p:grpSpPr>
        <p:cxnSp>
          <p:nvCxnSpPr>
            <p:cNvPr id="12" name="直接连接符 11">
              <a:extLst>
                <a:ext uri="{FF2B5EF4-FFF2-40B4-BE49-F238E27FC236}">
                  <a16:creationId xmlns:a16="http://schemas.microsoft.com/office/drawing/2014/main" id="{BDF0B779-9F5D-4CFD-BFCD-FE8C8C69E9E3}"/>
                </a:ext>
              </a:extLst>
            </p:cNvPr>
            <p:cNvCxnSpPr>
              <a:cxnSpLocks/>
            </p:cNvCxnSpPr>
            <p:nvPr/>
          </p:nvCxnSpPr>
          <p:spPr>
            <a:xfrm>
              <a:off x="3255169" y="4161763"/>
              <a:ext cx="6212681" cy="3010562"/>
            </a:xfrm>
            <a:prstGeom prst="line">
              <a:avLst/>
            </a:prstGeom>
            <a:ln>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D57793C9-302B-498D-BEE5-77DFA3605460}"/>
                </a:ext>
              </a:extLst>
            </p:cNvPr>
            <p:cNvSpPr/>
            <p:nvPr/>
          </p:nvSpPr>
          <p:spPr>
            <a:xfrm>
              <a:off x="2946400" y="3860800"/>
              <a:ext cx="508000" cy="508000"/>
            </a:xfrm>
            <a:prstGeom prst="ellipse">
              <a:avLst/>
            </a:prstGeom>
            <a:ln>
              <a:solidFill>
                <a:schemeClr val="tx2">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7AB9E21-C9FD-4745-BBF2-129CAC5F31F5}"/>
                </a:ext>
              </a:extLst>
            </p:cNvPr>
            <p:cNvSpPr/>
            <p:nvPr/>
          </p:nvSpPr>
          <p:spPr>
            <a:xfrm flipH="1">
              <a:off x="3109912" y="4024312"/>
              <a:ext cx="180976" cy="180976"/>
            </a:xfrm>
            <a:prstGeom prst="ellipse">
              <a:avLst/>
            </a:prstGeom>
            <a:solidFill>
              <a:srgbClr val="DADD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任意多边形: 形状 14">
            <a:extLst>
              <a:ext uri="{FF2B5EF4-FFF2-40B4-BE49-F238E27FC236}">
                <a16:creationId xmlns:a16="http://schemas.microsoft.com/office/drawing/2014/main" id="{E7CA67EC-B02E-4D8E-B6CD-68352198635D}"/>
              </a:ext>
            </a:extLst>
          </p:cNvPr>
          <p:cNvSpPr/>
          <p:nvPr userDrawn="1"/>
        </p:nvSpPr>
        <p:spPr>
          <a:xfrm rot="1534757">
            <a:off x="4582434" y="5782725"/>
            <a:ext cx="4874134" cy="470296"/>
          </a:xfrm>
          <a:custGeom>
            <a:avLst/>
            <a:gdLst>
              <a:gd name="connsiteX0" fmla="*/ 143618 w 4874134"/>
              <a:gd name="connsiteY0" fmla="*/ 18479 h 470296"/>
              <a:gd name="connsiteX1" fmla="*/ 235148 w 4874134"/>
              <a:gd name="connsiteY1" fmla="*/ 0 h 470296"/>
              <a:gd name="connsiteX2" fmla="*/ 4874134 w 4874134"/>
              <a:gd name="connsiteY2" fmla="*/ 0 h 470296"/>
              <a:gd name="connsiteX3" fmla="*/ 3891639 w 4874134"/>
              <a:gd name="connsiteY3" fmla="*/ 470296 h 470296"/>
              <a:gd name="connsiteX4" fmla="*/ 235148 w 4874134"/>
              <a:gd name="connsiteY4" fmla="*/ 470295 h 470296"/>
              <a:gd name="connsiteX5" fmla="*/ 0 w 4874134"/>
              <a:gd name="connsiteY5" fmla="*/ 235147 h 470296"/>
              <a:gd name="connsiteX6" fmla="*/ 0 w 4874134"/>
              <a:gd name="connsiteY6" fmla="*/ 235148 h 470296"/>
              <a:gd name="connsiteX7" fmla="*/ 143618 w 4874134"/>
              <a:gd name="connsiteY7" fmla="*/ 18479 h 47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4134" h="470296">
                <a:moveTo>
                  <a:pt x="143618" y="18479"/>
                </a:moveTo>
                <a:cubicBezTo>
                  <a:pt x="171751" y="6580"/>
                  <a:pt x="202681" y="0"/>
                  <a:pt x="235148" y="0"/>
                </a:cubicBezTo>
                <a:lnTo>
                  <a:pt x="4874134" y="0"/>
                </a:lnTo>
                <a:lnTo>
                  <a:pt x="3891639" y="470296"/>
                </a:lnTo>
                <a:lnTo>
                  <a:pt x="235148" y="470295"/>
                </a:lnTo>
                <a:cubicBezTo>
                  <a:pt x="105280" y="470295"/>
                  <a:pt x="0" y="365016"/>
                  <a:pt x="0" y="235147"/>
                </a:cubicBezTo>
                <a:lnTo>
                  <a:pt x="0" y="235148"/>
                </a:lnTo>
                <a:cubicBezTo>
                  <a:pt x="0" y="137747"/>
                  <a:pt x="59220" y="54176"/>
                  <a:pt x="143618" y="18479"/>
                </a:cubicBez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文本占位符 16">
            <a:extLst>
              <a:ext uri="{FF2B5EF4-FFF2-40B4-BE49-F238E27FC236}">
                <a16:creationId xmlns:a16="http://schemas.microsoft.com/office/drawing/2014/main" id="{F8A1321F-06E2-45E9-8879-4A56FE0ED745}"/>
              </a:ext>
            </a:extLst>
          </p:cNvPr>
          <p:cNvSpPr>
            <a:spLocks noGrp="1"/>
          </p:cNvSpPr>
          <p:nvPr>
            <p:ph type="body" sz="quarter" idx="10" hasCustomPrompt="1"/>
          </p:nvPr>
        </p:nvSpPr>
        <p:spPr>
          <a:xfrm>
            <a:off x="1731542" y="-178312"/>
            <a:ext cx="9043085" cy="1107996"/>
          </a:xfrm>
        </p:spPr>
        <p:txBody>
          <a:bodyPr wrap="square">
            <a:spAutoFit/>
          </a:bodyPr>
          <a:lstStyle>
            <a:lvl1pPr marL="0" marR="0" indent="0" algn="r" defTabSz="914400" rtl="0" eaLnBrk="1" fontAlgn="auto" latinLnBrk="0" hangingPunct="1">
              <a:lnSpc>
                <a:spcPct val="100000"/>
              </a:lnSpc>
              <a:spcBef>
                <a:spcPts val="0"/>
              </a:spcBef>
              <a:spcAft>
                <a:spcPts val="0"/>
              </a:spcAft>
              <a:buClrTx/>
              <a:buSzTx/>
              <a:buFontTx/>
              <a:buNone/>
              <a:tabLst/>
              <a:defRPr lang="zh-CN" altLang="en-US" sz="6600" b="1" kern="1200" noProof="0">
                <a:solidFill>
                  <a:schemeClr val="bg1"/>
                </a:solidFill>
                <a:latin typeface="微软雅黑" panose="020B0503020204020204" pitchFamily="34" charset="-122"/>
                <a:ea typeface="微软雅黑" panose="020B0503020204020204" pitchFamily="34" charset="-122"/>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时尚简约风格模板</a:t>
            </a:r>
          </a:p>
        </p:txBody>
      </p:sp>
      <p:sp>
        <p:nvSpPr>
          <p:cNvPr id="19" name="文本占位符 18">
            <a:extLst>
              <a:ext uri="{FF2B5EF4-FFF2-40B4-BE49-F238E27FC236}">
                <a16:creationId xmlns:a16="http://schemas.microsoft.com/office/drawing/2014/main" id="{71A3F5F6-480C-4154-BA21-EA8D79385729}"/>
              </a:ext>
            </a:extLst>
          </p:cNvPr>
          <p:cNvSpPr>
            <a:spLocks noGrp="1"/>
          </p:cNvSpPr>
          <p:nvPr>
            <p:ph type="body" sz="quarter" idx="11" hasCustomPrompt="1"/>
          </p:nvPr>
        </p:nvSpPr>
        <p:spPr>
          <a:xfrm>
            <a:off x="7004769" y="2552849"/>
            <a:ext cx="3924300" cy="369332"/>
          </a:xfrm>
        </p:spPr>
        <p:txBody>
          <a:bodyPr wrap="square">
            <a:spAutoFit/>
          </a:bodyPr>
          <a:lstStyle>
            <a:lvl1pPr marL="0" marR="0" indent="0" algn="r" defTabSz="914400" rtl="0" eaLnBrk="1" fontAlgn="auto" latinLnBrk="0" hangingPunct="1">
              <a:lnSpc>
                <a:spcPct val="100000"/>
              </a:lnSpc>
              <a:spcBef>
                <a:spcPts val="0"/>
              </a:spcBef>
              <a:spcAft>
                <a:spcPts val="0"/>
              </a:spcAft>
              <a:buClrTx/>
              <a:buSzTx/>
              <a:buFontTx/>
              <a:buNone/>
              <a:tabLst/>
              <a:defRPr lang="af-ZA" altLang="zh-CN" sz="1800" b="1" kern="1200" noProof="0">
                <a:solidFill>
                  <a:schemeClr val="bg1"/>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white"/>
                </a:solidFill>
                <a:effectLst/>
                <a:uLnTx/>
                <a:uFillTx/>
                <a:latin typeface="+mn-lt"/>
                <a:ea typeface="+mn-ea"/>
                <a:cs typeface="+mn-cs"/>
              </a:rPr>
              <a:t>汇报人：</a:t>
            </a:r>
            <a:r>
              <a:rPr kumimoji="0" lang="af-ZA" altLang="zh-CN" sz="1800" b="1" i="0" u="none" strike="noStrike" kern="1200" cap="none" spc="0" normalizeH="0" baseline="0" noProof="0">
                <a:ln>
                  <a:noFill/>
                </a:ln>
                <a:solidFill>
                  <a:prstClr val="white"/>
                </a:solidFill>
                <a:effectLst/>
                <a:uLnTx/>
                <a:uFillTx/>
                <a:latin typeface="+mn-lt"/>
                <a:ea typeface="+mn-ea"/>
                <a:cs typeface="+mn-cs"/>
              </a:rPr>
              <a:t>OfficePLUS</a:t>
            </a:r>
          </a:p>
        </p:txBody>
      </p:sp>
    </p:spTree>
    <p:extLst>
      <p:ext uri="{BB962C8B-B14F-4D97-AF65-F5344CB8AC3E}">
        <p14:creationId xmlns:p14="http://schemas.microsoft.com/office/powerpoint/2010/main" val="2974572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6" name="任意多边形: 形状 5">
            <a:extLst>
              <a:ext uri="{FF2B5EF4-FFF2-40B4-BE49-F238E27FC236}">
                <a16:creationId xmlns:a16="http://schemas.microsoft.com/office/drawing/2014/main" id="{7666967C-6376-4B37-A5D7-2280C3932BE5}"/>
              </a:ext>
            </a:extLst>
          </p:cNvPr>
          <p:cNvSpPr/>
          <p:nvPr userDrawn="1"/>
        </p:nvSpPr>
        <p:spPr>
          <a:xfrm rot="19317930">
            <a:off x="-206426" y="-1058701"/>
            <a:ext cx="3958486" cy="2533744"/>
          </a:xfrm>
          <a:custGeom>
            <a:avLst/>
            <a:gdLst>
              <a:gd name="connsiteX0" fmla="*/ 719464 w 3958486"/>
              <a:gd name="connsiteY0" fmla="*/ 0 h 2533744"/>
              <a:gd name="connsiteX1" fmla="*/ 3958486 w 3958486"/>
              <a:gd name="connsiteY1" fmla="*/ 2533744 h 2533744"/>
              <a:gd name="connsiteX2" fmla="*/ 469762 w 3958486"/>
              <a:gd name="connsiteY2" fmla="*/ 2533744 h 2533744"/>
              <a:gd name="connsiteX3" fmla="*/ 0 w 3958486"/>
              <a:gd name="connsiteY3" fmla="*/ 2063982 h 2533744"/>
              <a:gd name="connsiteX4" fmla="*/ 0 w 3958486"/>
              <a:gd name="connsiteY4" fmla="*/ 919730 h 2533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8486" h="2533744">
                <a:moveTo>
                  <a:pt x="719464" y="0"/>
                </a:moveTo>
                <a:lnTo>
                  <a:pt x="3958486" y="2533744"/>
                </a:lnTo>
                <a:lnTo>
                  <a:pt x="469762" y="2533744"/>
                </a:lnTo>
                <a:cubicBezTo>
                  <a:pt x="210320" y="2533744"/>
                  <a:pt x="0" y="2323424"/>
                  <a:pt x="0" y="2063982"/>
                </a:cubicBezTo>
                <a:lnTo>
                  <a:pt x="0" y="919730"/>
                </a:ln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矩形 6">
            <a:extLst>
              <a:ext uri="{FF2B5EF4-FFF2-40B4-BE49-F238E27FC236}">
                <a16:creationId xmlns:a16="http://schemas.microsoft.com/office/drawing/2014/main" id="{9FD73F90-0606-4908-ABFA-812052F2FA14}"/>
              </a:ext>
            </a:extLst>
          </p:cNvPr>
          <p:cNvSpPr/>
          <p:nvPr userDrawn="1"/>
        </p:nvSpPr>
        <p:spPr>
          <a:xfrm>
            <a:off x="824767" y="3463801"/>
            <a:ext cx="1638410" cy="338554"/>
          </a:xfrm>
          <a:prstGeom prst="rect">
            <a:avLst/>
          </a:prstGeom>
        </p:spPr>
        <p:txBody>
          <a:bodyPr wrap="square">
            <a:spAutoFit/>
          </a:bodyPr>
          <a:lstStyle/>
          <a:p>
            <a:pPr algn="ctr"/>
            <a:r>
              <a:rPr lang="en-US" altLang="zh-CN" sz="1600" b="1" spc="300" dirty="0">
                <a:solidFill>
                  <a:schemeClr val="tx2"/>
                </a:solidFill>
                <a:latin typeface="微软雅黑" panose="020B0503020204020204" pitchFamily="34" charset="-122"/>
                <a:ea typeface="微软雅黑" panose="020B0503020204020204" pitchFamily="34" charset="-122"/>
              </a:rPr>
              <a:t>CONTENTS</a:t>
            </a:r>
            <a:endParaRPr lang="zh-CN" altLang="en-US" sz="1600" b="1" spc="300" dirty="0">
              <a:solidFill>
                <a:schemeClr val="tx2"/>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209D598D-8C80-409F-AF3D-FE5050423840}"/>
              </a:ext>
            </a:extLst>
          </p:cNvPr>
          <p:cNvSpPr txBox="1"/>
          <p:nvPr userDrawn="1"/>
        </p:nvSpPr>
        <p:spPr>
          <a:xfrm>
            <a:off x="428794" y="2590771"/>
            <a:ext cx="2329673" cy="830997"/>
          </a:xfrm>
          <a:prstGeom prst="rect">
            <a:avLst/>
          </a:prstGeom>
          <a:noFill/>
        </p:spPr>
        <p:txBody>
          <a:bodyPr wrap="square" rtlCol="0">
            <a:spAutoFit/>
          </a:bodyPr>
          <a:lstStyle/>
          <a:p>
            <a:pPr algn="ctr"/>
            <a:r>
              <a:rPr lang="zh-CN" altLang="en-US" sz="4800" b="1" dirty="0">
                <a:solidFill>
                  <a:schemeClr val="tx2"/>
                </a:solidFill>
                <a:latin typeface="微软雅黑" panose="020B0503020204020204" pitchFamily="34" charset="-122"/>
                <a:ea typeface="微软雅黑" panose="020B0503020204020204" pitchFamily="34" charset="-122"/>
              </a:rPr>
              <a:t>目录</a:t>
            </a:r>
            <a:endParaRPr lang="en-US" altLang="zh-CN" sz="4800" b="1" dirty="0">
              <a:solidFill>
                <a:schemeClr val="tx2"/>
              </a:solidFill>
              <a:latin typeface="微软雅黑" panose="020B0503020204020204" pitchFamily="34" charset="-122"/>
              <a:ea typeface="微软雅黑" panose="020B0503020204020204" pitchFamily="34" charset="-122"/>
            </a:endParaRPr>
          </a:p>
        </p:txBody>
      </p:sp>
      <p:cxnSp>
        <p:nvCxnSpPr>
          <p:cNvPr id="9" name="直接连接符 8">
            <a:extLst>
              <a:ext uri="{FF2B5EF4-FFF2-40B4-BE49-F238E27FC236}">
                <a16:creationId xmlns:a16="http://schemas.microsoft.com/office/drawing/2014/main" id="{F2AD5E4E-D8C0-457C-9C6B-323CFA025CBF}"/>
              </a:ext>
            </a:extLst>
          </p:cNvPr>
          <p:cNvCxnSpPr/>
          <p:nvPr userDrawn="1"/>
        </p:nvCxnSpPr>
        <p:spPr>
          <a:xfrm>
            <a:off x="981800" y="3404438"/>
            <a:ext cx="1313398" cy="0"/>
          </a:xfrm>
          <a:prstGeom prst="line">
            <a:avLst/>
          </a:prstGeom>
          <a:ln w="6350" cap="rnd">
            <a:round/>
          </a:ln>
        </p:spPr>
        <p:style>
          <a:lnRef idx="1">
            <a:schemeClr val="accent1"/>
          </a:lnRef>
          <a:fillRef idx="0">
            <a:schemeClr val="accent1"/>
          </a:fillRef>
          <a:effectRef idx="0">
            <a:schemeClr val="accent1"/>
          </a:effectRef>
          <a:fontRef idx="minor">
            <a:schemeClr val="tx1"/>
          </a:fontRef>
        </p:style>
      </p:cxnSp>
      <p:sp>
        <p:nvSpPr>
          <p:cNvPr id="24" name="任意多边形: 形状 23">
            <a:extLst>
              <a:ext uri="{FF2B5EF4-FFF2-40B4-BE49-F238E27FC236}">
                <a16:creationId xmlns:a16="http://schemas.microsoft.com/office/drawing/2014/main" id="{943A73ED-F065-4B72-83EB-6682D5FE636B}"/>
              </a:ext>
            </a:extLst>
          </p:cNvPr>
          <p:cNvSpPr/>
          <p:nvPr userDrawn="1"/>
        </p:nvSpPr>
        <p:spPr>
          <a:xfrm rot="19317930">
            <a:off x="-875421" y="5109"/>
            <a:ext cx="2397897" cy="2015181"/>
          </a:xfrm>
          <a:custGeom>
            <a:avLst/>
            <a:gdLst>
              <a:gd name="connsiteX0" fmla="*/ 1576387 w 2397897"/>
              <a:gd name="connsiteY0" fmla="*/ 0 h 2015181"/>
              <a:gd name="connsiteX1" fmla="*/ 2397897 w 2397897"/>
              <a:gd name="connsiteY1" fmla="*/ 642631 h 2015181"/>
              <a:gd name="connsiteX2" fmla="*/ 2397897 w 2397897"/>
              <a:gd name="connsiteY2" fmla="*/ 1545419 h 2015181"/>
              <a:gd name="connsiteX3" fmla="*/ 1928135 w 2397897"/>
              <a:gd name="connsiteY3" fmla="*/ 2015181 h 2015181"/>
              <a:gd name="connsiteX4" fmla="*/ 0 w 2397897"/>
              <a:gd name="connsiteY4" fmla="*/ 2015181 h 2015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897" h="2015181">
                <a:moveTo>
                  <a:pt x="1576387" y="0"/>
                </a:moveTo>
                <a:lnTo>
                  <a:pt x="2397897" y="642631"/>
                </a:lnTo>
                <a:lnTo>
                  <a:pt x="2397897" y="1545419"/>
                </a:lnTo>
                <a:cubicBezTo>
                  <a:pt x="2397897" y="1804861"/>
                  <a:pt x="2187577" y="2015181"/>
                  <a:pt x="1928135" y="2015181"/>
                </a:cubicBezTo>
                <a:lnTo>
                  <a:pt x="0" y="2015181"/>
                </a:ln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5" name="任意多边形: 形状 24">
            <a:extLst>
              <a:ext uri="{FF2B5EF4-FFF2-40B4-BE49-F238E27FC236}">
                <a16:creationId xmlns:a16="http://schemas.microsoft.com/office/drawing/2014/main" id="{EA2759D9-2366-4283-81E0-16D2EC420698}"/>
              </a:ext>
            </a:extLst>
          </p:cNvPr>
          <p:cNvSpPr/>
          <p:nvPr userDrawn="1"/>
        </p:nvSpPr>
        <p:spPr>
          <a:xfrm rot="19333288">
            <a:off x="-383456" y="-476607"/>
            <a:ext cx="2422640" cy="1346307"/>
          </a:xfrm>
          <a:custGeom>
            <a:avLst/>
            <a:gdLst>
              <a:gd name="connsiteX0" fmla="*/ 685649 w 2422640"/>
              <a:gd name="connsiteY0" fmla="*/ 0 h 1346307"/>
              <a:gd name="connsiteX1" fmla="*/ 2422640 w 2422640"/>
              <a:gd name="connsiteY1" fmla="*/ 1346307 h 1346307"/>
              <a:gd name="connsiteX2" fmla="*/ 521221 w 2422640"/>
              <a:gd name="connsiteY2" fmla="*/ 1346307 h 1346307"/>
              <a:gd name="connsiteX3" fmla="*/ 4051 w 2422640"/>
              <a:gd name="connsiteY3" fmla="*/ 924801 h 1346307"/>
              <a:gd name="connsiteX4" fmla="*/ 0 w 2422640"/>
              <a:gd name="connsiteY4" fmla="*/ 884617 h 1346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2640" h="1346307">
                <a:moveTo>
                  <a:pt x="685649" y="0"/>
                </a:moveTo>
                <a:lnTo>
                  <a:pt x="2422640" y="1346307"/>
                </a:lnTo>
                <a:lnTo>
                  <a:pt x="521221" y="1346307"/>
                </a:lnTo>
                <a:cubicBezTo>
                  <a:pt x="266116" y="1346307"/>
                  <a:pt x="53275" y="1165354"/>
                  <a:pt x="4051" y="924801"/>
                </a:cubicBezTo>
                <a:lnTo>
                  <a:pt x="0" y="884617"/>
                </a:lnTo>
                <a:close/>
              </a:path>
            </a:pathLst>
          </a:custGeom>
          <a:gradFill flip="none" rotWithShape="1">
            <a:gsLst>
              <a:gs pos="0">
                <a:schemeClr val="accent3"/>
              </a:gs>
              <a:gs pos="53100">
                <a:srgbClr val="4988EB"/>
              </a:gs>
              <a:gs pos="100000">
                <a:srgbClr val="8160EB"/>
              </a:gs>
            </a:gsLst>
            <a:lin ang="8100000" scaled="1"/>
            <a:tileRect/>
          </a:gra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6" name="任意多边形: 形状 25">
            <a:extLst>
              <a:ext uri="{FF2B5EF4-FFF2-40B4-BE49-F238E27FC236}">
                <a16:creationId xmlns:a16="http://schemas.microsoft.com/office/drawing/2014/main" id="{2E2C6827-43A0-4007-80CB-7C4D4CAF3391}"/>
              </a:ext>
            </a:extLst>
          </p:cNvPr>
          <p:cNvSpPr/>
          <p:nvPr userDrawn="1"/>
        </p:nvSpPr>
        <p:spPr>
          <a:xfrm rot="19317930">
            <a:off x="10383262" y="4827181"/>
            <a:ext cx="2760000" cy="2098615"/>
          </a:xfrm>
          <a:custGeom>
            <a:avLst/>
            <a:gdLst>
              <a:gd name="connsiteX0" fmla="*/ 2760000 w 2760000"/>
              <a:gd name="connsiteY0" fmla="*/ 0 h 2098615"/>
              <a:gd name="connsiteX1" fmla="*/ 1118347 w 2760000"/>
              <a:gd name="connsiteY1" fmla="*/ 2098615 h 2098615"/>
              <a:gd name="connsiteX2" fmla="*/ 0 w 2760000"/>
              <a:gd name="connsiteY2" fmla="*/ 1223782 h 2098615"/>
              <a:gd name="connsiteX3" fmla="*/ 0 w 2760000"/>
              <a:gd name="connsiteY3" fmla="*/ 469762 h 2098615"/>
              <a:gd name="connsiteX4" fmla="*/ 469762 w 2760000"/>
              <a:gd name="connsiteY4" fmla="*/ 0 h 20986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00" h="2098615">
                <a:moveTo>
                  <a:pt x="2760000" y="0"/>
                </a:moveTo>
                <a:lnTo>
                  <a:pt x="1118347" y="2098615"/>
                </a:lnTo>
                <a:lnTo>
                  <a:pt x="0" y="1223782"/>
                </a:lnTo>
                <a:lnTo>
                  <a:pt x="0" y="469762"/>
                </a:lnTo>
                <a:cubicBezTo>
                  <a:pt x="0" y="210320"/>
                  <a:pt x="210320" y="0"/>
                  <a:pt x="469762" y="0"/>
                </a:cubicBez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7" name="任意多边形: 形状 26">
            <a:extLst>
              <a:ext uri="{FF2B5EF4-FFF2-40B4-BE49-F238E27FC236}">
                <a16:creationId xmlns:a16="http://schemas.microsoft.com/office/drawing/2014/main" id="{CEBDAC50-192B-4545-A03D-2EC4BBF65006}"/>
              </a:ext>
            </a:extLst>
          </p:cNvPr>
          <p:cNvSpPr/>
          <p:nvPr userDrawn="1"/>
        </p:nvSpPr>
        <p:spPr>
          <a:xfrm rot="19317930">
            <a:off x="10232169" y="6103326"/>
            <a:ext cx="2008903" cy="1337096"/>
          </a:xfrm>
          <a:custGeom>
            <a:avLst/>
            <a:gdLst>
              <a:gd name="connsiteX0" fmla="*/ 1801789 w 2008903"/>
              <a:gd name="connsiteY0" fmla="*/ 80229 h 1337096"/>
              <a:gd name="connsiteX1" fmla="*/ 2008903 w 2008903"/>
              <a:gd name="connsiteY1" fmla="*/ 469762 h 1337096"/>
              <a:gd name="connsiteX2" fmla="*/ 2008903 w 2008903"/>
              <a:gd name="connsiteY2" fmla="*/ 954073 h 1337096"/>
              <a:gd name="connsiteX3" fmla="*/ 1709282 w 2008903"/>
              <a:gd name="connsiteY3" fmla="*/ 1337096 h 1337096"/>
              <a:gd name="connsiteX4" fmla="*/ 0 w 2008903"/>
              <a:gd name="connsiteY4" fmla="*/ 0 h 1337096"/>
              <a:gd name="connsiteX5" fmla="*/ 1539141 w 2008903"/>
              <a:gd name="connsiteY5" fmla="*/ 0 h 1337096"/>
              <a:gd name="connsiteX6" fmla="*/ 1801789 w 2008903"/>
              <a:gd name="connsiteY6" fmla="*/ 80229 h 133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903" h="1337096">
                <a:moveTo>
                  <a:pt x="1801789" y="80229"/>
                </a:moveTo>
                <a:cubicBezTo>
                  <a:pt x="1926746" y="164648"/>
                  <a:pt x="2008904" y="307611"/>
                  <a:pt x="2008903" y="469762"/>
                </a:cubicBezTo>
                <a:lnTo>
                  <a:pt x="2008903" y="954073"/>
                </a:lnTo>
                <a:lnTo>
                  <a:pt x="1709282" y="1337096"/>
                </a:lnTo>
                <a:lnTo>
                  <a:pt x="0" y="0"/>
                </a:lnTo>
                <a:lnTo>
                  <a:pt x="1539141" y="0"/>
                </a:lnTo>
                <a:cubicBezTo>
                  <a:pt x="1636432" y="0"/>
                  <a:pt x="1726814" y="29576"/>
                  <a:pt x="1801789" y="80229"/>
                </a:cubicBez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8" name="任意多边形: 形状 27">
            <a:extLst>
              <a:ext uri="{FF2B5EF4-FFF2-40B4-BE49-F238E27FC236}">
                <a16:creationId xmlns:a16="http://schemas.microsoft.com/office/drawing/2014/main" id="{63D76CC3-C00A-46A9-9277-1C54FE59FACF}"/>
              </a:ext>
            </a:extLst>
          </p:cNvPr>
          <p:cNvSpPr/>
          <p:nvPr userDrawn="1"/>
        </p:nvSpPr>
        <p:spPr>
          <a:xfrm rot="19333288">
            <a:off x="11349172" y="6046887"/>
            <a:ext cx="1254668" cy="877072"/>
          </a:xfrm>
          <a:custGeom>
            <a:avLst/>
            <a:gdLst>
              <a:gd name="connsiteX0" fmla="*/ 1254668 w 1254668"/>
              <a:gd name="connsiteY0" fmla="*/ 0 h 877072"/>
              <a:gd name="connsiteX1" fmla="*/ 574866 w 1254668"/>
              <a:gd name="connsiteY1" fmla="*/ 877072 h 877072"/>
              <a:gd name="connsiteX2" fmla="*/ 0 w 1254668"/>
              <a:gd name="connsiteY2" fmla="*/ 431506 h 877072"/>
              <a:gd name="connsiteX3" fmla="*/ 1008 w 1254668"/>
              <a:gd name="connsiteY3" fmla="*/ 421506 h 877072"/>
              <a:gd name="connsiteX4" fmla="*/ 518178 w 1254668"/>
              <a:gd name="connsiteY4" fmla="*/ 0 h 87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668" h="877072">
                <a:moveTo>
                  <a:pt x="1254668" y="0"/>
                </a:moveTo>
                <a:lnTo>
                  <a:pt x="574866" y="877072"/>
                </a:lnTo>
                <a:lnTo>
                  <a:pt x="0" y="431506"/>
                </a:lnTo>
                <a:lnTo>
                  <a:pt x="1008" y="421506"/>
                </a:lnTo>
                <a:cubicBezTo>
                  <a:pt x="50232" y="180953"/>
                  <a:pt x="263073" y="0"/>
                  <a:pt x="518178" y="0"/>
                </a:cubicBezTo>
                <a:close/>
              </a:path>
            </a:pathLst>
          </a:custGeom>
          <a:gradFill flip="none" rotWithShape="1">
            <a:gsLst>
              <a:gs pos="0">
                <a:schemeClr val="accent3"/>
              </a:gs>
              <a:gs pos="53100">
                <a:srgbClr val="4988EB"/>
              </a:gs>
              <a:gs pos="100000">
                <a:srgbClr val="8160EB"/>
              </a:gs>
            </a:gsLst>
            <a:lin ang="8100000" scaled="1"/>
            <a:tileRect/>
          </a:gra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extLst>
      <p:ext uri="{BB962C8B-B14F-4D97-AF65-F5344CB8AC3E}">
        <p14:creationId xmlns:p14="http://schemas.microsoft.com/office/powerpoint/2010/main" val="857618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页">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6C6D9F24-3291-4052-94DE-B222333D819F}"/>
              </a:ext>
            </a:extLst>
          </p:cNvPr>
          <p:cNvSpPr/>
          <p:nvPr userDrawn="1"/>
        </p:nvSpPr>
        <p:spPr>
          <a:xfrm rot="1461033">
            <a:off x="3755140" y="-356669"/>
            <a:ext cx="8532557" cy="7142210"/>
          </a:xfrm>
          <a:prstGeom prst="rect">
            <a:avLst/>
          </a:pr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圆角 5">
            <a:extLst>
              <a:ext uri="{FF2B5EF4-FFF2-40B4-BE49-F238E27FC236}">
                <a16:creationId xmlns:a16="http://schemas.microsoft.com/office/drawing/2014/main" id="{4AC81769-B89F-4E89-861C-F83015CD9903}"/>
              </a:ext>
            </a:extLst>
          </p:cNvPr>
          <p:cNvSpPr/>
          <p:nvPr userDrawn="1"/>
        </p:nvSpPr>
        <p:spPr>
          <a:xfrm rot="1461033">
            <a:off x="3562706" y="-1820090"/>
            <a:ext cx="11744819" cy="9312052"/>
          </a:xfrm>
          <a:prstGeom prst="roundRect">
            <a:avLst>
              <a:gd name="adj" fmla="val 1913"/>
            </a:avLst>
          </a:pr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矩形: 圆角 8">
            <a:extLst>
              <a:ext uri="{FF2B5EF4-FFF2-40B4-BE49-F238E27FC236}">
                <a16:creationId xmlns:a16="http://schemas.microsoft.com/office/drawing/2014/main" id="{7D1FB5B0-3B9E-4611-A71F-3300E7CCFBA9}"/>
              </a:ext>
            </a:extLst>
          </p:cNvPr>
          <p:cNvSpPr/>
          <p:nvPr userDrawn="1"/>
        </p:nvSpPr>
        <p:spPr>
          <a:xfrm rot="1461033">
            <a:off x="8771527" y="-353675"/>
            <a:ext cx="5695918" cy="4867429"/>
          </a:xfrm>
          <a:prstGeom prst="roundRect">
            <a:avLst>
              <a:gd name="adj" fmla="val 3890"/>
            </a:avLst>
          </a:prstGeom>
          <a:gradFill flip="none" rotWithShape="1">
            <a:gsLst>
              <a:gs pos="0">
                <a:schemeClr val="accent3"/>
              </a:gs>
              <a:gs pos="53100">
                <a:srgbClr val="4988EB"/>
              </a:gs>
              <a:gs pos="100000">
                <a:srgbClr val="8160EB"/>
              </a:gs>
            </a:gsLst>
            <a:lin ang="8100000" scaled="1"/>
            <a:tileRect/>
          </a:gra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文本占位符 11">
            <a:extLst>
              <a:ext uri="{FF2B5EF4-FFF2-40B4-BE49-F238E27FC236}">
                <a16:creationId xmlns:a16="http://schemas.microsoft.com/office/drawing/2014/main" id="{9182188C-C240-44CD-AC8B-4343170F88DA}"/>
              </a:ext>
            </a:extLst>
          </p:cNvPr>
          <p:cNvSpPr>
            <a:spLocks noGrp="1"/>
          </p:cNvSpPr>
          <p:nvPr>
            <p:ph type="body" sz="quarter" idx="10" hasCustomPrompt="1"/>
          </p:nvPr>
        </p:nvSpPr>
        <p:spPr>
          <a:xfrm>
            <a:off x="3895725" y="1220398"/>
            <a:ext cx="3905250" cy="2646878"/>
          </a:xfrm>
        </p:spPr>
        <p:txBody>
          <a:bodyPr wrap="square">
            <a:spAutoFit/>
          </a:bodyPr>
          <a:lstStyle>
            <a:lvl1pPr marL="0" marR="0" indent="0" algn="ctr" defTabSz="914400" rtl="0" eaLnBrk="1" fontAlgn="auto" latinLnBrk="0" hangingPunct="1">
              <a:lnSpc>
                <a:spcPct val="100000"/>
              </a:lnSpc>
              <a:spcBef>
                <a:spcPts val="0"/>
              </a:spcBef>
              <a:spcAft>
                <a:spcPts val="0"/>
              </a:spcAft>
              <a:buClrTx/>
              <a:buSzTx/>
              <a:buFontTx/>
              <a:buNone/>
              <a:tabLst/>
              <a:defRPr lang="zh-CN" altLang="en-US" sz="16600" b="1" i="0" kern="1200" noProof="0">
                <a:gradFill flip="none" rotWithShape="1">
                  <a:gsLst>
                    <a:gs pos="0">
                      <a:schemeClr val="accent3"/>
                    </a:gs>
                    <a:gs pos="100000">
                      <a:srgbClr val="8160EB"/>
                    </a:gs>
                    <a:gs pos="64000">
                      <a:schemeClr val="accent4"/>
                    </a:gs>
                  </a:gsLst>
                  <a:lin ang="5400000" scaled="1"/>
                  <a:tileRect/>
                </a:gra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600" b="1" i="0" u="none" strike="noStrike" kern="1200" cap="none" spc="0" normalizeH="0" baseline="0" noProof="0" dirty="0">
                <a:ln>
                  <a:noFill/>
                </a:ln>
                <a:gradFill flip="none" rotWithShape="1">
                  <a:gsLst>
                    <a:gs pos="0">
                      <a:srgbClr val="66DDD5"/>
                    </a:gs>
                    <a:gs pos="100000">
                      <a:srgbClr val="8160EB"/>
                    </a:gs>
                    <a:gs pos="64000">
                      <a:srgbClr val="0081E1"/>
                    </a:gs>
                  </a:gsLst>
                  <a:lin ang="5400000" scaled="1"/>
                  <a:tileRect/>
                </a:gradFill>
                <a:effectLst/>
                <a:uLnTx/>
                <a:uFillTx/>
                <a:latin typeface="微软雅黑" panose="020B0503020204020204" pitchFamily="34" charset="-122"/>
                <a:ea typeface="微软雅黑" panose="020B0503020204020204" pitchFamily="34" charset="-122"/>
                <a:cs typeface="+mn-cs"/>
              </a:rPr>
              <a:t>01</a:t>
            </a:r>
            <a:endParaRPr kumimoji="0" lang="zh-CN" altLang="en-US" sz="16600" b="1" i="1" u="none" strike="noStrike" kern="1200" cap="none" spc="0" normalizeH="0" baseline="0" noProof="0" dirty="0">
              <a:ln>
                <a:noFill/>
              </a:ln>
              <a:gradFill flip="none" rotWithShape="1">
                <a:gsLst>
                  <a:gs pos="0">
                    <a:srgbClr val="66DDD5"/>
                  </a:gs>
                  <a:gs pos="100000">
                    <a:srgbClr val="8160EB"/>
                  </a:gs>
                  <a:gs pos="64000">
                    <a:srgbClr val="0081E1"/>
                  </a:gs>
                </a:gsLst>
                <a:lin ang="5400000" scaled="1"/>
                <a:tileRect/>
              </a:gradFill>
              <a:effectLst/>
              <a:uLnTx/>
              <a:uFillTx/>
              <a:latin typeface="微软雅黑" panose="020B0503020204020204" pitchFamily="34" charset="-122"/>
              <a:ea typeface="微软雅黑" panose="020B0503020204020204" pitchFamily="34" charset="-122"/>
              <a:cs typeface="+mn-cs"/>
            </a:endParaRPr>
          </a:p>
        </p:txBody>
      </p:sp>
      <p:sp>
        <p:nvSpPr>
          <p:cNvPr id="14" name="文本占位符 13">
            <a:extLst>
              <a:ext uri="{FF2B5EF4-FFF2-40B4-BE49-F238E27FC236}">
                <a16:creationId xmlns:a16="http://schemas.microsoft.com/office/drawing/2014/main" id="{BB746B37-BF8F-4C5B-9A06-C9F4C1183009}"/>
              </a:ext>
            </a:extLst>
          </p:cNvPr>
          <p:cNvSpPr>
            <a:spLocks noGrp="1"/>
          </p:cNvSpPr>
          <p:nvPr>
            <p:ph type="body" sz="quarter" idx="11" hasCustomPrompt="1"/>
          </p:nvPr>
        </p:nvSpPr>
        <p:spPr>
          <a:xfrm>
            <a:off x="2662237" y="3727855"/>
            <a:ext cx="6867526" cy="1107996"/>
          </a:xfrm>
        </p:spPr>
        <p:txBody>
          <a:bodyPr wrap="square">
            <a:spAutoFit/>
          </a:bodyPr>
          <a:lstStyle>
            <a:lvl1pPr marL="0" marR="0" indent="0" algn="ctr" defTabSz="914400" rtl="0" eaLnBrk="1" fontAlgn="auto" latinLnBrk="0" hangingPunct="1">
              <a:lnSpc>
                <a:spcPct val="100000"/>
              </a:lnSpc>
              <a:spcBef>
                <a:spcPts val="0"/>
              </a:spcBef>
              <a:spcAft>
                <a:spcPts val="0"/>
              </a:spcAft>
              <a:buClrTx/>
              <a:buSzTx/>
              <a:buFontTx/>
              <a:buNone/>
              <a:tabLst/>
              <a:defRPr lang="af-ZA" altLang="zh-CN" sz="6600" b="1" kern="1200" noProof="0">
                <a:solidFill>
                  <a:schemeClr val="tx2"/>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f-ZA" altLang="zh-CN" sz="6600" b="1" i="0" u="none" strike="noStrike" kern="1200" cap="none" spc="0" normalizeH="0" baseline="0" noProof="0">
                <a:ln>
                  <a:noFill/>
                </a:ln>
                <a:solidFill>
                  <a:srgbClr val="44546A"/>
                </a:solidFill>
                <a:effectLst/>
                <a:uLnTx/>
                <a:uFillTx/>
                <a:latin typeface="微软雅黑" panose="020B0503020204020204" pitchFamily="34" charset="-122"/>
                <a:ea typeface="微软雅黑" panose="020B0503020204020204" pitchFamily="34" charset="-122"/>
                <a:cs typeface="+mn-cs"/>
              </a:rPr>
              <a:t>TITLE HERE</a:t>
            </a:r>
          </a:p>
        </p:txBody>
      </p:sp>
    </p:spTree>
    <p:extLst>
      <p:ext uri="{BB962C8B-B14F-4D97-AF65-F5344CB8AC3E}">
        <p14:creationId xmlns:p14="http://schemas.microsoft.com/office/powerpoint/2010/main" val="32844695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3" name="图片 2">
            <a:hlinkClick r:id="" action="ppaction://noaction"/>
            <a:extLst>
              <a:ext uri="{FF2B5EF4-FFF2-40B4-BE49-F238E27FC236}">
                <a16:creationId xmlns:a16="http://schemas.microsoft.com/office/drawing/2014/main" id="{482E827E-84EC-6E36-FA77-8791F50907FF}"/>
              </a:ext>
            </a:extLst>
          </p:cNvPr>
          <p:cNvPicPr>
            <a:picLocks noChangeAspect="1"/>
          </p:cNvPicPr>
          <p:nvPr userDrawn="1"/>
        </p:nvPicPr>
        <p:blipFill rotWithShape="1">
          <a:blip r:embed="rId2"/>
          <a:srcRect l="604" t="2131"/>
          <a:stretch/>
        </p:blipFill>
        <p:spPr>
          <a:xfrm>
            <a:off x="-1" y="-1"/>
            <a:ext cx="1275483" cy="804442"/>
          </a:xfrm>
          <a:prstGeom prst="rect">
            <a:avLst/>
          </a:prstGeom>
        </p:spPr>
      </p:pic>
      <p:sp>
        <p:nvSpPr>
          <p:cNvPr id="11" name="灯片编号占位符 10">
            <a:extLst>
              <a:ext uri="{FF2B5EF4-FFF2-40B4-BE49-F238E27FC236}">
                <a16:creationId xmlns:a16="http://schemas.microsoft.com/office/drawing/2014/main" id="{BF6E37FC-FB6B-AF19-9001-539462C91038}"/>
              </a:ext>
            </a:extLst>
          </p:cNvPr>
          <p:cNvSpPr>
            <a:spLocks noGrp="1"/>
          </p:cNvSpPr>
          <p:nvPr>
            <p:ph type="sldNum" sz="quarter" idx="12"/>
          </p:nvPr>
        </p:nvSpPr>
        <p:spPr>
          <a:xfrm>
            <a:off x="9101226" y="6283338"/>
            <a:ext cx="2743200" cy="461665"/>
          </a:xfrm>
        </p:spPr>
        <p:txBody>
          <a:bodyPr/>
          <a:lstStyle>
            <a:lvl1pPr>
              <a:defRPr kumimoji="0" lang="zh-CN" altLang="en-US" sz="2400" b="1" i="0" u="none" strike="noStrike" kern="1200" cap="none" spc="0" normalizeH="0" baseline="0" smtClean="0">
                <a:ln>
                  <a:noFill/>
                </a:ln>
                <a:solidFill>
                  <a:schemeClr val="tx2"/>
                </a:solidFill>
                <a:effectLst/>
                <a:uLnTx/>
                <a:uFillTx/>
                <a:latin typeface="微软雅黑" panose="020B0503020204020204" pitchFamily="34" charset="-122"/>
                <a:ea typeface="微软雅黑" panose="020B0503020204020204" pitchFamily="34" charset="-122"/>
                <a:cs typeface="+mn-cs"/>
              </a:defRPr>
            </a:lvl1pPr>
          </a:lstStyle>
          <a:p>
            <a:fld id="{A86B3AB6-3DCE-4D14-AA80-0D566E9A0DB8}" type="slidenum">
              <a:rPr lang="en-US" altLang="zh-CN" smtClean="0"/>
              <a:pPr/>
              <a:t>‹#›</a:t>
            </a:fld>
            <a:endParaRPr lang="en-US" dirty="0"/>
          </a:p>
        </p:txBody>
      </p:sp>
      <p:pic>
        <p:nvPicPr>
          <p:cNvPr id="4" name="图片 3">
            <a:extLst>
              <a:ext uri="{FF2B5EF4-FFF2-40B4-BE49-F238E27FC236}">
                <a16:creationId xmlns:a16="http://schemas.microsoft.com/office/drawing/2014/main" id="{40647B0E-1A9D-27D0-0971-D7BECFCF8FA2}"/>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9400810" y="146608"/>
            <a:ext cx="2290030" cy="734033"/>
          </a:xfrm>
          <a:prstGeom prst="rect">
            <a:avLst/>
          </a:prstGeom>
        </p:spPr>
      </p:pic>
      <p:cxnSp>
        <p:nvCxnSpPr>
          <p:cNvPr id="6" name="直接连接符 5">
            <a:extLst>
              <a:ext uri="{FF2B5EF4-FFF2-40B4-BE49-F238E27FC236}">
                <a16:creationId xmlns:a16="http://schemas.microsoft.com/office/drawing/2014/main" id="{3577468E-4EF5-D8B2-9E43-C91B9E4182A8}"/>
              </a:ext>
            </a:extLst>
          </p:cNvPr>
          <p:cNvCxnSpPr/>
          <p:nvPr userDrawn="1"/>
        </p:nvCxnSpPr>
        <p:spPr>
          <a:xfrm>
            <a:off x="600807" y="973016"/>
            <a:ext cx="10990385" cy="0"/>
          </a:xfrm>
          <a:prstGeom prst="line">
            <a:avLst/>
          </a:prstGeom>
          <a:ln w="19050">
            <a:solidFill>
              <a:schemeClr val="tx2"/>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41676041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封面页">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26C325E3-9A67-4205-8E7E-6EC9FEAC40F9}"/>
              </a:ext>
            </a:extLst>
          </p:cNvPr>
          <p:cNvSpPr/>
          <p:nvPr userDrawn="1"/>
        </p:nvSpPr>
        <p:spPr>
          <a:xfrm rot="1534757">
            <a:off x="-961648" y="-603802"/>
            <a:ext cx="5772470" cy="6535941"/>
          </a:xfrm>
          <a:custGeom>
            <a:avLst/>
            <a:gdLst>
              <a:gd name="connsiteX0" fmla="*/ 0 w 5772470"/>
              <a:gd name="connsiteY0" fmla="*/ 1695879 h 6535941"/>
              <a:gd name="connsiteX1" fmla="*/ 3542860 w 5772470"/>
              <a:gd name="connsiteY1" fmla="*/ 0 h 6535941"/>
              <a:gd name="connsiteX2" fmla="*/ 5243255 w 5772470"/>
              <a:gd name="connsiteY2" fmla="*/ 0 h 6535941"/>
              <a:gd name="connsiteX3" fmla="*/ 5772470 w 5772470"/>
              <a:gd name="connsiteY3" fmla="*/ 529215 h 6535941"/>
              <a:gd name="connsiteX4" fmla="*/ 5772470 w 5772470"/>
              <a:gd name="connsiteY4" fmla="*/ 6006726 h 6535941"/>
              <a:gd name="connsiteX5" fmla="*/ 5243255 w 5772470"/>
              <a:gd name="connsiteY5" fmla="*/ 6535941 h 6535941"/>
              <a:gd name="connsiteX6" fmla="*/ 2316817 w 5772470"/>
              <a:gd name="connsiteY6" fmla="*/ 6535941 h 653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2470" h="6535941">
                <a:moveTo>
                  <a:pt x="0" y="1695879"/>
                </a:moveTo>
                <a:lnTo>
                  <a:pt x="3542860" y="0"/>
                </a:lnTo>
                <a:lnTo>
                  <a:pt x="5243255" y="0"/>
                </a:lnTo>
                <a:cubicBezTo>
                  <a:pt x="5535532" y="0"/>
                  <a:pt x="5772470" y="236938"/>
                  <a:pt x="5772470" y="529215"/>
                </a:cubicBezTo>
                <a:lnTo>
                  <a:pt x="5772470" y="6006726"/>
                </a:lnTo>
                <a:cubicBezTo>
                  <a:pt x="5772470" y="6299003"/>
                  <a:pt x="5535532" y="6535941"/>
                  <a:pt x="5243255" y="6535941"/>
                </a:cubicBezTo>
                <a:lnTo>
                  <a:pt x="2316817" y="6535941"/>
                </a:ln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5">
            <a:extLst>
              <a:ext uri="{FF2B5EF4-FFF2-40B4-BE49-F238E27FC236}">
                <a16:creationId xmlns:a16="http://schemas.microsoft.com/office/drawing/2014/main" id="{0C1A216E-368A-4FE7-B1D3-549CE5D3487C}"/>
              </a:ext>
            </a:extLst>
          </p:cNvPr>
          <p:cNvSpPr/>
          <p:nvPr userDrawn="1"/>
        </p:nvSpPr>
        <p:spPr>
          <a:xfrm rot="1534757">
            <a:off x="2508072" y="406960"/>
            <a:ext cx="10630047" cy="6535942"/>
          </a:xfrm>
          <a:custGeom>
            <a:avLst/>
            <a:gdLst>
              <a:gd name="connsiteX0" fmla="*/ 0 w 10630047"/>
              <a:gd name="connsiteY0" fmla="*/ 1737887 h 6535942"/>
              <a:gd name="connsiteX1" fmla="*/ 3630618 w 10630047"/>
              <a:gd name="connsiteY1" fmla="*/ 0 h 6535942"/>
              <a:gd name="connsiteX2" fmla="*/ 8594363 w 10630047"/>
              <a:gd name="connsiteY2" fmla="*/ 0 h 6535942"/>
              <a:gd name="connsiteX3" fmla="*/ 10630047 w 10630047"/>
              <a:gd name="connsiteY3" fmla="*/ 4252746 h 6535942"/>
              <a:gd name="connsiteX4" fmla="*/ 5860227 w 10630047"/>
              <a:gd name="connsiteY4" fmla="*/ 6535941 h 6535942"/>
              <a:gd name="connsiteX5" fmla="*/ 529216 w 10630047"/>
              <a:gd name="connsiteY5" fmla="*/ 6535942 h 6535942"/>
              <a:gd name="connsiteX6" fmla="*/ 0 w 10630047"/>
              <a:gd name="connsiteY6" fmla="*/ 6006726 h 653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30047" h="6535942">
                <a:moveTo>
                  <a:pt x="0" y="1737887"/>
                </a:moveTo>
                <a:lnTo>
                  <a:pt x="3630618" y="0"/>
                </a:lnTo>
                <a:lnTo>
                  <a:pt x="8594363" y="0"/>
                </a:lnTo>
                <a:lnTo>
                  <a:pt x="10630047" y="4252746"/>
                </a:lnTo>
                <a:lnTo>
                  <a:pt x="5860227" y="6535941"/>
                </a:lnTo>
                <a:lnTo>
                  <a:pt x="529216" y="6535942"/>
                </a:lnTo>
                <a:cubicBezTo>
                  <a:pt x="236938" y="6535941"/>
                  <a:pt x="0" y="6299003"/>
                  <a:pt x="0" y="6006726"/>
                </a:cubicBez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a:extLst>
              <a:ext uri="{FF2B5EF4-FFF2-40B4-BE49-F238E27FC236}">
                <a16:creationId xmlns:a16="http://schemas.microsoft.com/office/drawing/2014/main" id="{D7E85841-083E-4151-9BD7-F6F7E770DEF2}"/>
              </a:ext>
            </a:extLst>
          </p:cNvPr>
          <p:cNvSpPr/>
          <p:nvPr userDrawn="1"/>
        </p:nvSpPr>
        <p:spPr>
          <a:xfrm rot="1534757">
            <a:off x="1603979" y="-2037486"/>
            <a:ext cx="11079226" cy="6878693"/>
          </a:xfrm>
          <a:custGeom>
            <a:avLst/>
            <a:gdLst>
              <a:gd name="connsiteX0" fmla="*/ 0 w 11079226"/>
              <a:gd name="connsiteY0" fmla="*/ 4535048 h 6878693"/>
              <a:gd name="connsiteX1" fmla="*/ 9474166 w 11079226"/>
              <a:gd name="connsiteY1" fmla="*/ 0 h 6878693"/>
              <a:gd name="connsiteX2" fmla="*/ 11079226 w 11079226"/>
              <a:gd name="connsiteY2" fmla="*/ 3353130 h 6878693"/>
              <a:gd name="connsiteX3" fmla="*/ 11079226 w 11079226"/>
              <a:gd name="connsiteY3" fmla="*/ 6257922 h 6878693"/>
              <a:gd name="connsiteX4" fmla="*/ 10458455 w 11079226"/>
              <a:gd name="connsiteY4" fmla="*/ 6878693 h 6878693"/>
              <a:gd name="connsiteX5" fmla="*/ 620771 w 11079226"/>
              <a:gd name="connsiteY5" fmla="*/ 6878693 h 6878693"/>
              <a:gd name="connsiteX6" fmla="*/ 0 w 11079226"/>
              <a:gd name="connsiteY6" fmla="*/ 6257922 h 687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79226" h="6878693">
                <a:moveTo>
                  <a:pt x="0" y="4535048"/>
                </a:moveTo>
                <a:lnTo>
                  <a:pt x="9474166" y="0"/>
                </a:lnTo>
                <a:lnTo>
                  <a:pt x="11079226" y="3353130"/>
                </a:lnTo>
                <a:lnTo>
                  <a:pt x="11079226" y="6257922"/>
                </a:lnTo>
                <a:cubicBezTo>
                  <a:pt x="11079226" y="6600764"/>
                  <a:pt x="10801297" y="6878693"/>
                  <a:pt x="10458455" y="6878693"/>
                </a:cubicBezTo>
                <a:lnTo>
                  <a:pt x="620771" y="6878693"/>
                </a:lnTo>
                <a:cubicBezTo>
                  <a:pt x="277929" y="6878693"/>
                  <a:pt x="0" y="6600764"/>
                  <a:pt x="0" y="6257922"/>
                </a:cubicBezTo>
                <a:close/>
              </a:path>
            </a:pathLst>
          </a:custGeom>
          <a:gradFill flip="none" rotWithShape="1">
            <a:gsLst>
              <a:gs pos="0">
                <a:schemeClr val="accent3"/>
              </a:gs>
              <a:gs pos="53100">
                <a:srgbClr val="4988EB"/>
              </a:gs>
              <a:gs pos="100000">
                <a:srgbClr val="8160EB"/>
              </a:gs>
            </a:gsLst>
            <a:lin ang="8100000" scaled="1"/>
            <a:tileRect/>
          </a:gra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0" name="直接连接符 9">
            <a:extLst>
              <a:ext uri="{FF2B5EF4-FFF2-40B4-BE49-F238E27FC236}">
                <a16:creationId xmlns:a16="http://schemas.microsoft.com/office/drawing/2014/main" id="{956CF7EF-AC1E-4956-A4A7-E7537704A387}"/>
              </a:ext>
            </a:extLst>
          </p:cNvPr>
          <p:cNvCxnSpPr>
            <a:cxnSpLocks/>
          </p:cNvCxnSpPr>
          <p:nvPr userDrawn="1"/>
        </p:nvCxnSpPr>
        <p:spPr>
          <a:xfrm>
            <a:off x="4198256" y="3132571"/>
            <a:ext cx="6634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53AF6FBD-F21B-4092-993A-045253DDF332}"/>
              </a:ext>
            </a:extLst>
          </p:cNvPr>
          <p:cNvGrpSpPr/>
          <p:nvPr userDrawn="1"/>
        </p:nvGrpSpPr>
        <p:grpSpPr>
          <a:xfrm flipH="1" flipV="1">
            <a:off x="-3820047" y="2622701"/>
            <a:ext cx="6521450" cy="3311525"/>
            <a:chOff x="2946400" y="3860800"/>
            <a:chExt cx="6521450" cy="3311525"/>
          </a:xfrm>
        </p:grpSpPr>
        <p:cxnSp>
          <p:nvCxnSpPr>
            <p:cNvPr id="12" name="直接连接符 11">
              <a:extLst>
                <a:ext uri="{FF2B5EF4-FFF2-40B4-BE49-F238E27FC236}">
                  <a16:creationId xmlns:a16="http://schemas.microsoft.com/office/drawing/2014/main" id="{BDF0B779-9F5D-4CFD-BFCD-FE8C8C69E9E3}"/>
                </a:ext>
              </a:extLst>
            </p:cNvPr>
            <p:cNvCxnSpPr>
              <a:cxnSpLocks/>
            </p:cNvCxnSpPr>
            <p:nvPr/>
          </p:nvCxnSpPr>
          <p:spPr>
            <a:xfrm>
              <a:off x="3255169" y="4161763"/>
              <a:ext cx="6212681" cy="3010562"/>
            </a:xfrm>
            <a:prstGeom prst="line">
              <a:avLst/>
            </a:prstGeom>
            <a:ln>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D57793C9-302B-498D-BEE5-77DFA3605460}"/>
                </a:ext>
              </a:extLst>
            </p:cNvPr>
            <p:cNvSpPr/>
            <p:nvPr/>
          </p:nvSpPr>
          <p:spPr>
            <a:xfrm>
              <a:off x="2946400" y="3860800"/>
              <a:ext cx="508000" cy="508000"/>
            </a:xfrm>
            <a:prstGeom prst="ellipse">
              <a:avLst/>
            </a:prstGeom>
            <a:ln>
              <a:solidFill>
                <a:schemeClr val="tx2">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7AB9E21-C9FD-4745-BBF2-129CAC5F31F5}"/>
                </a:ext>
              </a:extLst>
            </p:cNvPr>
            <p:cNvSpPr/>
            <p:nvPr/>
          </p:nvSpPr>
          <p:spPr>
            <a:xfrm flipH="1">
              <a:off x="3109912" y="4024312"/>
              <a:ext cx="180976" cy="180976"/>
            </a:xfrm>
            <a:prstGeom prst="ellipse">
              <a:avLst/>
            </a:prstGeom>
            <a:solidFill>
              <a:srgbClr val="DADD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任意多边形: 形状 14">
            <a:extLst>
              <a:ext uri="{FF2B5EF4-FFF2-40B4-BE49-F238E27FC236}">
                <a16:creationId xmlns:a16="http://schemas.microsoft.com/office/drawing/2014/main" id="{E7CA67EC-B02E-4D8E-B6CD-68352198635D}"/>
              </a:ext>
            </a:extLst>
          </p:cNvPr>
          <p:cNvSpPr/>
          <p:nvPr userDrawn="1"/>
        </p:nvSpPr>
        <p:spPr>
          <a:xfrm rot="1534757">
            <a:off x="4582434" y="5782725"/>
            <a:ext cx="4874134" cy="470296"/>
          </a:xfrm>
          <a:custGeom>
            <a:avLst/>
            <a:gdLst>
              <a:gd name="connsiteX0" fmla="*/ 143618 w 4874134"/>
              <a:gd name="connsiteY0" fmla="*/ 18479 h 470296"/>
              <a:gd name="connsiteX1" fmla="*/ 235148 w 4874134"/>
              <a:gd name="connsiteY1" fmla="*/ 0 h 470296"/>
              <a:gd name="connsiteX2" fmla="*/ 4874134 w 4874134"/>
              <a:gd name="connsiteY2" fmla="*/ 0 h 470296"/>
              <a:gd name="connsiteX3" fmla="*/ 3891639 w 4874134"/>
              <a:gd name="connsiteY3" fmla="*/ 470296 h 470296"/>
              <a:gd name="connsiteX4" fmla="*/ 235148 w 4874134"/>
              <a:gd name="connsiteY4" fmla="*/ 470295 h 470296"/>
              <a:gd name="connsiteX5" fmla="*/ 0 w 4874134"/>
              <a:gd name="connsiteY5" fmla="*/ 235147 h 470296"/>
              <a:gd name="connsiteX6" fmla="*/ 0 w 4874134"/>
              <a:gd name="connsiteY6" fmla="*/ 235148 h 470296"/>
              <a:gd name="connsiteX7" fmla="*/ 143618 w 4874134"/>
              <a:gd name="connsiteY7" fmla="*/ 18479 h 47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4134" h="470296">
                <a:moveTo>
                  <a:pt x="143618" y="18479"/>
                </a:moveTo>
                <a:cubicBezTo>
                  <a:pt x="171751" y="6580"/>
                  <a:pt x="202681" y="0"/>
                  <a:pt x="235148" y="0"/>
                </a:cubicBezTo>
                <a:lnTo>
                  <a:pt x="4874134" y="0"/>
                </a:lnTo>
                <a:lnTo>
                  <a:pt x="3891639" y="470296"/>
                </a:lnTo>
                <a:lnTo>
                  <a:pt x="235148" y="470295"/>
                </a:lnTo>
                <a:cubicBezTo>
                  <a:pt x="105280" y="470295"/>
                  <a:pt x="0" y="365016"/>
                  <a:pt x="0" y="235147"/>
                </a:cubicBezTo>
                <a:lnTo>
                  <a:pt x="0" y="235148"/>
                </a:lnTo>
                <a:cubicBezTo>
                  <a:pt x="0" y="137747"/>
                  <a:pt x="59220" y="54176"/>
                  <a:pt x="143618" y="18479"/>
                </a:cubicBezTo>
                <a:close/>
              </a:path>
            </a:pathLst>
          </a:custGeom>
          <a:solidFill>
            <a:schemeClr val="bg1"/>
          </a:solidFill>
          <a:ln>
            <a:noFill/>
          </a:ln>
          <a:effectLst>
            <a:outerShdw blurRad="368300" sx="103000" sy="103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文本占位符 16">
            <a:extLst>
              <a:ext uri="{FF2B5EF4-FFF2-40B4-BE49-F238E27FC236}">
                <a16:creationId xmlns:a16="http://schemas.microsoft.com/office/drawing/2014/main" id="{F8A1321F-06E2-45E9-8879-4A56FE0ED745}"/>
              </a:ext>
            </a:extLst>
          </p:cNvPr>
          <p:cNvSpPr>
            <a:spLocks noGrp="1"/>
          </p:cNvSpPr>
          <p:nvPr>
            <p:ph type="body" sz="quarter" idx="10" hasCustomPrompt="1"/>
          </p:nvPr>
        </p:nvSpPr>
        <p:spPr>
          <a:xfrm>
            <a:off x="1857829" y="1181635"/>
            <a:ext cx="9043085" cy="1862048"/>
          </a:xfrm>
        </p:spPr>
        <p:txBody>
          <a:bodyPr wrap="square">
            <a:spAutoFit/>
          </a:bodyPr>
          <a:lstStyle>
            <a:lvl1pPr marL="0" marR="0" indent="0" algn="r" defTabSz="914400" rtl="0" eaLnBrk="1" fontAlgn="auto" latinLnBrk="0" hangingPunct="1">
              <a:lnSpc>
                <a:spcPct val="100000"/>
              </a:lnSpc>
              <a:spcBef>
                <a:spcPts val="0"/>
              </a:spcBef>
              <a:spcAft>
                <a:spcPts val="0"/>
              </a:spcAft>
              <a:buClrTx/>
              <a:buSzTx/>
              <a:buFontTx/>
              <a:buNone/>
              <a:tabLst/>
              <a:defRPr lang="zh-CN" altLang="en-US" sz="11500" b="1" kern="1200" noProof="0">
                <a:solidFill>
                  <a:prstClr val="white"/>
                </a:solidFill>
                <a:latin typeface="微软雅黑" panose="020B0503020204020204" pitchFamily="34" charset="-122"/>
                <a:ea typeface="微软雅黑" panose="020B0503020204020204" pitchFamily="34" charset="-122"/>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15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谢谢</a:t>
            </a:r>
          </a:p>
        </p:txBody>
      </p:sp>
      <p:sp>
        <p:nvSpPr>
          <p:cNvPr id="19" name="文本占位符 18">
            <a:extLst>
              <a:ext uri="{FF2B5EF4-FFF2-40B4-BE49-F238E27FC236}">
                <a16:creationId xmlns:a16="http://schemas.microsoft.com/office/drawing/2014/main" id="{71A3F5F6-480C-4154-BA21-EA8D79385729}"/>
              </a:ext>
            </a:extLst>
          </p:cNvPr>
          <p:cNvSpPr>
            <a:spLocks noGrp="1"/>
          </p:cNvSpPr>
          <p:nvPr>
            <p:ph type="body" sz="quarter" idx="11" hasCustomPrompt="1"/>
          </p:nvPr>
        </p:nvSpPr>
        <p:spPr>
          <a:xfrm>
            <a:off x="6973019" y="3309407"/>
            <a:ext cx="3924300" cy="369332"/>
          </a:xfrm>
        </p:spPr>
        <p:txBody>
          <a:bodyPr wrap="square">
            <a:spAutoFit/>
          </a:bodyPr>
          <a:lstStyle>
            <a:lvl1pPr marL="0" marR="0" indent="0" algn="r" defTabSz="914400" rtl="0" eaLnBrk="1" fontAlgn="auto" latinLnBrk="0" hangingPunct="1">
              <a:lnSpc>
                <a:spcPct val="100000"/>
              </a:lnSpc>
              <a:spcBef>
                <a:spcPts val="0"/>
              </a:spcBef>
              <a:spcAft>
                <a:spcPts val="0"/>
              </a:spcAft>
              <a:buClrTx/>
              <a:buSzTx/>
              <a:buFontTx/>
              <a:buNone/>
              <a:tabLst/>
              <a:defRPr lang="af-ZA" altLang="zh-CN" sz="1800" b="1" kern="1200" noProof="0">
                <a:solidFill>
                  <a:schemeClr val="bg1"/>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white"/>
                </a:solidFill>
                <a:effectLst/>
                <a:uLnTx/>
                <a:uFillTx/>
                <a:latin typeface="+mn-lt"/>
                <a:ea typeface="+mn-ea"/>
                <a:cs typeface="+mn-cs"/>
              </a:rPr>
              <a:t>汇报人：</a:t>
            </a:r>
            <a:r>
              <a:rPr kumimoji="0" lang="af-ZA" altLang="zh-CN" sz="1800" b="1" i="0" u="none" strike="noStrike" kern="1200" cap="none" spc="0" normalizeH="0" baseline="0" noProof="0">
                <a:ln>
                  <a:noFill/>
                </a:ln>
                <a:solidFill>
                  <a:prstClr val="white"/>
                </a:solidFill>
                <a:effectLst/>
                <a:uLnTx/>
                <a:uFillTx/>
                <a:latin typeface="+mn-lt"/>
                <a:ea typeface="+mn-ea"/>
                <a:cs typeface="+mn-cs"/>
              </a:rPr>
              <a:t>OfficePLUS</a:t>
            </a:r>
          </a:p>
        </p:txBody>
      </p:sp>
    </p:spTree>
    <p:extLst>
      <p:ext uri="{BB962C8B-B14F-4D97-AF65-F5344CB8AC3E}">
        <p14:creationId xmlns:p14="http://schemas.microsoft.com/office/powerpoint/2010/main" val="36856886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BAA1079-13FF-4C87-97F3-24088AD1C4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sp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E036A60-4E67-4902-B74C-AA0C45D556C4}"/>
              </a:ext>
            </a:extLst>
          </p:cNvPr>
          <p:cNvSpPr>
            <a:spLocks noGrp="1"/>
          </p:cNvSpPr>
          <p:nvPr>
            <p:ph type="body" idx="1"/>
          </p:nvPr>
        </p:nvSpPr>
        <p:spPr>
          <a:xfrm>
            <a:off x="838200" y="1825625"/>
            <a:ext cx="10515600" cy="4351338"/>
          </a:xfrm>
          <a:prstGeom prst="rect">
            <a:avLst/>
          </a:prstGeom>
        </p:spPr>
        <p:txBody>
          <a:bodyPr vert="horz" lIns="91440" tIns="45720" rIns="91440" bIns="45720" rtlCol="0">
            <a:sp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28C8D7-6EA4-469A-A4C7-8602360125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spAutoFit/>
          </a:bodyP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FF3E52F5-D62D-45C7-809C-F9AE87C712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spAutoFit/>
          </a:bodyP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2C3F597-31A6-43D0-8A44-5F340D315A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spAutoFit/>
          </a:bodyPr>
          <a:lstStyle>
            <a:lvl1pPr algn="r">
              <a:defRPr sz="1200">
                <a:solidFill>
                  <a:schemeClr val="tx1">
                    <a:tint val="75000"/>
                  </a:schemeClr>
                </a:solidFill>
              </a:defRPr>
            </a:lvl1pPr>
          </a:lstStyle>
          <a:p>
            <a:fld id="{A86B3AB6-3DCE-4D14-AA80-0D566E9A0DB8}" type="slidenum">
              <a:rPr lang="zh-CN" altLang="en-US" smtClean="0"/>
              <a:t>‹#›</a:t>
            </a:fld>
            <a:endParaRPr lang="zh-CN" altLang="en-US"/>
          </a:p>
        </p:txBody>
      </p:sp>
    </p:spTree>
    <p:extLst>
      <p:ext uri="{BB962C8B-B14F-4D97-AF65-F5344CB8AC3E}">
        <p14:creationId xmlns:p14="http://schemas.microsoft.com/office/powerpoint/2010/main" val="85917225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55" r:id="rId3"/>
    <p:sldLayoutId id="2147483656" r:id="rId4"/>
    <p:sldLayoutId id="214748366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emf"/><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emf"/><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emf"/></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emf"/><Relationship Id="rId7"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3.emf"/><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10.png"/><Relationship Id="rId7" Type="http://schemas.openxmlformats.org/officeDocument/2006/relationships/image" Target="../media/image9.emf"/><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7.emf"/><Relationship Id="rId5"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410.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00.png"/><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20.emf"/></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0.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1.tmp"/><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3.tmp"/><Relationship Id="rId5" Type="http://schemas.openxmlformats.org/officeDocument/2006/relationships/image" Target="../media/image52.tmp"/><Relationship Id="rId4" Type="http://schemas.openxmlformats.org/officeDocument/2006/relationships/image" Target="../media/image1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53.tmp"/><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927037C7-0C6C-47C2-A50D-7532CF72FB3E}"/>
              </a:ext>
            </a:extLst>
          </p:cNvPr>
          <p:cNvSpPr>
            <a:spLocks noGrp="1"/>
          </p:cNvSpPr>
          <p:nvPr>
            <p:ph type="body" sz="quarter" idx="11"/>
          </p:nvPr>
        </p:nvSpPr>
        <p:spPr>
          <a:xfrm>
            <a:off x="7191299" y="4619751"/>
            <a:ext cx="3924300" cy="523220"/>
          </a:xfrm>
        </p:spPr>
        <p:txBody>
          <a:bodyPr>
            <a:spAutoFit/>
          </a:bodyPr>
          <a:lstStyle/>
          <a:p>
            <a:r>
              <a:rPr lang="zh-CN" altLang="en-US" sz="2800" dirty="0">
                <a:latin typeface="微软雅黑" panose="020B0503020204020204" pitchFamily="34" charset="-122"/>
                <a:ea typeface="微软雅黑" panose="020B0503020204020204" pitchFamily="34" charset="-122"/>
              </a:rPr>
              <a:t>主控：学生</a:t>
            </a:r>
            <a:endParaRPr lang="af-ZA" altLang="zh-CN" sz="2800" dirty="0">
              <a:latin typeface="微软雅黑" panose="020B0503020204020204" pitchFamily="34" charset="-122"/>
              <a:ea typeface="微软雅黑" panose="020B0503020204020204" pitchFamily="34" charset="-122"/>
            </a:endParaRPr>
          </a:p>
        </p:txBody>
      </p:sp>
      <p:sp>
        <p:nvSpPr>
          <p:cNvPr id="5" name="文本占位符 3">
            <a:extLst>
              <a:ext uri="{FF2B5EF4-FFF2-40B4-BE49-F238E27FC236}">
                <a16:creationId xmlns:a16="http://schemas.microsoft.com/office/drawing/2014/main" id="{736BDC45-43F2-2CEC-9CE2-845897612459}"/>
              </a:ext>
            </a:extLst>
          </p:cNvPr>
          <p:cNvSpPr txBox="1">
            <a:spLocks/>
          </p:cNvSpPr>
          <p:nvPr/>
        </p:nvSpPr>
        <p:spPr>
          <a:xfrm>
            <a:off x="2814320" y="1007594"/>
            <a:ext cx="9377680" cy="1107996"/>
          </a:xfrm>
          <a:prstGeom prst="rect">
            <a:avLst/>
          </a:prstGeom>
        </p:spPr>
        <p:txBody>
          <a:bodyPr vert="horz" wrap="square" lIns="91440" tIns="45720" rIns="91440" bIns="45720" rtlCol="0">
            <a:spAutoFit/>
          </a:bodyPr>
          <a:lstStyle>
            <a:lvl1pPr marL="0" marR="0" indent="0" algn="r" defTabSz="914400" rtl="0" eaLnBrk="1" fontAlgn="auto" latinLnBrk="0" hangingPunct="1">
              <a:lnSpc>
                <a:spcPct val="100000"/>
              </a:lnSpc>
              <a:spcBef>
                <a:spcPts val="0"/>
              </a:spcBef>
              <a:spcAft>
                <a:spcPts val="0"/>
              </a:spcAft>
              <a:buClrTx/>
              <a:buSzTx/>
              <a:buFontTx/>
              <a:buNone/>
              <a:tabLst/>
              <a:defRPr lang="zh-CN" altLang="en-US" sz="6600" b="1" kern="1200" noProof="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6. Non-contact Resistance</a:t>
            </a:r>
          </a:p>
        </p:txBody>
      </p:sp>
      <p:cxnSp>
        <p:nvCxnSpPr>
          <p:cNvPr id="2" name="直接连接符 1">
            <a:extLst>
              <a:ext uri="{FF2B5EF4-FFF2-40B4-BE49-F238E27FC236}">
                <a16:creationId xmlns:a16="http://schemas.microsoft.com/office/drawing/2014/main" id="{CEDABD5B-D36C-8260-A0AF-EB2A9AA2C90B}"/>
              </a:ext>
            </a:extLst>
          </p:cNvPr>
          <p:cNvCxnSpPr>
            <a:cxnSpLocks/>
          </p:cNvCxnSpPr>
          <p:nvPr/>
        </p:nvCxnSpPr>
        <p:spPr>
          <a:xfrm>
            <a:off x="4297840" y="2439416"/>
            <a:ext cx="663487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2" name="文本占位符 6">
            <a:extLst>
              <a:ext uri="{FF2B5EF4-FFF2-40B4-BE49-F238E27FC236}">
                <a16:creationId xmlns:a16="http://schemas.microsoft.com/office/drawing/2014/main" id="{6A4D61CA-89BE-5B2C-6649-1100985AE299}"/>
              </a:ext>
            </a:extLst>
          </p:cNvPr>
          <p:cNvSpPr txBox="1">
            <a:spLocks/>
          </p:cNvSpPr>
          <p:nvPr/>
        </p:nvSpPr>
        <p:spPr>
          <a:xfrm>
            <a:off x="3822286" y="3033796"/>
            <a:ext cx="7874973" cy="523220"/>
          </a:xfrm>
          <a:prstGeom prst="rect">
            <a:avLst/>
          </a:prstGeom>
        </p:spPr>
        <p:txBody>
          <a:bodyPr vert="horz" wrap="square" lIns="91440" tIns="45720" rIns="91440" bIns="45720" rtlCol="0">
            <a:spAutoFit/>
          </a:bodyPr>
          <a:lstStyle>
            <a:lvl1pPr marL="0" marR="0" indent="0" algn="r" defTabSz="914400" rtl="0" eaLnBrk="1" fontAlgn="auto" latinLnBrk="0" hangingPunct="1">
              <a:lnSpc>
                <a:spcPct val="100000"/>
              </a:lnSpc>
              <a:spcBef>
                <a:spcPts val="0"/>
              </a:spcBef>
              <a:spcAft>
                <a:spcPts val="0"/>
              </a:spcAft>
              <a:buClrTx/>
              <a:buSzTx/>
              <a:buFontTx/>
              <a:buNone/>
              <a:tabLst/>
              <a:defRPr lang="af-ZA" altLang="zh-CN" sz="1800" b="1" kern="1200" noProof="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latin typeface="微软雅黑" panose="020B0503020204020204" pitchFamily="34" charset="-122"/>
                <a:ea typeface="微软雅黑" panose="020B0503020204020204" pitchFamily="34" charset="-122"/>
              </a:rPr>
              <a:t>队员：李雅馨、姚夏臻、赵恩泽、张梓阳、学生</a:t>
            </a:r>
          </a:p>
        </p:txBody>
      </p:sp>
      <p:pic>
        <p:nvPicPr>
          <p:cNvPr id="14" name="图片 13">
            <a:extLst>
              <a:ext uri="{FF2B5EF4-FFF2-40B4-BE49-F238E27FC236}">
                <a16:creationId xmlns:a16="http://schemas.microsoft.com/office/drawing/2014/main" id="{EAB30A5F-93AD-2172-30E8-9CF776D682D4}"/>
              </a:ext>
            </a:extLst>
          </p:cNvPr>
          <p:cNvPicPr>
            <a:picLocks noChangeAspect="1"/>
          </p:cNvPicPr>
          <p:nvPr/>
        </p:nvPicPr>
        <p:blipFill rotWithShape="1">
          <a:blip r:embed="rId2">
            <a:extLst>
              <a:ext uri="{28A0092B-C50C-407E-A947-70E740481C1C}">
                <a14:useLocalDpi xmlns:a14="http://schemas.microsoft.com/office/drawing/2010/main" val="0"/>
              </a:ext>
            </a:extLst>
          </a:blip>
          <a:srcRect l="15671" t="573" r="14319" b="40227"/>
          <a:stretch/>
        </p:blipFill>
        <p:spPr>
          <a:xfrm>
            <a:off x="590855" y="500888"/>
            <a:ext cx="2121408" cy="2121408"/>
          </a:xfrm>
          <a:prstGeom prst="ellipse">
            <a:avLst/>
          </a:prstGeom>
        </p:spPr>
      </p:pic>
    </p:spTree>
    <p:extLst>
      <p:ext uri="{BB962C8B-B14F-4D97-AF65-F5344CB8AC3E}">
        <p14:creationId xmlns:p14="http://schemas.microsoft.com/office/powerpoint/2010/main" val="1168468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2E49EE41-094F-F273-FACE-3C6439F9DC8E}"/>
              </a:ext>
            </a:extLst>
          </p:cNvPr>
          <p:cNvGrpSpPr/>
          <p:nvPr/>
        </p:nvGrpSpPr>
        <p:grpSpPr>
          <a:xfrm>
            <a:off x="3697074" y="926112"/>
            <a:ext cx="5561336" cy="635077"/>
            <a:chOff x="6096000" y="1080475"/>
            <a:chExt cx="5154584" cy="464516"/>
          </a:xfrm>
        </p:grpSpPr>
        <p:sp>
          <p:nvSpPr>
            <p:cNvPr id="6" name="矩形: 圆角 5">
              <a:extLst>
                <a:ext uri="{FF2B5EF4-FFF2-40B4-BE49-F238E27FC236}">
                  <a16:creationId xmlns:a16="http://schemas.microsoft.com/office/drawing/2014/main" id="{7BD29E90-A49C-9999-D51B-115CD3730DAC}"/>
                </a:ext>
              </a:extLst>
            </p:cNvPr>
            <p:cNvSpPr/>
            <p:nvPr/>
          </p:nvSpPr>
          <p:spPr>
            <a:xfrm>
              <a:off x="6096000" y="1080475"/>
              <a:ext cx="1013381" cy="464516"/>
            </a:xfrm>
            <a:prstGeom prst="roundRect">
              <a:avLst/>
            </a:prstGeom>
            <a:solidFill>
              <a:srgbClr val="4D85EB"/>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圆角 6">
              <a:hlinkClick r:id="rId2" action="ppaction://hlinksldjump"/>
              <a:extLst>
                <a:ext uri="{FF2B5EF4-FFF2-40B4-BE49-F238E27FC236}">
                  <a16:creationId xmlns:a16="http://schemas.microsoft.com/office/drawing/2014/main" id="{C34F86C8-F46B-6BDC-F8A6-0F7A2ABE655C}"/>
                </a:ext>
              </a:extLst>
            </p:cNvPr>
            <p:cNvSpPr/>
            <p:nvPr/>
          </p:nvSpPr>
          <p:spPr>
            <a:xfrm>
              <a:off x="7193552" y="1080475"/>
              <a:ext cx="4057032" cy="464516"/>
            </a:xfrm>
            <a:prstGeom prst="round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defRPr/>
              </a:pPr>
              <a:r>
                <a:rPr lang="zh-CN" altLang="en-US" sz="2800" b="1" dirty="0">
                  <a:solidFill>
                    <a:schemeClr val="tx2"/>
                  </a:solidFill>
                  <a:latin typeface="微软雅黑" panose="020B0503020204020204" pitchFamily="34" charset="-122"/>
                  <a:ea typeface="微软雅黑" panose="020B0503020204020204" pitchFamily="34" charset="-122"/>
                </a:rPr>
                <a:t>题目回顾</a:t>
              </a:r>
            </a:p>
          </p:txBody>
        </p:sp>
      </p:grpSp>
      <p:grpSp>
        <p:nvGrpSpPr>
          <p:cNvPr id="11" name="组合 10">
            <a:extLst>
              <a:ext uri="{FF2B5EF4-FFF2-40B4-BE49-F238E27FC236}">
                <a16:creationId xmlns:a16="http://schemas.microsoft.com/office/drawing/2014/main" id="{0825198D-9FCF-6CE3-F25C-9AD9F6D184FB}"/>
              </a:ext>
            </a:extLst>
          </p:cNvPr>
          <p:cNvGrpSpPr/>
          <p:nvPr/>
        </p:nvGrpSpPr>
        <p:grpSpPr>
          <a:xfrm>
            <a:off x="3697074" y="1793744"/>
            <a:ext cx="5561336" cy="635077"/>
            <a:chOff x="6096000" y="1080475"/>
            <a:chExt cx="5154584" cy="464516"/>
          </a:xfrm>
        </p:grpSpPr>
        <p:sp>
          <p:nvSpPr>
            <p:cNvPr id="12" name="矩形: 圆角 11">
              <a:extLst>
                <a:ext uri="{FF2B5EF4-FFF2-40B4-BE49-F238E27FC236}">
                  <a16:creationId xmlns:a16="http://schemas.microsoft.com/office/drawing/2014/main" id="{9EE782F4-4AB2-73DB-8D8F-B0141FFBBA62}"/>
                </a:ext>
              </a:extLst>
            </p:cNvPr>
            <p:cNvSpPr/>
            <p:nvPr/>
          </p:nvSpPr>
          <p:spPr>
            <a:xfrm>
              <a:off x="6096000" y="1080475"/>
              <a:ext cx="1013381" cy="464516"/>
            </a:xfrm>
            <a:prstGeom prst="roundRect">
              <a:avLst/>
            </a:prstGeom>
            <a:solidFill>
              <a:srgbClr val="4D85EB"/>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圆角 12">
              <a:hlinkClick r:id="rId2" action="ppaction://hlinksldjump"/>
              <a:extLst>
                <a:ext uri="{FF2B5EF4-FFF2-40B4-BE49-F238E27FC236}">
                  <a16:creationId xmlns:a16="http://schemas.microsoft.com/office/drawing/2014/main" id="{BF5A0F46-D6BB-7191-6174-377D9707ADFB}"/>
                </a:ext>
              </a:extLst>
            </p:cNvPr>
            <p:cNvSpPr/>
            <p:nvPr/>
          </p:nvSpPr>
          <p:spPr>
            <a:xfrm>
              <a:off x="7193552" y="1080475"/>
              <a:ext cx="4057032" cy="464516"/>
            </a:xfrm>
            <a:prstGeom prst="round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defRPr/>
              </a:pPr>
              <a:r>
                <a:rPr lang="zh-CN" altLang="en-US" sz="2800" b="1" dirty="0">
                  <a:solidFill>
                    <a:schemeClr val="tx2"/>
                  </a:solidFill>
                  <a:latin typeface="微软雅黑" panose="020B0503020204020204" pitchFamily="34" charset="-122"/>
                  <a:ea typeface="微软雅黑" panose="020B0503020204020204" pitchFamily="34" charset="-122"/>
                </a:rPr>
                <a:t>预实验</a:t>
              </a:r>
            </a:p>
          </p:txBody>
        </p:sp>
      </p:grpSp>
      <p:grpSp>
        <p:nvGrpSpPr>
          <p:cNvPr id="14" name="组合 13">
            <a:extLst>
              <a:ext uri="{FF2B5EF4-FFF2-40B4-BE49-F238E27FC236}">
                <a16:creationId xmlns:a16="http://schemas.microsoft.com/office/drawing/2014/main" id="{AAEE29B7-DCBF-FCFD-F07D-BA7CB1EE0444}"/>
              </a:ext>
            </a:extLst>
          </p:cNvPr>
          <p:cNvGrpSpPr/>
          <p:nvPr/>
        </p:nvGrpSpPr>
        <p:grpSpPr>
          <a:xfrm>
            <a:off x="3697074" y="2661376"/>
            <a:ext cx="5561336" cy="635077"/>
            <a:chOff x="6096000" y="1080475"/>
            <a:chExt cx="5154584" cy="464516"/>
          </a:xfrm>
        </p:grpSpPr>
        <p:sp>
          <p:nvSpPr>
            <p:cNvPr id="15" name="矩形: 圆角 14">
              <a:extLst>
                <a:ext uri="{FF2B5EF4-FFF2-40B4-BE49-F238E27FC236}">
                  <a16:creationId xmlns:a16="http://schemas.microsoft.com/office/drawing/2014/main" id="{C4FED1A7-1F9F-6439-CBA2-965E2F598F52}"/>
                </a:ext>
              </a:extLst>
            </p:cNvPr>
            <p:cNvSpPr/>
            <p:nvPr/>
          </p:nvSpPr>
          <p:spPr>
            <a:xfrm>
              <a:off x="6096000" y="1080475"/>
              <a:ext cx="1013381" cy="464516"/>
            </a:xfrm>
            <a:prstGeom prst="roundRect">
              <a:avLst/>
            </a:prstGeom>
            <a:solidFill>
              <a:srgbClr val="4D85EB"/>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圆角 15">
              <a:hlinkClick r:id="rId2" action="ppaction://hlinksldjump"/>
              <a:extLst>
                <a:ext uri="{FF2B5EF4-FFF2-40B4-BE49-F238E27FC236}">
                  <a16:creationId xmlns:a16="http://schemas.microsoft.com/office/drawing/2014/main" id="{B632D31C-C1B5-F9F0-D06C-0AF441C988D0}"/>
                </a:ext>
              </a:extLst>
            </p:cNvPr>
            <p:cNvSpPr/>
            <p:nvPr/>
          </p:nvSpPr>
          <p:spPr>
            <a:xfrm>
              <a:off x="7193552" y="1080475"/>
              <a:ext cx="4057032" cy="464516"/>
            </a:xfrm>
            <a:prstGeom prst="round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defRPr/>
              </a:pPr>
              <a:r>
                <a:rPr lang="zh-CN" altLang="en-US" sz="2800" b="1" dirty="0">
                  <a:solidFill>
                    <a:schemeClr val="tx2"/>
                  </a:solidFill>
                  <a:latin typeface="微软雅黑" panose="020B0503020204020204" pitchFamily="34" charset="-122"/>
                  <a:ea typeface="微软雅黑" panose="020B0503020204020204" pitchFamily="34" charset="-122"/>
                </a:rPr>
                <a:t>理论分析</a:t>
              </a:r>
            </a:p>
          </p:txBody>
        </p:sp>
      </p:grpSp>
      <p:grpSp>
        <p:nvGrpSpPr>
          <p:cNvPr id="17" name="组合 16">
            <a:extLst>
              <a:ext uri="{FF2B5EF4-FFF2-40B4-BE49-F238E27FC236}">
                <a16:creationId xmlns:a16="http://schemas.microsoft.com/office/drawing/2014/main" id="{14515405-B345-00C2-4B75-84A61A4AE79A}"/>
              </a:ext>
            </a:extLst>
          </p:cNvPr>
          <p:cNvGrpSpPr/>
          <p:nvPr/>
        </p:nvGrpSpPr>
        <p:grpSpPr>
          <a:xfrm>
            <a:off x="3700159" y="3528394"/>
            <a:ext cx="5561336" cy="635077"/>
            <a:chOff x="6096000" y="1080475"/>
            <a:chExt cx="5154584" cy="464516"/>
          </a:xfrm>
        </p:grpSpPr>
        <p:sp>
          <p:nvSpPr>
            <p:cNvPr id="18" name="矩形: 圆角 17">
              <a:extLst>
                <a:ext uri="{FF2B5EF4-FFF2-40B4-BE49-F238E27FC236}">
                  <a16:creationId xmlns:a16="http://schemas.microsoft.com/office/drawing/2014/main" id="{28363245-66FA-79CC-37BA-7F12C86BFF2C}"/>
                </a:ext>
              </a:extLst>
            </p:cNvPr>
            <p:cNvSpPr/>
            <p:nvPr/>
          </p:nvSpPr>
          <p:spPr>
            <a:xfrm>
              <a:off x="6096000" y="1080475"/>
              <a:ext cx="1013381" cy="464516"/>
            </a:xfrm>
            <a:prstGeom prst="roundRect">
              <a:avLst/>
            </a:prstGeom>
            <a:solidFill>
              <a:srgbClr val="4D85EB"/>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4</a:t>
              </a:r>
              <a:endParaRPr lang="zh-CN" altLang="en-US"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圆角 21">
              <a:hlinkClick r:id="rId2" action="ppaction://hlinksldjump"/>
              <a:extLst>
                <a:ext uri="{FF2B5EF4-FFF2-40B4-BE49-F238E27FC236}">
                  <a16:creationId xmlns:a16="http://schemas.microsoft.com/office/drawing/2014/main" id="{808014F2-75FE-1141-F69E-354669FFE834}"/>
                </a:ext>
              </a:extLst>
            </p:cNvPr>
            <p:cNvSpPr/>
            <p:nvPr/>
          </p:nvSpPr>
          <p:spPr>
            <a:xfrm>
              <a:off x="7193552" y="1080475"/>
              <a:ext cx="4057032" cy="464516"/>
            </a:xfrm>
            <a:prstGeom prst="round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defRPr/>
              </a:pPr>
              <a:r>
                <a:rPr lang="zh-CN" altLang="en-US" sz="2800" b="1" dirty="0">
                  <a:solidFill>
                    <a:schemeClr val="tx2"/>
                  </a:solidFill>
                  <a:latin typeface="微软雅黑" panose="020B0503020204020204" pitchFamily="34" charset="-122"/>
                  <a:ea typeface="微软雅黑" panose="020B0503020204020204" pitchFamily="34" charset="-122"/>
                </a:rPr>
                <a:t>正式实验</a:t>
              </a:r>
            </a:p>
          </p:txBody>
        </p:sp>
      </p:grpSp>
      <p:grpSp>
        <p:nvGrpSpPr>
          <p:cNvPr id="23" name="组合 22">
            <a:extLst>
              <a:ext uri="{FF2B5EF4-FFF2-40B4-BE49-F238E27FC236}">
                <a16:creationId xmlns:a16="http://schemas.microsoft.com/office/drawing/2014/main" id="{19A179A3-8531-C976-0AA0-BBEB0887AA1B}"/>
              </a:ext>
            </a:extLst>
          </p:cNvPr>
          <p:cNvGrpSpPr/>
          <p:nvPr/>
        </p:nvGrpSpPr>
        <p:grpSpPr>
          <a:xfrm>
            <a:off x="3697074" y="4396711"/>
            <a:ext cx="5561336" cy="635077"/>
            <a:chOff x="6096000" y="1080475"/>
            <a:chExt cx="5154584" cy="464516"/>
          </a:xfrm>
        </p:grpSpPr>
        <p:sp>
          <p:nvSpPr>
            <p:cNvPr id="24" name="矩形: 圆角 23">
              <a:extLst>
                <a:ext uri="{FF2B5EF4-FFF2-40B4-BE49-F238E27FC236}">
                  <a16:creationId xmlns:a16="http://schemas.microsoft.com/office/drawing/2014/main" id="{570C2C75-8CA7-C451-D301-4A310518353C}"/>
                </a:ext>
              </a:extLst>
            </p:cNvPr>
            <p:cNvSpPr/>
            <p:nvPr/>
          </p:nvSpPr>
          <p:spPr>
            <a:xfrm>
              <a:off x="6096000" y="1080475"/>
              <a:ext cx="1013381" cy="464516"/>
            </a:xfrm>
            <a:prstGeom prst="roundRect">
              <a:avLst/>
            </a:prstGeom>
            <a:solidFill>
              <a:srgbClr val="4D85EB"/>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5</a:t>
              </a:r>
              <a:endParaRPr lang="zh-CN" altLang="en-US"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矩形: 圆角 24">
              <a:hlinkClick r:id="rId2" action="ppaction://hlinksldjump"/>
              <a:extLst>
                <a:ext uri="{FF2B5EF4-FFF2-40B4-BE49-F238E27FC236}">
                  <a16:creationId xmlns:a16="http://schemas.microsoft.com/office/drawing/2014/main" id="{19683FA7-2966-7FA8-84D5-CE6C4C3A0614}"/>
                </a:ext>
              </a:extLst>
            </p:cNvPr>
            <p:cNvSpPr/>
            <p:nvPr/>
          </p:nvSpPr>
          <p:spPr>
            <a:xfrm>
              <a:off x="7193552" y="1080475"/>
              <a:ext cx="4057032" cy="464516"/>
            </a:xfrm>
            <a:prstGeom prst="round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defRPr/>
              </a:pPr>
              <a:r>
                <a:rPr lang="zh-CN" altLang="en-US" sz="2800" b="1" dirty="0">
                  <a:solidFill>
                    <a:schemeClr val="tx2"/>
                  </a:solidFill>
                  <a:latin typeface="微软雅黑" panose="020B0503020204020204" pitchFamily="34" charset="-122"/>
                  <a:ea typeface="微软雅黑" panose="020B0503020204020204" pitchFamily="34" charset="-122"/>
                </a:rPr>
                <a:t>误差分析</a:t>
              </a:r>
            </a:p>
          </p:txBody>
        </p:sp>
      </p:grpSp>
      <p:grpSp>
        <p:nvGrpSpPr>
          <p:cNvPr id="26" name="组合 25">
            <a:extLst>
              <a:ext uri="{FF2B5EF4-FFF2-40B4-BE49-F238E27FC236}">
                <a16:creationId xmlns:a16="http://schemas.microsoft.com/office/drawing/2014/main" id="{B9D03099-7F56-3DDD-EE15-18DE377A4000}"/>
              </a:ext>
            </a:extLst>
          </p:cNvPr>
          <p:cNvGrpSpPr/>
          <p:nvPr/>
        </p:nvGrpSpPr>
        <p:grpSpPr>
          <a:xfrm>
            <a:off x="3697074" y="5263044"/>
            <a:ext cx="5561336" cy="635077"/>
            <a:chOff x="6096000" y="1080475"/>
            <a:chExt cx="5154584" cy="464516"/>
          </a:xfrm>
        </p:grpSpPr>
        <p:sp>
          <p:nvSpPr>
            <p:cNvPr id="27" name="矩形: 圆角 26">
              <a:extLst>
                <a:ext uri="{FF2B5EF4-FFF2-40B4-BE49-F238E27FC236}">
                  <a16:creationId xmlns:a16="http://schemas.microsoft.com/office/drawing/2014/main" id="{00E82D9B-9858-EC92-04DD-AA4CBD347F15}"/>
                </a:ext>
              </a:extLst>
            </p:cNvPr>
            <p:cNvSpPr/>
            <p:nvPr/>
          </p:nvSpPr>
          <p:spPr>
            <a:xfrm>
              <a:off x="6096000" y="1080475"/>
              <a:ext cx="1013381" cy="464516"/>
            </a:xfrm>
            <a:prstGeom prst="roundRect">
              <a:avLst/>
            </a:prstGeom>
            <a:solidFill>
              <a:srgbClr val="4D85EB"/>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6</a:t>
              </a:r>
              <a:endParaRPr lang="zh-CN" altLang="en-US" sz="2800" b="1" spc="225"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矩形: 圆角 39">
              <a:hlinkClick r:id="rId2" action="ppaction://hlinksldjump"/>
              <a:extLst>
                <a:ext uri="{FF2B5EF4-FFF2-40B4-BE49-F238E27FC236}">
                  <a16:creationId xmlns:a16="http://schemas.microsoft.com/office/drawing/2014/main" id="{AB28BAF1-4341-96D0-05AD-68451CF82BE0}"/>
                </a:ext>
              </a:extLst>
            </p:cNvPr>
            <p:cNvSpPr/>
            <p:nvPr/>
          </p:nvSpPr>
          <p:spPr>
            <a:xfrm>
              <a:off x="7193552" y="1080475"/>
              <a:ext cx="4057032" cy="464516"/>
            </a:xfrm>
            <a:prstGeom prst="round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rtlCol="0" anchor="ctr"/>
            <a:lstStyle/>
            <a:p>
              <a:pPr algn="ctr">
                <a:defRPr/>
              </a:pPr>
              <a:r>
                <a:rPr lang="zh-CN" altLang="en-US" sz="2800" b="1" dirty="0">
                  <a:solidFill>
                    <a:schemeClr val="tx2"/>
                  </a:solidFill>
                  <a:latin typeface="微软雅黑" panose="020B0503020204020204" pitchFamily="34" charset="-122"/>
                  <a:ea typeface="微软雅黑" panose="020B0503020204020204" pitchFamily="34" charset="-122"/>
                </a:rPr>
                <a:t>总结展望</a:t>
              </a:r>
            </a:p>
          </p:txBody>
        </p:sp>
      </p:grpSp>
    </p:spTree>
    <p:extLst>
      <p:ext uri="{BB962C8B-B14F-4D97-AF65-F5344CB8AC3E}">
        <p14:creationId xmlns:p14="http://schemas.microsoft.com/office/powerpoint/2010/main" val="54899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p:txBody>
          <a:bodyPr>
            <a:spAutoFit/>
          </a:bodyPr>
          <a:lstStyle/>
          <a:p>
            <a:r>
              <a:rPr lang="en-US" altLang="zh-CN"/>
              <a:t>01</a:t>
            </a:r>
            <a:endParaRPr lang="zh-CN" altLang="en-US"/>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p:txBody>
          <a:bodyPr>
            <a:spAutoFit/>
          </a:bodyPr>
          <a:lstStyle/>
          <a:p>
            <a:r>
              <a:rPr lang="zh-CN" altLang="en-US" dirty="0"/>
              <a:t>题目回顾</a:t>
            </a:r>
            <a:endParaRPr lang="af-ZA" altLang="zh-CN" dirty="0"/>
          </a:p>
        </p:txBody>
      </p:sp>
    </p:spTree>
    <p:extLst>
      <p:ext uri="{BB962C8B-B14F-4D97-AF65-F5344CB8AC3E}">
        <p14:creationId xmlns:p14="http://schemas.microsoft.com/office/powerpoint/2010/main" val="1949798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a:t>
            </a:fld>
            <a:endParaRPr lang="zh-CN" altLang="en-US" dirty="0"/>
          </a:p>
        </p:txBody>
      </p:sp>
      <p:sp>
        <p:nvSpPr>
          <p:cNvPr id="8" name="文本框 7">
            <a:extLst>
              <a:ext uri="{FF2B5EF4-FFF2-40B4-BE49-F238E27FC236}">
                <a16:creationId xmlns:a16="http://schemas.microsoft.com/office/drawing/2014/main" id="{C4544AA1-D684-8516-2AAA-72C191F0D9DC}"/>
              </a:ext>
            </a:extLst>
          </p:cNvPr>
          <p:cNvSpPr txBox="1"/>
          <p:nvPr/>
        </p:nvSpPr>
        <p:spPr>
          <a:xfrm>
            <a:off x="429380" y="989581"/>
            <a:ext cx="5340908" cy="5293757"/>
          </a:xfrm>
          <a:prstGeom prst="rect">
            <a:avLst/>
          </a:prstGeom>
          <a:noFill/>
        </p:spPr>
        <p:txBody>
          <a:bodyPr wrap="square" rtlCol="0">
            <a:spAutoFit/>
          </a:bodyPr>
          <a:lstStyle/>
          <a:p>
            <a:pPr algn="just"/>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The </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responses of a LRC circuit</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driven by an AC source can be changed by </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inserting either a non-magnetic metal rod or a ferromagnetic rod</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 into the inductor coil. How can we obtain the </a:t>
            </a:r>
            <a:r>
              <a:rPr lang="en-US" altLang="zh-CN" sz="2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magnetic and electric properties </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of the inserted rod from the circuit’s responses?</a:t>
            </a:r>
          </a:p>
          <a:p>
            <a:pPr algn="just"/>
            <a:r>
              <a:rPr lang="zh-CN" altLang="en-US" sz="2600" dirty="0">
                <a:latin typeface="宋体" panose="02010600030101010101" pitchFamily="2" charset="-122"/>
                <a:ea typeface="宋体" panose="02010600030101010101" pitchFamily="2" charset="-122"/>
                <a:cs typeface="Times New Roman" panose="02020603050405020304" pitchFamily="18" charset="0"/>
              </a:rPr>
              <a:t>通过在电感线圈中</a:t>
            </a:r>
            <a:r>
              <a:rPr lang="zh-CN" altLang="en-US" sz="2600" dirty="0">
                <a:solidFill>
                  <a:srgbClr val="FF0000"/>
                </a:solidFill>
                <a:latin typeface="宋体" panose="02010600030101010101" pitchFamily="2" charset="-122"/>
                <a:ea typeface="宋体" panose="02010600030101010101" pitchFamily="2" charset="-122"/>
                <a:cs typeface="Times New Roman" panose="02020603050405020304" pitchFamily="18" charset="0"/>
              </a:rPr>
              <a:t>插入非磁性金属棒或铁磁性棒</a:t>
            </a:r>
            <a:r>
              <a:rPr lang="zh-CN" altLang="en-US" sz="2600" dirty="0">
                <a:latin typeface="宋体" panose="02010600030101010101" pitchFamily="2" charset="-122"/>
                <a:ea typeface="宋体" panose="02010600030101010101" pitchFamily="2" charset="-122"/>
                <a:cs typeface="Times New Roman" panose="02020603050405020304" pitchFamily="18" charset="0"/>
              </a:rPr>
              <a:t>，可以改变由交流源驱动的</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LRC</a:t>
            </a:r>
            <a:r>
              <a:rPr lang="zh-CN" altLang="en-US" sz="2600" dirty="0">
                <a:solidFill>
                  <a:srgbClr val="FF0000"/>
                </a:solidFill>
                <a:latin typeface="宋体" panose="02010600030101010101" pitchFamily="2" charset="-122"/>
                <a:ea typeface="宋体" panose="02010600030101010101" pitchFamily="2" charset="-122"/>
                <a:cs typeface="Times New Roman" panose="02020603050405020304" pitchFamily="18" charset="0"/>
              </a:rPr>
              <a:t>电路的响应</a:t>
            </a:r>
            <a:r>
              <a:rPr lang="zh-CN" altLang="en-US" sz="2600" dirty="0">
                <a:latin typeface="宋体" panose="02010600030101010101" pitchFamily="2" charset="-122"/>
                <a:ea typeface="宋体" panose="02010600030101010101" pitchFamily="2" charset="-122"/>
                <a:cs typeface="Times New Roman" panose="02020603050405020304" pitchFamily="18" charset="0"/>
              </a:rPr>
              <a:t>。我们如何从电路的响应中获得插入棒的</a:t>
            </a:r>
            <a:r>
              <a:rPr lang="zh-CN" altLang="en-US" sz="2600" dirty="0">
                <a:solidFill>
                  <a:srgbClr val="FF0000"/>
                </a:solidFill>
                <a:latin typeface="宋体" panose="02010600030101010101" pitchFamily="2" charset="-122"/>
                <a:ea typeface="宋体" panose="02010600030101010101" pitchFamily="2" charset="-122"/>
                <a:cs typeface="Times New Roman" panose="02020603050405020304" pitchFamily="18" charset="0"/>
              </a:rPr>
              <a:t>磁性和电学性质</a:t>
            </a:r>
            <a:r>
              <a:rPr lang="en-US" altLang="zh-CN" sz="26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6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3765D353-43D5-ACD4-8EFE-7CBE87131300}"/>
              </a:ext>
            </a:extLst>
          </p:cNvPr>
          <p:cNvSpPr txBox="1"/>
          <p:nvPr/>
        </p:nvSpPr>
        <p:spPr>
          <a:xfrm>
            <a:off x="6233806" y="1015500"/>
            <a:ext cx="1533872"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关键词</a:t>
            </a:r>
          </a:p>
        </p:txBody>
      </p:sp>
      <p:sp>
        <p:nvSpPr>
          <p:cNvPr id="2" name="文本框 1">
            <a:extLst>
              <a:ext uri="{FF2B5EF4-FFF2-40B4-BE49-F238E27FC236}">
                <a16:creationId xmlns:a16="http://schemas.microsoft.com/office/drawing/2014/main" id="{DDE4C5C5-4207-51DA-920D-7B435A8E2C38}"/>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题目回顾</a:t>
            </a:r>
          </a:p>
        </p:txBody>
      </p:sp>
      <p:grpSp>
        <p:nvGrpSpPr>
          <p:cNvPr id="30" name="组合 29">
            <a:extLst>
              <a:ext uri="{FF2B5EF4-FFF2-40B4-BE49-F238E27FC236}">
                <a16:creationId xmlns:a16="http://schemas.microsoft.com/office/drawing/2014/main" id="{2A7550FE-7EA9-F965-5A0C-54C6FCDE99DC}"/>
              </a:ext>
            </a:extLst>
          </p:cNvPr>
          <p:cNvGrpSpPr/>
          <p:nvPr/>
        </p:nvGrpSpPr>
        <p:grpSpPr>
          <a:xfrm>
            <a:off x="6186733" y="3464589"/>
            <a:ext cx="5828986" cy="1107996"/>
            <a:chOff x="6351511" y="1782756"/>
            <a:chExt cx="5170556" cy="1107996"/>
          </a:xfrm>
        </p:grpSpPr>
        <p:sp>
          <p:nvSpPr>
            <p:cNvPr id="14" name="文本框 13">
              <a:extLst>
                <a:ext uri="{FF2B5EF4-FFF2-40B4-BE49-F238E27FC236}">
                  <a16:creationId xmlns:a16="http://schemas.microsoft.com/office/drawing/2014/main" id="{22DE4C87-2896-C4A6-4D76-EC228A5565A0}"/>
                </a:ext>
              </a:extLst>
            </p:cNvPr>
            <p:cNvSpPr txBox="1"/>
            <p:nvPr/>
          </p:nvSpPr>
          <p:spPr>
            <a:xfrm>
              <a:off x="7223709" y="1782756"/>
              <a:ext cx="4298358" cy="1107996"/>
            </a:xfrm>
            <a:prstGeom prst="rect">
              <a:avLst/>
            </a:prstGeom>
            <a:noFill/>
            <a:ln w="19050">
              <a:solidFill>
                <a:schemeClr val="accent4">
                  <a:lumMod val="75000"/>
                </a:schemeClr>
              </a:solidFill>
            </a:ln>
          </p:spPr>
          <p:txBody>
            <a:bodyPr wrap="square" rtlCol="0">
              <a:spAutoFit/>
            </a:bodyPr>
            <a:lstStyle/>
            <a:p>
              <a:pPr algn="ct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“responses of a LRC circuit”</a:t>
              </a:r>
            </a:p>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LRC</a:t>
              </a:r>
              <a:r>
                <a:rPr lang="zh-CN" altLang="en-US" sz="2400" b="1" dirty="0">
                  <a:latin typeface="宋体" panose="02010600030101010101" pitchFamily="2" charset="-122"/>
                  <a:ea typeface="宋体" panose="02010600030101010101" pitchFamily="2" charset="-122"/>
                </a:rPr>
                <a:t>电路的响应</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
          <p:nvSpPr>
            <p:cNvPr id="20" name="矩形: 圆角 19">
              <a:extLst>
                <a:ext uri="{FF2B5EF4-FFF2-40B4-BE49-F238E27FC236}">
                  <a16:creationId xmlns:a16="http://schemas.microsoft.com/office/drawing/2014/main" id="{33A98F8C-6AF7-683E-7BB5-19D12031A8DE}"/>
                </a:ext>
              </a:extLst>
            </p:cNvPr>
            <p:cNvSpPr/>
            <p:nvPr/>
          </p:nvSpPr>
          <p:spPr>
            <a:xfrm>
              <a:off x="6351511" y="1955094"/>
              <a:ext cx="7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2</a:t>
              </a:r>
              <a:endParaRPr lang="zh-CN" altLang="en-US" sz="4000" b="1" dirty="0">
                <a:latin typeface="微软雅黑" panose="020B0503020204020204" pitchFamily="34" charset="-122"/>
                <a:ea typeface="微软雅黑" panose="020B0503020204020204" pitchFamily="34" charset="-122"/>
              </a:endParaRPr>
            </a:p>
          </p:txBody>
        </p:sp>
      </p:grpSp>
      <p:cxnSp>
        <p:nvCxnSpPr>
          <p:cNvPr id="29" name="直接连接符 28">
            <a:extLst>
              <a:ext uri="{FF2B5EF4-FFF2-40B4-BE49-F238E27FC236}">
                <a16:creationId xmlns:a16="http://schemas.microsoft.com/office/drawing/2014/main" id="{AB047B3B-77C0-07AA-0AF9-A5231247DFCF}"/>
              </a:ext>
            </a:extLst>
          </p:cNvPr>
          <p:cNvCxnSpPr/>
          <p:nvPr/>
        </p:nvCxnSpPr>
        <p:spPr>
          <a:xfrm>
            <a:off x="5958195" y="1089720"/>
            <a:ext cx="0" cy="5399857"/>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C4007D34-45A4-9653-821D-B8E57BA67621}"/>
              </a:ext>
            </a:extLst>
          </p:cNvPr>
          <p:cNvGrpSpPr/>
          <p:nvPr/>
        </p:nvGrpSpPr>
        <p:grpSpPr>
          <a:xfrm>
            <a:off x="6169854" y="1869640"/>
            <a:ext cx="5862744" cy="1323439"/>
            <a:chOff x="6169531" y="1797931"/>
            <a:chExt cx="5131742" cy="1323439"/>
          </a:xfrm>
        </p:grpSpPr>
        <p:sp>
          <p:nvSpPr>
            <p:cNvPr id="33" name="文本框 32">
              <a:extLst>
                <a:ext uri="{FF2B5EF4-FFF2-40B4-BE49-F238E27FC236}">
                  <a16:creationId xmlns:a16="http://schemas.microsoft.com/office/drawing/2014/main" id="{C172FAB1-69FA-DEBA-B877-80BF3B9F58FE}"/>
                </a:ext>
              </a:extLst>
            </p:cNvPr>
            <p:cNvSpPr txBox="1"/>
            <p:nvPr/>
          </p:nvSpPr>
          <p:spPr>
            <a:xfrm>
              <a:off x="7054010" y="1797931"/>
              <a:ext cx="4247263" cy="1323439"/>
            </a:xfrm>
            <a:prstGeom prst="rect">
              <a:avLst/>
            </a:prstGeom>
            <a:noFill/>
            <a:ln w="19050">
              <a:solidFill>
                <a:schemeClr val="accent4">
                  <a:lumMod val="75000"/>
                </a:schemeClr>
              </a:solidFill>
            </a:ln>
          </p:spPr>
          <p:txBody>
            <a:bodyPr wrap="square" rtlCol="0">
              <a:spAutoFit/>
            </a:bodyPr>
            <a:lstStyle/>
            <a:p>
              <a:pPr algn="ct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“inserting either a non-magnetic metal rod or a ferromagnetic rod”</a:t>
              </a:r>
            </a:p>
            <a:p>
              <a:pPr algn="ctr"/>
              <a:r>
                <a:rPr lang="zh-CN" altLang="en-US" sz="2400" b="1" dirty="0">
                  <a:latin typeface="宋体" panose="02010600030101010101" pitchFamily="2" charset="-122"/>
                  <a:ea typeface="宋体" panose="02010600030101010101" pitchFamily="2" charset="-122"/>
                </a:rPr>
                <a:t>插入非磁性金属棒或铁磁性棒</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
          <p:nvSpPr>
            <p:cNvPr id="34" name="矩形: 圆角 33">
              <a:extLst>
                <a:ext uri="{FF2B5EF4-FFF2-40B4-BE49-F238E27FC236}">
                  <a16:creationId xmlns:a16="http://schemas.microsoft.com/office/drawing/2014/main" id="{CBB38124-4A3A-A232-B2BC-C2EDBC0CE6BC}"/>
                </a:ext>
              </a:extLst>
            </p:cNvPr>
            <p:cNvSpPr/>
            <p:nvPr/>
          </p:nvSpPr>
          <p:spPr>
            <a:xfrm>
              <a:off x="6169531" y="2099650"/>
              <a:ext cx="7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1</a:t>
              </a:r>
              <a:endParaRPr lang="zh-CN" altLang="en-US" sz="4000" b="1" dirty="0">
                <a:latin typeface="微软雅黑" panose="020B0503020204020204" pitchFamily="34" charset="-122"/>
                <a:ea typeface="微软雅黑" panose="020B0503020204020204" pitchFamily="34" charset="-122"/>
              </a:endParaRPr>
            </a:p>
          </p:txBody>
        </p:sp>
      </p:grpSp>
      <p:sp>
        <p:nvSpPr>
          <p:cNvPr id="35" name="矩形 34">
            <a:extLst>
              <a:ext uri="{FF2B5EF4-FFF2-40B4-BE49-F238E27FC236}">
                <a16:creationId xmlns:a16="http://schemas.microsoft.com/office/drawing/2014/main" id="{99E5253C-E9CE-DBE8-D0C0-83B1F6415297}"/>
              </a:ext>
            </a:extLst>
          </p:cNvPr>
          <p:cNvSpPr/>
          <p:nvPr/>
        </p:nvSpPr>
        <p:spPr>
          <a:xfrm>
            <a:off x="146604" y="6236041"/>
            <a:ext cx="5811591" cy="369332"/>
          </a:xfrm>
          <a:prstGeom prst="rect">
            <a:avLst/>
          </a:prstGeom>
        </p:spPr>
        <p:txBody>
          <a:bodyPr wrap="none">
            <a:spAutoFit/>
          </a:bodyPr>
          <a:lstStyle/>
          <a:p>
            <a:r>
              <a:rPr lang="en-US" altLang="zh-CN" dirty="0">
                <a:solidFill>
                  <a:srgbClr val="27304F"/>
                </a:solidFill>
                <a:latin typeface="Times New Roman" panose="02020603050405020304" pitchFamily="18" charset="0"/>
                <a:ea typeface="等线" panose="02010600030101010101" charset="-122"/>
                <a:cs typeface="Times New Roman" panose="02020603050405020304" pitchFamily="18" charset="0"/>
              </a:rPr>
              <a:t>Ref: Preparation to the Young Physicists’ Tournaments’ 2024</a:t>
            </a:r>
            <a:endParaRPr lang="zh-CN" altLang="en-US" dirty="0">
              <a:solidFill>
                <a:srgbClr val="27304F"/>
              </a:solidFill>
              <a:latin typeface="Times New Roman" panose="02020603050405020304" pitchFamily="18" charset="0"/>
              <a:ea typeface="等线" panose="02010600030101010101" charset="-122"/>
              <a:cs typeface="Times New Roman" panose="02020603050405020304" pitchFamily="18" charset="0"/>
            </a:endParaRPr>
          </a:p>
        </p:txBody>
      </p:sp>
      <p:grpSp>
        <p:nvGrpSpPr>
          <p:cNvPr id="9" name="组合 8">
            <a:extLst>
              <a:ext uri="{FF2B5EF4-FFF2-40B4-BE49-F238E27FC236}">
                <a16:creationId xmlns:a16="http://schemas.microsoft.com/office/drawing/2014/main" id="{CBDAD087-A7CE-252A-CB6B-91117877AA0F}"/>
              </a:ext>
            </a:extLst>
          </p:cNvPr>
          <p:cNvGrpSpPr/>
          <p:nvPr/>
        </p:nvGrpSpPr>
        <p:grpSpPr>
          <a:xfrm>
            <a:off x="6163603" y="4903832"/>
            <a:ext cx="5862743" cy="1388140"/>
            <a:chOff x="6334010" y="1797931"/>
            <a:chExt cx="4967263" cy="1323439"/>
          </a:xfrm>
        </p:grpSpPr>
        <p:sp>
          <p:nvSpPr>
            <p:cNvPr id="10" name="文本框 9">
              <a:extLst>
                <a:ext uri="{FF2B5EF4-FFF2-40B4-BE49-F238E27FC236}">
                  <a16:creationId xmlns:a16="http://schemas.microsoft.com/office/drawing/2014/main" id="{EA2C1CDE-434D-C1AF-74B5-6E6CDB7A3122}"/>
                </a:ext>
              </a:extLst>
            </p:cNvPr>
            <p:cNvSpPr txBox="1"/>
            <p:nvPr/>
          </p:nvSpPr>
          <p:spPr>
            <a:xfrm>
              <a:off x="7223708" y="1797931"/>
              <a:ext cx="4077565" cy="1323439"/>
            </a:xfrm>
            <a:prstGeom prst="rect">
              <a:avLst/>
            </a:prstGeom>
            <a:noFill/>
            <a:ln w="19050">
              <a:solidFill>
                <a:schemeClr val="accent4">
                  <a:lumMod val="75000"/>
                </a:schemeClr>
              </a:solidFill>
            </a:ln>
          </p:spPr>
          <p:txBody>
            <a:bodyPr wrap="square" rtlCol="0">
              <a:spAutoFit/>
            </a:bodyPr>
            <a:lstStyle/>
            <a:p>
              <a:pPr algn="ct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“magnetic and electric properties”</a:t>
              </a:r>
            </a:p>
            <a:p>
              <a:pPr algn="ctr"/>
              <a:r>
                <a:rPr lang="zh-CN" altLang="en-US" sz="2400" b="1" dirty="0">
                  <a:latin typeface="宋体" panose="02010600030101010101" pitchFamily="2" charset="-122"/>
                  <a:ea typeface="宋体" panose="02010600030101010101" pitchFamily="2" charset="-122"/>
                </a:rPr>
                <a:t>磁性和电学性质</a:t>
              </a:r>
              <a:endParaRPr lang="en-US" altLang="zh-CN" sz="24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2" name="矩形: 圆角 11">
              <a:extLst>
                <a:ext uri="{FF2B5EF4-FFF2-40B4-BE49-F238E27FC236}">
                  <a16:creationId xmlns:a16="http://schemas.microsoft.com/office/drawing/2014/main" id="{7D7E2BD7-219B-2EFD-D76E-DCBCF4024EBC}"/>
                </a:ext>
              </a:extLst>
            </p:cNvPr>
            <p:cNvSpPr/>
            <p:nvPr/>
          </p:nvSpPr>
          <p:spPr>
            <a:xfrm>
              <a:off x="6334010" y="2099650"/>
              <a:ext cx="7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3</a:t>
              </a:r>
              <a:endParaRPr lang="zh-CN" altLang="en-US" sz="40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834025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p:txBody>
          <a:bodyPr>
            <a:spAutoFit/>
          </a:bodyPr>
          <a:lstStyle/>
          <a:p>
            <a:r>
              <a:rPr lang="en-US" altLang="zh-CN" dirty="0"/>
              <a:t>02</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p:txBody>
          <a:bodyPr>
            <a:spAutoFit/>
          </a:bodyPr>
          <a:lstStyle/>
          <a:p>
            <a:r>
              <a:rPr lang="zh-CN" altLang="en-US" dirty="0"/>
              <a:t>预实验</a:t>
            </a:r>
            <a:endParaRPr lang="af-ZA" altLang="zh-CN" dirty="0"/>
          </a:p>
        </p:txBody>
      </p:sp>
    </p:spTree>
    <p:extLst>
      <p:ext uri="{BB962C8B-B14F-4D97-AF65-F5344CB8AC3E}">
        <p14:creationId xmlns:p14="http://schemas.microsoft.com/office/powerpoint/2010/main" val="86789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6</a:t>
            </a:fld>
            <a:endParaRPr lang="zh-CN" altLang="en-US" dirty="0"/>
          </a:p>
        </p:txBody>
      </p:sp>
      <p:sp>
        <p:nvSpPr>
          <p:cNvPr id="2" name="文本框 1">
            <a:extLst>
              <a:ext uri="{FF2B5EF4-FFF2-40B4-BE49-F238E27FC236}">
                <a16:creationId xmlns:a16="http://schemas.microsoft.com/office/drawing/2014/main" id="{3D3A1E28-C96D-2F1B-E169-3D918F7FB0A9}"/>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预实验</a:t>
            </a: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D5C6254-6625-2462-6F26-F23107D8839A}"/>
                  </a:ext>
                </a:extLst>
              </p:cNvPr>
              <p:cNvSpPr txBox="1"/>
              <p:nvPr/>
            </p:nvSpPr>
            <p:spPr>
              <a:xfrm>
                <a:off x="1119852" y="1259054"/>
                <a:ext cx="10325230" cy="1954959"/>
              </a:xfrm>
              <a:prstGeom prst="rect">
                <a:avLst/>
              </a:prstGeom>
              <a:noFill/>
            </p:spPr>
            <p:txBody>
              <a:bodyPr wrap="square" rtlCol="0">
                <a:spAutoFit/>
              </a:bodyPr>
              <a:lstStyle/>
              <a:p>
                <a:pPr indent="720000">
                  <a:lnSpc>
                    <a:spcPct val="150000"/>
                  </a:lnSpc>
                </a:pPr>
                <a:r>
                  <a:rPr lang="zh-CN" altLang="en-US" sz="2800" dirty="0">
                    <a:latin typeface="微软雅黑" panose="020B0503020204020204" pitchFamily="34" charset="-122"/>
                    <a:ea typeface="微软雅黑" panose="020B0503020204020204" pitchFamily="34" charset="-122"/>
                  </a:rPr>
                  <a:t>搭建</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LRC</a:t>
                </a:r>
                <a:r>
                  <a:rPr lang="zh-CN" altLang="en-US" sz="2800" dirty="0">
                    <a:latin typeface="微软雅黑" panose="020B0503020204020204" pitchFamily="34" charset="-122"/>
                    <a:ea typeface="微软雅黑" panose="020B0503020204020204" pitchFamily="34" charset="-122"/>
                  </a:rPr>
                  <a:t>电路，通过程序控制（见附录</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）信号发生器在</a:t>
                </a:r>
                <a14:m>
                  <m:oMath xmlns:m="http://schemas.openxmlformats.org/officeDocument/2006/math">
                    <m:r>
                      <a:rPr lang="en-US" altLang="zh-CN" sz="2800" i="1" dirty="0" smtClean="0">
                        <a:latin typeface="Cambria Math" panose="02040503050406030204" pitchFamily="18" charset="0"/>
                        <a:ea typeface="微软雅黑" panose="020B0503020204020204" pitchFamily="34" charset="-122"/>
                      </a:rPr>
                      <m:t>1</m:t>
                    </m:r>
                    <m:r>
                      <m:rPr>
                        <m:sty m:val="p"/>
                      </m:rPr>
                      <a:rPr lang="en-US" altLang="zh-CN" sz="2800" i="0" dirty="0" smtClean="0">
                        <a:latin typeface="Cambria Math" panose="02040503050406030204" pitchFamily="18" charset="0"/>
                        <a:ea typeface="微软雅黑" panose="020B0503020204020204" pitchFamily="34" charset="-122"/>
                      </a:rPr>
                      <m:t>kHz</m:t>
                    </m:r>
                    <m:r>
                      <a:rPr lang="en-US" altLang="zh-CN" sz="2800" i="1" dirty="0" smtClean="0">
                        <a:latin typeface="Cambria Math" panose="02040503050406030204" pitchFamily="18" charset="0"/>
                        <a:ea typeface="微软雅黑" panose="020B0503020204020204" pitchFamily="34" charset="-122"/>
                      </a:rPr>
                      <m:t>−100</m:t>
                    </m:r>
                    <m:r>
                      <m:rPr>
                        <m:sty m:val="p"/>
                      </m:rPr>
                      <a:rPr lang="en-US" altLang="zh-CN" sz="2800" i="0" dirty="0" smtClean="0">
                        <a:latin typeface="Cambria Math" panose="02040503050406030204" pitchFamily="18" charset="0"/>
                        <a:ea typeface="微软雅黑" panose="020B0503020204020204" pitchFamily="34" charset="-122"/>
                      </a:rPr>
                      <m:t>kHz</m:t>
                    </m:r>
                  </m:oMath>
                </a14:m>
                <a:r>
                  <a:rPr lang="zh-CN" altLang="en-US" sz="2800" dirty="0">
                    <a:latin typeface="微软雅黑" panose="020B0503020204020204" pitchFamily="34" charset="-122"/>
                    <a:ea typeface="微软雅黑" panose="020B0503020204020204" pitchFamily="34" charset="-122"/>
                  </a:rPr>
                  <a:t>内扫描，通过观察电路的幅频特性曲线和相频特性曲线，得到</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LRC</a:t>
                </a:r>
                <a:r>
                  <a:rPr lang="zh-CN" altLang="en-US" sz="2800" dirty="0">
                    <a:latin typeface="微软雅黑" panose="020B0503020204020204" pitchFamily="34" charset="-122"/>
                    <a:ea typeface="微软雅黑" panose="020B0503020204020204" pitchFamily="34" charset="-122"/>
                  </a:rPr>
                  <a:t>电路的响应。</a:t>
                </a:r>
                <a:endParaRPr lang="en-US" altLang="zh-CN" sz="2800" dirty="0">
                  <a:latin typeface="微软雅黑" panose="020B0503020204020204" pitchFamily="34" charset="-122"/>
                  <a:ea typeface="微软雅黑" panose="020B0503020204020204" pitchFamily="34" charset="-122"/>
                </a:endParaRPr>
              </a:p>
            </p:txBody>
          </p:sp>
        </mc:Choice>
        <mc:Fallback xmlns="">
          <p:sp>
            <p:nvSpPr>
              <p:cNvPr id="36" name="文本框 35">
                <a:extLst>
                  <a:ext uri="{FF2B5EF4-FFF2-40B4-BE49-F238E27FC236}">
                    <a16:creationId xmlns:a16="http://schemas.microsoft.com/office/drawing/2014/main" id="{AD5C6254-6625-2462-6F26-F23107D8839A}"/>
                  </a:ext>
                </a:extLst>
              </p:cNvPr>
              <p:cNvSpPr txBox="1">
                <a:spLocks noRot="1" noChangeAspect="1" noMove="1" noResize="1" noEditPoints="1" noAdjustHandles="1" noChangeArrowheads="1" noChangeShapeType="1" noTextEdit="1"/>
              </p:cNvSpPr>
              <p:nvPr/>
            </p:nvSpPr>
            <p:spPr>
              <a:xfrm>
                <a:off x="1119852" y="1259054"/>
                <a:ext cx="10325230" cy="1954959"/>
              </a:xfrm>
              <a:prstGeom prst="rect">
                <a:avLst/>
              </a:prstGeom>
              <a:blipFill>
                <a:blip r:embed="rId2"/>
                <a:stretch>
                  <a:fillRect l="-1240" b="-8125"/>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69D52327-DC72-6A2A-78E1-19D273F3FFDA}"/>
              </a:ext>
            </a:extLst>
          </p:cNvPr>
          <p:cNvGrpSpPr/>
          <p:nvPr/>
        </p:nvGrpSpPr>
        <p:grpSpPr>
          <a:xfrm>
            <a:off x="1414687" y="3108256"/>
            <a:ext cx="3808683" cy="3405914"/>
            <a:chOff x="666138" y="3191466"/>
            <a:chExt cx="3808683" cy="3405914"/>
          </a:xfrm>
        </p:grpSpPr>
        <p:pic>
          <p:nvPicPr>
            <p:cNvPr id="9" name="图片 8">
              <a:extLst>
                <a:ext uri="{FF2B5EF4-FFF2-40B4-BE49-F238E27FC236}">
                  <a16:creationId xmlns:a16="http://schemas.microsoft.com/office/drawing/2014/main" id="{00A8D890-2485-A217-6E7F-B9D735377A67}"/>
                </a:ext>
              </a:extLst>
            </p:cNvPr>
            <p:cNvPicPr>
              <a:picLocks noChangeAspect="1"/>
            </p:cNvPicPr>
            <p:nvPr/>
          </p:nvPicPr>
          <p:blipFill>
            <a:blip r:embed="rId3"/>
            <a:stretch>
              <a:fillRect/>
            </a:stretch>
          </p:blipFill>
          <p:spPr>
            <a:xfrm>
              <a:off x="1011578" y="3191466"/>
              <a:ext cx="2933292" cy="3062709"/>
            </a:xfrm>
            <a:prstGeom prst="rect">
              <a:avLst/>
            </a:prstGeom>
          </p:spPr>
        </p:pic>
        <p:sp>
          <p:nvSpPr>
            <p:cNvPr id="13" name="文本框 12">
              <a:extLst>
                <a:ext uri="{FF2B5EF4-FFF2-40B4-BE49-F238E27FC236}">
                  <a16:creationId xmlns:a16="http://schemas.microsoft.com/office/drawing/2014/main" id="{2D2E9819-4589-5409-3860-66873FAAB356}"/>
                </a:ext>
              </a:extLst>
            </p:cNvPr>
            <p:cNvSpPr txBox="1"/>
            <p:nvPr/>
          </p:nvSpPr>
          <p:spPr>
            <a:xfrm>
              <a:off x="666138" y="6231570"/>
              <a:ext cx="3808683" cy="365810"/>
            </a:xfrm>
            <a:prstGeom prst="rect">
              <a:avLst/>
            </a:prstGeom>
            <a:noFill/>
          </p:spPr>
          <p:txBody>
            <a:bodyPr wrap="square">
              <a:spAutoFit/>
            </a:bodyPr>
            <a:lstStyle/>
            <a:p>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LRC</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电路测特性曲线电路图</a:t>
              </a:r>
            </a:p>
          </p:txBody>
        </p:sp>
      </p:grpSp>
      <p:grpSp>
        <p:nvGrpSpPr>
          <p:cNvPr id="5" name="组合 4">
            <a:extLst>
              <a:ext uri="{FF2B5EF4-FFF2-40B4-BE49-F238E27FC236}">
                <a16:creationId xmlns:a16="http://schemas.microsoft.com/office/drawing/2014/main" id="{FF6117EC-34D7-9092-80BC-F515781E3611}"/>
              </a:ext>
            </a:extLst>
          </p:cNvPr>
          <p:cNvGrpSpPr/>
          <p:nvPr/>
        </p:nvGrpSpPr>
        <p:grpSpPr>
          <a:xfrm>
            <a:off x="6907908" y="3359039"/>
            <a:ext cx="3684011" cy="3155131"/>
            <a:chOff x="1272605" y="3450639"/>
            <a:chExt cx="3684011" cy="3155131"/>
          </a:xfrm>
        </p:grpSpPr>
        <p:pic>
          <p:nvPicPr>
            <p:cNvPr id="7" name="图片 6" descr="图片包含 文本&#10;&#10;描述已自动生成">
              <a:extLst>
                <a:ext uri="{FF2B5EF4-FFF2-40B4-BE49-F238E27FC236}">
                  <a16:creationId xmlns:a16="http://schemas.microsoft.com/office/drawing/2014/main" id="{7E3BC039-05F1-08E1-8CA2-1B3D590008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742224" y="2981020"/>
              <a:ext cx="2602687" cy="3541926"/>
            </a:xfrm>
            <a:prstGeom prst="rect">
              <a:avLst/>
            </a:prstGeom>
          </p:spPr>
        </p:pic>
        <p:sp>
          <p:nvSpPr>
            <p:cNvPr id="8" name="文本框 7">
              <a:extLst>
                <a:ext uri="{FF2B5EF4-FFF2-40B4-BE49-F238E27FC236}">
                  <a16:creationId xmlns:a16="http://schemas.microsoft.com/office/drawing/2014/main" id="{58C800A4-8238-2C89-F754-76EAE11C0C06}"/>
                </a:ext>
              </a:extLst>
            </p:cNvPr>
            <p:cNvSpPr txBox="1"/>
            <p:nvPr/>
          </p:nvSpPr>
          <p:spPr>
            <a:xfrm>
              <a:off x="1414688" y="6144105"/>
              <a:ext cx="3541928" cy="461665"/>
            </a:xfrm>
            <a:prstGeom prst="rect">
              <a:avLst/>
            </a:prstGeom>
            <a:noFill/>
          </p:spPr>
          <p:txBody>
            <a:bodyPr wrap="square" rtlCol="0">
              <a:spAutoFit/>
            </a:bodyPr>
            <a:lstStyle/>
            <a:p>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：电感线圈实物图</a:t>
              </a:r>
            </a:p>
          </p:txBody>
        </p:sp>
      </p:grpSp>
    </p:spTree>
    <p:extLst>
      <p:ext uri="{BB962C8B-B14F-4D97-AF65-F5344CB8AC3E}">
        <p14:creationId xmlns:p14="http://schemas.microsoft.com/office/powerpoint/2010/main" val="3885798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7</a:t>
            </a:fld>
            <a:endParaRPr lang="zh-CN" altLang="en-US" dirty="0"/>
          </a:p>
        </p:txBody>
      </p:sp>
      <p:sp>
        <p:nvSpPr>
          <p:cNvPr id="2" name="文本框 1">
            <a:extLst>
              <a:ext uri="{FF2B5EF4-FFF2-40B4-BE49-F238E27FC236}">
                <a16:creationId xmlns:a16="http://schemas.microsoft.com/office/drawing/2014/main" id="{3D3A1E28-C96D-2F1B-E169-3D918F7FB0A9}"/>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初步分析</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D2CA03C-49F3-B7A1-E4B5-4A012123B0F4}"/>
                  </a:ext>
                </a:extLst>
              </p:cNvPr>
              <p:cNvSpPr txBox="1"/>
              <p:nvPr/>
            </p:nvSpPr>
            <p:spPr>
              <a:xfrm>
                <a:off x="818746" y="1325542"/>
                <a:ext cx="10325230" cy="4251870"/>
              </a:xfrm>
              <a:prstGeom prst="rect">
                <a:avLst/>
              </a:prstGeom>
              <a:noFill/>
            </p:spPr>
            <p:txBody>
              <a:bodyPr wrap="square" rtlCol="0">
                <a:spAutoFit/>
              </a:bodyPr>
              <a:lstStyle/>
              <a:p>
                <a:pPr indent="720000">
                  <a:lnSpc>
                    <a:spcPct val="150000"/>
                  </a:lnSpc>
                </a:pPr>
                <a:r>
                  <a:rPr lang="zh-CN" altLang="en-US" sz="2600" dirty="0">
                    <a:latin typeface="微软雅黑" panose="020B0503020204020204" pitchFamily="34" charset="-122"/>
                    <a:ea typeface="微软雅黑" panose="020B0503020204020204" pitchFamily="34" charset="-122"/>
                  </a:rPr>
                  <a:t>幅频特性曲线：</a:t>
                </a:r>
                <a14:m>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rPr>
                        </m:ctrlPr>
                      </m:eqArrPr>
                      <m:e>
                        <m:r>
                          <a:rPr lang="en-US" altLang="zh-CN" sz="2600" b="0" i="1" smtClean="0">
                            <a:latin typeface="Cambria Math" panose="02040503050406030204" pitchFamily="18" charset="0"/>
                            <a:ea typeface="微软雅黑" panose="020B0503020204020204" pitchFamily="34" charset="-122"/>
                          </a:rPr>
                          <m:t>𝐴</m:t>
                        </m:r>
                        <m:d>
                          <m:dPr>
                            <m:ctrlPr>
                              <a:rPr lang="en-US" altLang="zh-CN" sz="2600" b="0" i="1" smtClean="0">
                                <a:latin typeface="Cambria Math" panose="02040503050406030204" pitchFamily="18" charset="0"/>
                                <a:ea typeface="微软雅黑" panose="020B0503020204020204" pitchFamily="34" charset="-122"/>
                              </a:rPr>
                            </m:ctrlPr>
                          </m:dPr>
                          <m:e>
                            <m:r>
                              <a:rPr lang="zh-CN" altLang="en-US" sz="2600" b="0" i="1" smtClean="0">
                                <a:latin typeface="Cambria Math" panose="02040503050406030204" pitchFamily="18" charset="0"/>
                                <a:ea typeface="微软雅黑" panose="020B0503020204020204" pitchFamily="34" charset="-122"/>
                              </a:rPr>
                              <m:t>𝜔</m:t>
                            </m:r>
                          </m:e>
                        </m:d>
                        <m:r>
                          <a:rPr lang="en-US" altLang="zh-CN" sz="2600" b="0" i="1" smtClean="0">
                            <a:latin typeface="Cambria Math" panose="02040503050406030204" pitchFamily="18" charset="0"/>
                            <a:ea typeface="微软雅黑" panose="020B0503020204020204" pitchFamily="34" charset="-122"/>
                          </a:rPr>
                          <m:t>=</m:t>
                        </m:r>
                        <m:f>
                          <m:fPr>
                            <m:ctrlPr>
                              <a:rPr lang="en-US" altLang="zh-CN" sz="2600" b="0" i="1" smtClean="0">
                                <a:latin typeface="Cambria Math" panose="02040503050406030204" pitchFamily="18" charset="0"/>
                                <a:ea typeface="微软雅黑" panose="020B0503020204020204" pitchFamily="34" charset="-122"/>
                              </a:rPr>
                            </m:ctrlPr>
                          </m:fPr>
                          <m:num>
                            <m:r>
                              <a:rPr lang="en-US" altLang="zh-CN" sz="2600" b="0" i="1" smtClean="0">
                                <a:latin typeface="Cambria Math" panose="02040503050406030204" pitchFamily="18" charset="0"/>
                                <a:ea typeface="微软雅黑" panose="020B0503020204020204" pitchFamily="34" charset="-122"/>
                              </a:rPr>
                              <m:t>𝑅</m:t>
                            </m:r>
                          </m:num>
                          <m:den>
                            <m:r>
                              <a:rPr lang="en-US" altLang="zh-CN" sz="2600" b="0" i="1" smtClean="0">
                                <a:latin typeface="Cambria Math" panose="02040503050406030204" pitchFamily="18" charset="0"/>
                                <a:ea typeface="微软雅黑" panose="020B0503020204020204" pitchFamily="34" charset="-122"/>
                              </a:rPr>
                              <m:t>(</m:t>
                            </m:r>
                            <m:r>
                              <a:rPr lang="en-US" altLang="zh-CN" sz="2600" b="0" i="1" smtClean="0">
                                <a:latin typeface="Cambria Math" panose="02040503050406030204" pitchFamily="18" charset="0"/>
                                <a:ea typeface="微软雅黑" panose="020B0503020204020204" pitchFamily="34" charset="-122"/>
                              </a:rPr>
                              <m:t>𝑅</m:t>
                            </m:r>
                            <m:r>
                              <a:rPr lang="en-US" altLang="zh-CN" sz="2600" b="0" i="1" smtClean="0">
                                <a:latin typeface="Cambria Math" panose="02040503050406030204" pitchFamily="18" charset="0"/>
                                <a:ea typeface="微软雅黑" panose="020B0503020204020204" pitchFamily="34" charset="-122"/>
                              </a:rPr>
                              <m:t>+</m:t>
                            </m:r>
                            <m:sSub>
                              <m:sSubPr>
                                <m:ctrlPr>
                                  <a:rPr lang="en-US" altLang="zh-CN" sz="2600" i="1">
                                    <a:latin typeface="Cambria Math" panose="02040503050406030204" pitchFamily="18" charset="0"/>
                                    <a:ea typeface="微软雅黑" panose="020B0503020204020204" pitchFamily="34" charset="-122"/>
                                  </a:rPr>
                                </m:ctrlPr>
                              </m:sSubPr>
                              <m:e>
                                <m:r>
                                  <a:rPr lang="en-US" altLang="zh-CN" sz="2600" i="1">
                                    <a:latin typeface="Cambria Math" panose="02040503050406030204" pitchFamily="18" charset="0"/>
                                    <a:ea typeface="微软雅黑" panose="020B0503020204020204" pitchFamily="34" charset="-122"/>
                                  </a:rPr>
                                  <m:t>𝑅</m:t>
                                </m:r>
                              </m:e>
                              <m:sub>
                                <m:r>
                                  <a:rPr lang="en-US" altLang="zh-CN" sz="2600" i="1">
                                    <a:latin typeface="Cambria Math" panose="02040503050406030204" pitchFamily="18" charset="0"/>
                                    <a:ea typeface="微软雅黑" panose="020B0503020204020204" pitchFamily="34" charset="-122"/>
                                  </a:rPr>
                                  <m:t>𝐿</m:t>
                                </m:r>
                              </m:sub>
                            </m:sSub>
                            <m:r>
                              <a:rPr lang="en-US" altLang="zh-CN" sz="2600" b="0" i="1" smtClean="0">
                                <a:latin typeface="Cambria Math" panose="02040503050406030204" pitchFamily="18" charset="0"/>
                                <a:ea typeface="微软雅黑" panose="020B0503020204020204" pitchFamily="34" charset="-122"/>
                              </a:rPr>
                              <m:t>)</m:t>
                            </m:r>
                            <m:rad>
                              <m:radPr>
                                <m:degHide m:val="on"/>
                                <m:ctrlPr>
                                  <a:rPr lang="en-US" altLang="zh-CN" sz="2600" b="0" i="1" smtClean="0">
                                    <a:latin typeface="Cambria Math" panose="02040503050406030204" pitchFamily="18" charset="0"/>
                                    <a:ea typeface="微软雅黑" panose="020B0503020204020204" pitchFamily="34" charset="-122"/>
                                  </a:rPr>
                                </m:ctrlPr>
                              </m:radPr>
                              <m:deg/>
                              <m:e>
                                <m:r>
                                  <a:rPr lang="en-US" altLang="zh-CN" sz="2600" b="0" i="1" smtClean="0">
                                    <a:latin typeface="Cambria Math" panose="02040503050406030204" pitchFamily="18" charset="0"/>
                                    <a:ea typeface="微软雅黑" panose="020B0503020204020204" pitchFamily="34" charset="-122"/>
                                  </a:rPr>
                                  <m:t>1+</m:t>
                                </m:r>
                                <m:sSup>
                                  <m:sSupPr>
                                    <m:ctrlPr>
                                      <a:rPr lang="en-US" altLang="zh-CN" sz="2600" b="0" i="1" smtClean="0">
                                        <a:latin typeface="Cambria Math" panose="02040503050406030204" pitchFamily="18" charset="0"/>
                                        <a:ea typeface="微软雅黑" panose="020B0503020204020204" pitchFamily="34" charset="-122"/>
                                      </a:rPr>
                                    </m:ctrlPr>
                                  </m:sSupPr>
                                  <m:e>
                                    <m:r>
                                      <a:rPr lang="en-US" altLang="zh-CN" sz="2600" b="0" i="1" smtClean="0">
                                        <a:latin typeface="Cambria Math" panose="02040503050406030204" pitchFamily="18" charset="0"/>
                                        <a:ea typeface="微软雅黑" panose="020B0503020204020204" pitchFamily="34" charset="-122"/>
                                      </a:rPr>
                                      <m:t>𝑄</m:t>
                                    </m:r>
                                  </m:e>
                                  <m:sup>
                                    <m:r>
                                      <a:rPr lang="en-US" altLang="zh-CN" sz="2600" b="0" i="1" smtClean="0">
                                        <a:latin typeface="Cambria Math" panose="02040503050406030204" pitchFamily="18" charset="0"/>
                                        <a:ea typeface="微软雅黑" panose="020B0503020204020204" pitchFamily="34" charset="-122"/>
                                      </a:rPr>
                                      <m:t>2</m:t>
                                    </m:r>
                                  </m:sup>
                                </m:sSup>
                                <m:sSup>
                                  <m:sSupPr>
                                    <m:ctrlPr>
                                      <a:rPr lang="en-US" altLang="zh-CN" sz="2600" b="0" i="1" smtClean="0">
                                        <a:latin typeface="Cambria Math" panose="02040503050406030204" pitchFamily="18" charset="0"/>
                                        <a:ea typeface="微软雅黑" panose="020B0503020204020204" pitchFamily="34" charset="-122"/>
                                      </a:rPr>
                                    </m:ctrlPr>
                                  </m:sSupPr>
                                  <m:e>
                                    <m:r>
                                      <a:rPr lang="en-US" altLang="zh-CN" sz="2600" b="0" i="1" smtClean="0">
                                        <a:latin typeface="Cambria Math" panose="02040503050406030204" pitchFamily="18" charset="0"/>
                                        <a:ea typeface="微软雅黑" panose="020B0503020204020204" pitchFamily="34" charset="-122"/>
                                      </a:rPr>
                                      <m:t>(</m:t>
                                    </m:r>
                                    <m:f>
                                      <m:fPr>
                                        <m:ctrlPr>
                                          <a:rPr lang="en-US" altLang="zh-CN" sz="2600" b="0" i="1" smtClean="0">
                                            <a:latin typeface="Cambria Math" panose="02040503050406030204" pitchFamily="18" charset="0"/>
                                            <a:ea typeface="微软雅黑" panose="020B0503020204020204" pitchFamily="34" charset="-122"/>
                                          </a:rPr>
                                        </m:ctrlPr>
                                      </m:fPr>
                                      <m:num>
                                        <m:sSub>
                                          <m:sSubPr>
                                            <m:ctrlPr>
                                              <a:rPr lang="en-US" altLang="zh-CN" sz="2600" b="0" i="1" smtClean="0">
                                                <a:latin typeface="Cambria Math" panose="02040503050406030204" pitchFamily="18" charset="0"/>
                                                <a:ea typeface="微软雅黑" panose="020B0503020204020204" pitchFamily="34" charset="-122"/>
                                              </a:rPr>
                                            </m:ctrlPr>
                                          </m:sSubPr>
                                          <m:e>
                                            <m:r>
                                              <a:rPr lang="zh-CN" altLang="en-US" sz="2600" b="0" i="1" smtClean="0">
                                                <a:latin typeface="Cambria Math" panose="02040503050406030204" pitchFamily="18" charset="0"/>
                                                <a:ea typeface="微软雅黑" panose="020B0503020204020204" pitchFamily="34" charset="-122"/>
                                              </a:rPr>
                                              <m:t>𝜔</m:t>
                                            </m:r>
                                          </m:e>
                                          <m:sub>
                                            <m:r>
                                              <a:rPr lang="en-US" altLang="zh-CN" sz="2600" b="0" i="1" smtClean="0">
                                                <a:latin typeface="Cambria Math" panose="02040503050406030204" pitchFamily="18" charset="0"/>
                                                <a:ea typeface="微软雅黑" panose="020B0503020204020204" pitchFamily="34" charset="-122"/>
                                              </a:rPr>
                                              <m:t>0</m:t>
                                            </m:r>
                                          </m:sub>
                                        </m:sSub>
                                      </m:num>
                                      <m:den>
                                        <m:r>
                                          <a:rPr lang="zh-CN" altLang="en-US" sz="2600" b="0" i="1" smtClean="0">
                                            <a:latin typeface="Cambria Math" panose="02040503050406030204" pitchFamily="18" charset="0"/>
                                            <a:ea typeface="微软雅黑" panose="020B0503020204020204" pitchFamily="34" charset="-122"/>
                                          </a:rPr>
                                          <m:t>𝜔</m:t>
                                        </m:r>
                                      </m:den>
                                    </m:f>
                                    <m:r>
                                      <a:rPr lang="en-US" altLang="zh-CN" sz="2600" b="0" i="1" smtClean="0">
                                        <a:latin typeface="Cambria Math" panose="02040503050406030204" pitchFamily="18" charset="0"/>
                                        <a:ea typeface="微软雅黑" panose="020B0503020204020204" pitchFamily="34" charset="-122"/>
                                      </a:rPr>
                                      <m:t>−</m:t>
                                    </m:r>
                                    <m:f>
                                      <m:fPr>
                                        <m:ctrlPr>
                                          <a:rPr lang="en-US" altLang="zh-CN" sz="2600" b="0" i="1" smtClean="0">
                                            <a:latin typeface="Cambria Math" panose="02040503050406030204" pitchFamily="18" charset="0"/>
                                            <a:ea typeface="微软雅黑" panose="020B0503020204020204" pitchFamily="34" charset="-122"/>
                                          </a:rPr>
                                        </m:ctrlPr>
                                      </m:fPr>
                                      <m:num>
                                        <m:r>
                                          <a:rPr lang="zh-CN" altLang="en-US" sz="2600" b="0" i="1" smtClean="0">
                                            <a:latin typeface="Cambria Math" panose="02040503050406030204" pitchFamily="18" charset="0"/>
                                            <a:ea typeface="微软雅黑" panose="020B0503020204020204" pitchFamily="34" charset="-122"/>
                                          </a:rPr>
                                          <m:t>𝜔</m:t>
                                        </m:r>
                                      </m:num>
                                      <m:den>
                                        <m:sSub>
                                          <m:sSubPr>
                                            <m:ctrlPr>
                                              <a:rPr lang="en-US" altLang="zh-CN" sz="2600" b="0" i="1" smtClean="0">
                                                <a:latin typeface="Cambria Math" panose="02040503050406030204" pitchFamily="18" charset="0"/>
                                                <a:ea typeface="微软雅黑" panose="020B0503020204020204" pitchFamily="34" charset="-122"/>
                                              </a:rPr>
                                            </m:ctrlPr>
                                          </m:sSubPr>
                                          <m:e>
                                            <m:r>
                                              <a:rPr lang="zh-CN" altLang="en-US" sz="2600" b="0" i="1" smtClean="0">
                                                <a:latin typeface="Cambria Math" panose="02040503050406030204" pitchFamily="18" charset="0"/>
                                                <a:ea typeface="微软雅黑" panose="020B0503020204020204" pitchFamily="34" charset="-122"/>
                                              </a:rPr>
                                              <m:t>𝜔</m:t>
                                            </m:r>
                                          </m:e>
                                          <m:sub>
                                            <m:r>
                                              <a:rPr lang="en-US" altLang="zh-CN" sz="2600" b="0" i="1" smtClean="0">
                                                <a:latin typeface="Cambria Math" panose="02040503050406030204" pitchFamily="18" charset="0"/>
                                                <a:ea typeface="微软雅黑" panose="020B0503020204020204" pitchFamily="34" charset="-122"/>
                                              </a:rPr>
                                              <m:t>0</m:t>
                                            </m:r>
                                          </m:sub>
                                        </m:sSub>
                                      </m:den>
                                    </m:f>
                                    <m:r>
                                      <a:rPr lang="en-US" altLang="zh-CN" sz="2600" b="0" i="1" smtClean="0">
                                        <a:latin typeface="Cambria Math" panose="02040503050406030204" pitchFamily="18" charset="0"/>
                                        <a:ea typeface="微软雅黑" panose="020B0503020204020204" pitchFamily="34" charset="-122"/>
                                      </a:rPr>
                                      <m:t>)</m:t>
                                    </m:r>
                                  </m:e>
                                  <m:sup>
                                    <m:r>
                                      <a:rPr lang="en-US" altLang="zh-CN" sz="2600" b="0" i="1" smtClean="0">
                                        <a:latin typeface="Cambria Math" panose="02040503050406030204" pitchFamily="18" charset="0"/>
                                        <a:ea typeface="微软雅黑" panose="020B0503020204020204" pitchFamily="34" charset="-122"/>
                                      </a:rPr>
                                      <m:t>2</m:t>
                                    </m:r>
                                  </m:sup>
                                </m:sSup>
                              </m:e>
                            </m:rad>
                          </m:den>
                        </m:f>
                        <m:r>
                          <a:rPr lang="en-US" altLang="zh-CN" sz="2600" b="0" i="1" smtClean="0">
                            <a:latin typeface="Cambria Math" panose="02040503050406030204" pitchFamily="18" charset="0"/>
                            <a:ea typeface="微软雅黑" panose="020B0503020204020204" pitchFamily="34" charset="-122"/>
                          </a:rPr>
                          <m:t>########</m:t>
                        </m:r>
                        <m:d>
                          <m:dPr>
                            <m:ctrlPr>
                              <a:rPr lang="en-US" altLang="zh-CN" sz="2600" b="0" i="1" smtClean="0">
                                <a:latin typeface="Cambria Math" panose="02040503050406030204" pitchFamily="18" charset="0"/>
                                <a:ea typeface="微软雅黑" panose="020B0503020204020204" pitchFamily="34" charset="-122"/>
                              </a:rPr>
                            </m:ctrlPr>
                          </m:dPr>
                          <m:e>
                            <m:r>
                              <a:rPr lang="en-US" altLang="zh-CN" sz="2600" b="0" i="1" smtClean="0">
                                <a:latin typeface="Cambria Math" panose="02040503050406030204" pitchFamily="18" charset="0"/>
                                <a:ea typeface="微软雅黑" panose="020B0503020204020204" pitchFamily="34" charset="-122"/>
                              </a:rPr>
                              <m:t>2.1</m:t>
                            </m:r>
                          </m:e>
                        </m:d>
                      </m:e>
                    </m:eqArr>
                  </m:oMath>
                </a14:m>
                <a:endParaRPr lang="en-US" altLang="zh-CN" sz="2600" dirty="0">
                  <a:latin typeface="微软雅黑" panose="020B0503020204020204" pitchFamily="34" charset="-122"/>
                  <a:ea typeface="微软雅黑" panose="020B0503020204020204" pitchFamily="34" charset="-122"/>
                </a:endParaRPr>
              </a:p>
              <a:p>
                <a:pPr indent="720000">
                  <a:lnSpc>
                    <a:spcPct val="150000"/>
                  </a:lnSpc>
                </a:pPr>
                <a:r>
                  <a:rPr lang="zh-CN" altLang="en-US" sz="2600" dirty="0">
                    <a:latin typeface="微软雅黑" panose="020B0503020204020204" pitchFamily="34" charset="-122"/>
                    <a:ea typeface="微软雅黑" panose="020B0503020204020204" pitchFamily="34" charset="-122"/>
                  </a:rPr>
                  <a:t>相频特性曲线：</a:t>
                </a:r>
                <a14:m>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rPr>
                        </m:ctrlPr>
                      </m:eqArrPr>
                      <m:e>
                        <m:r>
                          <a:rPr lang="zh-CN" altLang="en-US" sz="2600" i="1" smtClean="0">
                            <a:latin typeface="Cambria Math" panose="02040503050406030204" pitchFamily="18" charset="0"/>
                            <a:ea typeface="微软雅黑" panose="020B0503020204020204" pitchFamily="34" charset="-122"/>
                          </a:rPr>
                          <m:t>𝜙</m:t>
                        </m:r>
                        <m:d>
                          <m:dPr>
                            <m:ctrlPr>
                              <a:rPr lang="en-US" altLang="zh-CN" sz="2600" b="0" i="1" smtClean="0">
                                <a:latin typeface="Cambria Math" panose="02040503050406030204" pitchFamily="18" charset="0"/>
                                <a:ea typeface="微软雅黑" panose="020B0503020204020204" pitchFamily="34" charset="-122"/>
                              </a:rPr>
                            </m:ctrlPr>
                          </m:dPr>
                          <m:e>
                            <m:r>
                              <a:rPr lang="zh-CN" altLang="en-US" sz="2600" b="0" i="1" smtClean="0">
                                <a:latin typeface="Cambria Math" panose="02040503050406030204" pitchFamily="18" charset="0"/>
                                <a:ea typeface="微软雅黑" panose="020B0503020204020204" pitchFamily="34" charset="-122"/>
                              </a:rPr>
                              <m:t>𝜔</m:t>
                            </m:r>
                          </m:e>
                        </m:d>
                        <m:r>
                          <a:rPr lang="en-US" altLang="zh-CN" sz="2600" b="0" i="1" smtClean="0">
                            <a:latin typeface="Cambria Math" panose="02040503050406030204" pitchFamily="18" charset="0"/>
                            <a:ea typeface="微软雅黑" panose="020B0503020204020204" pitchFamily="34" charset="-122"/>
                          </a:rPr>
                          <m:t>=</m:t>
                        </m:r>
                        <m:func>
                          <m:funcPr>
                            <m:ctrlPr>
                              <a:rPr lang="en-US" altLang="zh-CN" sz="2600" b="0" i="1" smtClean="0">
                                <a:latin typeface="Cambria Math" panose="02040503050406030204" pitchFamily="18" charset="0"/>
                                <a:ea typeface="微软雅黑" panose="020B0503020204020204" pitchFamily="34" charset="-122"/>
                              </a:rPr>
                            </m:ctrlPr>
                          </m:funcPr>
                          <m:fName>
                            <m:r>
                              <m:rPr>
                                <m:sty m:val="p"/>
                              </m:rPr>
                              <a:rPr lang="en-US" altLang="zh-CN" sz="2600" b="0" i="0" smtClean="0">
                                <a:latin typeface="Cambria Math" panose="02040503050406030204" pitchFamily="18" charset="0"/>
                                <a:ea typeface="微软雅黑" panose="020B0503020204020204" pitchFamily="34" charset="-122"/>
                              </a:rPr>
                              <m:t>arctan</m:t>
                            </m:r>
                          </m:fName>
                          <m:e>
                            <m:d>
                              <m:dPr>
                                <m:begChr m:val="["/>
                                <m:endChr m:val="]"/>
                                <m:ctrlPr>
                                  <a:rPr lang="en-US" altLang="zh-CN" sz="2600" b="0" i="1" smtClean="0">
                                    <a:latin typeface="Cambria Math" panose="02040503050406030204" pitchFamily="18" charset="0"/>
                                    <a:ea typeface="微软雅黑" panose="020B0503020204020204" pitchFamily="34" charset="-122"/>
                                  </a:rPr>
                                </m:ctrlPr>
                              </m:dPr>
                              <m:e>
                                <m:r>
                                  <a:rPr lang="en-US" altLang="zh-CN" sz="2600" b="0" i="1" smtClean="0">
                                    <a:latin typeface="Cambria Math" panose="02040503050406030204" pitchFamily="18" charset="0"/>
                                    <a:ea typeface="微软雅黑" panose="020B0503020204020204" pitchFamily="34" charset="-122"/>
                                  </a:rPr>
                                  <m:t>𝑄</m:t>
                                </m:r>
                                <m:d>
                                  <m:dPr>
                                    <m:ctrlPr>
                                      <a:rPr lang="en-US" altLang="zh-CN" sz="2600" b="0" i="1" smtClean="0">
                                        <a:latin typeface="Cambria Math" panose="02040503050406030204" pitchFamily="18" charset="0"/>
                                        <a:ea typeface="微软雅黑" panose="020B0503020204020204" pitchFamily="34" charset="-122"/>
                                      </a:rPr>
                                    </m:ctrlPr>
                                  </m:dPr>
                                  <m:e>
                                    <m:f>
                                      <m:fPr>
                                        <m:ctrlPr>
                                          <a:rPr lang="en-US" altLang="zh-CN" sz="2600" i="1">
                                            <a:latin typeface="Cambria Math" panose="02040503050406030204" pitchFamily="18" charset="0"/>
                                            <a:ea typeface="微软雅黑" panose="020B0503020204020204" pitchFamily="34" charset="-122"/>
                                          </a:rPr>
                                        </m:ctrlPr>
                                      </m:fPr>
                                      <m:num>
                                        <m:sSub>
                                          <m:sSubPr>
                                            <m:ctrlPr>
                                              <a:rPr lang="en-US" altLang="zh-CN" sz="2600" i="1">
                                                <a:latin typeface="Cambria Math" panose="02040503050406030204" pitchFamily="18" charset="0"/>
                                                <a:ea typeface="微软雅黑" panose="020B0503020204020204" pitchFamily="34" charset="-122"/>
                                              </a:rPr>
                                            </m:ctrlPr>
                                          </m:sSubPr>
                                          <m:e>
                                            <m:r>
                                              <a:rPr lang="zh-CN" altLang="en-US" sz="2600" i="1">
                                                <a:latin typeface="Cambria Math" panose="02040503050406030204" pitchFamily="18" charset="0"/>
                                                <a:ea typeface="微软雅黑" panose="020B0503020204020204" pitchFamily="34" charset="-122"/>
                                              </a:rPr>
                                              <m:t>𝜔</m:t>
                                            </m:r>
                                          </m:e>
                                          <m:sub>
                                            <m:r>
                                              <a:rPr lang="en-US" altLang="zh-CN" sz="2600" i="1">
                                                <a:latin typeface="Cambria Math" panose="02040503050406030204" pitchFamily="18" charset="0"/>
                                                <a:ea typeface="微软雅黑" panose="020B0503020204020204" pitchFamily="34" charset="-122"/>
                                              </a:rPr>
                                              <m:t>0</m:t>
                                            </m:r>
                                          </m:sub>
                                        </m:sSub>
                                      </m:num>
                                      <m:den>
                                        <m:r>
                                          <a:rPr lang="zh-CN" altLang="en-US" sz="2600" i="1">
                                            <a:latin typeface="Cambria Math" panose="02040503050406030204" pitchFamily="18" charset="0"/>
                                            <a:ea typeface="微软雅黑" panose="020B0503020204020204" pitchFamily="34" charset="-122"/>
                                          </a:rPr>
                                          <m:t>𝜔</m:t>
                                        </m:r>
                                      </m:den>
                                    </m:f>
                                    <m:r>
                                      <a:rPr lang="en-US" altLang="zh-CN" sz="2600" i="1">
                                        <a:latin typeface="Cambria Math" panose="02040503050406030204" pitchFamily="18" charset="0"/>
                                        <a:ea typeface="微软雅黑" panose="020B0503020204020204" pitchFamily="34" charset="-122"/>
                                      </a:rPr>
                                      <m:t>−</m:t>
                                    </m:r>
                                    <m:f>
                                      <m:fPr>
                                        <m:ctrlPr>
                                          <a:rPr lang="en-US" altLang="zh-CN" sz="2600" i="1">
                                            <a:latin typeface="Cambria Math" panose="02040503050406030204" pitchFamily="18" charset="0"/>
                                            <a:ea typeface="微软雅黑" panose="020B0503020204020204" pitchFamily="34" charset="-122"/>
                                          </a:rPr>
                                        </m:ctrlPr>
                                      </m:fPr>
                                      <m:num>
                                        <m:r>
                                          <a:rPr lang="zh-CN" altLang="en-US" sz="2600" i="1">
                                            <a:latin typeface="Cambria Math" panose="02040503050406030204" pitchFamily="18" charset="0"/>
                                            <a:ea typeface="微软雅黑" panose="020B0503020204020204" pitchFamily="34" charset="-122"/>
                                          </a:rPr>
                                          <m:t>𝜔</m:t>
                                        </m:r>
                                      </m:num>
                                      <m:den>
                                        <m:sSub>
                                          <m:sSubPr>
                                            <m:ctrlPr>
                                              <a:rPr lang="en-US" altLang="zh-CN" sz="2600" i="1">
                                                <a:latin typeface="Cambria Math" panose="02040503050406030204" pitchFamily="18" charset="0"/>
                                                <a:ea typeface="微软雅黑" panose="020B0503020204020204" pitchFamily="34" charset="-122"/>
                                              </a:rPr>
                                            </m:ctrlPr>
                                          </m:sSubPr>
                                          <m:e>
                                            <m:r>
                                              <a:rPr lang="zh-CN" altLang="en-US" sz="2600" i="1">
                                                <a:latin typeface="Cambria Math" panose="02040503050406030204" pitchFamily="18" charset="0"/>
                                                <a:ea typeface="微软雅黑" panose="020B0503020204020204" pitchFamily="34" charset="-122"/>
                                              </a:rPr>
                                              <m:t>𝜔</m:t>
                                            </m:r>
                                          </m:e>
                                          <m:sub>
                                            <m:r>
                                              <a:rPr lang="en-US" altLang="zh-CN" sz="2600" i="1">
                                                <a:latin typeface="Cambria Math" panose="02040503050406030204" pitchFamily="18" charset="0"/>
                                                <a:ea typeface="微软雅黑" panose="020B0503020204020204" pitchFamily="34" charset="-122"/>
                                              </a:rPr>
                                              <m:t>0</m:t>
                                            </m:r>
                                          </m:sub>
                                        </m:sSub>
                                      </m:den>
                                    </m:f>
                                  </m:e>
                                </m:d>
                              </m:e>
                            </m:d>
                          </m:e>
                        </m:func>
                        <m:r>
                          <a:rPr lang="en-US" altLang="zh-CN" sz="2600" b="0" i="1" smtClean="0">
                            <a:latin typeface="Cambria Math" panose="02040503050406030204" pitchFamily="18" charset="0"/>
                            <a:ea typeface="微软雅黑" panose="020B0503020204020204" pitchFamily="34" charset="-122"/>
                          </a:rPr>
                          <m:t>#</m:t>
                        </m:r>
                        <m:d>
                          <m:dPr>
                            <m:ctrlPr>
                              <a:rPr lang="en-US" altLang="zh-CN" sz="2600" b="0" i="1" smtClean="0">
                                <a:latin typeface="Cambria Math" panose="02040503050406030204" pitchFamily="18" charset="0"/>
                                <a:ea typeface="微软雅黑" panose="020B0503020204020204" pitchFamily="34" charset="-122"/>
                              </a:rPr>
                            </m:ctrlPr>
                          </m:dPr>
                          <m:e>
                            <m:r>
                              <a:rPr lang="en-US" altLang="zh-CN" sz="2600" b="0" i="1" smtClean="0">
                                <a:latin typeface="Cambria Math" panose="02040503050406030204" pitchFamily="18" charset="0"/>
                                <a:ea typeface="微软雅黑" panose="020B0503020204020204" pitchFamily="34" charset="-122"/>
                              </a:rPr>
                              <m:t>2.2</m:t>
                            </m:r>
                          </m:e>
                        </m:d>
                      </m:e>
                    </m:eqArr>
                  </m:oMath>
                </a14:m>
                <a:endParaRPr lang="en-US" altLang="zh-CN" sz="2600" b="0" dirty="0">
                  <a:latin typeface="微软雅黑" panose="020B0503020204020204" pitchFamily="34" charset="-122"/>
                  <a:ea typeface="微软雅黑" panose="020B0503020204020204" pitchFamily="34" charset="-122"/>
                </a:endParaRPr>
              </a:p>
              <a:p>
                <a:pPr indent="720000">
                  <a:lnSpc>
                    <a:spcPct val="150000"/>
                  </a:lnSpc>
                </a:pPr>
                <a:r>
                  <a:rPr lang="zh-CN" altLang="en-US" sz="2600" dirty="0">
                    <a:latin typeface="微软雅黑" panose="020B0503020204020204" pitchFamily="34" charset="-122"/>
                    <a:ea typeface="微软雅黑" panose="020B0503020204020204" pitchFamily="34" charset="-122"/>
                  </a:rPr>
                  <a:t>其中，品质因数</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rPr>
                      <m:t>𝑄</m:t>
                    </m:r>
                    <m:r>
                      <a:rPr lang="en-US" altLang="zh-CN" sz="2600" b="0" i="1" smtClean="0">
                        <a:latin typeface="Cambria Math" panose="02040503050406030204" pitchFamily="18" charset="0"/>
                        <a:ea typeface="微软雅黑" panose="020B0503020204020204" pitchFamily="34" charset="-122"/>
                      </a:rPr>
                      <m:t>=</m:t>
                    </m:r>
                    <m:f>
                      <m:fPr>
                        <m:ctrlPr>
                          <a:rPr lang="en-US" altLang="zh-CN" sz="2600" b="0" i="1" smtClean="0">
                            <a:latin typeface="Cambria Math" panose="02040503050406030204" pitchFamily="18" charset="0"/>
                            <a:ea typeface="微软雅黑" panose="020B0503020204020204" pitchFamily="34" charset="-122"/>
                          </a:rPr>
                        </m:ctrlPr>
                      </m:fPr>
                      <m:num>
                        <m:r>
                          <a:rPr lang="en-US" altLang="zh-CN" sz="2600" b="0" i="1" smtClean="0">
                            <a:latin typeface="Cambria Math" panose="02040503050406030204" pitchFamily="18" charset="0"/>
                            <a:ea typeface="微软雅黑" panose="020B0503020204020204" pitchFamily="34" charset="-122"/>
                          </a:rPr>
                          <m:t>1</m:t>
                        </m:r>
                      </m:num>
                      <m:den>
                        <m:r>
                          <a:rPr lang="en-US" altLang="zh-CN" sz="2600" b="0" i="1" smtClean="0">
                            <a:latin typeface="Cambria Math" panose="02040503050406030204" pitchFamily="18" charset="0"/>
                            <a:ea typeface="微软雅黑" panose="020B0503020204020204" pitchFamily="34" charset="-122"/>
                          </a:rPr>
                          <m:t>𝑅</m:t>
                        </m:r>
                      </m:den>
                    </m:f>
                    <m:rad>
                      <m:radPr>
                        <m:degHide m:val="on"/>
                        <m:ctrlPr>
                          <a:rPr lang="en-US" altLang="zh-CN" sz="2600" b="0" i="1" smtClean="0">
                            <a:latin typeface="Cambria Math" panose="02040503050406030204" pitchFamily="18" charset="0"/>
                            <a:ea typeface="微软雅黑" panose="020B0503020204020204" pitchFamily="34" charset="-122"/>
                          </a:rPr>
                        </m:ctrlPr>
                      </m:radPr>
                      <m:deg/>
                      <m:e>
                        <m:f>
                          <m:fPr>
                            <m:ctrlPr>
                              <a:rPr lang="en-US" altLang="zh-CN" sz="2600" b="0" i="1" smtClean="0">
                                <a:latin typeface="Cambria Math" panose="02040503050406030204" pitchFamily="18" charset="0"/>
                                <a:ea typeface="微软雅黑" panose="020B0503020204020204" pitchFamily="34" charset="-122"/>
                              </a:rPr>
                            </m:ctrlPr>
                          </m:fPr>
                          <m:num>
                            <m:r>
                              <a:rPr lang="en-US" altLang="zh-CN" sz="2600" b="0" i="1" smtClean="0">
                                <a:latin typeface="Cambria Math" panose="02040503050406030204" pitchFamily="18" charset="0"/>
                                <a:ea typeface="微软雅黑" panose="020B0503020204020204" pitchFamily="34" charset="-122"/>
                              </a:rPr>
                              <m:t>𝐿</m:t>
                            </m:r>
                          </m:num>
                          <m:den>
                            <m:r>
                              <a:rPr lang="en-US" altLang="zh-CN" sz="2600" b="0" i="1" smtClean="0">
                                <a:latin typeface="Cambria Math" panose="02040503050406030204" pitchFamily="18" charset="0"/>
                                <a:ea typeface="微软雅黑" panose="020B0503020204020204" pitchFamily="34" charset="-122"/>
                              </a:rPr>
                              <m:t>𝐶</m:t>
                            </m:r>
                          </m:den>
                        </m:f>
                      </m:e>
                    </m:rad>
                  </m:oMath>
                </a14:m>
                <a:r>
                  <a:rPr lang="zh-CN" altLang="en-US" sz="2600" dirty="0">
                    <a:latin typeface="微软雅黑" panose="020B0503020204020204" pitchFamily="34" charset="-122"/>
                    <a:ea typeface="微软雅黑" panose="020B0503020204020204" pitchFamily="34" charset="-122"/>
                  </a:rPr>
                  <a:t>，固有频率</a:t>
                </a:r>
                <a14:m>
                  <m:oMath xmlns:m="http://schemas.openxmlformats.org/officeDocument/2006/math">
                    <m:sSub>
                      <m:sSubPr>
                        <m:ctrlPr>
                          <a:rPr lang="en-US" altLang="zh-CN" sz="2600" i="1">
                            <a:latin typeface="Cambria Math" panose="02040503050406030204" pitchFamily="18" charset="0"/>
                            <a:ea typeface="微软雅黑" panose="020B0503020204020204" pitchFamily="34" charset="-122"/>
                          </a:rPr>
                        </m:ctrlPr>
                      </m:sSubPr>
                      <m:e>
                        <m:r>
                          <a:rPr lang="zh-CN" altLang="en-US" sz="2600" i="1">
                            <a:latin typeface="Cambria Math" panose="02040503050406030204" pitchFamily="18" charset="0"/>
                            <a:ea typeface="微软雅黑" panose="020B0503020204020204" pitchFamily="34" charset="-122"/>
                          </a:rPr>
                          <m:t>𝜔</m:t>
                        </m:r>
                      </m:e>
                      <m:sub>
                        <m:r>
                          <a:rPr lang="en-US" altLang="zh-CN" sz="2600" i="1">
                            <a:latin typeface="Cambria Math" panose="02040503050406030204" pitchFamily="18" charset="0"/>
                            <a:ea typeface="微软雅黑" panose="020B0503020204020204" pitchFamily="34" charset="-122"/>
                          </a:rPr>
                          <m:t>0</m:t>
                        </m:r>
                      </m:sub>
                    </m:sSub>
                    <m:r>
                      <a:rPr lang="en-US" altLang="zh-CN" sz="2600" b="0" i="1" smtClean="0">
                        <a:latin typeface="Cambria Math" panose="02040503050406030204" pitchFamily="18" charset="0"/>
                        <a:ea typeface="微软雅黑" panose="020B0503020204020204" pitchFamily="34" charset="-122"/>
                      </a:rPr>
                      <m:t>=</m:t>
                    </m:r>
                    <m:f>
                      <m:fPr>
                        <m:ctrlPr>
                          <a:rPr lang="en-US" altLang="zh-CN" sz="2600" b="0" i="1" smtClean="0">
                            <a:latin typeface="Cambria Math" panose="02040503050406030204" pitchFamily="18" charset="0"/>
                            <a:ea typeface="微软雅黑" panose="020B0503020204020204" pitchFamily="34" charset="-122"/>
                          </a:rPr>
                        </m:ctrlPr>
                      </m:fPr>
                      <m:num>
                        <m:r>
                          <a:rPr lang="en-US" altLang="zh-CN" sz="2600" b="0" i="1" smtClean="0">
                            <a:latin typeface="Cambria Math" panose="02040503050406030204" pitchFamily="18" charset="0"/>
                            <a:ea typeface="微软雅黑" panose="020B0503020204020204" pitchFamily="34" charset="-122"/>
                          </a:rPr>
                          <m:t>1</m:t>
                        </m:r>
                      </m:num>
                      <m:den>
                        <m:rad>
                          <m:radPr>
                            <m:degHide m:val="on"/>
                            <m:ctrlPr>
                              <a:rPr lang="en-US" altLang="zh-CN" sz="2600" b="0" i="1" smtClean="0">
                                <a:latin typeface="Cambria Math" panose="02040503050406030204" pitchFamily="18" charset="0"/>
                                <a:ea typeface="微软雅黑" panose="020B0503020204020204" pitchFamily="34" charset="-122"/>
                              </a:rPr>
                            </m:ctrlPr>
                          </m:radPr>
                          <m:deg/>
                          <m:e>
                            <m:r>
                              <a:rPr lang="en-US" altLang="zh-CN" sz="2600" b="0" i="1" smtClean="0">
                                <a:latin typeface="Cambria Math" panose="02040503050406030204" pitchFamily="18" charset="0"/>
                                <a:ea typeface="微软雅黑" panose="020B0503020204020204" pitchFamily="34" charset="-122"/>
                              </a:rPr>
                              <m:t>𝐿𝐶</m:t>
                            </m:r>
                          </m:e>
                        </m:rad>
                      </m:den>
                    </m:f>
                  </m:oMath>
                </a14:m>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a:p>
                <a:pPr indent="720000">
                  <a:lnSpc>
                    <a:spcPct val="150000"/>
                  </a:lnSpc>
                </a:pPr>
                <a14:m>
                  <m:oMath xmlns:m="http://schemas.openxmlformats.org/officeDocument/2006/math">
                    <m:r>
                      <a:rPr lang="en-US" altLang="zh-CN" sz="2600" b="0" i="1" smtClean="0">
                        <a:latin typeface="Cambria Math" panose="02040503050406030204" pitchFamily="18" charset="0"/>
                        <a:ea typeface="微软雅黑" panose="020B0503020204020204" pitchFamily="34" charset="-122"/>
                      </a:rPr>
                      <m:t>𝐿</m:t>
                    </m:r>
                  </m:oMath>
                </a14:m>
                <a:r>
                  <a:rPr lang="zh-CN" altLang="en-US" sz="2600" dirty="0">
                    <a:latin typeface="微软雅黑" panose="020B0503020204020204" pitchFamily="34" charset="-122"/>
                    <a:ea typeface="微软雅黑" panose="020B0503020204020204" pitchFamily="34" charset="-122"/>
                  </a:rPr>
                  <a:t>越大，对称轴和对称中心左移；</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rPr>
                        </m:ctrlPr>
                      </m:sSubPr>
                      <m:e>
                        <m:r>
                          <a:rPr lang="en-US" altLang="zh-CN" sz="2600" i="1">
                            <a:latin typeface="Cambria Math" panose="02040503050406030204" pitchFamily="18" charset="0"/>
                            <a:ea typeface="微软雅黑" panose="020B0503020204020204" pitchFamily="34" charset="-122"/>
                          </a:rPr>
                          <m:t>𝑅</m:t>
                        </m:r>
                      </m:e>
                      <m:sub>
                        <m:r>
                          <a:rPr lang="en-US" altLang="zh-CN" sz="2600" i="1">
                            <a:latin typeface="Cambria Math" panose="02040503050406030204" pitchFamily="18" charset="0"/>
                            <a:ea typeface="微软雅黑" panose="020B0503020204020204" pitchFamily="34" charset="-122"/>
                          </a:rPr>
                          <m:t>𝐿</m:t>
                        </m:r>
                      </m:sub>
                    </m:sSub>
                    <m:r>
                      <a:rPr lang="zh-CN" altLang="en-US" sz="2600" i="1" smtClean="0">
                        <a:latin typeface="Cambria Math" panose="02040503050406030204" pitchFamily="18" charset="0"/>
                        <a:ea typeface="微软雅黑" panose="020B0503020204020204" pitchFamily="34" charset="-122"/>
                      </a:rPr>
                      <m:t>越大</m:t>
                    </m:r>
                  </m:oMath>
                </a14:m>
                <a:r>
                  <a:rPr lang="zh-CN" altLang="en-US" sz="2600" dirty="0">
                    <a:latin typeface="微软雅黑" panose="020B0503020204020204" pitchFamily="34" charset="-122"/>
                    <a:ea typeface="微软雅黑" panose="020B0503020204020204" pitchFamily="34" charset="-122"/>
                  </a:rPr>
                  <a:t>，幅频曲线的峰会下移。</a:t>
                </a:r>
                <a:endParaRPr lang="en-US" altLang="zh-CN" sz="260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5D2CA03C-49F3-B7A1-E4B5-4A012123B0F4}"/>
                  </a:ext>
                </a:extLst>
              </p:cNvPr>
              <p:cNvSpPr txBox="1">
                <a:spLocks noRot="1" noChangeAspect="1" noMove="1" noResize="1" noEditPoints="1" noAdjustHandles="1" noChangeArrowheads="1" noChangeShapeType="1" noTextEdit="1"/>
              </p:cNvSpPr>
              <p:nvPr/>
            </p:nvSpPr>
            <p:spPr>
              <a:xfrm>
                <a:off x="818746" y="1325542"/>
                <a:ext cx="10325230" cy="4251870"/>
              </a:xfrm>
              <a:prstGeom prst="rect">
                <a:avLst/>
              </a:prstGeom>
              <a:blipFill>
                <a:blip r:embed="rId2"/>
                <a:stretch>
                  <a:fillRect r="-4309" b="-27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3718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8</a:t>
            </a:fld>
            <a:endParaRPr lang="zh-CN" altLang="en-US" dirty="0"/>
          </a:p>
        </p:txBody>
      </p:sp>
      <p:sp>
        <p:nvSpPr>
          <p:cNvPr id="2" name="文本框 1">
            <a:extLst>
              <a:ext uri="{FF2B5EF4-FFF2-40B4-BE49-F238E27FC236}">
                <a16:creationId xmlns:a16="http://schemas.microsoft.com/office/drawing/2014/main" id="{3D3A1E28-C96D-2F1B-E169-3D918F7FB0A9}"/>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预实验</a:t>
            </a:r>
          </a:p>
        </p:txBody>
      </p:sp>
      <p:grpSp>
        <p:nvGrpSpPr>
          <p:cNvPr id="16" name="组合 15">
            <a:extLst>
              <a:ext uri="{FF2B5EF4-FFF2-40B4-BE49-F238E27FC236}">
                <a16:creationId xmlns:a16="http://schemas.microsoft.com/office/drawing/2014/main" id="{62276085-06AC-8C6A-3653-48B56449A9A7}"/>
              </a:ext>
            </a:extLst>
          </p:cNvPr>
          <p:cNvGrpSpPr/>
          <p:nvPr/>
        </p:nvGrpSpPr>
        <p:grpSpPr>
          <a:xfrm>
            <a:off x="347575" y="4087438"/>
            <a:ext cx="3468502" cy="2258689"/>
            <a:chOff x="432607" y="4411337"/>
            <a:chExt cx="3468502" cy="2258689"/>
          </a:xfrm>
        </p:grpSpPr>
        <p:pic>
          <p:nvPicPr>
            <p:cNvPr id="13" name="图片 12" descr="图表, 直方图&#10;&#10;描述已自动生成">
              <a:extLst>
                <a:ext uri="{FF2B5EF4-FFF2-40B4-BE49-F238E27FC236}">
                  <a16:creationId xmlns:a16="http://schemas.microsoft.com/office/drawing/2014/main" id="{2F237C99-8DC4-9D58-EB09-469296394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07" y="4411337"/>
              <a:ext cx="3468502" cy="2258689"/>
            </a:xfrm>
            <a:prstGeom prst="rect">
              <a:avLst/>
            </a:prstGeom>
          </p:spPr>
        </p:pic>
        <p:pic>
          <p:nvPicPr>
            <p:cNvPr id="14" name="图片 13">
              <a:extLst>
                <a:ext uri="{FF2B5EF4-FFF2-40B4-BE49-F238E27FC236}">
                  <a16:creationId xmlns:a16="http://schemas.microsoft.com/office/drawing/2014/main" id="{96089F5F-789E-8512-6D9B-2BD20E804874}"/>
                </a:ext>
              </a:extLst>
            </p:cNvPr>
            <p:cNvPicPr>
              <a:picLocks noChangeAspect="1"/>
            </p:cNvPicPr>
            <p:nvPr/>
          </p:nvPicPr>
          <p:blipFill>
            <a:blip r:embed="rId3"/>
            <a:stretch>
              <a:fillRect/>
            </a:stretch>
          </p:blipFill>
          <p:spPr>
            <a:xfrm>
              <a:off x="2807839" y="4596003"/>
              <a:ext cx="1093270" cy="514148"/>
            </a:xfrm>
            <a:prstGeom prst="rect">
              <a:avLst/>
            </a:prstGeom>
            <a:ln>
              <a:solidFill>
                <a:schemeClr val="tx1"/>
              </a:solidFill>
            </a:ln>
          </p:spPr>
        </p:pic>
      </p:grpSp>
      <p:pic>
        <p:nvPicPr>
          <p:cNvPr id="3" name="图片 2" descr="图表, 直方图&#10;&#10;描述已自动生成">
            <a:extLst>
              <a:ext uri="{FF2B5EF4-FFF2-40B4-BE49-F238E27FC236}">
                <a16:creationId xmlns:a16="http://schemas.microsoft.com/office/drawing/2014/main" id="{41C5AD7E-C162-EBC5-9C90-8025C78168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1484" y="1018545"/>
            <a:ext cx="3767227" cy="2883600"/>
          </a:xfrm>
          <a:prstGeom prst="rect">
            <a:avLst/>
          </a:prstGeom>
        </p:spPr>
      </p:pic>
      <p:pic>
        <p:nvPicPr>
          <p:cNvPr id="5" name="图片 4">
            <a:extLst>
              <a:ext uri="{FF2B5EF4-FFF2-40B4-BE49-F238E27FC236}">
                <a16:creationId xmlns:a16="http://schemas.microsoft.com/office/drawing/2014/main" id="{607A4E04-6A6E-DDEA-7717-2B8F227BEBB1}"/>
              </a:ext>
            </a:extLst>
          </p:cNvPr>
          <p:cNvPicPr>
            <a:picLocks noChangeAspect="1"/>
          </p:cNvPicPr>
          <p:nvPr/>
        </p:nvPicPr>
        <p:blipFill>
          <a:blip r:embed="rId5"/>
          <a:stretch>
            <a:fillRect/>
          </a:stretch>
        </p:blipFill>
        <p:spPr>
          <a:xfrm>
            <a:off x="6379448" y="1305715"/>
            <a:ext cx="1124540" cy="528854"/>
          </a:xfrm>
          <a:prstGeom prst="rect">
            <a:avLst/>
          </a:prstGeom>
          <a:ln>
            <a:solidFill>
              <a:schemeClr val="tx1"/>
            </a:solidFill>
          </a:ln>
        </p:spPr>
      </p:pic>
      <p:sp>
        <p:nvSpPr>
          <p:cNvPr id="12" name="文本框 11">
            <a:extLst>
              <a:ext uri="{FF2B5EF4-FFF2-40B4-BE49-F238E27FC236}">
                <a16:creationId xmlns:a16="http://schemas.microsoft.com/office/drawing/2014/main" id="{99AE016E-B913-8DF1-8DEF-05370660ED9D}"/>
              </a:ext>
            </a:extLst>
          </p:cNvPr>
          <p:cNvSpPr txBox="1"/>
          <p:nvPr/>
        </p:nvSpPr>
        <p:spPr>
          <a:xfrm>
            <a:off x="5073131"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插入铁棒</a:t>
            </a:r>
          </a:p>
        </p:txBody>
      </p:sp>
      <p:pic>
        <p:nvPicPr>
          <p:cNvPr id="19" name="图片 18">
            <a:extLst>
              <a:ext uri="{FF2B5EF4-FFF2-40B4-BE49-F238E27FC236}">
                <a16:creationId xmlns:a16="http://schemas.microsoft.com/office/drawing/2014/main" id="{0C897246-64CC-18E7-D667-559DF02097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14800" y="4087438"/>
            <a:ext cx="3622020" cy="2258689"/>
          </a:xfrm>
          <a:prstGeom prst="rect">
            <a:avLst/>
          </a:prstGeom>
        </p:spPr>
      </p:pic>
      <p:pic>
        <p:nvPicPr>
          <p:cNvPr id="20" name="图片 19">
            <a:extLst>
              <a:ext uri="{FF2B5EF4-FFF2-40B4-BE49-F238E27FC236}">
                <a16:creationId xmlns:a16="http://schemas.microsoft.com/office/drawing/2014/main" id="{379599B3-3A8F-7E52-E636-048F95DFEFD6}"/>
              </a:ext>
            </a:extLst>
          </p:cNvPr>
          <p:cNvPicPr>
            <a:picLocks noChangeAspect="1"/>
          </p:cNvPicPr>
          <p:nvPr/>
        </p:nvPicPr>
        <p:blipFill>
          <a:blip r:embed="rId5"/>
          <a:stretch>
            <a:fillRect/>
          </a:stretch>
        </p:blipFill>
        <p:spPr>
          <a:xfrm>
            <a:off x="6379448" y="4257398"/>
            <a:ext cx="1124540" cy="528854"/>
          </a:xfrm>
          <a:prstGeom prst="rect">
            <a:avLst/>
          </a:prstGeom>
          <a:ln>
            <a:solidFill>
              <a:schemeClr val="tx1"/>
            </a:solidFill>
          </a:ln>
        </p:spPr>
      </p:pic>
      <p:pic>
        <p:nvPicPr>
          <p:cNvPr id="21" name="图片 20" descr="直方图&#10;&#10;中度可信度">
            <a:extLst>
              <a:ext uri="{FF2B5EF4-FFF2-40B4-BE49-F238E27FC236}">
                <a16:creationId xmlns:a16="http://schemas.microsoft.com/office/drawing/2014/main" id="{8E9642E5-820C-7F4A-B02D-9675D93043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36819" y="1019796"/>
            <a:ext cx="3767226" cy="2883600"/>
          </a:xfrm>
          <a:prstGeom prst="rect">
            <a:avLst/>
          </a:prstGeom>
        </p:spPr>
      </p:pic>
      <p:sp>
        <p:nvSpPr>
          <p:cNvPr id="22" name="文本框 21">
            <a:extLst>
              <a:ext uri="{FF2B5EF4-FFF2-40B4-BE49-F238E27FC236}">
                <a16:creationId xmlns:a16="http://schemas.microsoft.com/office/drawing/2014/main" id="{A7BA5BA3-D0FE-4525-5088-18A4E08FA58F}"/>
              </a:ext>
            </a:extLst>
          </p:cNvPr>
          <p:cNvSpPr txBox="1"/>
          <p:nvPr/>
        </p:nvSpPr>
        <p:spPr>
          <a:xfrm>
            <a:off x="8615638"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插入铁氧体棒</a:t>
            </a:r>
          </a:p>
        </p:txBody>
      </p:sp>
      <p:pic>
        <p:nvPicPr>
          <p:cNvPr id="23" name="图片 22" descr="图表, 直方图&#10;&#10;描述已自动生成">
            <a:extLst>
              <a:ext uri="{FF2B5EF4-FFF2-40B4-BE49-F238E27FC236}">
                <a16:creationId xmlns:a16="http://schemas.microsoft.com/office/drawing/2014/main" id="{BF3EF32C-A22B-E26C-157D-6F4A6072E8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48711" y="4087438"/>
            <a:ext cx="3755334" cy="2258690"/>
          </a:xfrm>
          <a:prstGeom prst="rect">
            <a:avLst/>
          </a:prstGeom>
        </p:spPr>
      </p:pic>
      <p:sp>
        <p:nvSpPr>
          <p:cNvPr id="25" name="文本框 24">
            <a:extLst>
              <a:ext uri="{FF2B5EF4-FFF2-40B4-BE49-F238E27FC236}">
                <a16:creationId xmlns:a16="http://schemas.microsoft.com/office/drawing/2014/main" id="{92FB6095-3076-C08C-4DE1-1CD28EB9F43B}"/>
              </a:ext>
            </a:extLst>
          </p:cNvPr>
          <p:cNvSpPr txBox="1"/>
          <p:nvPr/>
        </p:nvSpPr>
        <p:spPr>
          <a:xfrm>
            <a:off x="202368" y="4320209"/>
            <a:ext cx="399890" cy="175432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相频特性曲线</a:t>
            </a:r>
          </a:p>
        </p:txBody>
      </p:sp>
      <p:pic>
        <p:nvPicPr>
          <p:cNvPr id="26" name="图片 25">
            <a:extLst>
              <a:ext uri="{FF2B5EF4-FFF2-40B4-BE49-F238E27FC236}">
                <a16:creationId xmlns:a16="http://schemas.microsoft.com/office/drawing/2014/main" id="{8923C8DB-D879-DF4C-BC28-D0F478696D6D}"/>
              </a:ext>
            </a:extLst>
          </p:cNvPr>
          <p:cNvPicPr>
            <a:picLocks noChangeAspect="1"/>
          </p:cNvPicPr>
          <p:nvPr/>
        </p:nvPicPr>
        <p:blipFill>
          <a:blip r:embed="rId9"/>
          <a:stretch>
            <a:fillRect/>
          </a:stretch>
        </p:blipFill>
        <p:spPr>
          <a:xfrm>
            <a:off x="10199045" y="1305715"/>
            <a:ext cx="1098433" cy="516577"/>
          </a:xfrm>
          <a:prstGeom prst="rect">
            <a:avLst/>
          </a:prstGeom>
          <a:ln>
            <a:solidFill>
              <a:schemeClr val="tx1"/>
            </a:solidFill>
          </a:ln>
        </p:spPr>
      </p:pic>
      <p:pic>
        <p:nvPicPr>
          <p:cNvPr id="27" name="图片 26">
            <a:extLst>
              <a:ext uri="{FF2B5EF4-FFF2-40B4-BE49-F238E27FC236}">
                <a16:creationId xmlns:a16="http://schemas.microsoft.com/office/drawing/2014/main" id="{E45A4FCB-0F3C-BFAC-B33D-E73241BBFF0F}"/>
              </a:ext>
            </a:extLst>
          </p:cNvPr>
          <p:cNvPicPr>
            <a:picLocks noChangeAspect="1"/>
          </p:cNvPicPr>
          <p:nvPr/>
        </p:nvPicPr>
        <p:blipFill>
          <a:blip r:embed="rId9"/>
          <a:stretch>
            <a:fillRect/>
          </a:stretch>
        </p:blipFill>
        <p:spPr>
          <a:xfrm>
            <a:off x="10167837" y="4254999"/>
            <a:ext cx="1129641" cy="531254"/>
          </a:xfrm>
          <a:prstGeom prst="rect">
            <a:avLst/>
          </a:prstGeom>
          <a:ln>
            <a:solidFill>
              <a:schemeClr val="tx1"/>
            </a:solidFill>
          </a:ln>
        </p:spPr>
      </p:pic>
      <p:pic>
        <p:nvPicPr>
          <p:cNvPr id="9" name="图片 8" descr="图表, 直方图&#10;&#10;描述已自动生成">
            <a:extLst>
              <a:ext uri="{FF2B5EF4-FFF2-40B4-BE49-F238E27FC236}">
                <a16:creationId xmlns:a16="http://schemas.microsoft.com/office/drawing/2014/main" id="{012AABC7-7E8D-A339-F9D1-80BF8F72C49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75060" y="1069776"/>
            <a:ext cx="3700296" cy="2832369"/>
          </a:xfrm>
          <a:prstGeom prst="rect">
            <a:avLst/>
          </a:prstGeom>
        </p:spPr>
      </p:pic>
      <p:sp>
        <p:nvSpPr>
          <p:cNvPr id="15" name="文本框 14">
            <a:extLst>
              <a:ext uri="{FF2B5EF4-FFF2-40B4-BE49-F238E27FC236}">
                <a16:creationId xmlns:a16="http://schemas.microsoft.com/office/drawing/2014/main" id="{D0A84F71-73D6-B7B2-69FF-CDF7673587DB}"/>
              </a:ext>
            </a:extLst>
          </p:cNvPr>
          <p:cNvSpPr txBox="1"/>
          <p:nvPr/>
        </p:nvSpPr>
        <p:spPr>
          <a:xfrm>
            <a:off x="202368" y="1674674"/>
            <a:ext cx="556591" cy="1754326"/>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幅频特性曲线</a:t>
            </a:r>
          </a:p>
        </p:txBody>
      </p:sp>
      <p:sp>
        <p:nvSpPr>
          <p:cNvPr id="18" name="文本框 17">
            <a:extLst>
              <a:ext uri="{FF2B5EF4-FFF2-40B4-BE49-F238E27FC236}">
                <a16:creationId xmlns:a16="http://schemas.microsoft.com/office/drawing/2014/main" id="{43BA6A55-1757-9BE5-EFCF-2C9F7B0F0A04}"/>
              </a:ext>
            </a:extLst>
          </p:cNvPr>
          <p:cNvSpPr txBox="1"/>
          <p:nvPr/>
        </p:nvSpPr>
        <p:spPr>
          <a:xfrm>
            <a:off x="1331101"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插入铝棒</a:t>
            </a:r>
          </a:p>
        </p:txBody>
      </p:sp>
      <p:pic>
        <p:nvPicPr>
          <p:cNvPr id="28" name="图片 27">
            <a:extLst>
              <a:ext uri="{FF2B5EF4-FFF2-40B4-BE49-F238E27FC236}">
                <a16:creationId xmlns:a16="http://schemas.microsoft.com/office/drawing/2014/main" id="{5201E058-1408-CB72-DF4D-AD3434248ADE}"/>
              </a:ext>
            </a:extLst>
          </p:cNvPr>
          <p:cNvPicPr>
            <a:picLocks noChangeAspect="1"/>
          </p:cNvPicPr>
          <p:nvPr/>
        </p:nvPicPr>
        <p:blipFill>
          <a:blip r:embed="rId3"/>
          <a:stretch>
            <a:fillRect/>
          </a:stretch>
        </p:blipFill>
        <p:spPr>
          <a:xfrm>
            <a:off x="2784931" y="1311123"/>
            <a:ext cx="1093270" cy="514148"/>
          </a:xfrm>
          <a:prstGeom prst="rect">
            <a:avLst/>
          </a:prstGeom>
          <a:ln>
            <a:solidFill>
              <a:schemeClr val="tx1"/>
            </a:solidFill>
          </a:ln>
        </p:spPr>
      </p:pic>
    </p:spTree>
    <p:extLst>
      <p:ext uri="{BB962C8B-B14F-4D97-AF65-F5344CB8AC3E}">
        <p14:creationId xmlns:p14="http://schemas.microsoft.com/office/powerpoint/2010/main" val="1653713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9</a:t>
            </a:fld>
            <a:endParaRPr lang="zh-CN" altLang="en-US" dirty="0"/>
          </a:p>
        </p:txBody>
      </p:sp>
      <p:sp>
        <p:nvSpPr>
          <p:cNvPr id="2" name="文本框 1">
            <a:extLst>
              <a:ext uri="{FF2B5EF4-FFF2-40B4-BE49-F238E27FC236}">
                <a16:creationId xmlns:a16="http://schemas.microsoft.com/office/drawing/2014/main" id="{3D3A1E28-C96D-2F1B-E169-3D918F7FB0A9}"/>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预实验</a:t>
            </a:r>
          </a:p>
        </p:txBody>
      </p:sp>
      <p:pic>
        <p:nvPicPr>
          <p:cNvPr id="3" name="图片 2" descr="图表, 直方图&#10;&#10;描述已自动生成">
            <a:extLst>
              <a:ext uri="{FF2B5EF4-FFF2-40B4-BE49-F238E27FC236}">
                <a16:creationId xmlns:a16="http://schemas.microsoft.com/office/drawing/2014/main" id="{41C5AD7E-C162-EBC5-9C90-8025C7816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2566" y="1018545"/>
            <a:ext cx="3767227" cy="2883600"/>
          </a:xfrm>
          <a:prstGeom prst="rect">
            <a:avLst/>
          </a:prstGeom>
        </p:spPr>
      </p:pic>
      <p:pic>
        <p:nvPicPr>
          <p:cNvPr id="5" name="图片 4">
            <a:extLst>
              <a:ext uri="{FF2B5EF4-FFF2-40B4-BE49-F238E27FC236}">
                <a16:creationId xmlns:a16="http://schemas.microsoft.com/office/drawing/2014/main" id="{607A4E04-6A6E-DDEA-7717-2B8F227BEBB1}"/>
              </a:ext>
            </a:extLst>
          </p:cNvPr>
          <p:cNvPicPr>
            <a:picLocks noChangeAspect="1"/>
          </p:cNvPicPr>
          <p:nvPr/>
        </p:nvPicPr>
        <p:blipFill>
          <a:blip r:embed="rId3"/>
          <a:stretch>
            <a:fillRect/>
          </a:stretch>
        </p:blipFill>
        <p:spPr>
          <a:xfrm>
            <a:off x="6384312" y="1305715"/>
            <a:ext cx="1124540" cy="528854"/>
          </a:xfrm>
          <a:prstGeom prst="rect">
            <a:avLst/>
          </a:prstGeom>
          <a:ln>
            <a:solidFill>
              <a:schemeClr val="tx1"/>
            </a:solidFill>
          </a:ln>
        </p:spPr>
      </p:pic>
      <p:sp>
        <p:nvSpPr>
          <p:cNvPr id="12" name="文本框 11">
            <a:extLst>
              <a:ext uri="{FF2B5EF4-FFF2-40B4-BE49-F238E27FC236}">
                <a16:creationId xmlns:a16="http://schemas.microsoft.com/office/drawing/2014/main" id="{99AE016E-B913-8DF1-8DEF-05370660ED9D}"/>
              </a:ext>
            </a:extLst>
          </p:cNvPr>
          <p:cNvSpPr txBox="1"/>
          <p:nvPr/>
        </p:nvSpPr>
        <p:spPr>
          <a:xfrm>
            <a:off x="4908901" y="3717723"/>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插入铁棒</a:t>
            </a:r>
          </a:p>
        </p:txBody>
      </p:sp>
      <p:pic>
        <p:nvPicPr>
          <p:cNvPr id="21" name="图片 20" descr="直方图&#10;&#10;中度可信度">
            <a:extLst>
              <a:ext uri="{FF2B5EF4-FFF2-40B4-BE49-F238E27FC236}">
                <a16:creationId xmlns:a16="http://schemas.microsoft.com/office/drawing/2014/main" id="{8E9642E5-820C-7F4A-B02D-9675D93043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6819" y="1019796"/>
            <a:ext cx="3767226" cy="2883600"/>
          </a:xfrm>
          <a:prstGeom prst="rect">
            <a:avLst/>
          </a:prstGeom>
        </p:spPr>
      </p:pic>
      <p:sp>
        <p:nvSpPr>
          <p:cNvPr id="22" name="文本框 21">
            <a:extLst>
              <a:ext uri="{FF2B5EF4-FFF2-40B4-BE49-F238E27FC236}">
                <a16:creationId xmlns:a16="http://schemas.microsoft.com/office/drawing/2014/main" id="{A7BA5BA3-D0FE-4525-5088-18A4E08FA58F}"/>
              </a:ext>
            </a:extLst>
          </p:cNvPr>
          <p:cNvSpPr txBox="1"/>
          <p:nvPr/>
        </p:nvSpPr>
        <p:spPr>
          <a:xfrm>
            <a:off x="8615638"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插入铁氧体棒</a:t>
            </a:r>
          </a:p>
        </p:txBody>
      </p:sp>
      <p:pic>
        <p:nvPicPr>
          <p:cNvPr id="26" name="图片 25">
            <a:extLst>
              <a:ext uri="{FF2B5EF4-FFF2-40B4-BE49-F238E27FC236}">
                <a16:creationId xmlns:a16="http://schemas.microsoft.com/office/drawing/2014/main" id="{8923C8DB-D879-DF4C-BC28-D0F478696D6D}"/>
              </a:ext>
            </a:extLst>
          </p:cNvPr>
          <p:cNvPicPr>
            <a:picLocks noChangeAspect="1"/>
          </p:cNvPicPr>
          <p:nvPr/>
        </p:nvPicPr>
        <p:blipFill>
          <a:blip r:embed="rId5"/>
          <a:stretch>
            <a:fillRect/>
          </a:stretch>
        </p:blipFill>
        <p:spPr>
          <a:xfrm>
            <a:off x="10199045" y="1305715"/>
            <a:ext cx="1098433" cy="516577"/>
          </a:xfrm>
          <a:prstGeom prst="rect">
            <a:avLst/>
          </a:prstGeom>
          <a:ln>
            <a:solidFill>
              <a:schemeClr val="tx1"/>
            </a:solidFill>
          </a:ln>
        </p:spPr>
      </p:pic>
      <mc:AlternateContent xmlns:mc="http://schemas.openxmlformats.org/markup-compatibility/2006" xmlns:a14="http://schemas.microsoft.com/office/drawing/2010/main">
        <mc:Choice Requires="a14">
          <p:sp>
            <p:nvSpPr>
              <p:cNvPr id="18" name="矩形: 圆角 17">
                <a:extLst>
                  <a:ext uri="{FF2B5EF4-FFF2-40B4-BE49-F238E27FC236}">
                    <a16:creationId xmlns:a16="http://schemas.microsoft.com/office/drawing/2014/main" id="{E8E1B527-4FE4-149D-7C48-9EDAB76F1177}"/>
                  </a:ext>
                </a:extLst>
              </p:cNvPr>
              <p:cNvSpPr/>
              <p:nvPr/>
            </p:nvSpPr>
            <p:spPr>
              <a:xfrm>
                <a:off x="293273" y="4417845"/>
                <a:ext cx="8322365" cy="1742661"/>
              </a:xfrm>
              <a:prstGeom prst="roundRect">
                <a:avLst/>
              </a:prstGeom>
              <a:noFill/>
              <a:ln w="571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algn="l" defTabSz="914400" rtl="0" eaLnBrk="1" fontAlgn="auto" latinLnBrk="0" hangingPunct="1">
                  <a:lnSpc>
                    <a:spcPct val="12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铁棒</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（高</a:t>
                </a:r>
                <a14:m>
                  <m:oMath xmlns:m="http://schemas.openxmlformats.org/officeDocument/2006/math">
                    <m:r>
                      <a:rPr kumimoji="0" lang="zh-CN" altLang="en-US" sz="2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rPr>
                      <m:t>𝜎</m:t>
                    </m:r>
                  </m:oMath>
                </a14:m>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会让</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峰下移</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r>
                  <a:rPr kumimoji="0" lang="en-US" altLang="zh-CN" sz="2800" b="0" i="0" u="none" strike="noStrike" kern="1200" cap="none" spc="0" normalizeH="0" baseline="0" noProof="0" dirty="0">
                    <a:ln>
                      <a:noFill/>
                    </a:ln>
                    <a:solidFill>
                      <a:prstClr val="black"/>
                    </a:solidFill>
                    <a:effectLst/>
                    <a:uLnTx/>
                    <a:uFillTx/>
                    <a:latin typeface="等线" panose="020F0502020204030204"/>
                    <a:ea typeface="微软雅黑" panose="020B0503020204020204" pitchFamily="34" charset="-122"/>
                  </a:rPr>
                  <a:t> </a:t>
                </a:r>
                <a14:m>
                  <m:oMath xmlns:m="http://schemas.openxmlformats.org/officeDocument/2006/math">
                    <m:sSub>
                      <m:sSubPr>
                        <m:ctrlPr>
                          <a:rPr kumimoji="0" lang="en-US" altLang="zh-CN" sz="2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rPr>
                        </m:ctrlPr>
                      </m:sSubPr>
                      <m:e>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rPr>
                          <m:t>𝑅</m:t>
                        </m:r>
                      </m:e>
                      <m:sub>
                        <m:r>
                          <a:rPr kumimoji="0" lang="en-US" altLang="zh-CN" sz="2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rPr>
                          <m:t>𝐿</m:t>
                        </m:r>
                      </m:sub>
                    </m:sSub>
                    <m:r>
                      <a:rPr kumimoji="0" lang="zh-CN" altLang="en-US" sz="2800" b="0" i="1" u="none" strike="noStrike" kern="1200" cap="none" spc="0" normalizeH="0" baseline="0" noProof="0">
                        <a:ln>
                          <a:noFill/>
                        </a:ln>
                        <a:solidFill>
                          <a:srgbClr val="FF0000"/>
                        </a:solidFill>
                        <a:effectLst/>
                        <a:uLnTx/>
                        <a:uFillTx/>
                        <a:latin typeface="Cambria Math" panose="02040503050406030204" pitchFamily="18" charset="0"/>
                        <a:ea typeface="微软雅黑" panose="020B0503020204020204" pitchFamily="34" charset="-122"/>
                      </a:rPr>
                      <m:t>增</m:t>
                    </m:r>
                    <m:r>
                      <a:rPr lang="zh-CN" altLang="en-US" sz="2800" i="1">
                        <a:solidFill>
                          <a:srgbClr val="FF0000"/>
                        </a:solidFill>
                        <a:latin typeface="Cambria Math" panose="02040503050406030204" pitchFamily="18" charset="0"/>
                        <a:ea typeface="微软雅黑" panose="020B0503020204020204" pitchFamily="34" charset="-122"/>
                      </a:rPr>
                      <m:t>大</m:t>
                    </m:r>
                  </m:oMath>
                </a14:m>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a:p>
                <a:pPr lvl="0">
                  <a:lnSpc>
                    <a:spcPct val="120000"/>
                  </a:lnSpc>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铁氧体棒</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（高</a:t>
                </a:r>
                <a14:m>
                  <m:oMath xmlns:m="http://schemas.openxmlformats.org/officeDocument/2006/math">
                    <m:r>
                      <a:rPr kumimoji="0" lang="zh-CN" altLang="en-US" sz="2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rPr>
                      <m:t>𝜇</m:t>
                    </m:r>
                  </m:oMath>
                </a14:m>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会让</a:t>
                </a:r>
                <a:r>
                  <a:rPr lang="zh-CN" altLang="en-US" sz="2800" noProof="0" dirty="0">
                    <a:solidFill>
                      <a:prstClr val="black"/>
                    </a:solidFill>
                    <a:latin typeface="微软雅黑" panose="020B0503020204020204" pitchFamily="34" charset="-122"/>
                    <a:ea typeface="微软雅黑" panose="020B0503020204020204" pitchFamily="34" charset="-122"/>
                  </a:rPr>
                  <a:t>幅频曲线的</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峰</a:t>
                </a:r>
                <a:r>
                  <a:rPr lang="zh-CN" altLang="en-US" sz="2800" dirty="0">
                    <a:solidFill>
                      <a:srgbClr val="FF0000"/>
                    </a:solidFill>
                    <a:latin typeface="微软雅黑" panose="020B0503020204020204" pitchFamily="34" charset="-122"/>
                    <a:ea typeface="微软雅黑" panose="020B0503020204020204" pitchFamily="34" charset="-122"/>
                  </a:rPr>
                  <a:t>左移</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14:m>
                  <m:oMath xmlns:m="http://schemas.openxmlformats.org/officeDocument/2006/math">
                    <m:r>
                      <a:rPr kumimoji="0" lang="en-US" altLang="zh-CN" sz="2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rPr>
                      <m:t>𝐿</m:t>
                    </m:r>
                  </m:oMath>
                </a14:m>
                <a:r>
                  <a:rPr kumimoji="0" lang="en-US" altLang="zh-CN" sz="2800" b="0" i="0" u="none" strike="noStrike" kern="1200" cap="none" spc="0" normalizeH="0" baseline="0" noProof="0" dirty="0">
                    <a:ln>
                      <a:noFill/>
                    </a:ln>
                    <a:solidFill>
                      <a:srgbClr val="FF0000"/>
                    </a:solidFill>
                    <a:effectLst/>
                    <a:uLnTx/>
                    <a:uFillTx/>
                    <a:latin typeface="等线" panose="020F0502020204030204"/>
                    <a:ea typeface="Cambria Math" panose="02040503050406030204" pitchFamily="18" charset="0"/>
                  </a:rPr>
                  <a:t> </a:t>
                </a:r>
                <a14:m>
                  <m:oMath xmlns:m="http://schemas.openxmlformats.org/officeDocument/2006/math">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ea typeface="微软雅黑" panose="020B0503020204020204" pitchFamily="34" charset="-122"/>
                      </a:rPr>
                      <m:t>增</m:t>
                    </m:r>
                    <m:r>
                      <a:rPr lang="zh-CN" altLang="en-US" sz="2800" i="1" dirty="0">
                        <a:solidFill>
                          <a:srgbClr val="FF0000"/>
                        </a:solidFill>
                        <a:latin typeface="Cambria Math" panose="02040503050406030204" pitchFamily="18" charset="0"/>
                        <a:ea typeface="微软雅黑" panose="020B0503020204020204" pitchFamily="34" charset="-122"/>
                      </a:rPr>
                      <m:t>大；</m:t>
                    </m:r>
                  </m:oMath>
                </a14:m>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也使得</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峰稍下降</a:t>
                </a:r>
                <a:r>
                  <a:rPr lang="zh-CN" altLang="en-US" sz="2800" dirty="0">
                    <a:solidFill>
                      <a:srgbClr val="FF0000"/>
                    </a:solidFill>
                    <a:ea typeface="微软雅黑" panose="020B0503020204020204" pitchFamily="34" charset="-122"/>
                  </a:rPr>
                  <a:t>，</a:t>
                </a:r>
                <a14:m>
                  <m:oMath xmlns:m="http://schemas.openxmlformats.org/officeDocument/2006/math">
                    <m:sSub>
                      <m:sSubPr>
                        <m:ctrlPr>
                          <a:rPr lang="en-US" altLang="zh-CN" sz="2800" i="1">
                            <a:solidFill>
                              <a:srgbClr val="FF0000"/>
                            </a:solidFill>
                            <a:latin typeface="Cambria Math" panose="02040503050406030204" pitchFamily="18" charset="0"/>
                            <a:ea typeface="微软雅黑" panose="020B0503020204020204" pitchFamily="34" charset="-122"/>
                          </a:rPr>
                        </m:ctrlPr>
                      </m:sSubPr>
                      <m:e>
                        <m:r>
                          <a:rPr lang="en-US" altLang="zh-CN" sz="2800" i="1">
                            <a:solidFill>
                              <a:srgbClr val="FF0000"/>
                            </a:solidFill>
                            <a:latin typeface="Cambria Math" panose="02040503050406030204" pitchFamily="18" charset="0"/>
                            <a:ea typeface="微软雅黑" panose="020B0503020204020204" pitchFamily="34" charset="-122"/>
                          </a:rPr>
                          <m:t>𝑅</m:t>
                        </m:r>
                      </m:e>
                      <m:sub>
                        <m:r>
                          <a:rPr lang="en-US" altLang="zh-CN" sz="2800" i="1">
                            <a:solidFill>
                              <a:srgbClr val="FF0000"/>
                            </a:solidFill>
                            <a:latin typeface="Cambria Math" panose="02040503050406030204" pitchFamily="18" charset="0"/>
                            <a:ea typeface="微软雅黑" panose="020B0503020204020204" pitchFamily="34" charset="-122"/>
                          </a:rPr>
                          <m:t>𝐿</m:t>
                        </m:r>
                      </m:sub>
                    </m:sSub>
                    <m:r>
                      <a:rPr lang="zh-CN" altLang="en-US" sz="2800" i="1">
                        <a:solidFill>
                          <a:srgbClr val="FF0000"/>
                        </a:solidFill>
                        <a:latin typeface="Cambria Math" panose="02040503050406030204" pitchFamily="18" charset="0"/>
                        <a:ea typeface="微软雅黑" panose="020B0503020204020204" pitchFamily="34" charset="-122"/>
                      </a:rPr>
                      <m:t>增大</m:t>
                    </m:r>
                  </m:oMath>
                </a14:m>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a:t>
                </a:r>
                <a:endParaRPr kumimoji="0"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18" name="矩形: 圆角 17">
                <a:extLst>
                  <a:ext uri="{FF2B5EF4-FFF2-40B4-BE49-F238E27FC236}">
                    <a16:creationId xmlns:a16="http://schemas.microsoft.com/office/drawing/2014/main" id="{E8E1B527-4FE4-149D-7C48-9EDAB76F1177}"/>
                  </a:ext>
                </a:extLst>
              </p:cNvPr>
              <p:cNvSpPr>
                <a:spLocks noRot="1" noChangeAspect="1" noMove="1" noResize="1" noEditPoints="1" noAdjustHandles="1" noChangeArrowheads="1" noChangeShapeType="1" noTextEdit="1"/>
              </p:cNvSpPr>
              <p:nvPr/>
            </p:nvSpPr>
            <p:spPr>
              <a:xfrm>
                <a:off x="293273" y="4417845"/>
                <a:ext cx="8322365" cy="1742661"/>
              </a:xfrm>
              <a:prstGeom prst="roundRect">
                <a:avLst/>
              </a:prstGeom>
              <a:blipFill>
                <a:blip r:embed="rId6"/>
                <a:stretch>
                  <a:fillRect l="-146" b="-3729"/>
                </a:stretch>
              </a:blipFill>
              <a:ln w="57150">
                <a:solidFill>
                  <a:schemeClr val="accent4">
                    <a:lumMod val="60000"/>
                    <a:lumOff val="40000"/>
                  </a:schemeClr>
                </a:solidFill>
              </a:ln>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1E5997CC-B494-4E09-2A6E-797793B2CA22}"/>
              </a:ext>
            </a:extLst>
          </p:cNvPr>
          <p:cNvPicPr>
            <a:picLocks noChangeAspect="1"/>
          </p:cNvPicPr>
          <p:nvPr/>
        </p:nvPicPr>
        <p:blipFill>
          <a:blip r:embed="rId7"/>
          <a:stretch>
            <a:fillRect/>
          </a:stretch>
        </p:blipFill>
        <p:spPr>
          <a:xfrm>
            <a:off x="2790783" y="1305715"/>
            <a:ext cx="1093270" cy="514148"/>
          </a:xfrm>
          <a:prstGeom prst="rect">
            <a:avLst/>
          </a:prstGeom>
          <a:ln>
            <a:solidFill>
              <a:schemeClr val="tx1"/>
            </a:solidFill>
          </a:ln>
        </p:spPr>
      </p:pic>
      <p:pic>
        <p:nvPicPr>
          <p:cNvPr id="4" name="图片 3" descr="图表, 直方图&#10;&#10;描述已自动生成">
            <a:extLst>
              <a:ext uri="{FF2B5EF4-FFF2-40B4-BE49-F238E27FC236}">
                <a16:creationId xmlns:a16="http://schemas.microsoft.com/office/drawing/2014/main" id="{59B0BE2F-9372-DEDE-E1E5-4DE6524AE3C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5060" y="1132906"/>
            <a:ext cx="3625440" cy="2775071"/>
          </a:xfrm>
          <a:prstGeom prst="rect">
            <a:avLst/>
          </a:prstGeom>
        </p:spPr>
      </p:pic>
      <p:sp>
        <p:nvSpPr>
          <p:cNvPr id="7" name="文本框 6">
            <a:extLst>
              <a:ext uri="{FF2B5EF4-FFF2-40B4-BE49-F238E27FC236}">
                <a16:creationId xmlns:a16="http://schemas.microsoft.com/office/drawing/2014/main" id="{CCCE9FF0-A5C5-C9A5-5915-D1FF78CEFCE7}"/>
              </a:ext>
            </a:extLst>
          </p:cNvPr>
          <p:cNvSpPr txBox="1"/>
          <p:nvPr/>
        </p:nvSpPr>
        <p:spPr>
          <a:xfrm>
            <a:off x="1315372"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插入铝棒</a:t>
            </a:r>
          </a:p>
        </p:txBody>
      </p:sp>
      <p:pic>
        <p:nvPicPr>
          <p:cNvPr id="8" name="图片 7">
            <a:extLst>
              <a:ext uri="{FF2B5EF4-FFF2-40B4-BE49-F238E27FC236}">
                <a16:creationId xmlns:a16="http://schemas.microsoft.com/office/drawing/2014/main" id="{C9927FDA-196B-2861-E2B8-9283A65C3E4D}"/>
              </a:ext>
            </a:extLst>
          </p:cNvPr>
          <p:cNvPicPr>
            <a:picLocks noChangeAspect="1"/>
          </p:cNvPicPr>
          <p:nvPr/>
        </p:nvPicPr>
        <p:blipFill>
          <a:blip r:embed="rId7"/>
          <a:stretch>
            <a:fillRect/>
          </a:stretch>
        </p:blipFill>
        <p:spPr>
          <a:xfrm>
            <a:off x="2728368" y="1305715"/>
            <a:ext cx="1121783" cy="527557"/>
          </a:xfrm>
          <a:prstGeom prst="rect">
            <a:avLst/>
          </a:prstGeom>
          <a:ln>
            <a:solidFill>
              <a:schemeClr val="tx1"/>
            </a:solidFill>
          </a:ln>
        </p:spPr>
      </p:pic>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1DED7A43-738B-66C7-7920-553D1AA2A19C}"/>
                  </a:ext>
                </a:extLst>
              </p:cNvPr>
              <p:cNvSpPr txBox="1"/>
              <p:nvPr/>
            </p:nvSpPr>
            <p:spPr>
              <a:xfrm>
                <a:off x="8551069" y="4572478"/>
                <a:ext cx="3704845" cy="12261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ea typeface="微软雅黑" panose="020B0503020204020204" pitchFamily="34" charset="-122"/>
                        </a:rPr>
                        <m:t>𝐴</m:t>
                      </m:r>
                      <m:d>
                        <m:dPr>
                          <m:ctrlPr>
                            <a:rPr lang="en-US" altLang="zh-CN" sz="1800" b="0" i="1" smtClean="0">
                              <a:latin typeface="Cambria Math" panose="02040503050406030204" pitchFamily="18" charset="0"/>
                              <a:ea typeface="微软雅黑" panose="020B0503020204020204" pitchFamily="34" charset="-122"/>
                            </a:rPr>
                          </m:ctrlPr>
                        </m:dPr>
                        <m:e>
                          <m:r>
                            <a:rPr lang="zh-CN" altLang="en-US" sz="1800" b="0" i="1" smtClean="0">
                              <a:latin typeface="Cambria Math" panose="02040503050406030204" pitchFamily="18" charset="0"/>
                              <a:ea typeface="微软雅黑" panose="020B0503020204020204" pitchFamily="34" charset="-122"/>
                            </a:rPr>
                            <m:t>𝜔</m:t>
                          </m:r>
                        </m:e>
                      </m:d>
                      <m:r>
                        <a:rPr lang="en-US" altLang="zh-CN" sz="1800" b="0" i="1" smtClean="0">
                          <a:latin typeface="Cambria Math" panose="02040503050406030204" pitchFamily="18" charset="0"/>
                          <a:ea typeface="微软雅黑" panose="020B0503020204020204" pitchFamily="34" charset="-122"/>
                        </a:rPr>
                        <m:t>=</m:t>
                      </m:r>
                      <m:f>
                        <m:fPr>
                          <m:ctrlPr>
                            <a:rPr lang="en-US" altLang="zh-CN" sz="1800" b="0" i="1" smtClean="0">
                              <a:latin typeface="Cambria Math" panose="02040503050406030204" pitchFamily="18" charset="0"/>
                              <a:ea typeface="微软雅黑" panose="020B0503020204020204" pitchFamily="34" charset="-122"/>
                            </a:rPr>
                          </m:ctrlPr>
                        </m:fPr>
                        <m:num>
                          <m:r>
                            <a:rPr lang="en-US" altLang="zh-CN" sz="1800" b="0" i="1" smtClean="0">
                              <a:latin typeface="Cambria Math" panose="02040503050406030204" pitchFamily="18" charset="0"/>
                              <a:ea typeface="微软雅黑" panose="020B0503020204020204" pitchFamily="34" charset="-122"/>
                            </a:rPr>
                            <m:t>𝑅</m:t>
                          </m:r>
                        </m:num>
                        <m:den>
                          <m:r>
                            <a:rPr lang="en-US" altLang="zh-CN" sz="1800" b="0" i="1" smtClean="0">
                              <a:latin typeface="Cambria Math" panose="02040503050406030204" pitchFamily="18" charset="0"/>
                              <a:ea typeface="微软雅黑" panose="020B0503020204020204" pitchFamily="34" charset="-122"/>
                            </a:rPr>
                            <m:t>(</m:t>
                          </m:r>
                          <m:r>
                            <a:rPr lang="en-US" altLang="zh-CN" sz="1800" b="0" i="1" smtClean="0">
                              <a:latin typeface="Cambria Math" panose="02040503050406030204" pitchFamily="18" charset="0"/>
                              <a:ea typeface="微软雅黑" panose="020B0503020204020204" pitchFamily="34" charset="-122"/>
                            </a:rPr>
                            <m:t>𝑅</m:t>
                          </m:r>
                          <m:r>
                            <a:rPr lang="en-US" altLang="zh-CN" sz="1800" b="0" i="1" smtClean="0">
                              <a:latin typeface="Cambria Math" panose="02040503050406030204" pitchFamily="18" charset="0"/>
                              <a:ea typeface="微软雅黑" panose="020B0503020204020204" pitchFamily="34" charset="-122"/>
                            </a:rPr>
                            <m:t>+</m:t>
                          </m:r>
                          <m:sSub>
                            <m:sSubPr>
                              <m:ctrlPr>
                                <a:rPr lang="en-US" altLang="zh-CN" sz="1800" i="1">
                                  <a:latin typeface="Cambria Math" panose="02040503050406030204" pitchFamily="18" charset="0"/>
                                  <a:ea typeface="微软雅黑" panose="020B0503020204020204" pitchFamily="34" charset="-122"/>
                                </a:rPr>
                              </m:ctrlPr>
                            </m:sSubPr>
                            <m:e>
                              <m:r>
                                <a:rPr lang="en-US" altLang="zh-CN" sz="1800" i="1">
                                  <a:latin typeface="Cambria Math" panose="02040503050406030204" pitchFamily="18" charset="0"/>
                                  <a:ea typeface="微软雅黑" panose="020B0503020204020204" pitchFamily="34" charset="-122"/>
                                </a:rPr>
                                <m:t>𝑅</m:t>
                              </m:r>
                            </m:e>
                            <m:sub>
                              <m:r>
                                <a:rPr lang="en-US" altLang="zh-CN" sz="1800" i="1">
                                  <a:latin typeface="Cambria Math" panose="02040503050406030204" pitchFamily="18" charset="0"/>
                                  <a:ea typeface="微软雅黑" panose="020B0503020204020204" pitchFamily="34" charset="-122"/>
                                </a:rPr>
                                <m:t>𝐿</m:t>
                              </m:r>
                            </m:sub>
                          </m:sSub>
                          <m:r>
                            <a:rPr lang="en-US" altLang="zh-CN" sz="1800" b="0" i="1" smtClean="0">
                              <a:latin typeface="Cambria Math" panose="02040503050406030204" pitchFamily="18" charset="0"/>
                              <a:ea typeface="微软雅黑" panose="020B0503020204020204" pitchFamily="34" charset="-122"/>
                            </a:rPr>
                            <m:t>)</m:t>
                          </m:r>
                          <m:rad>
                            <m:radPr>
                              <m:degHide m:val="on"/>
                              <m:ctrlPr>
                                <a:rPr lang="en-US" altLang="zh-CN" sz="1800" b="0" i="1" smtClean="0">
                                  <a:latin typeface="Cambria Math" panose="02040503050406030204" pitchFamily="18" charset="0"/>
                                  <a:ea typeface="微软雅黑" panose="020B0503020204020204" pitchFamily="34" charset="-122"/>
                                </a:rPr>
                              </m:ctrlPr>
                            </m:radPr>
                            <m:deg/>
                            <m:e>
                              <m:r>
                                <a:rPr lang="en-US" altLang="zh-CN" sz="1800" b="0" i="1" smtClean="0">
                                  <a:latin typeface="Cambria Math" panose="02040503050406030204" pitchFamily="18" charset="0"/>
                                  <a:ea typeface="微软雅黑" panose="020B0503020204020204" pitchFamily="34" charset="-122"/>
                                </a:rPr>
                                <m:t>1+</m:t>
                              </m:r>
                              <m:sSup>
                                <m:sSupPr>
                                  <m:ctrlPr>
                                    <a:rPr lang="en-US" altLang="zh-CN" sz="1800" b="0" i="1" smtClean="0">
                                      <a:latin typeface="Cambria Math" panose="02040503050406030204" pitchFamily="18" charset="0"/>
                                      <a:ea typeface="微软雅黑" panose="020B0503020204020204" pitchFamily="34" charset="-122"/>
                                    </a:rPr>
                                  </m:ctrlPr>
                                </m:sSupPr>
                                <m:e>
                                  <m:r>
                                    <a:rPr lang="en-US" altLang="zh-CN" sz="1800" b="0" i="1" smtClean="0">
                                      <a:latin typeface="Cambria Math" panose="02040503050406030204" pitchFamily="18" charset="0"/>
                                      <a:ea typeface="微软雅黑" panose="020B0503020204020204" pitchFamily="34" charset="-122"/>
                                    </a:rPr>
                                    <m:t>𝑄</m:t>
                                  </m:r>
                                </m:e>
                                <m:sup>
                                  <m:r>
                                    <a:rPr lang="en-US" altLang="zh-CN" sz="1800" b="0" i="1" smtClean="0">
                                      <a:latin typeface="Cambria Math" panose="02040503050406030204" pitchFamily="18" charset="0"/>
                                      <a:ea typeface="微软雅黑" panose="020B0503020204020204" pitchFamily="34" charset="-122"/>
                                    </a:rPr>
                                    <m:t>2</m:t>
                                  </m:r>
                                </m:sup>
                              </m:sSup>
                              <m:sSup>
                                <m:sSupPr>
                                  <m:ctrlPr>
                                    <a:rPr lang="en-US" altLang="zh-CN" sz="1800" b="0" i="1" smtClean="0">
                                      <a:latin typeface="Cambria Math" panose="02040503050406030204" pitchFamily="18" charset="0"/>
                                      <a:ea typeface="微软雅黑" panose="020B0503020204020204" pitchFamily="34" charset="-122"/>
                                    </a:rPr>
                                  </m:ctrlPr>
                                </m:sSupPr>
                                <m:e>
                                  <m:r>
                                    <a:rPr lang="en-US" altLang="zh-CN" sz="1800" b="0" i="1" smtClean="0">
                                      <a:latin typeface="Cambria Math" panose="02040503050406030204" pitchFamily="18" charset="0"/>
                                      <a:ea typeface="微软雅黑" panose="020B0503020204020204" pitchFamily="34" charset="-122"/>
                                    </a:rPr>
                                    <m:t>(</m:t>
                                  </m:r>
                                  <m:f>
                                    <m:fPr>
                                      <m:ctrlPr>
                                        <a:rPr lang="en-US" altLang="zh-CN" sz="1800" b="0" i="1" smtClean="0">
                                          <a:latin typeface="Cambria Math" panose="02040503050406030204" pitchFamily="18" charset="0"/>
                                          <a:ea typeface="微软雅黑" panose="020B0503020204020204" pitchFamily="34" charset="-122"/>
                                        </a:rPr>
                                      </m:ctrlPr>
                                    </m:fPr>
                                    <m:num>
                                      <m:sSub>
                                        <m:sSubPr>
                                          <m:ctrlPr>
                                            <a:rPr lang="en-US" altLang="zh-CN" sz="1800" b="0" i="1" smtClean="0">
                                              <a:latin typeface="Cambria Math" panose="02040503050406030204" pitchFamily="18" charset="0"/>
                                              <a:ea typeface="微软雅黑" panose="020B0503020204020204" pitchFamily="34" charset="-122"/>
                                            </a:rPr>
                                          </m:ctrlPr>
                                        </m:sSubPr>
                                        <m:e>
                                          <m:r>
                                            <a:rPr lang="zh-CN" altLang="en-US" sz="1800" b="0" i="1" smtClean="0">
                                              <a:latin typeface="Cambria Math" panose="02040503050406030204" pitchFamily="18" charset="0"/>
                                              <a:ea typeface="微软雅黑" panose="020B0503020204020204" pitchFamily="34" charset="-122"/>
                                            </a:rPr>
                                            <m:t>𝜔</m:t>
                                          </m:r>
                                        </m:e>
                                        <m:sub>
                                          <m:r>
                                            <a:rPr lang="en-US" altLang="zh-CN" sz="1800" b="0" i="1" smtClean="0">
                                              <a:latin typeface="Cambria Math" panose="02040503050406030204" pitchFamily="18" charset="0"/>
                                              <a:ea typeface="微软雅黑" panose="020B0503020204020204" pitchFamily="34" charset="-122"/>
                                            </a:rPr>
                                            <m:t>0</m:t>
                                          </m:r>
                                        </m:sub>
                                      </m:sSub>
                                    </m:num>
                                    <m:den>
                                      <m:r>
                                        <a:rPr lang="zh-CN" altLang="en-US" sz="1800" b="0" i="1" smtClean="0">
                                          <a:latin typeface="Cambria Math" panose="02040503050406030204" pitchFamily="18" charset="0"/>
                                          <a:ea typeface="微软雅黑" panose="020B0503020204020204" pitchFamily="34" charset="-122"/>
                                        </a:rPr>
                                        <m:t>𝜔</m:t>
                                      </m:r>
                                    </m:den>
                                  </m:f>
                                  <m:r>
                                    <a:rPr lang="en-US" altLang="zh-CN" sz="1800" b="0" i="1" smtClean="0">
                                      <a:latin typeface="Cambria Math" panose="02040503050406030204" pitchFamily="18" charset="0"/>
                                      <a:ea typeface="微软雅黑" panose="020B0503020204020204" pitchFamily="34" charset="-122"/>
                                    </a:rPr>
                                    <m:t>−</m:t>
                                  </m:r>
                                  <m:f>
                                    <m:fPr>
                                      <m:ctrlPr>
                                        <a:rPr lang="en-US" altLang="zh-CN" sz="1800" b="0" i="1" smtClean="0">
                                          <a:latin typeface="Cambria Math" panose="02040503050406030204" pitchFamily="18" charset="0"/>
                                          <a:ea typeface="微软雅黑" panose="020B0503020204020204" pitchFamily="34" charset="-122"/>
                                        </a:rPr>
                                      </m:ctrlPr>
                                    </m:fPr>
                                    <m:num>
                                      <m:r>
                                        <a:rPr lang="zh-CN" altLang="en-US" sz="1800" b="0" i="1" smtClean="0">
                                          <a:latin typeface="Cambria Math" panose="02040503050406030204" pitchFamily="18" charset="0"/>
                                          <a:ea typeface="微软雅黑" panose="020B0503020204020204" pitchFamily="34" charset="-122"/>
                                        </a:rPr>
                                        <m:t>𝜔</m:t>
                                      </m:r>
                                    </m:num>
                                    <m:den>
                                      <m:sSub>
                                        <m:sSubPr>
                                          <m:ctrlPr>
                                            <a:rPr lang="en-US" altLang="zh-CN" sz="1800" b="0" i="1" smtClean="0">
                                              <a:latin typeface="Cambria Math" panose="02040503050406030204" pitchFamily="18" charset="0"/>
                                              <a:ea typeface="微软雅黑" panose="020B0503020204020204" pitchFamily="34" charset="-122"/>
                                            </a:rPr>
                                          </m:ctrlPr>
                                        </m:sSubPr>
                                        <m:e>
                                          <m:r>
                                            <a:rPr lang="zh-CN" altLang="en-US" sz="1800" b="0" i="1" smtClean="0">
                                              <a:latin typeface="Cambria Math" panose="02040503050406030204" pitchFamily="18" charset="0"/>
                                              <a:ea typeface="微软雅黑" panose="020B0503020204020204" pitchFamily="34" charset="-122"/>
                                            </a:rPr>
                                            <m:t>𝜔</m:t>
                                          </m:r>
                                        </m:e>
                                        <m:sub>
                                          <m:r>
                                            <a:rPr lang="en-US" altLang="zh-CN" sz="1800" b="0" i="1" smtClean="0">
                                              <a:latin typeface="Cambria Math" panose="02040503050406030204" pitchFamily="18" charset="0"/>
                                              <a:ea typeface="微软雅黑" panose="020B0503020204020204" pitchFamily="34" charset="-122"/>
                                            </a:rPr>
                                            <m:t>0</m:t>
                                          </m:r>
                                        </m:sub>
                                      </m:sSub>
                                    </m:den>
                                  </m:f>
                                  <m:r>
                                    <a:rPr lang="en-US" altLang="zh-CN" sz="1800" b="0" i="1" smtClean="0">
                                      <a:latin typeface="Cambria Math" panose="02040503050406030204" pitchFamily="18" charset="0"/>
                                      <a:ea typeface="微软雅黑" panose="020B0503020204020204" pitchFamily="34" charset="-122"/>
                                    </a:rPr>
                                    <m:t>)</m:t>
                                  </m:r>
                                </m:e>
                                <m:sup>
                                  <m:r>
                                    <a:rPr lang="en-US" altLang="zh-CN" sz="1800" b="0" i="1" smtClean="0">
                                      <a:latin typeface="Cambria Math" panose="02040503050406030204" pitchFamily="18" charset="0"/>
                                      <a:ea typeface="微软雅黑" panose="020B0503020204020204" pitchFamily="34" charset="-122"/>
                                    </a:rPr>
                                    <m:t>2</m:t>
                                  </m:r>
                                </m:sup>
                              </m:sSup>
                            </m:e>
                          </m:rad>
                        </m:den>
                      </m:f>
                    </m:oMath>
                  </m:oMathPara>
                </a14:m>
                <a:endParaRPr lang="zh-CN" altLang="en-US" dirty="0"/>
              </a:p>
            </p:txBody>
          </p:sp>
        </mc:Choice>
        <mc:Fallback>
          <p:sp>
            <p:nvSpPr>
              <p:cNvPr id="10" name="文本框 9">
                <a:extLst>
                  <a:ext uri="{FF2B5EF4-FFF2-40B4-BE49-F238E27FC236}">
                    <a16:creationId xmlns:a16="http://schemas.microsoft.com/office/drawing/2014/main" id="{1DED7A43-738B-66C7-7920-553D1AA2A19C}"/>
                  </a:ext>
                </a:extLst>
              </p:cNvPr>
              <p:cNvSpPr txBox="1">
                <a:spLocks noRot="1" noChangeAspect="1" noMove="1" noResize="1" noEditPoints="1" noAdjustHandles="1" noChangeArrowheads="1" noChangeShapeType="1" noTextEdit="1"/>
              </p:cNvSpPr>
              <p:nvPr/>
            </p:nvSpPr>
            <p:spPr>
              <a:xfrm>
                <a:off x="8551069" y="4572478"/>
                <a:ext cx="3704845" cy="1226105"/>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0287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10</a:t>
            </a:fld>
            <a:endParaRPr lang="zh-CN" altLang="en-US" dirty="0"/>
          </a:p>
        </p:txBody>
      </p:sp>
      <p:sp>
        <p:nvSpPr>
          <p:cNvPr id="2" name="文本框 1">
            <a:extLst>
              <a:ext uri="{FF2B5EF4-FFF2-40B4-BE49-F238E27FC236}">
                <a16:creationId xmlns:a16="http://schemas.microsoft.com/office/drawing/2014/main" id="{3D3A1E28-C96D-2F1B-E169-3D918F7FB0A9}"/>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预实验</a:t>
            </a:r>
          </a:p>
        </p:txBody>
      </p:sp>
      <p:sp>
        <p:nvSpPr>
          <p:cNvPr id="12" name="文本框 11">
            <a:extLst>
              <a:ext uri="{FF2B5EF4-FFF2-40B4-BE49-F238E27FC236}">
                <a16:creationId xmlns:a16="http://schemas.microsoft.com/office/drawing/2014/main" id="{99AE016E-B913-8DF1-8DEF-05370660ED9D}"/>
              </a:ext>
            </a:extLst>
          </p:cNvPr>
          <p:cNvSpPr txBox="1"/>
          <p:nvPr/>
        </p:nvSpPr>
        <p:spPr>
          <a:xfrm>
            <a:off x="4908901" y="3717723"/>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插入铁棒</a:t>
            </a:r>
          </a:p>
        </p:txBody>
      </p:sp>
      <p:sp>
        <p:nvSpPr>
          <p:cNvPr id="22" name="文本框 21">
            <a:extLst>
              <a:ext uri="{FF2B5EF4-FFF2-40B4-BE49-F238E27FC236}">
                <a16:creationId xmlns:a16="http://schemas.microsoft.com/office/drawing/2014/main" id="{A7BA5BA3-D0FE-4525-5088-18A4E08FA58F}"/>
              </a:ext>
            </a:extLst>
          </p:cNvPr>
          <p:cNvSpPr txBox="1"/>
          <p:nvPr/>
        </p:nvSpPr>
        <p:spPr>
          <a:xfrm>
            <a:off x="8615638"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插入铁氧体棒</a:t>
            </a:r>
          </a:p>
        </p:txBody>
      </p:sp>
      <p:sp>
        <p:nvSpPr>
          <p:cNvPr id="17" name="文本框 16">
            <a:extLst>
              <a:ext uri="{FF2B5EF4-FFF2-40B4-BE49-F238E27FC236}">
                <a16:creationId xmlns:a16="http://schemas.microsoft.com/office/drawing/2014/main" id="{4199306A-2DE6-83C9-F7AF-34E8CC08BCC9}"/>
              </a:ext>
            </a:extLst>
          </p:cNvPr>
          <p:cNvSpPr txBox="1"/>
          <p:nvPr/>
        </p:nvSpPr>
        <p:spPr>
          <a:xfrm>
            <a:off x="1414687" y="3717479"/>
            <a:ext cx="295082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插入铝棒</a:t>
            </a:r>
          </a:p>
        </p:txBody>
      </p:sp>
      <p:pic>
        <p:nvPicPr>
          <p:cNvPr id="4" name="图片 3" descr="图表, 直方图&#10;&#10;描述已自动生成">
            <a:extLst>
              <a:ext uri="{FF2B5EF4-FFF2-40B4-BE49-F238E27FC236}">
                <a16:creationId xmlns:a16="http://schemas.microsoft.com/office/drawing/2014/main" id="{647C1D80-D16A-DCD1-7B01-F58FB466C4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844" y="1182927"/>
            <a:ext cx="3468502" cy="2361469"/>
          </a:xfrm>
          <a:prstGeom prst="rect">
            <a:avLst/>
          </a:prstGeom>
        </p:spPr>
      </p:pic>
      <p:pic>
        <p:nvPicPr>
          <p:cNvPr id="7" name="图片 6">
            <a:extLst>
              <a:ext uri="{FF2B5EF4-FFF2-40B4-BE49-F238E27FC236}">
                <a16:creationId xmlns:a16="http://schemas.microsoft.com/office/drawing/2014/main" id="{3B505CE8-AF44-3DC0-1185-D9372C17DD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345" y="1172818"/>
            <a:ext cx="3819039" cy="2381550"/>
          </a:xfrm>
          <a:prstGeom prst="rect">
            <a:avLst/>
          </a:prstGeom>
        </p:spPr>
      </p:pic>
      <p:pic>
        <p:nvPicPr>
          <p:cNvPr id="8" name="图片 7" descr="图表, 直方图&#10;&#10;描述已自动生成">
            <a:extLst>
              <a:ext uri="{FF2B5EF4-FFF2-40B4-BE49-F238E27FC236}">
                <a16:creationId xmlns:a16="http://schemas.microsoft.com/office/drawing/2014/main" id="{AE387936-2488-2281-1040-808353511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9723" y="1172818"/>
            <a:ext cx="3959603" cy="2381550"/>
          </a:xfrm>
          <a:prstGeom prst="rect">
            <a:avLst/>
          </a:prstGeom>
        </p:spPr>
      </p:pic>
      <mc:AlternateContent xmlns:mc="http://schemas.openxmlformats.org/markup-compatibility/2006">
        <mc:Choice xmlns:a14="http://schemas.microsoft.com/office/drawing/2010/main" Requires="a14">
          <p:sp>
            <p:nvSpPr>
              <p:cNvPr id="9" name="矩形: 圆角 8">
                <a:extLst>
                  <a:ext uri="{FF2B5EF4-FFF2-40B4-BE49-F238E27FC236}">
                    <a16:creationId xmlns:a16="http://schemas.microsoft.com/office/drawing/2014/main" id="{96C908C5-C205-D5CB-8132-458C6CC3312E}"/>
                  </a:ext>
                </a:extLst>
              </p:cNvPr>
              <p:cNvSpPr/>
              <p:nvPr/>
            </p:nvSpPr>
            <p:spPr>
              <a:xfrm>
                <a:off x="549654" y="4727724"/>
                <a:ext cx="7255566" cy="1423369"/>
              </a:xfrm>
              <a:prstGeom prst="roundRect">
                <a:avLst/>
              </a:prstGeom>
              <a:noFill/>
              <a:ln w="571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en-US" sz="2800" b="0" i="0" u="none" strike="noStrike" kern="1200" cap="none" spc="0" normalizeH="0" baseline="0" noProof="0" dirty="0">
                    <a:ln>
                      <a:noFill/>
                    </a:ln>
                    <a:solidFill>
                      <a:srgbClr val="27304F"/>
                    </a:solidFill>
                    <a:effectLst/>
                    <a:uLnTx/>
                    <a:uFillTx/>
                    <a:latin typeface="微软雅黑" panose="020B0503020204020204" pitchFamily="34" charset="-122"/>
                    <a:ea typeface="微软雅黑" panose="020B0503020204020204" pitchFamily="34" charset="-122"/>
                  </a:rPr>
                  <a:t>铁氧体棒</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（高</a:t>
                </a:r>
                <a14:m>
                  <m:oMath xmlns:m="http://schemas.openxmlformats.org/officeDocument/2006/math">
                    <m:r>
                      <a:rPr kumimoji="0" lang="zh-CN" altLang="en-US" sz="2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rPr>
                      <m:t>𝜇</m:t>
                    </m:r>
                  </m:oMath>
                </a14:m>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zh-CN" altLang="en-US"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会让相频曲线的</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对称中心</a:t>
                </a:r>
                <a:r>
                  <a:rPr lang="zh-CN" altLang="en-US" sz="2800" dirty="0">
                    <a:solidFill>
                      <a:srgbClr val="FF0000"/>
                    </a:solidFill>
                    <a:latin typeface="微软雅黑" panose="020B0503020204020204" pitchFamily="34" charset="-122"/>
                    <a:ea typeface="微软雅黑" panose="020B0503020204020204" pitchFamily="34" charset="-122"/>
                  </a:rPr>
                  <a:t>左移</a:t>
                </a:r>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en-US" altLang="zh-CN" sz="2800" b="0" i="0" u="none" strike="noStrike" kern="1200" cap="none" spc="0" normalizeH="0" baseline="0" noProof="0" dirty="0">
                    <a:ln>
                      <a:noFill/>
                    </a:ln>
                    <a:solidFill>
                      <a:prstClr val="black"/>
                    </a:solidFill>
                    <a:effectLst/>
                    <a:uLnTx/>
                    <a:uFillTx/>
                    <a:latin typeface="等线" panose="020F0502020204030204"/>
                    <a:ea typeface="微软雅黑" panose="020B0503020204020204" pitchFamily="34" charset="-122"/>
                  </a:rPr>
                  <a:t> </a:t>
                </a:r>
                <a14:m>
                  <m:oMath xmlns:m="http://schemas.openxmlformats.org/officeDocument/2006/math">
                    <m:r>
                      <a:rPr kumimoji="0" lang="en-US" altLang="zh-CN" sz="2800" b="0" i="1" u="none" strike="noStrike" kern="1200" cap="none" spc="0" normalizeH="0" baseline="0" noProof="0" smtClean="0">
                        <a:ln>
                          <a:noFill/>
                        </a:ln>
                        <a:solidFill>
                          <a:srgbClr val="FF0000"/>
                        </a:solidFill>
                        <a:effectLst/>
                        <a:uLnTx/>
                        <a:uFillTx/>
                        <a:latin typeface="Cambria Math" panose="02040503050406030204" pitchFamily="18" charset="0"/>
                        <a:ea typeface="微软雅黑" panose="020B0503020204020204" pitchFamily="34" charset="-122"/>
                      </a:rPr>
                      <m:t>𝐿</m:t>
                    </m:r>
                  </m:oMath>
                </a14:m>
                <a:r>
                  <a:rPr kumimoji="0" lang="en-US" altLang="zh-CN" sz="2800" b="0" i="0" u="none" strike="noStrike" kern="1200" cap="none" spc="0" normalizeH="0" baseline="0" noProof="0" dirty="0">
                    <a:ln>
                      <a:noFill/>
                    </a:ln>
                    <a:solidFill>
                      <a:srgbClr val="FF0000"/>
                    </a:solidFill>
                    <a:effectLst/>
                    <a:uLnTx/>
                    <a:uFillTx/>
                    <a:latin typeface="等线" panose="020F0502020204030204"/>
                    <a:ea typeface="Cambria Math" panose="02040503050406030204" pitchFamily="18" charset="0"/>
                  </a:rPr>
                  <a:t> </a:t>
                </a:r>
                <a14:m>
                  <m:oMath xmlns:m="http://schemas.openxmlformats.org/officeDocument/2006/math">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ea typeface="微软雅黑" panose="020B0503020204020204" pitchFamily="34" charset="-122"/>
                      </a:rPr>
                      <m:t>增</m:t>
                    </m:r>
                    <m:r>
                      <a:rPr lang="zh-CN" altLang="en-US" sz="2800" i="1" dirty="0">
                        <a:solidFill>
                          <a:srgbClr val="FF0000"/>
                        </a:solidFill>
                        <a:latin typeface="Cambria Math" panose="02040503050406030204" pitchFamily="18" charset="0"/>
                        <a:ea typeface="微软雅黑" panose="020B0503020204020204" pitchFamily="34" charset="-122"/>
                      </a:rPr>
                      <m:t>大</m:t>
                    </m:r>
                  </m:oMath>
                </a14:m>
                <a:r>
                  <a:rPr kumimoji="0" lang="zh-CN" altLang="en-US" sz="2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endParaRPr kumimoji="0" lang="en-US" altLang="zh-CN" sz="2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p:sp>
            <p:nvSpPr>
              <p:cNvPr id="9" name="矩形: 圆角 8">
                <a:extLst>
                  <a:ext uri="{FF2B5EF4-FFF2-40B4-BE49-F238E27FC236}">
                    <a16:creationId xmlns:a16="http://schemas.microsoft.com/office/drawing/2014/main" id="{96C908C5-C205-D5CB-8132-458C6CC3312E}"/>
                  </a:ext>
                </a:extLst>
              </p:cNvPr>
              <p:cNvSpPr>
                <a:spLocks noRot="1" noChangeAspect="1" noMove="1" noResize="1" noEditPoints="1" noAdjustHandles="1" noChangeArrowheads="1" noChangeShapeType="1" noTextEdit="1"/>
              </p:cNvSpPr>
              <p:nvPr/>
            </p:nvSpPr>
            <p:spPr>
              <a:xfrm>
                <a:off x="549654" y="4727724"/>
                <a:ext cx="7255566" cy="1423369"/>
              </a:xfrm>
              <a:prstGeom prst="roundRect">
                <a:avLst/>
              </a:prstGeom>
              <a:blipFill>
                <a:blip r:embed="rId5"/>
                <a:stretch>
                  <a:fillRect/>
                </a:stretch>
              </a:blipFill>
              <a:ln w="57150">
                <a:solidFill>
                  <a:schemeClr val="accent4">
                    <a:lumMod val="60000"/>
                    <a:lumOff val="40000"/>
                  </a:schemeClr>
                </a:solidFill>
              </a:ln>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68EE85C2-CF30-A677-743F-E8BA1F92DB8B}"/>
              </a:ext>
            </a:extLst>
          </p:cNvPr>
          <p:cNvPicPr>
            <a:picLocks noChangeAspect="1"/>
          </p:cNvPicPr>
          <p:nvPr/>
        </p:nvPicPr>
        <p:blipFill>
          <a:blip r:embed="rId6"/>
          <a:stretch>
            <a:fillRect/>
          </a:stretch>
        </p:blipFill>
        <p:spPr>
          <a:xfrm>
            <a:off x="2648855" y="1305715"/>
            <a:ext cx="1121783" cy="527557"/>
          </a:xfrm>
          <a:prstGeom prst="rect">
            <a:avLst/>
          </a:prstGeom>
          <a:ln>
            <a:solidFill>
              <a:schemeClr val="tx1"/>
            </a:solidFill>
          </a:ln>
        </p:spPr>
      </p:pic>
      <p:pic>
        <p:nvPicPr>
          <p:cNvPr id="5" name="图片 4">
            <a:extLst>
              <a:ext uri="{FF2B5EF4-FFF2-40B4-BE49-F238E27FC236}">
                <a16:creationId xmlns:a16="http://schemas.microsoft.com/office/drawing/2014/main" id="{1E494D9A-0FF4-2AC0-653A-A0727BCAA320}"/>
              </a:ext>
            </a:extLst>
          </p:cNvPr>
          <p:cNvPicPr>
            <a:picLocks noChangeAspect="1"/>
          </p:cNvPicPr>
          <p:nvPr/>
        </p:nvPicPr>
        <p:blipFill>
          <a:blip r:embed="rId7"/>
          <a:stretch>
            <a:fillRect/>
          </a:stretch>
        </p:blipFill>
        <p:spPr>
          <a:xfrm>
            <a:off x="6384312" y="1305715"/>
            <a:ext cx="1124540" cy="528854"/>
          </a:xfrm>
          <a:prstGeom prst="rect">
            <a:avLst/>
          </a:prstGeom>
          <a:ln>
            <a:solidFill>
              <a:schemeClr val="tx1"/>
            </a:solidFill>
          </a:ln>
        </p:spPr>
      </p:pic>
      <p:pic>
        <p:nvPicPr>
          <p:cNvPr id="10" name="图片 9">
            <a:extLst>
              <a:ext uri="{FF2B5EF4-FFF2-40B4-BE49-F238E27FC236}">
                <a16:creationId xmlns:a16="http://schemas.microsoft.com/office/drawing/2014/main" id="{35751A12-226C-F86F-EDAB-10E99E27DDA7}"/>
              </a:ext>
            </a:extLst>
          </p:cNvPr>
          <p:cNvPicPr>
            <a:picLocks noChangeAspect="1"/>
          </p:cNvPicPr>
          <p:nvPr/>
        </p:nvPicPr>
        <p:blipFill>
          <a:blip r:embed="rId8"/>
          <a:stretch>
            <a:fillRect/>
          </a:stretch>
        </p:blipFill>
        <p:spPr>
          <a:xfrm>
            <a:off x="10199045" y="1305715"/>
            <a:ext cx="1098433" cy="516577"/>
          </a:xfrm>
          <a:prstGeom prst="rect">
            <a:avLst/>
          </a:prstGeom>
          <a:ln>
            <a:solidFill>
              <a:schemeClr val="tx1"/>
            </a:solidFill>
          </a:ln>
        </p:spPr>
      </p:pic>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75D8FFCB-4719-EB1E-9A0F-E54658F7C70A}"/>
                  </a:ext>
                </a:extLst>
              </p:cNvPr>
              <p:cNvSpPr txBox="1"/>
              <p:nvPr/>
            </p:nvSpPr>
            <p:spPr>
              <a:xfrm>
                <a:off x="7543110" y="5082066"/>
                <a:ext cx="4099236"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en-US" altLang="zh-CN" sz="1800" b="0" i="1" smtClean="0">
                              <a:latin typeface="Cambria Math" panose="02040503050406030204" pitchFamily="18" charset="0"/>
                              <a:ea typeface="微软雅黑" panose="020B0503020204020204" pitchFamily="34" charset="-122"/>
                            </a:rPr>
                          </m:ctrlPr>
                        </m:eqArrPr>
                        <m:e>
                          <m:r>
                            <a:rPr lang="zh-CN" altLang="en-US" sz="1800" i="1" smtClean="0">
                              <a:latin typeface="Cambria Math" panose="02040503050406030204" pitchFamily="18" charset="0"/>
                              <a:ea typeface="微软雅黑" panose="020B0503020204020204" pitchFamily="34" charset="-122"/>
                            </a:rPr>
                            <m:t>𝜙</m:t>
                          </m:r>
                          <m:d>
                            <m:dPr>
                              <m:ctrlPr>
                                <a:rPr lang="en-US" altLang="zh-CN" sz="1800" b="0" i="1" smtClean="0">
                                  <a:latin typeface="Cambria Math" panose="02040503050406030204" pitchFamily="18" charset="0"/>
                                  <a:ea typeface="微软雅黑" panose="020B0503020204020204" pitchFamily="34" charset="-122"/>
                                </a:rPr>
                              </m:ctrlPr>
                            </m:dPr>
                            <m:e>
                              <m:r>
                                <a:rPr lang="zh-CN" altLang="en-US" sz="1800" b="0" i="1" smtClean="0">
                                  <a:latin typeface="Cambria Math" panose="02040503050406030204" pitchFamily="18" charset="0"/>
                                  <a:ea typeface="微软雅黑" panose="020B0503020204020204" pitchFamily="34" charset="-122"/>
                                </a:rPr>
                                <m:t>𝜔</m:t>
                              </m:r>
                            </m:e>
                          </m:d>
                          <m:r>
                            <a:rPr lang="en-US" altLang="zh-CN" sz="1800" b="0" i="1" smtClean="0">
                              <a:latin typeface="Cambria Math" panose="02040503050406030204" pitchFamily="18" charset="0"/>
                              <a:ea typeface="微软雅黑" panose="020B0503020204020204" pitchFamily="34" charset="-122"/>
                            </a:rPr>
                            <m:t>=</m:t>
                          </m:r>
                          <m:func>
                            <m:funcPr>
                              <m:ctrlPr>
                                <a:rPr lang="en-US" altLang="zh-CN" sz="1800" b="0" i="1" smtClean="0">
                                  <a:latin typeface="Cambria Math" panose="02040503050406030204" pitchFamily="18" charset="0"/>
                                  <a:ea typeface="微软雅黑" panose="020B0503020204020204" pitchFamily="34" charset="-122"/>
                                </a:rPr>
                              </m:ctrlPr>
                            </m:funcPr>
                            <m:fName>
                              <m:r>
                                <m:rPr>
                                  <m:sty m:val="p"/>
                                </m:rPr>
                                <a:rPr lang="en-US" altLang="zh-CN" sz="1800" b="0" i="0" smtClean="0">
                                  <a:latin typeface="Cambria Math" panose="02040503050406030204" pitchFamily="18" charset="0"/>
                                  <a:ea typeface="微软雅黑" panose="020B0503020204020204" pitchFamily="34" charset="-122"/>
                                </a:rPr>
                                <m:t>arctan</m:t>
                              </m:r>
                            </m:fName>
                            <m:e>
                              <m:d>
                                <m:dPr>
                                  <m:begChr m:val="["/>
                                  <m:endChr m:val="]"/>
                                  <m:ctrlPr>
                                    <a:rPr lang="en-US" altLang="zh-CN" sz="1800" b="0" i="1" smtClean="0">
                                      <a:latin typeface="Cambria Math" panose="02040503050406030204" pitchFamily="18" charset="0"/>
                                      <a:ea typeface="微软雅黑" panose="020B0503020204020204" pitchFamily="34" charset="-122"/>
                                    </a:rPr>
                                  </m:ctrlPr>
                                </m:dPr>
                                <m:e>
                                  <m:r>
                                    <a:rPr lang="en-US" altLang="zh-CN" sz="1800" b="0" i="1" smtClean="0">
                                      <a:latin typeface="Cambria Math" panose="02040503050406030204" pitchFamily="18" charset="0"/>
                                      <a:ea typeface="微软雅黑" panose="020B0503020204020204" pitchFamily="34" charset="-122"/>
                                    </a:rPr>
                                    <m:t>𝑄</m:t>
                                  </m:r>
                                  <m:d>
                                    <m:dPr>
                                      <m:ctrlPr>
                                        <a:rPr lang="en-US" altLang="zh-CN" sz="1800" b="0" i="1" smtClean="0">
                                          <a:latin typeface="Cambria Math" panose="02040503050406030204" pitchFamily="18" charset="0"/>
                                          <a:ea typeface="微软雅黑" panose="020B0503020204020204" pitchFamily="34" charset="-122"/>
                                        </a:rPr>
                                      </m:ctrlPr>
                                    </m:dPr>
                                    <m:e>
                                      <m:f>
                                        <m:fPr>
                                          <m:ctrlPr>
                                            <a:rPr lang="en-US" altLang="zh-CN" sz="1800" i="1">
                                              <a:latin typeface="Cambria Math" panose="02040503050406030204" pitchFamily="18" charset="0"/>
                                              <a:ea typeface="微软雅黑" panose="020B0503020204020204" pitchFamily="34" charset="-122"/>
                                            </a:rPr>
                                          </m:ctrlPr>
                                        </m:fPr>
                                        <m:num>
                                          <m:sSub>
                                            <m:sSubPr>
                                              <m:ctrlPr>
                                                <a:rPr lang="en-US" altLang="zh-CN" sz="1800" i="1">
                                                  <a:latin typeface="Cambria Math" panose="02040503050406030204" pitchFamily="18" charset="0"/>
                                                  <a:ea typeface="微软雅黑" panose="020B0503020204020204" pitchFamily="34" charset="-122"/>
                                                </a:rPr>
                                              </m:ctrlPr>
                                            </m:sSubPr>
                                            <m:e>
                                              <m:r>
                                                <a:rPr lang="zh-CN" altLang="en-US" sz="1800" i="1">
                                                  <a:latin typeface="Cambria Math" panose="02040503050406030204" pitchFamily="18" charset="0"/>
                                                  <a:ea typeface="微软雅黑" panose="020B0503020204020204" pitchFamily="34" charset="-122"/>
                                                </a:rPr>
                                                <m:t>𝜔</m:t>
                                              </m:r>
                                            </m:e>
                                            <m:sub>
                                              <m:r>
                                                <a:rPr lang="en-US" altLang="zh-CN" sz="1800" i="1">
                                                  <a:latin typeface="Cambria Math" panose="02040503050406030204" pitchFamily="18" charset="0"/>
                                                  <a:ea typeface="微软雅黑" panose="020B0503020204020204" pitchFamily="34" charset="-122"/>
                                                </a:rPr>
                                                <m:t>0</m:t>
                                              </m:r>
                                            </m:sub>
                                          </m:sSub>
                                        </m:num>
                                        <m:den>
                                          <m:r>
                                            <a:rPr lang="zh-CN" altLang="en-US" sz="1800" i="1">
                                              <a:latin typeface="Cambria Math" panose="02040503050406030204" pitchFamily="18" charset="0"/>
                                              <a:ea typeface="微软雅黑" panose="020B0503020204020204" pitchFamily="34" charset="-122"/>
                                            </a:rPr>
                                            <m:t>𝜔</m:t>
                                          </m:r>
                                        </m:den>
                                      </m:f>
                                      <m:r>
                                        <a:rPr lang="en-US" altLang="zh-CN" sz="1800" i="1">
                                          <a:latin typeface="Cambria Math" panose="02040503050406030204" pitchFamily="18" charset="0"/>
                                          <a:ea typeface="微软雅黑" panose="020B0503020204020204" pitchFamily="34" charset="-122"/>
                                        </a:rPr>
                                        <m:t>−</m:t>
                                      </m:r>
                                      <m:f>
                                        <m:fPr>
                                          <m:ctrlPr>
                                            <a:rPr lang="en-US" altLang="zh-CN" sz="1800" i="1">
                                              <a:latin typeface="Cambria Math" panose="02040503050406030204" pitchFamily="18" charset="0"/>
                                              <a:ea typeface="微软雅黑" panose="020B0503020204020204" pitchFamily="34" charset="-122"/>
                                            </a:rPr>
                                          </m:ctrlPr>
                                        </m:fPr>
                                        <m:num>
                                          <m:r>
                                            <a:rPr lang="zh-CN" altLang="en-US" sz="1800" i="1">
                                              <a:latin typeface="Cambria Math" panose="02040503050406030204" pitchFamily="18" charset="0"/>
                                              <a:ea typeface="微软雅黑" panose="020B0503020204020204" pitchFamily="34" charset="-122"/>
                                            </a:rPr>
                                            <m:t>𝜔</m:t>
                                          </m:r>
                                        </m:num>
                                        <m:den>
                                          <m:sSub>
                                            <m:sSubPr>
                                              <m:ctrlPr>
                                                <a:rPr lang="en-US" altLang="zh-CN" sz="1800" i="1">
                                                  <a:latin typeface="Cambria Math" panose="02040503050406030204" pitchFamily="18" charset="0"/>
                                                  <a:ea typeface="微软雅黑" panose="020B0503020204020204" pitchFamily="34" charset="-122"/>
                                                </a:rPr>
                                              </m:ctrlPr>
                                            </m:sSubPr>
                                            <m:e>
                                              <m:r>
                                                <a:rPr lang="zh-CN" altLang="en-US" sz="1800" i="1">
                                                  <a:latin typeface="Cambria Math" panose="02040503050406030204" pitchFamily="18" charset="0"/>
                                                  <a:ea typeface="微软雅黑" panose="020B0503020204020204" pitchFamily="34" charset="-122"/>
                                                </a:rPr>
                                                <m:t>𝜔</m:t>
                                              </m:r>
                                            </m:e>
                                            <m:sub>
                                              <m:r>
                                                <a:rPr lang="en-US" altLang="zh-CN" sz="1800" i="1">
                                                  <a:latin typeface="Cambria Math" panose="02040503050406030204" pitchFamily="18" charset="0"/>
                                                  <a:ea typeface="微软雅黑" panose="020B0503020204020204" pitchFamily="34" charset="-122"/>
                                                </a:rPr>
                                                <m:t>0</m:t>
                                              </m:r>
                                            </m:sub>
                                          </m:sSub>
                                        </m:den>
                                      </m:f>
                                    </m:e>
                                  </m:d>
                                </m:e>
                              </m:d>
                            </m:e>
                          </m:func>
                          <m:r>
                            <a:rPr lang="en-US" altLang="zh-CN" sz="1800" b="0" i="1" smtClean="0">
                              <a:latin typeface="Cambria Math" panose="02040503050406030204" pitchFamily="18" charset="0"/>
                              <a:ea typeface="微软雅黑" panose="020B0503020204020204" pitchFamily="34" charset="-122"/>
                            </a:rPr>
                            <m:t>#</m:t>
                          </m:r>
                        </m:e>
                      </m:eqArr>
                    </m:oMath>
                  </m:oMathPara>
                </a14:m>
                <a:endParaRPr lang="zh-CN" altLang="en-US" dirty="0"/>
              </a:p>
            </p:txBody>
          </p:sp>
        </mc:Choice>
        <mc:Fallback>
          <p:sp>
            <p:nvSpPr>
              <p:cNvPr id="13" name="文本框 12">
                <a:extLst>
                  <a:ext uri="{FF2B5EF4-FFF2-40B4-BE49-F238E27FC236}">
                    <a16:creationId xmlns:a16="http://schemas.microsoft.com/office/drawing/2014/main" id="{75D8FFCB-4719-EB1E-9A0F-E54658F7C70A}"/>
                  </a:ext>
                </a:extLst>
              </p:cNvPr>
              <p:cNvSpPr txBox="1">
                <a:spLocks noRot="1" noChangeAspect="1" noMove="1" noResize="1" noEditPoints="1" noAdjustHandles="1" noChangeArrowheads="1" noChangeShapeType="1" noTextEdit="1"/>
              </p:cNvSpPr>
              <p:nvPr/>
            </p:nvSpPr>
            <p:spPr>
              <a:xfrm>
                <a:off x="7543110" y="5082066"/>
                <a:ext cx="4099236" cy="714683"/>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926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11</a:t>
            </a:fld>
            <a:endParaRPr lang="zh-CN" altLang="en-US" dirty="0"/>
          </a:p>
        </p:txBody>
      </p:sp>
      <p:sp>
        <p:nvSpPr>
          <p:cNvPr id="2" name="文本框 1">
            <a:extLst>
              <a:ext uri="{FF2B5EF4-FFF2-40B4-BE49-F238E27FC236}">
                <a16:creationId xmlns:a16="http://schemas.microsoft.com/office/drawing/2014/main" id="{3D3A1E28-C96D-2F1B-E169-3D918F7FB0A9}"/>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预实验</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D2CA03C-49F3-B7A1-E4B5-4A012123B0F4}"/>
                  </a:ext>
                </a:extLst>
              </p:cNvPr>
              <p:cNvSpPr txBox="1"/>
              <p:nvPr/>
            </p:nvSpPr>
            <p:spPr>
              <a:xfrm>
                <a:off x="1106681" y="1959591"/>
                <a:ext cx="10325230" cy="3420616"/>
              </a:xfrm>
              <a:prstGeom prst="rect">
                <a:avLst/>
              </a:prstGeom>
              <a:noFill/>
            </p:spPr>
            <p:txBody>
              <a:bodyPr wrap="square" rtlCol="0">
                <a:spAutoFit/>
              </a:bodyPr>
              <a:lstStyle/>
              <a:p>
                <a:pPr indent="720000">
                  <a:lnSpc>
                    <a:spcPct val="120000"/>
                  </a:lnSpc>
                </a:pPr>
                <a:endParaRPr lang="en-US" altLang="zh-CN" sz="2600" dirty="0">
                  <a:latin typeface="微软雅黑" panose="020B0503020204020204" pitchFamily="34" charset="-122"/>
                  <a:ea typeface="微软雅黑" panose="020B0503020204020204" pitchFamily="34" charset="-122"/>
                </a:endParaRPr>
              </a:p>
              <a:p>
                <a:pPr indent="720000">
                  <a:lnSpc>
                    <a:spcPct val="150000"/>
                  </a:lnSpc>
                </a:pP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初步分析原因：</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50000"/>
                  </a:lnSpc>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高电导率材料会加强涡流，使得</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rPr>
                        </m:ctrlPr>
                      </m:sSubPr>
                      <m:e>
                        <m:r>
                          <a:rPr lang="en-US" altLang="zh-CN" sz="2600" i="1">
                            <a:latin typeface="Cambria Math" panose="02040503050406030204" pitchFamily="18" charset="0"/>
                            <a:ea typeface="微软雅黑" panose="020B0503020204020204" pitchFamily="34" charset="-122"/>
                          </a:rPr>
                          <m:t>𝑅</m:t>
                        </m:r>
                      </m:e>
                      <m:sub>
                        <m:r>
                          <a:rPr lang="en-US" altLang="zh-CN" sz="2600" i="1">
                            <a:latin typeface="Cambria Math" panose="02040503050406030204" pitchFamily="18" charset="0"/>
                            <a:ea typeface="微软雅黑" panose="020B0503020204020204" pitchFamily="34" charset="-122"/>
                          </a:rPr>
                          <m:t>𝐿</m:t>
                        </m:r>
                      </m:sub>
                    </m:sSub>
                    <m:r>
                      <a:rPr lang="zh-CN" altLang="en-US" sz="2600" i="1">
                        <a:latin typeface="Cambria Math" panose="02040503050406030204" pitchFamily="18" charset="0"/>
                        <a:ea typeface="微软雅黑" panose="020B0503020204020204" pitchFamily="34" charset="-122"/>
                      </a:rPr>
                      <m:t>增大</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50000"/>
                  </a:lnSpc>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高磁导率材料会使加强磁场，使得</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rPr>
                      <m:t>𝐿</m:t>
                    </m:r>
                  </m:oMath>
                </a14:m>
                <a:r>
                  <a:rPr lang="en-US" altLang="zh-CN" sz="2600" dirty="0">
                    <a:latin typeface="Times New Roman" panose="02020603050405020304" pitchFamily="18" charset="0"/>
                    <a:ea typeface="Cambria Math" panose="02040503050406030204" pitchFamily="18" charset="0"/>
                    <a:cs typeface="Times New Roman" panose="02020603050405020304" pitchFamily="18" charset="0"/>
                  </a:rPr>
                  <a:t> </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增大；</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50000"/>
                  </a:lnSpc>
                </a:pP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铁磁性材料带来的磁滞也会使得能量损耗，使得</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rPr>
                        </m:ctrlPr>
                      </m:sSubPr>
                      <m:e>
                        <m:r>
                          <a:rPr lang="en-US" altLang="zh-CN" sz="2600" i="1">
                            <a:latin typeface="Cambria Math" panose="02040503050406030204" pitchFamily="18" charset="0"/>
                            <a:ea typeface="微软雅黑" panose="020B0503020204020204" pitchFamily="34" charset="-122"/>
                          </a:rPr>
                          <m:t>𝑅</m:t>
                        </m:r>
                      </m:e>
                      <m:sub>
                        <m:r>
                          <a:rPr lang="en-US" altLang="zh-CN" sz="2600" i="1">
                            <a:latin typeface="Cambria Math" panose="02040503050406030204" pitchFamily="18" charset="0"/>
                            <a:ea typeface="微软雅黑" panose="020B0503020204020204" pitchFamily="34" charset="-122"/>
                          </a:rPr>
                          <m:t>𝐿</m:t>
                        </m:r>
                      </m:sub>
                    </m:sSub>
                    <m:r>
                      <a:rPr lang="zh-CN" altLang="en-US" sz="2600" i="1">
                        <a:latin typeface="Cambria Math" panose="02040503050406030204" pitchFamily="18" charset="0"/>
                        <a:ea typeface="微软雅黑" panose="020B0503020204020204" pitchFamily="34" charset="-122"/>
                      </a:rPr>
                      <m:t>增大</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20000"/>
                  </a:lnSpc>
                </a:pPr>
                <a:endParaRPr lang="en-US" altLang="zh-CN" sz="260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5D2CA03C-49F3-B7A1-E4B5-4A012123B0F4}"/>
                  </a:ext>
                </a:extLst>
              </p:cNvPr>
              <p:cNvSpPr txBox="1">
                <a:spLocks noRot="1" noChangeAspect="1" noMove="1" noResize="1" noEditPoints="1" noAdjustHandles="1" noChangeArrowheads="1" noChangeShapeType="1" noTextEdit="1"/>
              </p:cNvSpPr>
              <p:nvPr/>
            </p:nvSpPr>
            <p:spPr>
              <a:xfrm>
                <a:off x="1106681" y="1959591"/>
                <a:ext cx="10325230" cy="342061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520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p:txBody>
          <a:bodyPr>
            <a:spAutoFit/>
          </a:bodyPr>
          <a:lstStyle/>
          <a:p>
            <a:r>
              <a:rPr lang="en-US" altLang="zh-CN" dirty="0"/>
              <a:t>03</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p:txBody>
          <a:bodyPr>
            <a:spAutoFit/>
          </a:bodyPr>
          <a:lstStyle/>
          <a:p>
            <a:r>
              <a:rPr lang="zh-CN" altLang="en-US" dirty="0"/>
              <a:t>理论分析</a:t>
            </a:r>
            <a:endParaRPr lang="af-ZA" altLang="zh-CN" dirty="0"/>
          </a:p>
        </p:txBody>
      </p:sp>
    </p:spTree>
    <p:extLst>
      <p:ext uri="{BB962C8B-B14F-4D97-AF65-F5344CB8AC3E}">
        <p14:creationId xmlns:p14="http://schemas.microsoft.com/office/powerpoint/2010/main" val="196142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13</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理论分析：理论假设</a:t>
            </a:r>
          </a:p>
        </p:txBody>
      </p:sp>
      <mc:AlternateContent xmlns:mc="http://schemas.openxmlformats.org/markup-compatibility/2006" xmlns:a14="http://schemas.microsoft.com/office/drawing/2010/main">
        <mc:Choice Requires="a14">
          <p:sp>
            <p:nvSpPr>
              <p:cNvPr id="3" name="流程图: 可选过程 2">
                <a:extLst>
                  <a:ext uri="{FF2B5EF4-FFF2-40B4-BE49-F238E27FC236}">
                    <a16:creationId xmlns:a16="http://schemas.microsoft.com/office/drawing/2014/main" id="{0C72454B-A0EE-C0D5-FE89-00A1A61DB001}"/>
                  </a:ext>
                </a:extLst>
              </p:cNvPr>
              <p:cNvSpPr/>
              <p:nvPr/>
            </p:nvSpPr>
            <p:spPr>
              <a:xfrm>
                <a:off x="2549236" y="1851992"/>
                <a:ext cx="6495374" cy="1577008"/>
              </a:xfrm>
              <a:prstGeom prst="flowChartAlternateProcess">
                <a:avLst/>
              </a:prstGeom>
              <a:ln w="38100"/>
            </p:spPr>
            <p:style>
              <a:lnRef idx="2">
                <a:schemeClr val="accent4"/>
              </a:lnRef>
              <a:fillRef idx="1">
                <a:schemeClr val="lt1"/>
              </a:fillRef>
              <a:effectRef idx="0">
                <a:schemeClr val="accent4"/>
              </a:effectRef>
              <a:fontRef idx="minor">
                <a:schemeClr val="dk1"/>
              </a:fontRef>
            </p:style>
            <p:txBody>
              <a:bodyPr rtlCol="0" anchor="ctr"/>
              <a:lstStyle/>
              <a:p>
                <a:r>
                  <a:rPr lang="zh-CN" altLang="en-US" sz="2600" dirty="0">
                    <a:latin typeface="微软雅黑" panose="020B0503020204020204" pitchFamily="34" charset="-122"/>
                    <a:ea typeface="微软雅黑" panose="020B0503020204020204" pitchFamily="34" charset="-122"/>
                  </a:rPr>
                  <a:t>外加的交变信号频率满足似稳场条件，忽略位移电流</a:t>
                </a:r>
                <a14:m>
                  <m:oMath xmlns:m="http://schemas.openxmlformats.org/officeDocument/2006/math">
                    <m:f>
                      <m:fPr>
                        <m:ctrlPr>
                          <a:rPr lang="en-US" altLang="zh-CN" sz="2600" i="1" smtClean="0">
                            <a:latin typeface="Cambria Math" panose="02040503050406030204" pitchFamily="18" charset="0"/>
                            <a:ea typeface="微软雅黑" panose="020B0503020204020204" pitchFamily="34" charset="-122"/>
                          </a:rPr>
                        </m:ctrlPr>
                      </m:fPr>
                      <m:num>
                        <m:r>
                          <a:rPr lang="zh-CN" altLang="en-US" sz="2600" i="1" smtClean="0">
                            <a:latin typeface="Cambria Math" panose="02040503050406030204" pitchFamily="18" charset="0"/>
                            <a:ea typeface="微软雅黑" panose="020B0503020204020204" pitchFamily="34" charset="-122"/>
                          </a:rPr>
                          <m:t>𝜕</m:t>
                        </m:r>
                        <m:r>
                          <a:rPr lang="en-US" altLang="zh-CN" sz="2600" b="1" i="1" smtClean="0">
                            <a:latin typeface="Cambria Math" panose="02040503050406030204" pitchFamily="18" charset="0"/>
                            <a:ea typeface="微软雅黑" panose="020B0503020204020204" pitchFamily="34" charset="-122"/>
                          </a:rPr>
                          <m:t>𝑫</m:t>
                        </m:r>
                      </m:num>
                      <m:den>
                        <m:r>
                          <a:rPr lang="zh-CN" altLang="en-US" sz="2600" i="1" smtClean="0">
                            <a:latin typeface="Cambria Math" panose="02040503050406030204" pitchFamily="18" charset="0"/>
                            <a:ea typeface="微软雅黑" panose="020B0503020204020204" pitchFamily="34" charset="-122"/>
                          </a:rPr>
                          <m:t>𝜕</m:t>
                        </m:r>
                        <m:r>
                          <a:rPr lang="en-US" altLang="zh-CN" sz="2600" b="0" i="1" smtClean="0">
                            <a:latin typeface="Cambria Math" panose="02040503050406030204" pitchFamily="18" charset="0"/>
                            <a:ea typeface="微软雅黑" panose="020B0503020204020204" pitchFamily="34" charset="-122"/>
                          </a:rPr>
                          <m:t>𝑡</m:t>
                        </m:r>
                      </m:den>
                    </m:f>
                  </m:oMath>
                </a14:m>
                <a:r>
                  <a:rPr lang="zh-CN" altLang="en-US" sz="2600" dirty="0">
                    <a:latin typeface="微软雅黑" panose="020B0503020204020204" pitchFamily="34" charset="-122"/>
                    <a:ea typeface="微软雅黑" panose="020B0503020204020204" pitchFamily="34" charset="-122"/>
                  </a:rPr>
                  <a:t>项。</a:t>
                </a:r>
                <a:endParaRPr lang="en-US" altLang="zh-CN" sz="2600" dirty="0">
                  <a:latin typeface="微软雅黑" panose="020B0503020204020204" pitchFamily="34" charset="-122"/>
                  <a:ea typeface="微软雅黑" panose="020B0503020204020204" pitchFamily="34" charset="-122"/>
                </a:endParaRPr>
              </a:p>
            </p:txBody>
          </p:sp>
        </mc:Choice>
        <mc:Fallback xmlns="">
          <p:sp>
            <p:nvSpPr>
              <p:cNvPr id="3" name="流程图: 可选过程 2">
                <a:extLst>
                  <a:ext uri="{FF2B5EF4-FFF2-40B4-BE49-F238E27FC236}">
                    <a16:creationId xmlns:a16="http://schemas.microsoft.com/office/drawing/2014/main" id="{0C72454B-A0EE-C0D5-FE89-00A1A61DB001}"/>
                  </a:ext>
                </a:extLst>
              </p:cNvPr>
              <p:cNvSpPr>
                <a:spLocks noRot="1" noChangeAspect="1" noMove="1" noResize="1" noEditPoints="1" noAdjustHandles="1" noChangeArrowheads="1" noChangeShapeType="1" noTextEdit="1"/>
              </p:cNvSpPr>
              <p:nvPr/>
            </p:nvSpPr>
            <p:spPr>
              <a:xfrm>
                <a:off x="2549236" y="1851992"/>
                <a:ext cx="6495374" cy="1577008"/>
              </a:xfrm>
              <a:prstGeom prst="flowChartAlternateProcess">
                <a:avLst/>
              </a:prstGeom>
              <a:blipFill>
                <a:blip r:embed="rId3"/>
                <a:stretch>
                  <a:fillRect l="-187"/>
                </a:stretch>
              </a:blipFill>
              <a:ln w="38100"/>
            </p:spPr>
            <p:txBody>
              <a:bodyPr/>
              <a:lstStyle/>
              <a:p>
                <a:r>
                  <a:rPr lang="zh-CN" altLang="en-US">
                    <a:noFill/>
                  </a:rPr>
                  <a:t> </a:t>
                </a:r>
              </a:p>
            </p:txBody>
          </p:sp>
        </mc:Fallback>
      </mc:AlternateContent>
      <p:sp>
        <p:nvSpPr>
          <p:cNvPr id="5" name="矩形: 圆角 4">
            <a:extLst>
              <a:ext uri="{FF2B5EF4-FFF2-40B4-BE49-F238E27FC236}">
                <a16:creationId xmlns:a16="http://schemas.microsoft.com/office/drawing/2014/main" id="{500ABBFD-EAD0-C6C7-BBBF-C0D83EB7BA50}"/>
              </a:ext>
            </a:extLst>
          </p:cNvPr>
          <p:cNvSpPr/>
          <p:nvPr/>
        </p:nvSpPr>
        <p:spPr>
          <a:xfrm>
            <a:off x="2491409" y="3762685"/>
            <a:ext cx="6553200" cy="1577008"/>
          </a:xfrm>
          <a:prstGeom prst="roundRect">
            <a:avLst/>
          </a:prstGeom>
          <a:ln w="38100"/>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2600" dirty="0">
                <a:latin typeface="微软雅黑" panose="020B0503020204020204" pitchFamily="34" charset="-122"/>
                <a:ea typeface="微软雅黑" panose="020B0503020204020204" pitchFamily="34" charset="-122"/>
              </a:rPr>
              <a:t>认为螺线管无限长。</a:t>
            </a:r>
            <a:endParaRPr lang="en-US" altLang="zh-CN" sz="2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1586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14</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1189966" y="1158638"/>
                <a:ext cx="10325230" cy="4854342"/>
              </a:xfrm>
              <a:prstGeom prst="rect">
                <a:avLst/>
              </a:prstGeom>
              <a:noFill/>
            </p:spPr>
            <p:txBody>
              <a:bodyPr wrap="square" rtlCol="0">
                <a:spAutoFit/>
              </a:bodyPr>
              <a:lstStyle/>
              <a:p>
                <a:pPr indent="720000">
                  <a:lnSpc>
                    <a:spcPct val="120000"/>
                  </a:lnSpc>
                </a:pPr>
                <a:r>
                  <a:rPr lang="zh-CN" altLang="en-US" sz="2600" dirty="0">
                    <a:latin typeface="微软雅黑" panose="020B0503020204020204" pitchFamily="34" charset="-122"/>
                    <a:ea typeface="微软雅黑" panose="020B0503020204020204" pitchFamily="34" charset="-122"/>
                  </a:rPr>
                  <a:t>由</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Maxwell</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方程，有</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m:rPr>
                              <m:sty m:val="p"/>
                            </m:r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𝑬</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num>
                            <m:den>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##(3.1)</m:t>
                          </m:r>
                        </m:e>
                      </m:eqArr>
                    </m:oMath>
                  </m:oMathPara>
                </a14:m>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m:rPr>
                              <m:sty m:val="p"/>
                            </m:r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𝑯</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𝒋</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#(3.2)</m:t>
                          </m:r>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m:rPr>
                              <m:sty m:val="p"/>
                            </m:r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0</m:t>
                          </m:r>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lnSpc>
                    <a:spcPct val="12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oMath>
                </a14:m>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由两部分构成，</a:t>
                </a:r>
                <a:r>
                  <a:rPr lang="en-US" altLang="zh-CN" sz="2600" b="1" dirty="0">
                    <a:ea typeface="Cambria Math" panose="02040503050406030204" pitchFamily="18" charset="0"/>
                    <a:cs typeface="Times New Roman" panose="02020603050405020304" pitchFamily="18" charset="0"/>
                  </a:rPr>
                  <a:t> </a:t>
                </a:r>
                <a14:m>
                  <m:oMath xmlns:m="http://schemas.openxmlformats.org/officeDocument/2006/math">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𝑩</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lang="en-US" altLang="zh-CN" sz="2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𝑩</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是外界线圈所激发的场，</a:t>
                </a:r>
                <a:r>
                  <a:rPr lang="en-US" altLang="zh-CN" sz="2600" b="1" dirty="0">
                    <a:ea typeface="Cambria Math" panose="02040503050406030204" pitchFamily="18" charset="0"/>
                    <a:cs typeface="Times New Roman" panose="02020603050405020304" pitchFamily="18" charset="0"/>
                  </a:rPr>
                  <a:t> </a:t>
                </a:r>
                <a14:m>
                  <m:oMath xmlns:m="http://schemas.openxmlformats.org/officeDocument/2006/math">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是介质内部涡流所激发的场。</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2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由欧姆定律，还应有</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2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𝒋</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𝜎</m:t>
                          </m:r>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𝑬</m:t>
                          </m:r>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3.4</m:t>
                              </m:r>
                            </m:e>
                          </m:d>
                        </m:e>
                      </m:eqArr>
                    </m:oMath>
                  </m:oMathPara>
                </a14:m>
                <a:endParaRPr lang="en-US" altLang="zh-CN" sz="2600" b="0" dirty="0">
                  <a:latin typeface="微软雅黑" panose="020B0503020204020204" pitchFamily="34" charset="-122"/>
                  <a:ea typeface="Cambria Math" panose="020405030504060302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1189966" y="1158638"/>
                <a:ext cx="10325230" cy="4854342"/>
              </a:xfrm>
              <a:prstGeom prst="rect">
                <a:avLst/>
              </a:prstGeom>
              <a:blipFill>
                <a:blip r:embed="rId3"/>
                <a:stretch>
                  <a:fillRect l="-1063" t="-2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CF09821-EF53-152D-6590-AA31789EA60D}"/>
                  </a:ext>
                </a:extLst>
              </p:cNvPr>
              <p:cNvSpPr txBox="1"/>
              <p:nvPr/>
            </p:nvSpPr>
            <p:spPr>
              <a:xfrm>
                <a:off x="4727376" y="3585809"/>
                <a:ext cx="60971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ea typeface="Cambria Math" panose="02040503050406030204" pitchFamily="18" charset="0"/>
                              <a:cs typeface="Times New Roman" panose="02020603050405020304" pitchFamily="18" charset="0"/>
                            </a:rPr>
                            <m:t>3.3</m:t>
                          </m:r>
                        </m:e>
                      </m:d>
                    </m:oMath>
                  </m:oMathPara>
                </a14:m>
                <a:endParaRPr lang="zh-CN" altLang="en-US" dirty="0"/>
              </a:p>
            </p:txBody>
          </p:sp>
        </mc:Choice>
        <mc:Fallback xmlns="">
          <p:sp>
            <p:nvSpPr>
              <p:cNvPr id="5" name="文本框 4">
                <a:extLst>
                  <a:ext uri="{FF2B5EF4-FFF2-40B4-BE49-F238E27FC236}">
                    <a16:creationId xmlns:a16="http://schemas.microsoft.com/office/drawing/2014/main" id="{7CF09821-EF53-152D-6590-AA31789EA60D}"/>
                  </a:ext>
                </a:extLst>
              </p:cNvPr>
              <p:cNvSpPr txBox="1">
                <a:spLocks noRot="1" noChangeAspect="1" noMove="1" noResize="1" noEditPoints="1" noAdjustHandles="1" noChangeArrowheads="1" noChangeShapeType="1" noTextEdit="1"/>
              </p:cNvSpPr>
              <p:nvPr/>
            </p:nvSpPr>
            <p:spPr>
              <a:xfrm>
                <a:off x="4727376" y="3585809"/>
                <a:ext cx="6097190" cy="369332"/>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30648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15</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1077165" y="967733"/>
                <a:ext cx="10325230" cy="6039923"/>
              </a:xfrm>
              <a:prstGeom prst="rect">
                <a:avLst/>
              </a:prstGeom>
              <a:noFill/>
            </p:spPr>
            <p:txBody>
              <a:bodyPr wrap="square" rtlCol="0">
                <a:spAutoFit/>
              </a:bodyPr>
              <a:lstStyle/>
              <a:p>
                <a:pPr indent="720000">
                  <a:lnSpc>
                    <a:spcPct val="15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联立</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(3.5)</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式与</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(3.1)</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(3.4)</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式，得</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5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𝜇𝜎</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num>
                            <m:den>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3.6</m:t>
                              </m:r>
                            </m:e>
                          </m:d>
                        </m:e>
                      </m:eqArr>
                    </m:oMath>
                  </m:oMathPara>
                </a14:m>
                <a:endParaRPr lang="en-US" altLang="zh-CN" sz="1100" b="0" dirty="0">
                  <a:latin typeface="微软雅黑" panose="020B0503020204020204" pitchFamily="34" charset="-122"/>
                  <a:ea typeface="Cambria Math" panose="02040503050406030204" pitchFamily="18" charset="0"/>
                  <a:cs typeface="Times New Roman" panose="02020603050405020304" pitchFamily="18" charset="0"/>
                </a:endParaRPr>
              </a:p>
              <a:p>
                <a:pPr indent="720000">
                  <a:lnSpc>
                    <a:spcPct val="15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由对称性，得</a:t>
                </a:r>
                <a14:m>
                  <m:oMath xmlns:m="http://schemas.openxmlformats.org/officeDocument/2006/math">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𝐵</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𝒆</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𝑧</m:t>
                        </m:r>
                      </m:sub>
                    </m:sSub>
                  </m:oMath>
                </a14:m>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5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将</a:t>
                </a:r>
                <a14:m>
                  <m:oMath xmlns:m="http://schemas.openxmlformats.org/officeDocument/2006/math">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𝑩</m:t>
                    </m:r>
                  </m:oMath>
                </a14:m>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写成</a:t>
                </a:r>
                <a14:m>
                  <m:oMath xmlns:m="http://schemas.openxmlformats.org/officeDocument/2006/math">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𝐵</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sub>
                    </m:sSub>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𝐵</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up>
                    </m:sSup>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𝜌</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e>
                    </m:d>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1" i="1">
                            <a:latin typeface="Cambria Math" panose="02040503050406030204" pitchFamily="18" charset="0"/>
                            <a:ea typeface="Cambria Math" panose="02040503050406030204" pitchFamily="18" charset="0"/>
                            <a:cs typeface="Times New Roman" panose="02020603050405020304" pitchFamily="18" charset="0"/>
                          </a:rPr>
                          <m:t>𝒆</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𝑧</m:t>
                        </m:r>
                      </m:sub>
                    </m:sSub>
                    <m:r>
                      <a:rPr lang="zh-CN" altLang="en-US" sz="2600" i="1">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带入</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(3.6)</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式，得</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50000"/>
                  </a:lnSpc>
                </a:pPr>
                <a:endParaRPr lang="en-US" altLang="zh-CN" sz="1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5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up>
                                  </m:sSup>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𝜇𝜎</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up>
                              </m:sSup>
                            </m:num>
                            <m:den>
                              <m:r>
                                <a:rPr lang="zh-CN" altLang="en-US"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𝜔𝜇𝜎</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𝐵</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3.7</m:t>
                              </m:r>
                            </m:e>
                          </m:d>
                        </m:e>
                      </m:eqArr>
                    </m:oMath>
                  </m:oMathPara>
                </a14:m>
                <a:endParaRPr lang="en-US" altLang="zh-CN" sz="1200" b="0" dirty="0">
                  <a:latin typeface="微软雅黑" panose="020B0503020204020204" pitchFamily="34" charset="-122"/>
                  <a:ea typeface="Cambria Math" panose="02040503050406030204" pitchFamily="18" charset="0"/>
                  <a:cs typeface="Times New Roman" panose="02020603050405020304" pitchFamily="18" charset="0"/>
                </a:endParaRPr>
              </a:p>
              <a:p>
                <a:pPr indent="720000">
                  <a:lnSpc>
                    <a:spcPct val="150000"/>
                  </a:lnSpc>
                </a:pP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通过分离变量法</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（见附录</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），解得方程解为</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5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3.8</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endPar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1077165" y="967733"/>
                <a:ext cx="10325230" cy="603992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8294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16</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79513" y="1184888"/>
                <a:ext cx="11313029" cy="3285258"/>
              </a:xfrm>
              <a:prstGeom prst="rect">
                <a:avLst/>
              </a:prstGeom>
              <a:noFill/>
            </p:spPr>
            <p:txBody>
              <a:bodyPr wrap="square" rtlCol="0">
                <a:spAutoFit/>
              </a:bodyPr>
              <a:lstStyle/>
              <a:p>
                <a:pPr indent="720000">
                  <a:lnSpc>
                    <a:spcPct val="12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对于介质和线圈之间的空间的磁感强度</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，其场方程解（</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见附录</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）应满足</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2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en>
                                          </m:f>
                                        </m:e>
                                      </m:d>
                                    </m:e>
                                  </m:func>
                                </m:num>
                                <m:den>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en>
                                          </m:f>
                                        </m:e>
                                      </m:d>
                                    </m:e>
                                  </m:func>
                                </m:den>
                              </m:f>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e>
                                  </m:d>
                                </m:e>
                              </m:d>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3.9</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lnSpc>
                    <a:spcPct val="120000"/>
                  </a:lnSpc>
                </a:pP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2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无限长螺线管内插入介质棒后的场分布由</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(3.8)</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式和</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(3.9)</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式共同描述：</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79513" y="1184888"/>
                <a:ext cx="11313029" cy="3285258"/>
              </a:xfrm>
              <a:prstGeom prst="rect">
                <a:avLst/>
              </a:prstGeom>
              <a:blipFill>
                <a:blip r:embed="rId3"/>
                <a:stretch>
                  <a:fillRect t="-371" r="-593" b="-38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4F60DE4-81C7-2C0D-21CA-C4B6765E07B3}"/>
                  </a:ext>
                </a:extLst>
              </p:cNvPr>
              <p:cNvSpPr txBox="1"/>
              <p:nvPr/>
            </p:nvSpPr>
            <p:spPr>
              <a:xfrm>
                <a:off x="-165652" y="4589240"/>
                <a:ext cx="12874888" cy="2136611"/>
              </a:xfrm>
              <a:prstGeom prst="rect">
                <a:avLst/>
              </a:prstGeom>
              <a:noFill/>
            </p:spPr>
            <p:txBody>
              <a:bodyPr wrap="square" rtlCol="0">
                <a:spAutoFit/>
              </a:bodyPr>
              <a:lstStyle/>
              <a:p>
                <a:pPr indent="720000"/>
                <a14:m>
                  <m:oMathPara xmlns:m="http://schemas.openxmlformats.org/officeDocument/2006/math">
                    <m:oMathParaPr>
                      <m:jc m:val="center"/>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begChr m:val="{"/>
                              <m:endChr m:val=""/>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&lt;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e>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func>
                                            <m:func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num>
                                                    <m:den>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den>
                                                  </m:f>
                                                </m:e>
                                              </m:d>
                                            </m:e>
                                          </m:func>
                                        </m:num>
                                        <m:den>
                                          <m:func>
                                            <m:func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𝑟</m:t>
                                                      </m:r>
                                                    </m:num>
                                                    <m:den>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den>
                                                  </m:f>
                                                </m:e>
                                              </m:d>
                                            </m:e>
                                          </m:func>
                                        </m:den>
                                      </m:f>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𝑟</m:t>
                                              </m:r>
                                            </m:e>
                                          </m:d>
                                        </m:e>
                                      </m:d>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&lt;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&lt;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eqAr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3.10</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C4F60DE4-81C7-2C0D-21CA-C4B6765E07B3}"/>
                  </a:ext>
                </a:extLst>
              </p:cNvPr>
              <p:cNvSpPr txBox="1">
                <a:spLocks noRot="1" noChangeAspect="1" noMove="1" noResize="1" noEditPoints="1" noAdjustHandles="1" noChangeArrowheads="1" noChangeShapeType="1" noTextEdit="1"/>
              </p:cNvSpPr>
              <p:nvPr/>
            </p:nvSpPr>
            <p:spPr>
              <a:xfrm>
                <a:off x="-165652" y="4589240"/>
                <a:ext cx="12874888" cy="213661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148E478-7152-217F-5504-46A1DD77F144}"/>
                  </a:ext>
                </a:extLst>
              </p:cNvPr>
              <p:cNvSpPr txBox="1"/>
              <p:nvPr/>
            </p:nvSpPr>
            <p:spPr>
              <a:xfrm>
                <a:off x="9562915" y="2042687"/>
                <a:ext cx="2330002" cy="1569660"/>
              </a:xfrm>
              <a:prstGeom prst="rect">
                <a:avLst/>
              </a:prstGeom>
              <a:noFill/>
              <a:ln w="28575">
                <a:solidFill>
                  <a:schemeClr val="accent4">
                    <a:lumMod val="60000"/>
                    <a:lumOff val="40000"/>
                  </a:schemeClr>
                </a:solidFill>
              </a:ln>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𝑟</m:t>
                    </m:r>
                  </m:oMath>
                </a14:m>
                <a:r>
                  <a:rPr lang="zh-CN" altLang="en-US" sz="2400" dirty="0">
                    <a:latin typeface="微软雅黑" panose="020B0503020204020204" pitchFamily="34" charset="-122"/>
                    <a:ea typeface="微软雅黑" panose="020B0503020204020204" pitchFamily="34" charset="-122"/>
                  </a:rPr>
                  <a:t>：介质棒半径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rPr>
                      <m:t>𝑅</m:t>
                    </m:r>
                  </m:oMath>
                </a14:m>
                <a:r>
                  <a:rPr lang="zh-CN" altLang="en-US" sz="2400" dirty="0">
                    <a:latin typeface="微软雅黑" panose="020B0503020204020204" pitchFamily="34" charset="-122"/>
                    <a:ea typeface="微软雅黑" panose="020B0503020204020204" pitchFamily="34" charset="-122"/>
                  </a:rPr>
                  <a:t>：线圈半径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𝑛</m:t>
                    </m:r>
                  </m:oMath>
                </a14:m>
                <a:r>
                  <a:rPr lang="zh-CN" altLang="en-US" sz="2400" dirty="0">
                    <a:latin typeface="微软雅黑" panose="020B0503020204020204" pitchFamily="34" charset="-122"/>
                    <a:ea typeface="微软雅黑" panose="020B0503020204020204" pitchFamily="34" charset="-122"/>
                  </a:rPr>
                  <a:t>：匝数线密度</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𝑙</m:t>
                    </m:r>
                  </m:oMath>
                </a14:m>
                <a:r>
                  <a:rPr lang="zh-CN" altLang="en-US" sz="2400" dirty="0">
                    <a:latin typeface="微软雅黑" panose="020B0503020204020204" pitchFamily="34" charset="-122"/>
                    <a:ea typeface="微软雅黑" panose="020B0503020204020204" pitchFamily="34" charset="-122"/>
                  </a:rPr>
                  <a:t>：线圈长度</a:t>
                </a:r>
              </a:p>
            </p:txBody>
          </p:sp>
        </mc:Choice>
        <mc:Fallback xmlns="">
          <p:sp>
            <p:nvSpPr>
              <p:cNvPr id="5" name="文本框 4">
                <a:extLst>
                  <a:ext uri="{FF2B5EF4-FFF2-40B4-BE49-F238E27FC236}">
                    <a16:creationId xmlns:a16="http://schemas.microsoft.com/office/drawing/2014/main" id="{1148E478-7152-217F-5504-46A1DD77F144}"/>
                  </a:ext>
                </a:extLst>
              </p:cNvPr>
              <p:cNvSpPr txBox="1">
                <a:spLocks noRot="1" noChangeAspect="1" noMove="1" noResize="1" noEditPoints="1" noAdjustHandles="1" noChangeArrowheads="1" noChangeShapeType="1" noTextEdit="1"/>
              </p:cNvSpPr>
              <p:nvPr/>
            </p:nvSpPr>
            <p:spPr>
              <a:xfrm>
                <a:off x="9562915" y="2042687"/>
                <a:ext cx="2330002" cy="1569660"/>
              </a:xfrm>
              <a:prstGeom prst="rect">
                <a:avLst/>
              </a:prstGeom>
              <a:blipFill>
                <a:blip r:embed="rId5"/>
                <a:stretch>
                  <a:fillRect l="-258" t="-2281" b="-6464"/>
                </a:stretch>
              </a:blipFill>
              <a:ln w="28575">
                <a:solidFill>
                  <a:schemeClr val="accent4">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595920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17</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238523" y="1767519"/>
                <a:ext cx="12669046" cy="3803092"/>
              </a:xfrm>
              <a:prstGeom prst="rect">
                <a:avLst/>
              </a:prstGeom>
              <a:noFill/>
            </p:spPr>
            <p:txBody>
              <a:bodyPr wrap="square" rtlCol="0">
                <a:spAutoFit/>
              </a:bodyPr>
              <a:lstStyle/>
              <a:p>
                <a:pPr indent="720000">
                  <a:lnSpc>
                    <a:spcPct val="120000"/>
                  </a:lnSpc>
                </a:pP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对</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(3.10)</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式在截面上积分，得到磁通量</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20000"/>
                  </a:lnSpc>
                </a:pP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20000"/>
                  </a:lnSpc>
                </a:pPr>
                <a14:m>
                  <m:oMathPara xmlns:m="http://schemas.openxmlformats.org/officeDocument/2006/math">
                    <m:oMathParaPr>
                      <m:jc m:val="centerGroup"/>
                    </m:oMathParaPr>
                    <m:oMath xmlns:m="http://schemas.openxmlformats.org/officeDocument/2006/math">
                      <m:r>
                        <a:rPr lang="el-GR" altLang="zh-CN" sz="2600" i="1" smtClean="0">
                          <a:latin typeface="Cambria Math" panose="02040503050406030204" pitchFamily="18" charset="0"/>
                          <a:ea typeface="Cambria Math" panose="02040503050406030204" pitchFamily="18" charset="0"/>
                          <a:cs typeface="Times New Roman" panose="02020603050405020304" pitchFamily="18" charset="0"/>
                        </a:rPr>
                        <m:t>𝛷</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m:t>
                      </m:r>
                      <m:nary>
                        <m:naryPr>
                          <m:ctrlP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sub>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𝑅</m:t>
                          </m:r>
                        </m:sup>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𝐵</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𝑡</m:t>
                              </m:r>
                            </m:e>
                          </m:d>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d</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𝜌</m:t>
                          </m:r>
                        </m:e>
                      </m:nary>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𝑛𝐼</m:t>
                              </m:r>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𝑟</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den>
                          </m:f>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𝑛𝐼</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e>
                          </m:d>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e>
                              </m:d>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𝑛𝐼</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238523" y="1767519"/>
                <a:ext cx="12669046" cy="3803092"/>
              </a:xfrm>
              <a:prstGeom prst="rect">
                <a:avLst/>
              </a:prstGeom>
              <a:blipFill>
                <a:blip r:embed="rId3"/>
                <a:stretch>
                  <a:fillRect t="-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C701191-A495-AEFC-04CB-E62F169D8A51}"/>
                  </a:ext>
                </a:extLst>
              </p:cNvPr>
              <p:cNvSpPr txBox="1"/>
              <p:nvPr/>
            </p:nvSpPr>
            <p:spPr>
              <a:xfrm>
                <a:off x="9888340" y="5121803"/>
                <a:ext cx="2429307"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3.11</m:t>
                          </m:r>
                        </m:e>
                      </m:d>
                    </m:oMath>
                  </m:oMathPara>
                </a14:m>
                <a:endParaRPr lang="zh-CN" altLang="en-US" sz="2600" dirty="0"/>
              </a:p>
            </p:txBody>
          </p:sp>
        </mc:Choice>
        <mc:Fallback xmlns="">
          <p:sp>
            <p:nvSpPr>
              <p:cNvPr id="7" name="文本框 6">
                <a:extLst>
                  <a:ext uri="{FF2B5EF4-FFF2-40B4-BE49-F238E27FC236}">
                    <a16:creationId xmlns:a16="http://schemas.microsoft.com/office/drawing/2014/main" id="{8C701191-A495-AEFC-04CB-E62F169D8A51}"/>
                  </a:ext>
                </a:extLst>
              </p:cNvPr>
              <p:cNvSpPr txBox="1">
                <a:spLocks noRot="1" noChangeAspect="1" noMove="1" noResize="1" noEditPoints="1" noAdjustHandles="1" noChangeArrowheads="1" noChangeShapeType="1" noTextEdit="1"/>
              </p:cNvSpPr>
              <p:nvPr/>
            </p:nvSpPr>
            <p:spPr>
              <a:xfrm>
                <a:off x="9888340" y="5121803"/>
                <a:ext cx="2429307" cy="4924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22D13DC-661E-CE2E-D156-4BC174432C46}"/>
                  </a:ext>
                </a:extLst>
              </p:cNvPr>
              <p:cNvSpPr txBox="1"/>
              <p:nvPr/>
            </p:nvSpPr>
            <p:spPr>
              <a:xfrm>
                <a:off x="8347098" y="1321339"/>
                <a:ext cx="3076275" cy="1815882"/>
              </a:xfrm>
              <a:prstGeom prst="rect">
                <a:avLst/>
              </a:prstGeom>
              <a:noFill/>
              <a:ln w="28575">
                <a:solidFill>
                  <a:schemeClr val="accent4">
                    <a:lumMod val="60000"/>
                    <a:lumOff val="40000"/>
                  </a:schemeClr>
                </a:solidFill>
              </a:ln>
            </p:spPr>
            <p:txBody>
              <a:bodyPr wrap="square" rtlCol="0">
                <a:spAutoFit/>
              </a:bodyPr>
              <a:lstStyle/>
              <a:p>
                <a14:m>
                  <m:oMath xmlns:m="http://schemas.openxmlformats.org/officeDocument/2006/math">
                    <m:r>
                      <a:rPr lang="en-US" altLang="zh-CN" sz="2800" b="0" i="1" smtClean="0">
                        <a:latin typeface="Cambria Math" panose="02040503050406030204" pitchFamily="18" charset="0"/>
                      </a:rPr>
                      <m:t>𝑟</m:t>
                    </m:r>
                  </m:oMath>
                </a14:m>
                <a:r>
                  <a:rPr lang="zh-CN" altLang="en-US" sz="2800" dirty="0">
                    <a:latin typeface="微软雅黑" panose="020B0503020204020204" pitchFamily="34" charset="-122"/>
                    <a:ea typeface="微软雅黑" panose="020B0503020204020204" pitchFamily="34" charset="-122"/>
                  </a:rPr>
                  <a:t>：介质棒半径</a:t>
                </a:r>
                <a:endParaRPr lang="en-US" altLang="zh-CN" sz="28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800" b="0" i="1" smtClean="0">
                        <a:latin typeface="Cambria Math" panose="02040503050406030204" pitchFamily="18" charset="0"/>
                      </a:rPr>
                      <m:t>𝑅</m:t>
                    </m:r>
                  </m:oMath>
                </a14:m>
                <a:r>
                  <a:rPr lang="zh-CN" altLang="en-US" sz="2800" dirty="0">
                    <a:latin typeface="微软雅黑" panose="020B0503020204020204" pitchFamily="34" charset="-122"/>
                    <a:ea typeface="微软雅黑" panose="020B0503020204020204" pitchFamily="34" charset="-122"/>
                  </a:rPr>
                  <a:t>：线圈半径</a:t>
                </a:r>
                <a:endParaRPr lang="en-US" altLang="zh-CN" sz="28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800" b="0" i="1" smtClean="0">
                        <a:latin typeface="Cambria Math" panose="02040503050406030204" pitchFamily="18" charset="0"/>
                        <a:ea typeface="微软雅黑" panose="020B0503020204020204" pitchFamily="34" charset="-122"/>
                      </a:rPr>
                      <m:t>𝑛</m:t>
                    </m:r>
                  </m:oMath>
                </a14:m>
                <a:r>
                  <a:rPr lang="zh-CN" altLang="en-US" sz="2800" dirty="0">
                    <a:latin typeface="微软雅黑" panose="020B0503020204020204" pitchFamily="34" charset="-122"/>
                    <a:ea typeface="微软雅黑" panose="020B0503020204020204" pitchFamily="34" charset="-122"/>
                  </a:rPr>
                  <a:t>：匝数线密度</a:t>
                </a:r>
                <a:endParaRPr lang="en-US" altLang="zh-CN" sz="28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800" b="0" i="1" smtClean="0">
                        <a:latin typeface="Cambria Math" panose="02040503050406030204" pitchFamily="18" charset="0"/>
                        <a:ea typeface="微软雅黑" panose="020B0503020204020204" pitchFamily="34" charset="-122"/>
                      </a:rPr>
                      <m:t>𝑙</m:t>
                    </m:r>
                  </m:oMath>
                </a14:m>
                <a:r>
                  <a:rPr lang="zh-CN" altLang="en-US" sz="2800" dirty="0">
                    <a:latin typeface="微软雅黑" panose="020B0503020204020204" pitchFamily="34" charset="-122"/>
                    <a:ea typeface="微软雅黑" panose="020B0503020204020204" pitchFamily="34" charset="-122"/>
                  </a:rPr>
                  <a:t>：线圈长度</a:t>
                </a:r>
              </a:p>
            </p:txBody>
          </p:sp>
        </mc:Choice>
        <mc:Fallback xmlns="">
          <p:sp>
            <p:nvSpPr>
              <p:cNvPr id="3" name="文本框 2">
                <a:extLst>
                  <a:ext uri="{FF2B5EF4-FFF2-40B4-BE49-F238E27FC236}">
                    <a16:creationId xmlns:a16="http://schemas.microsoft.com/office/drawing/2014/main" id="{422D13DC-661E-CE2E-D156-4BC174432C46}"/>
                  </a:ext>
                </a:extLst>
              </p:cNvPr>
              <p:cNvSpPr txBox="1">
                <a:spLocks noRot="1" noChangeAspect="1" noMove="1" noResize="1" noEditPoints="1" noAdjustHandles="1" noChangeArrowheads="1" noChangeShapeType="1" noTextEdit="1"/>
              </p:cNvSpPr>
              <p:nvPr/>
            </p:nvSpPr>
            <p:spPr>
              <a:xfrm>
                <a:off x="8347098" y="1321339"/>
                <a:ext cx="3076275" cy="1815882"/>
              </a:xfrm>
              <a:prstGeom prst="rect">
                <a:avLst/>
              </a:prstGeom>
              <a:blipFill>
                <a:blip r:embed="rId5"/>
                <a:stretch>
                  <a:fillRect t="-2970" b="-7261"/>
                </a:stretch>
              </a:blipFill>
              <a:ln w="28575">
                <a:solidFill>
                  <a:schemeClr val="accent4">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913571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18</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209575" y="1037083"/>
                <a:ext cx="12256731" cy="6242863"/>
              </a:xfrm>
              <a:prstGeom prst="rect">
                <a:avLst/>
              </a:prstGeom>
              <a:noFill/>
            </p:spPr>
            <p:txBody>
              <a:bodyPr wrap="square" rtlCol="0">
                <a:spAutoFit/>
              </a:bodyPr>
              <a:lstStyle/>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为得到等效电感和电阻，计算其复阻抗</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𝑍</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𝑋</m:t>
                        </m:r>
                      </m:sub>
                    </m:sSub>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由电磁感应</a:t>
                </a:r>
                <a:endParaRPr lang="en-US" altLang="zh-CN" sz="2600" i="1" dirty="0">
                  <a:latin typeface="Cambria Math" panose="02040503050406030204" pitchFamily="18" charset="0"/>
                  <a:ea typeface="Cambria Math" panose="02040503050406030204" pitchFamily="18" charset="0"/>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ℇ</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𝑛𝑙</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d</m:t>
                              </m:r>
                              <m:r>
                                <a:rPr lang="el-GR" altLang="zh-CN" sz="2600" i="1">
                                  <a:latin typeface="Cambria Math" panose="02040503050406030204" pitchFamily="18" charset="0"/>
                                  <a:ea typeface="Cambria Math" panose="02040503050406030204" pitchFamily="18" charset="0"/>
                                  <a:cs typeface="Times New Roman" panose="02020603050405020304" pitchFamily="18" charset="0"/>
                                </a:rPr>
                                <m:t>𝛷</m:t>
                              </m:r>
                            </m:num>
                            <m:den>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d</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𝑛𝑙</m:t>
                          </m:r>
                          <m:r>
                            <a:rPr lang="el-GR" altLang="zh-CN" sz="2600" i="1">
                              <a:latin typeface="Cambria Math" panose="02040503050406030204" pitchFamily="18" charset="0"/>
                              <a:ea typeface="Cambria Math" panose="02040503050406030204" pitchFamily="18" charset="0"/>
                              <a:cs typeface="Times New Roman" panose="02020603050405020304" pitchFamily="18" charset="0"/>
                            </a:rPr>
                            <m:t>𝛷</m:t>
                          </m:r>
                          <m:r>
                            <a:rPr lang="el-GR"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3.12</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则复阻抗为</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𝑍</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𝑋</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ℇ</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𝐼</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𝑛𝑙</m:t>
                      </m:r>
                      <m:d>
                        <m:dPr>
                          <m:begChr m:val="["/>
                          <m:endChr m:val="]"/>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𝑟</m:t>
                              </m:r>
                            </m:e>
                          </m:d>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num>
                            <m:den>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den>
                          </m:f>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e>
                          </m:d>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𝑟</m:t>
                                  </m:r>
                                </m:e>
                              </m:d>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e>
                      </m:d>
                    </m:oMath>
                  </m:oMathPara>
                </a14:m>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此时电感和电阻表示为</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
                    </m:oMathParaPr>
                    <m:oMath xmlns:m="http://schemas.openxmlformats.org/officeDocument/2006/math">
                      <m:sSub>
                        <m:sSubPr>
                          <m:ctrlPr>
                            <a:rPr lang="en-US" altLang="zh-CN" sz="2600" b="0" i="1" smtClean="0">
                              <a:solidFill>
                                <a:srgbClr val="836967"/>
                              </a:solidFill>
                              <a:latin typeface="Cambria Math" panose="02040503050406030204" pitchFamily="18" charset="0"/>
                            </a:rPr>
                          </m:ctrlPr>
                        </m:sSubPr>
                        <m:e>
                          <m:r>
                            <a:rPr lang="en-US" altLang="zh-CN" sz="2600" b="0" i="1" smtClean="0">
                              <a:latin typeface="Cambria Math" panose="02040503050406030204" pitchFamily="18" charset="0"/>
                            </a:rPr>
                            <m:t>𝑅</m:t>
                          </m:r>
                        </m:e>
                        <m:sub>
                          <m:r>
                            <a:rPr lang="en-US" altLang="zh-CN" sz="2600" b="0" i="1" smtClean="0">
                              <a:latin typeface="Cambria Math" panose="02040503050406030204" pitchFamily="18" charset="0"/>
                            </a:rPr>
                            <m:t>𝐿</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Re</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𝑍</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𝑋</m:t>
                              </m:r>
                            </m:sub>
                          </m:sSub>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Im</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𝑍</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𝑋</m:t>
                                  </m:r>
                                </m:sub>
                              </m:sSub>
                            </m:e>
                          </m:d>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𝜔</m:t>
                          </m:r>
                        </m:den>
                      </m:f>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209575" y="1037083"/>
                <a:ext cx="12256731" cy="6242863"/>
              </a:xfrm>
              <a:prstGeom prst="rect">
                <a:avLst/>
              </a:prstGeom>
              <a:blipFill>
                <a:blip r:embed="rId3"/>
                <a:stretch>
                  <a:fillRect t="-8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6ED3FE5-ABC2-38E2-531A-194F669675C8}"/>
                  </a:ext>
                </a:extLst>
              </p:cNvPr>
              <p:cNvSpPr txBox="1"/>
              <p:nvPr/>
            </p:nvSpPr>
            <p:spPr>
              <a:xfrm>
                <a:off x="8116149" y="5321701"/>
                <a:ext cx="6193410"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3.13</m:t>
                          </m:r>
                        </m:e>
                      </m:d>
                    </m:oMath>
                  </m:oMathPara>
                </a14:m>
                <a:endParaRPr lang="zh-CN" altLang="en-US" sz="2600" dirty="0"/>
              </a:p>
            </p:txBody>
          </p:sp>
        </mc:Choice>
        <mc:Fallback xmlns="">
          <p:sp>
            <p:nvSpPr>
              <p:cNvPr id="8" name="文本框 7">
                <a:extLst>
                  <a:ext uri="{FF2B5EF4-FFF2-40B4-BE49-F238E27FC236}">
                    <a16:creationId xmlns:a16="http://schemas.microsoft.com/office/drawing/2014/main" id="{96ED3FE5-ABC2-38E2-531A-194F669675C8}"/>
                  </a:ext>
                </a:extLst>
              </p:cNvPr>
              <p:cNvSpPr txBox="1">
                <a:spLocks noRot="1" noChangeAspect="1" noMove="1" noResize="1" noEditPoints="1" noAdjustHandles="1" noChangeArrowheads="1" noChangeShapeType="1" noTextEdit="1"/>
              </p:cNvSpPr>
              <p:nvPr/>
            </p:nvSpPr>
            <p:spPr>
              <a:xfrm>
                <a:off x="8116149" y="5321701"/>
                <a:ext cx="6193410" cy="4924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355120A-6391-D7A0-D897-7B76F434DC2E}"/>
                  </a:ext>
                </a:extLst>
              </p:cNvPr>
              <p:cNvSpPr txBox="1"/>
              <p:nvPr/>
            </p:nvSpPr>
            <p:spPr>
              <a:xfrm>
                <a:off x="5223850" y="6267948"/>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3.1</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e>
                      </m:d>
                    </m:oMath>
                  </m:oMathPara>
                </a14:m>
                <a:endParaRPr lang="zh-CN" altLang="en-US" sz="2600" dirty="0"/>
              </a:p>
            </p:txBody>
          </p:sp>
        </mc:Choice>
        <mc:Fallback xmlns="">
          <p:sp>
            <p:nvSpPr>
              <p:cNvPr id="12" name="文本框 11">
                <a:extLst>
                  <a:ext uri="{FF2B5EF4-FFF2-40B4-BE49-F238E27FC236}">
                    <a16:creationId xmlns:a16="http://schemas.microsoft.com/office/drawing/2014/main" id="{4355120A-6391-D7A0-D897-7B76F434DC2E}"/>
                  </a:ext>
                </a:extLst>
              </p:cNvPr>
              <p:cNvSpPr txBox="1">
                <a:spLocks noRot="1" noChangeAspect="1" noMove="1" noResize="1" noEditPoints="1" noAdjustHandles="1" noChangeArrowheads="1" noChangeShapeType="1" noTextEdit="1"/>
              </p:cNvSpPr>
              <p:nvPr/>
            </p:nvSpPr>
            <p:spPr>
              <a:xfrm>
                <a:off x="5223850" y="6267948"/>
                <a:ext cx="7286918" cy="49244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6B3A45A-61EE-1117-BEE2-1051A3DFB29D}"/>
                  </a:ext>
                </a:extLst>
              </p:cNvPr>
              <p:cNvSpPr txBox="1"/>
              <p:nvPr/>
            </p:nvSpPr>
            <p:spPr>
              <a:xfrm>
                <a:off x="8983610" y="2086242"/>
                <a:ext cx="2513065" cy="1569660"/>
              </a:xfrm>
              <a:prstGeom prst="rect">
                <a:avLst/>
              </a:prstGeom>
              <a:ln w="28575">
                <a:solidFill>
                  <a:schemeClr val="accent4">
                    <a:lumMod val="60000"/>
                    <a:lumOff val="40000"/>
                  </a:schemeClr>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14:m>
                  <m:oMath xmlns:m="http://schemas.openxmlformats.org/officeDocument/2006/math">
                    <m:r>
                      <a:rPr lang="en-US" altLang="zh-CN" sz="2400" b="0" i="1" smtClean="0">
                        <a:latin typeface="Cambria Math" panose="02040503050406030204" pitchFamily="18" charset="0"/>
                      </a:rPr>
                      <m:t>𝑟</m:t>
                    </m:r>
                  </m:oMath>
                </a14:m>
                <a:r>
                  <a:rPr lang="zh-CN" altLang="en-US" sz="2400" dirty="0">
                    <a:latin typeface="微软雅黑" panose="020B0503020204020204" pitchFamily="34" charset="-122"/>
                    <a:ea typeface="微软雅黑" panose="020B0503020204020204" pitchFamily="34" charset="-122"/>
                  </a:rPr>
                  <a:t>：介质棒半径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rPr>
                      <m:t>𝑅</m:t>
                    </m:r>
                  </m:oMath>
                </a14:m>
                <a:r>
                  <a:rPr lang="zh-CN" altLang="en-US" sz="2400" dirty="0">
                    <a:latin typeface="微软雅黑" panose="020B0503020204020204" pitchFamily="34" charset="-122"/>
                    <a:ea typeface="微软雅黑" panose="020B0503020204020204" pitchFamily="34" charset="-122"/>
                  </a:rPr>
                  <a:t>：线圈半径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𝑛</m:t>
                    </m:r>
                  </m:oMath>
                </a14:m>
                <a:r>
                  <a:rPr lang="zh-CN" altLang="en-US" sz="2400" dirty="0">
                    <a:latin typeface="微软雅黑" panose="020B0503020204020204" pitchFamily="34" charset="-122"/>
                    <a:ea typeface="微软雅黑" panose="020B0503020204020204" pitchFamily="34" charset="-122"/>
                  </a:rPr>
                  <a:t>：匝数线密度</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𝑙</m:t>
                    </m:r>
                  </m:oMath>
                </a14:m>
                <a:r>
                  <a:rPr lang="zh-CN" altLang="en-US" sz="2400" dirty="0">
                    <a:latin typeface="微软雅黑" panose="020B0503020204020204" pitchFamily="34" charset="-122"/>
                    <a:ea typeface="微软雅黑" panose="020B0503020204020204" pitchFamily="34" charset="-122"/>
                  </a:rPr>
                  <a:t>：线圈长度</a:t>
                </a:r>
              </a:p>
            </p:txBody>
          </p:sp>
        </mc:Choice>
        <mc:Fallback xmlns="">
          <p:sp>
            <p:nvSpPr>
              <p:cNvPr id="13" name="文本框 12">
                <a:extLst>
                  <a:ext uri="{FF2B5EF4-FFF2-40B4-BE49-F238E27FC236}">
                    <a16:creationId xmlns:a16="http://schemas.microsoft.com/office/drawing/2014/main" id="{B6B3A45A-61EE-1117-BEE2-1051A3DFB29D}"/>
                  </a:ext>
                </a:extLst>
              </p:cNvPr>
              <p:cNvSpPr txBox="1">
                <a:spLocks noRot="1" noChangeAspect="1" noMove="1" noResize="1" noEditPoints="1" noAdjustHandles="1" noChangeArrowheads="1" noChangeShapeType="1" noTextEdit="1"/>
              </p:cNvSpPr>
              <p:nvPr/>
            </p:nvSpPr>
            <p:spPr>
              <a:xfrm>
                <a:off x="8983610" y="2086242"/>
                <a:ext cx="2513065" cy="1569660"/>
              </a:xfrm>
              <a:prstGeom prst="rect">
                <a:avLst/>
              </a:prstGeom>
              <a:blipFill>
                <a:blip r:embed="rId6"/>
                <a:stretch>
                  <a:fillRect l="-240" t="-2281" b="-6464"/>
                </a:stretch>
              </a:blipFill>
              <a:ln w="28575">
                <a:solidFill>
                  <a:schemeClr val="accent4">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046313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19</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587513" y="2005694"/>
                <a:ext cx="11143386" cy="3843232"/>
              </a:xfrm>
              <a:prstGeom prst="rect">
                <a:avLst/>
              </a:prstGeom>
              <a:noFill/>
            </p:spPr>
            <p:txBody>
              <a:bodyPr wrap="square" rtlCol="0">
                <a:spAutoFit/>
              </a:bodyPr>
              <a:lstStyle/>
              <a:p>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对</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(3.13)</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式进行</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Laurent</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展开，取前</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项有</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2600" i="1" dirty="0">
                  <a:latin typeface="Cambria Math" panose="02040503050406030204" pitchFamily="18" charset="0"/>
                  <a:ea typeface="微软雅黑"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𝑍</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𝑋</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      =</m:t>
                      </m:r>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𝑛𝑙</m:t>
                      </m:r>
                      <m:d>
                        <m:dPr>
                          <m:begChr m:val="["/>
                          <m:endChr m:val="]"/>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𝜋𝜇</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𝑛</m:t>
                          </m:r>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m:t>
                          </m:r>
                          <m:sSub>
                            <m:sSub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𝑛</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d>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𝑛</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𝜆</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4</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192</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128</m:t>
                              </m:r>
                            </m:den>
                          </m:f>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𝜆</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4</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e>
                      </m:d>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𝑂</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𝜆</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6</m:t>
                              </m:r>
                            </m:sup>
                          </m:sSup>
                        </m:e>
                      </m:d>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587513" y="2005694"/>
                <a:ext cx="11143386" cy="3843232"/>
              </a:xfrm>
              <a:prstGeom prst="rect">
                <a:avLst/>
              </a:prstGeom>
              <a:blipFill>
                <a:blip r:embed="rId3"/>
                <a:stretch>
                  <a:fillRect l="-985" t="-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40F8B6B-C8F7-028D-21A6-2BF767EE97ED}"/>
                  </a:ext>
                </a:extLst>
              </p:cNvPr>
              <p:cNvSpPr txBox="1"/>
              <p:nvPr/>
            </p:nvSpPr>
            <p:spPr>
              <a:xfrm>
                <a:off x="6226350" y="4902790"/>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3.15</m:t>
                          </m:r>
                        </m:e>
                      </m:d>
                    </m:oMath>
                  </m:oMathPara>
                </a14:m>
                <a:endParaRPr lang="zh-CN" altLang="en-US" sz="2600" dirty="0"/>
              </a:p>
            </p:txBody>
          </p:sp>
        </mc:Choice>
        <mc:Fallback xmlns="">
          <p:sp>
            <p:nvSpPr>
              <p:cNvPr id="3" name="文本框 2">
                <a:extLst>
                  <a:ext uri="{FF2B5EF4-FFF2-40B4-BE49-F238E27FC236}">
                    <a16:creationId xmlns:a16="http://schemas.microsoft.com/office/drawing/2014/main" id="{D40F8B6B-C8F7-028D-21A6-2BF767EE97ED}"/>
                  </a:ext>
                </a:extLst>
              </p:cNvPr>
              <p:cNvSpPr txBox="1">
                <a:spLocks noRot="1" noChangeAspect="1" noMove="1" noResize="1" noEditPoints="1" noAdjustHandles="1" noChangeArrowheads="1" noChangeShapeType="1" noTextEdit="1"/>
              </p:cNvSpPr>
              <p:nvPr/>
            </p:nvSpPr>
            <p:spPr>
              <a:xfrm>
                <a:off x="6226350" y="4902790"/>
                <a:ext cx="7286918" cy="4924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C6B1683-9D12-DFD2-47A7-99CD0880787A}"/>
                  </a:ext>
                </a:extLst>
              </p:cNvPr>
              <p:cNvSpPr txBox="1"/>
              <p:nvPr/>
            </p:nvSpPr>
            <p:spPr>
              <a:xfrm>
                <a:off x="8873543" y="1297267"/>
                <a:ext cx="2414900" cy="1569660"/>
              </a:xfrm>
              <a:prstGeom prst="rect">
                <a:avLst/>
              </a:prstGeom>
              <a:noFill/>
              <a:ln w="28575">
                <a:solidFill>
                  <a:schemeClr val="accent4">
                    <a:lumMod val="60000"/>
                    <a:lumOff val="40000"/>
                  </a:schemeClr>
                </a:solidFill>
              </a:ln>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𝑟</m:t>
                    </m:r>
                  </m:oMath>
                </a14:m>
                <a:r>
                  <a:rPr lang="zh-CN" altLang="en-US" sz="2400" dirty="0">
                    <a:latin typeface="微软雅黑" panose="020B0503020204020204" pitchFamily="34" charset="-122"/>
                    <a:ea typeface="微软雅黑" panose="020B0503020204020204" pitchFamily="34" charset="-122"/>
                  </a:rPr>
                  <a:t>：介质棒半径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rPr>
                      <m:t>𝑅</m:t>
                    </m:r>
                  </m:oMath>
                </a14:m>
                <a:r>
                  <a:rPr lang="zh-CN" altLang="en-US" sz="2400" dirty="0">
                    <a:latin typeface="微软雅黑" panose="020B0503020204020204" pitchFamily="34" charset="-122"/>
                    <a:ea typeface="微软雅黑" panose="020B0503020204020204" pitchFamily="34" charset="-122"/>
                  </a:rPr>
                  <a:t>：线圈半径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𝑛</m:t>
                    </m:r>
                  </m:oMath>
                </a14:m>
                <a:r>
                  <a:rPr lang="zh-CN" altLang="en-US" sz="2400" dirty="0">
                    <a:latin typeface="微软雅黑" panose="020B0503020204020204" pitchFamily="34" charset="-122"/>
                    <a:ea typeface="微软雅黑" panose="020B0503020204020204" pitchFamily="34" charset="-122"/>
                  </a:rPr>
                  <a:t>：匝数线密度</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𝑙</m:t>
                    </m:r>
                  </m:oMath>
                </a14:m>
                <a:r>
                  <a:rPr lang="zh-CN" altLang="en-US" sz="2400" dirty="0">
                    <a:latin typeface="微软雅黑" panose="020B0503020204020204" pitchFamily="34" charset="-122"/>
                    <a:ea typeface="微软雅黑" panose="020B0503020204020204" pitchFamily="34" charset="-122"/>
                  </a:rPr>
                  <a:t>：线圈长度</a:t>
                </a:r>
              </a:p>
            </p:txBody>
          </p:sp>
        </mc:Choice>
        <mc:Fallback xmlns="">
          <p:sp>
            <p:nvSpPr>
              <p:cNvPr id="5" name="文本框 4">
                <a:extLst>
                  <a:ext uri="{FF2B5EF4-FFF2-40B4-BE49-F238E27FC236}">
                    <a16:creationId xmlns:a16="http://schemas.microsoft.com/office/drawing/2014/main" id="{CC6B1683-9D12-DFD2-47A7-99CD0880787A}"/>
                  </a:ext>
                </a:extLst>
              </p:cNvPr>
              <p:cNvSpPr txBox="1">
                <a:spLocks noRot="1" noChangeAspect="1" noMove="1" noResize="1" noEditPoints="1" noAdjustHandles="1" noChangeArrowheads="1" noChangeShapeType="1" noTextEdit="1"/>
              </p:cNvSpPr>
              <p:nvPr/>
            </p:nvSpPr>
            <p:spPr>
              <a:xfrm>
                <a:off x="8873543" y="1297267"/>
                <a:ext cx="2414900" cy="1569660"/>
              </a:xfrm>
              <a:prstGeom prst="rect">
                <a:avLst/>
              </a:prstGeom>
              <a:blipFill>
                <a:blip r:embed="rId5"/>
                <a:stretch>
                  <a:fillRect l="-249" t="-2290" b="-6870"/>
                </a:stretch>
              </a:blipFill>
              <a:ln w="28575">
                <a:solidFill>
                  <a:schemeClr val="accent4">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4284798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20</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345440" y="1209734"/>
                <a:ext cx="11196320" cy="4526752"/>
              </a:xfrm>
              <a:prstGeom prst="rect">
                <a:avLst/>
              </a:prstGeom>
              <a:noFill/>
            </p:spPr>
            <p:txBody>
              <a:bodyPr wrap="square" rtlCol="0">
                <a:spAutoFit/>
              </a:bodyPr>
              <a:lstStyle/>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将</a:t>
                </a:r>
                <a14:m>
                  <m:oMath xmlns:m="http://schemas.openxmlformats.org/officeDocument/2006/math">
                    <m:sSup>
                      <m:s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600" i="1">
                        <a:latin typeface="Cambria Math" panose="02040503050406030204" pitchFamily="18" charset="0"/>
                        <a:ea typeface="微软雅黑" panose="020B0503020204020204" pitchFamily="34" charset="-122"/>
                        <a:cs typeface="Times New Roman" panose="02020603050405020304" pitchFamily="18" charset="0"/>
                      </a:rPr>
                      <m:t>j</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𝜔𝜇𝜎</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代入，联立</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(3.14)</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式，得</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400" i="1" dirty="0">
                  <a:latin typeface="Cambria Math" panose="020405030504060302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𝜋</m:t>
                      </m:r>
                      <m:sSup>
                        <m:s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𝑙</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e>
                          </m:d>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𝜇</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d>
                        <m:d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192</m:t>
                              </m:r>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128</m:t>
                              </m:r>
                            </m:den>
                          </m:f>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𝑂</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4</m:t>
                              </m:r>
                            </m:sup>
                          </m:sSup>
                        </m:e>
                      </m:d>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sSub>
                        <m:sSub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𝜋𝜇𝜎</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𝑂</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4</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345440" y="1209734"/>
                <a:ext cx="11196320" cy="4526752"/>
              </a:xfrm>
              <a:prstGeom prst="rect">
                <a:avLst/>
              </a:prstGeom>
              <a:blipFill>
                <a:blip r:embed="rId3"/>
                <a:stretch>
                  <a:fillRect t="-1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40F8B6B-C8F7-028D-21A6-2BF767EE97ED}"/>
                  </a:ext>
                </a:extLst>
              </p:cNvPr>
              <p:cNvSpPr txBox="1"/>
              <p:nvPr/>
            </p:nvSpPr>
            <p:spPr>
              <a:xfrm>
                <a:off x="7428578" y="2936557"/>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3.16</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e>
                      </m:d>
                    </m:oMath>
                  </m:oMathPara>
                </a14:m>
                <a:endParaRPr lang="zh-CN" altLang="en-US" sz="2600" dirty="0"/>
              </a:p>
            </p:txBody>
          </p:sp>
        </mc:Choice>
        <mc:Fallback xmlns="">
          <p:sp>
            <p:nvSpPr>
              <p:cNvPr id="3" name="文本框 2">
                <a:extLst>
                  <a:ext uri="{FF2B5EF4-FFF2-40B4-BE49-F238E27FC236}">
                    <a16:creationId xmlns:a16="http://schemas.microsoft.com/office/drawing/2014/main" id="{D40F8B6B-C8F7-028D-21A6-2BF767EE97ED}"/>
                  </a:ext>
                </a:extLst>
              </p:cNvPr>
              <p:cNvSpPr txBox="1">
                <a:spLocks noRot="1" noChangeAspect="1" noMove="1" noResize="1" noEditPoints="1" noAdjustHandles="1" noChangeArrowheads="1" noChangeShapeType="1" noTextEdit="1"/>
              </p:cNvSpPr>
              <p:nvPr/>
            </p:nvSpPr>
            <p:spPr>
              <a:xfrm>
                <a:off x="7428578" y="2936557"/>
                <a:ext cx="7286918" cy="4924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FF0B4BE-B180-2EAE-D424-BA608579936D}"/>
                  </a:ext>
                </a:extLst>
              </p:cNvPr>
              <p:cNvSpPr txBox="1"/>
              <p:nvPr/>
            </p:nvSpPr>
            <p:spPr>
              <a:xfrm>
                <a:off x="7428578" y="4643876"/>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3.16</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b</m:t>
                          </m:r>
                        </m:e>
                      </m:d>
                    </m:oMath>
                  </m:oMathPara>
                </a14:m>
                <a:endParaRPr lang="zh-CN" altLang="en-US" sz="2600" dirty="0"/>
              </a:p>
            </p:txBody>
          </p:sp>
        </mc:Choice>
        <mc:Fallback xmlns="">
          <p:sp>
            <p:nvSpPr>
              <p:cNvPr id="5" name="文本框 4">
                <a:extLst>
                  <a:ext uri="{FF2B5EF4-FFF2-40B4-BE49-F238E27FC236}">
                    <a16:creationId xmlns:a16="http://schemas.microsoft.com/office/drawing/2014/main" id="{AFF0B4BE-B180-2EAE-D424-BA608579936D}"/>
                  </a:ext>
                </a:extLst>
              </p:cNvPr>
              <p:cNvSpPr txBox="1">
                <a:spLocks noRot="1" noChangeAspect="1" noMove="1" noResize="1" noEditPoints="1" noAdjustHandles="1" noChangeArrowheads="1" noChangeShapeType="1" noTextEdit="1"/>
              </p:cNvSpPr>
              <p:nvPr/>
            </p:nvSpPr>
            <p:spPr>
              <a:xfrm>
                <a:off x="7428578" y="4643876"/>
                <a:ext cx="7286918" cy="49244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EF5B68A-6BEE-CFDA-B560-5B8FE1B30DE0}"/>
                  </a:ext>
                </a:extLst>
              </p:cNvPr>
              <p:cNvSpPr txBox="1"/>
              <p:nvPr/>
            </p:nvSpPr>
            <p:spPr>
              <a:xfrm>
                <a:off x="8646159" y="5190728"/>
                <a:ext cx="2425878" cy="1569660"/>
              </a:xfrm>
              <a:prstGeom prst="rect">
                <a:avLst/>
              </a:prstGeom>
              <a:noFill/>
              <a:ln w="28575">
                <a:solidFill>
                  <a:schemeClr val="accent4">
                    <a:lumMod val="60000"/>
                    <a:lumOff val="40000"/>
                  </a:schemeClr>
                </a:solidFill>
              </a:ln>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𝑟</m:t>
                    </m:r>
                  </m:oMath>
                </a14:m>
                <a:r>
                  <a:rPr lang="zh-CN" altLang="en-US" sz="2400" dirty="0">
                    <a:latin typeface="微软雅黑" panose="020B0503020204020204" pitchFamily="34" charset="-122"/>
                    <a:ea typeface="微软雅黑" panose="020B0503020204020204" pitchFamily="34" charset="-122"/>
                  </a:rPr>
                  <a:t>：介质棒半径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rPr>
                      <m:t>𝑅</m:t>
                    </m:r>
                  </m:oMath>
                </a14:m>
                <a:r>
                  <a:rPr lang="zh-CN" altLang="en-US" sz="2400" dirty="0">
                    <a:latin typeface="微软雅黑" panose="020B0503020204020204" pitchFamily="34" charset="-122"/>
                    <a:ea typeface="微软雅黑" panose="020B0503020204020204" pitchFamily="34" charset="-122"/>
                  </a:rPr>
                  <a:t>：线圈半径</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𝑛</m:t>
                    </m:r>
                  </m:oMath>
                </a14:m>
                <a:r>
                  <a:rPr lang="zh-CN" altLang="en-US" sz="2400" dirty="0">
                    <a:latin typeface="微软雅黑" panose="020B0503020204020204" pitchFamily="34" charset="-122"/>
                    <a:ea typeface="微软雅黑" panose="020B0503020204020204" pitchFamily="34" charset="-122"/>
                  </a:rPr>
                  <a:t>：匝数线密度</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𝑙</m:t>
                    </m:r>
                  </m:oMath>
                </a14:m>
                <a:r>
                  <a:rPr lang="zh-CN" altLang="en-US" sz="2400" dirty="0">
                    <a:latin typeface="微软雅黑" panose="020B0503020204020204" pitchFamily="34" charset="-122"/>
                    <a:ea typeface="微软雅黑" panose="020B0503020204020204" pitchFamily="34" charset="-122"/>
                  </a:rPr>
                  <a:t>：线圈长度</a:t>
                </a:r>
              </a:p>
            </p:txBody>
          </p:sp>
        </mc:Choice>
        <mc:Fallback xmlns="">
          <p:sp>
            <p:nvSpPr>
              <p:cNvPr id="7" name="文本框 6">
                <a:extLst>
                  <a:ext uri="{FF2B5EF4-FFF2-40B4-BE49-F238E27FC236}">
                    <a16:creationId xmlns:a16="http://schemas.microsoft.com/office/drawing/2014/main" id="{CEF5B68A-6BEE-CFDA-B560-5B8FE1B30DE0}"/>
                  </a:ext>
                </a:extLst>
              </p:cNvPr>
              <p:cNvSpPr txBox="1">
                <a:spLocks noRot="1" noChangeAspect="1" noMove="1" noResize="1" noEditPoints="1" noAdjustHandles="1" noChangeArrowheads="1" noChangeShapeType="1" noTextEdit="1"/>
              </p:cNvSpPr>
              <p:nvPr/>
            </p:nvSpPr>
            <p:spPr>
              <a:xfrm>
                <a:off x="8646159" y="5190728"/>
                <a:ext cx="2425878" cy="1569660"/>
              </a:xfrm>
              <a:prstGeom prst="rect">
                <a:avLst/>
              </a:prstGeom>
              <a:blipFill>
                <a:blip r:embed="rId6"/>
                <a:stretch>
                  <a:fillRect l="-248" t="-2281" b="-6464"/>
                </a:stretch>
              </a:blipFill>
              <a:ln w="28575">
                <a:solidFill>
                  <a:schemeClr val="accent4">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4145144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21</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497840" y="4979858"/>
                <a:ext cx="11196320" cy="1492012"/>
              </a:xfrm>
              <a:prstGeom prst="rect">
                <a:avLst/>
              </a:prstGeom>
              <a:noFill/>
            </p:spPr>
            <p:txBody>
              <a:bodyPr wrap="square" rtlCol="0">
                <a:spAutoFit/>
              </a:bodyPr>
              <a:lstStyle/>
              <a:p>
                <a:pPr indent="720000">
                  <a:lnSpc>
                    <a:spcPct val="120000"/>
                  </a:lnSpc>
                </a:pP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电磁感应的存在会阻碍磁通量的变化，从而使得电感减小</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当频率增大时，这样的减小效果更加明显。从</a:t>
                </a:r>
                <a:r>
                  <a:rPr lang="en-US" altLang="zh-CN" sz="2600" b="0" dirty="0">
                    <a:latin typeface="Times New Roman" panose="02020603050405020304" pitchFamily="18" charset="0"/>
                    <a:ea typeface="Cambria Math" panose="02040503050406030204" pitchFamily="18" charset="0"/>
                    <a:cs typeface="Times New Roman" panose="02020603050405020304" pitchFamily="18" charset="0"/>
                  </a:rPr>
                  <a:t>(3.16a)</a:t>
                </a: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式</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看出</a:t>
                </a: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，当频率足够大时，</a:t>
                </a:r>
                <a:r>
                  <a:rPr lang="zh-CN" altLang="en-US" sz="26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存在</a:t>
                </a:r>
                <a14:m>
                  <m:oMath xmlns:m="http://schemas.openxmlformats.org/officeDocument/2006/math">
                    <m:r>
                      <a:rPr lang="en-US" altLang="zh-CN" sz="2600"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b="0" i="1" smtClean="0">
                        <a:solidFill>
                          <a:srgbClr val="FF0000"/>
                        </a:solidFill>
                        <a:latin typeface="Cambria Math" panose="02040503050406030204" pitchFamily="18" charset="0"/>
                        <a:ea typeface="Cambria Math" panose="02040503050406030204" pitchFamily="18" charset="0"/>
                      </a:rPr>
                      <m:t>≤</m:t>
                    </m:r>
                    <m:r>
                      <a:rPr lang="en-US" altLang="zh-CN" sz="26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m:t>
                    </m:r>
                  </m:oMath>
                </a14:m>
                <a:r>
                  <a:rPr lang="zh-CN" altLang="en-US" sz="2600" b="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的解。</a:t>
                </a:r>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497840" y="4979858"/>
                <a:ext cx="11196320" cy="1492012"/>
              </a:xfrm>
              <a:prstGeom prst="rect">
                <a:avLst/>
              </a:prstGeom>
              <a:blipFill>
                <a:blip r:embed="rId3"/>
                <a:stretch>
                  <a:fillRect l="-980" t="-816" r="-218" b="-93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1A617BD-90D1-76AD-60C0-C347CB248FB4}"/>
                  </a:ext>
                </a:extLst>
              </p:cNvPr>
              <p:cNvSpPr txBox="1"/>
              <p:nvPr/>
            </p:nvSpPr>
            <p:spPr>
              <a:xfrm>
                <a:off x="707343" y="1296671"/>
                <a:ext cx="10777314" cy="2222981"/>
              </a:xfrm>
              <a:prstGeom prst="rect">
                <a:avLst/>
              </a:prstGeom>
              <a:noFill/>
              <a:ln w="38100">
                <a:solidFill>
                  <a:srgbClr val="27304F"/>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𝜋</m:t>
                      </m:r>
                      <m:sSup>
                        <m:s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𝑙</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e>
                          </m:d>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𝜇</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𝜎</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d>
                        <m:d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192</m:t>
                              </m:r>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128</m:t>
                              </m:r>
                            </m:den>
                          </m:f>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𝑂</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4</m:t>
                              </m:r>
                            </m:sup>
                          </m:sSup>
                        </m:e>
                      </m:d>
                    </m:oMath>
                  </m:oMathPara>
                </a14:m>
                <a:endParaRPr lang="zh-CN" altLang="en-US" sz="2600" dirty="0"/>
              </a:p>
            </p:txBody>
          </p:sp>
        </mc:Choice>
        <mc:Fallback xmlns="">
          <p:sp>
            <p:nvSpPr>
              <p:cNvPr id="8" name="文本框 7">
                <a:extLst>
                  <a:ext uri="{FF2B5EF4-FFF2-40B4-BE49-F238E27FC236}">
                    <a16:creationId xmlns:a16="http://schemas.microsoft.com/office/drawing/2014/main" id="{B1A617BD-90D1-76AD-60C0-C347CB248FB4}"/>
                  </a:ext>
                </a:extLst>
              </p:cNvPr>
              <p:cNvSpPr txBox="1">
                <a:spLocks noRot="1" noChangeAspect="1" noMove="1" noResize="1" noEditPoints="1" noAdjustHandles="1" noChangeArrowheads="1" noChangeShapeType="1" noTextEdit="1"/>
              </p:cNvSpPr>
              <p:nvPr/>
            </p:nvSpPr>
            <p:spPr>
              <a:xfrm>
                <a:off x="707343" y="1296671"/>
                <a:ext cx="10777314" cy="2222981"/>
              </a:xfrm>
              <a:prstGeom prst="rect">
                <a:avLst/>
              </a:prstGeom>
              <a:blipFill>
                <a:blip r:embed="rId4"/>
                <a:stretch>
                  <a:fillRect/>
                </a:stretch>
              </a:blipFill>
              <a:ln w="38100">
                <a:solidFill>
                  <a:srgbClr val="27304F"/>
                </a:solidFill>
              </a:ln>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FC1AB135-7087-055A-89C5-243D744954A8}"/>
              </a:ext>
            </a:extLst>
          </p:cNvPr>
          <p:cNvCxnSpPr>
            <a:cxnSpLocks/>
          </p:cNvCxnSpPr>
          <p:nvPr/>
        </p:nvCxnSpPr>
        <p:spPr>
          <a:xfrm flipH="1">
            <a:off x="2537791" y="2060713"/>
            <a:ext cx="815009" cy="1755913"/>
          </a:xfrm>
          <a:prstGeom prst="straightConnector1">
            <a:avLst/>
          </a:prstGeom>
          <a:ln w="28575">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9" name="文本框 8">
            <a:extLst>
              <a:ext uri="{FF2B5EF4-FFF2-40B4-BE49-F238E27FC236}">
                <a16:creationId xmlns:a16="http://schemas.microsoft.com/office/drawing/2014/main" id="{341B9AC6-8938-009D-FE09-823B72F12BE2}"/>
              </a:ext>
            </a:extLst>
          </p:cNvPr>
          <p:cNvSpPr txBox="1"/>
          <p:nvPr/>
        </p:nvSpPr>
        <p:spPr>
          <a:xfrm>
            <a:off x="1649895" y="3863321"/>
            <a:ext cx="2239618" cy="830997"/>
          </a:xfrm>
          <a:prstGeom prst="rect">
            <a:avLst/>
          </a:prstGeom>
          <a:noFill/>
        </p:spPr>
        <p:txBody>
          <a:bodyPr wrap="square" rtlCol="0">
            <a:spAutoFit/>
          </a:bodyPr>
          <a:lstStyle/>
          <a:p>
            <a:r>
              <a:rPr lang="zh-CN" altLang="en-US" sz="2400" b="0" dirty="0">
                <a:latin typeface="微软雅黑" panose="020B0503020204020204" pitchFamily="34" charset="-122"/>
                <a:ea typeface="微软雅黑" panose="020B0503020204020204" pitchFamily="34" charset="-122"/>
                <a:cs typeface="Times New Roman" panose="02020603050405020304" pitchFamily="18" charset="0"/>
              </a:rPr>
              <a:t>介质放入后引起的修正效应</a:t>
            </a:r>
            <a:endParaRPr lang="zh-CN" altLang="en-US" sz="2400" dirty="0"/>
          </a:p>
        </p:txBody>
      </p:sp>
      <p:cxnSp>
        <p:nvCxnSpPr>
          <p:cNvPr id="11" name="直接箭头连接符 10">
            <a:extLst>
              <a:ext uri="{FF2B5EF4-FFF2-40B4-BE49-F238E27FC236}">
                <a16:creationId xmlns:a16="http://schemas.microsoft.com/office/drawing/2014/main" id="{212F67A0-B7F3-1625-0369-FE7759289EDC}"/>
              </a:ext>
            </a:extLst>
          </p:cNvPr>
          <p:cNvCxnSpPr/>
          <p:nvPr/>
        </p:nvCxnSpPr>
        <p:spPr>
          <a:xfrm>
            <a:off x="5830957" y="3134139"/>
            <a:ext cx="66260" cy="682487"/>
          </a:xfrm>
          <a:prstGeom prst="straightConnector1">
            <a:avLst/>
          </a:prstGeom>
          <a:ln w="28575">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2" name="文本框 11">
            <a:extLst>
              <a:ext uri="{FF2B5EF4-FFF2-40B4-BE49-F238E27FC236}">
                <a16:creationId xmlns:a16="http://schemas.microsoft.com/office/drawing/2014/main" id="{C0C36D29-D84C-FB9E-E7C2-4E6F54BA453E}"/>
              </a:ext>
            </a:extLst>
          </p:cNvPr>
          <p:cNvSpPr txBox="1"/>
          <p:nvPr/>
        </p:nvSpPr>
        <p:spPr>
          <a:xfrm>
            <a:off x="4383155" y="3924876"/>
            <a:ext cx="4283767" cy="830997"/>
          </a:xfrm>
          <a:prstGeom prst="rect">
            <a:avLst/>
          </a:prstGeom>
          <a:noFill/>
        </p:spPr>
        <p:txBody>
          <a:bodyPr wrap="square" rtlCol="0">
            <a:spAutoFit/>
          </a:bodyPr>
          <a:lstStyle/>
          <a:p>
            <a:r>
              <a:rPr lang="zh-CN" altLang="en-US" sz="2400" b="0" dirty="0">
                <a:latin typeface="微软雅黑" panose="020B0503020204020204" pitchFamily="34" charset="-122"/>
                <a:ea typeface="微软雅黑" panose="020B0503020204020204" pitchFamily="34" charset="-122"/>
                <a:cs typeface="Times New Roman" panose="02020603050405020304" pitchFamily="18" charset="0"/>
              </a:rPr>
              <a:t>电感会随着频率的增大而减小，这是涡流造成的一阶效应</a:t>
            </a:r>
            <a:endParaRPr lang="zh-CN" altLang="en-US" sz="2400" dirty="0"/>
          </a:p>
        </p:txBody>
      </p:sp>
    </p:spTree>
    <p:extLst>
      <p:ext uri="{BB962C8B-B14F-4D97-AF65-F5344CB8AC3E}">
        <p14:creationId xmlns:p14="http://schemas.microsoft.com/office/powerpoint/2010/main" val="2770593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22</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497840" y="4826097"/>
                <a:ext cx="11196320" cy="1011880"/>
              </a:xfrm>
              <a:prstGeom prst="rect">
                <a:avLst/>
              </a:prstGeom>
              <a:noFill/>
            </p:spPr>
            <p:txBody>
              <a:bodyPr wrap="square" rtlCol="0">
                <a:spAutoFit/>
              </a:bodyPr>
              <a:lstStyle/>
              <a:p>
                <a:pPr indent="720000">
                  <a:lnSpc>
                    <a:spcPct val="120000"/>
                  </a:lnSpc>
                </a:pPr>
                <a:r>
                  <a:rPr lang="en-US" altLang="zh-CN" sz="2600" b="0" dirty="0">
                    <a:latin typeface="Times New Roman" panose="02020603050405020304" pitchFamily="18" charset="0"/>
                    <a:ea typeface="Cambria Math" panose="02040503050406030204" pitchFamily="18" charset="0"/>
                    <a:cs typeface="Times New Roman" panose="02020603050405020304" pitchFamily="18" charset="0"/>
                  </a:rPr>
                  <a:t>(3.16b)</a:t>
                </a: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式</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揭示了涡流对能量的耗散作用，也表明在一定范围内</a:t>
                </a:r>
                <a14:m>
                  <m:oMath xmlns:m="http://schemas.openxmlformats.org/officeDocument/2006/math">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𝑅</m:t>
                    </m:r>
                  </m:oMath>
                </a14:m>
                <a:r>
                  <a:rPr lang="zh-CN" altLang="en-US" sz="2600" i="0" dirty="0">
                    <a:latin typeface="微软雅黑" panose="020B0503020204020204" pitchFamily="34" charset="-122"/>
                    <a:ea typeface="微软雅黑" panose="020B0503020204020204" pitchFamily="34" charset="-122"/>
                    <a:cs typeface="Times New Roman" panose="02020603050405020304" pitchFamily="18" charset="0"/>
                  </a:rPr>
                  <a:t>与</a:t>
                </a:r>
                <a14:m>
                  <m:oMath xmlns:m="http://schemas.openxmlformats.org/officeDocument/2006/math">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zh-CN" altLang="en-US" sz="2600" i="0" dirty="0">
                    <a:latin typeface="微软雅黑" panose="020B0503020204020204" pitchFamily="34" charset="-122"/>
                    <a:ea typeface="微软雅黑" panose="020B0503020204020204" pitchFamily="34" charset="-122"/>
                    <a:cs typeface="Times New Roman" panose="02020603050405020304" pitchFamily="18" charset="0"/>
                  </a:rPr>
                  <a:t>成正比</a:t>
                </a: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497840" y="4826097"/>
                <a:ext cx="11196320" cy="1011880"/>
              </a:xfrm>
              <a:prstGeom prst="rect">
                <a:avLst/>
              </a:prstGeom>
              <a:blipFill>
                <a:blip r:embed="rId3"/>
                <a:stretch>
                  <a:fillRect l="-980" t="-1807" b="-14458"/>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B7A82D64-5D5A-7180-7075-1E988D08C794}"/>
              </a:ext>
            </a:extLst>
          </p:cNvPr>
          <p:cNvGrpSpPr/>
          <p:nvPr/>
        </p:nvGrpSpPr>
        <p:grpSpPr>
          <a:xfrm>
            <a:off x="707343" y="1591322"/>
            <a:ext cx="10777314" cy="2798480"/>
            <a:chOff x="707343" y="1364041"/>
            <a:chExt cx="10777314" cy="2798480"/>
          </a:xfrm>
        </p:grpSpPr>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1A617BD-90D1-76AD-60C0-C347CB248FB4}"/>
                    </a:ext>
                  </a:extLst>
                </p:cNvPr>
                <p:cNvSpPr txBox="1"/>
                <p:nvPr/>
              </p:nvSpPr>
              <p:spPr>
                <a:xfrm>
                  <a:off x="707343" y="1364041"/>
                  <a:ext cx="10777314" cy="1380443"/>
                </a:xfrm>
                <a:prstGeom prst="rect">
                  <a:avLst/>
                </a:prstGeom>
                <a:noFill/>
                <a:ln w="38100">
                  <a:solidFill>
                    <a:srgbClr val="27304F"/>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𝐿</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𝜋𝜇𝜎</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𝑂</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CN" sz="26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B1A617BD-90D1-76AD-60C0-C347CB248FB4}"/>
                    </a:ext>
                  </a:extLst>
                </p:cNvPr>
                <p:cNvSpPr txBox="1">
                  <a:spLocks noRot="1" noChangeAspect="1" noMove="1" noResize="1" noEditPoints="1" noAdjustHandles="1" noChangeArrowheads="1" noChangeShapeType="1" noTextEdit="1"/>
                </p:cNvSpPr>
                <p:nvPr/>
              </p:nvSpPr>
              <p:spPr>
                <a:xfrm>
                  <a:off x="707343" y="1364041"/>
                  <a:ext cx="10777314" cy="1380443"/>
                </a:xfrm>
                <a:prstGeom prst="rect">
                  <a:avLst/>
                </a:prstGeom>
                <a:blipFill>
                  <a:blip r:embed="rId4"/>
                  <a:stretch>
                    <a:fillRect/>
                  </a:stretch>
                </a:blipFill>
                <a:ln w="38100">
                  <a:solidFill>
                    <a:srgbClr val="27304F"/>
                  </a:solidFill>
                </a:ln>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E0E40FAE-6FA5-235C-FB44-FDEDA4F0975A}"/>
                </a:ext>
              </a:extLst>
            </p:cNvPr>
            <p:cNvCxnSpPr>
              <a:cxnSpLocks/>
              <a:endCxn id="7" idx="0"/>
            </p:cNvCxnSpPr>
            <p:nvPr/>
          </p:nvCxnSpPr>
          <p:spPr>
            <a:xfrm flipH="1">
              <a:off x="3910551" y="2319100"/>
              <a:ext cx="435665" cy="1030345"/>
            </a:xfrm>
            <a:prstGeom prst="straightConnector1">
              <a:avLst/>
            </a:prstGeom>
            <a:ln w="28575">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7" name="文本框 6">
              <a:extLst>
                <a:ext uri="{FF2B5EF4-FFF2-40B4-BE49-F238E27FC236}">
                  <a16:creationId xmlns:a16="http://schemas.microsoft.com/office/drawing/2014/main" id="{E932E3B5-7ABE-30EA-CD75-BAE5956A46A5}"/>
                </a:ext>
              </a:extLst>
            </p:cNvPr>
            <p:cNvSpPr txBox="1"/>
            <p:nvPr/>
          </p:nvSpPr>
          <p:spPr>
            <a:xfrm>
              <a:off x="2702947" y="3349445"/>
              <a:ext cx="2415207"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介质内部的涡流</a:t>
              </a:r>
              <a:endParaRPr lang="zh-CN" altLang="en-US" sz="2400" dirty="0"/>
            </a:p>
          </p:txBody>
        </p:sp>
        <p:cxnSp>
          <p:nvCxnSpPr>
            <p:cNvPr id="10" name="直接箭头连接符 9">
              <a:extLst>
                <a:ext uri="{FF2B5EF4-FFF2-40B4-BE49-F238E27FC236}">
                  <a16:creationId xmlns:a16="http://schemas.microsoft.com/office/drawing/2014/main" id="{D232334F-EABC-8BBA-4851-7BE721791CC9}"/>
                </a:ext>
              </a:extLst>
            </p:cNvPr>
            <p:cNvCxnSpPr>
              <a:cxnSpLocks/>
              <a:endCxn id="12" idx="0"/>
            </p:cNvCxnSpPr>
            <p:nvPr/>
          </p:nvCxnSpPr>
          <p:spPr>
            <a:xfrm>
              <a:off x="5678557" y="2237623"/>
              <a:ext cx="1638686" cy="1093901"/>
            </a:xfrm>
            <a:prstGeom prst="straightConnector1">
              <a:avLst/>
            </a:prstGeom>
            <a:ln w="28575">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12" name="文本框 11">
              <a:extLst>
                <a:ext uri="{FF2B5EF4-FFF2-40B4-BE49-F238E27FC236}">
                  <a16:creationId xmlns:a16="http://schemas.microsoft.com/office/drawing/2014/main" id="{7383E165-CAB5-C57E-B2D2-F3E076086697}"/>
                </a:ext>
              </a:extLst>
            </p:cNvPr>
            <p:cNvSpPr txBox="1"/>
            <p:nvPr/>
          </p:nvSpPr>
          <p:spPr>
            <a:xfrm>
              <a:off x="5304955" y="3331524"/>
              <a:ext cx="4024575" cy="83099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介质与线圈间由于需要满足</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边界条件</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所引起的耗散</a:t>
              </a:r>
              <a:endParaRPr lang="zh-CN" altLang="en-US" sz="2400" dirty="0"/>
            </a:p>
          </p:txBody>
        </p:sp>
      </p:grpSp>
    </p:spTree>
    <p:extLst>
      <p:ext uri="{BB962C8B-B14F-4D97-AF65-F5344CB8AC3E}">
        <p14:creationId xmlns:p14="http://schemas.microsoft.com/office/powerpoint/2010/main" val="116843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23</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497840" y="1701054"/>
                <a:ext cx="11196320" cy="4068934"/>
              </a:xfrm>
              <a:prstGeom prst="rect">
                <a:avLst/>
              </a:prstGeom>
              <a:noFill/>
            </p:spPr>
            <p:txBody>
              <a:bodyPr wrap="square" rtlCol="0">
                <a:spAutoFit/>
              </a:bodyPr>
              <a:lstStyle/>
              <a:p>
                <a:pPr>
                  <a:lnSpc>
                    <a:spcPct val="150000"/>
                  </a:lnSpc>
                </a:pP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将</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oMath>
                </a14:m>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得到电感和电阻在介质棒插入前的表达式</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，相减</a:t>
                </a:r>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整理得</a:t>
                </a:r>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192</m:t>
                              </m:r>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128</m:t>
                              </m:r>
                            </m:den>
                          </m:f>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2600" b="0" i="1" dirty="0">
                  <a:latin typeface="Cambria Math" panose="02040503050406030204" pitchFamily="18" charset="0"/>
                  <a:ea typeface="Cambria Math" panose="02040503050406030204" pitchFamily="18" charset="0"/>
                  <a:cs typeface="Times New Roman" panose="02020603050405020304" pitchFamily="18" charset="0"/>
                </a:endParaRPr>
              </a:p>
              <a:p>
                <a:endParaRPr lang="en-US" altLang="zh-CN" sz="2600" b="0"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𝐿</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𝜋𝜇𝜎</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497840" y="1701054"/>
                <a:ext cx="11196320" cy="4068934"/>
              </a:xfrm>
              <a:prstGeom prst="rect">
                <a:avLst/>
              </a:prstGeom>
              <a:blipFill>
                <a:blip r:embed="rId3"/>
                <a:stretch>
                  <a:fillRect l="-9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26CF196-7DFC-68BA-33C6-C130D32EA5C6}"/>
                  </a:ext>
                </a:extLst>
              </p:cNvPr>
              <p:cNvSpPr txBox="1"/>
              <p:nvPr/>
            </p:nvSpPr>
            <p:spPr>
              <a:xfrm>
                <a:off x="10223325" y="3245053"/>
                <a:ext cx="2242129"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3.17</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e>
                      </m:d>
                    </m:oMath>
                  </m:oMathPara>
                </a14:m>
                <a:endParaRPr lang="zh-CN" altLang="en-US" sz="2600" dirty="0"/>
              </a:p>
            </p:txBody>
          </p:sp>
        </mc:Choice>
        <mc:Fallback xmlns="">
          <p:sp>
            <p:nvSpPr>
              <p:cNvPr id="3" name="文本框 2">
                <a:extLst>
                  <a:ext uri="{FF2B5EF4-FFF2-40B4-BE49-F238E27FC236}">
                    <a16:creationId xmlns:a16="http://schemas.microsoft.com/office/drawing/2014/main" id="{B26CF196-7DFC-68BA-33C6-C130D32EA5C6}"/>
                  </a:ext>
                </a:extLst>
              </p:cNvPr>
              <p:cNvSpPr txBox="1">
                <a:spLocks noRot="1" noChangeAspect="1" noMove="1" noResize="1" noEditPoints="1" noAdjustHandles="1" noChangeArrowheads="1" noChangeShapeType="1" noTextEdit="1"/>
              </p:cNvSpPr>
              <p:nvPr/>
            </p:nvSpPr>
            <p:spPr>
              <a:xfrm>
                <a:off x="10223325" y="3245053"/>
                <a:ext cx="2242129" cy="4924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AAC8DF0-F370-DC6A-6A0E-A42FE98DBDC6}"/>
                  </a:ext>
                </a:extLst>
              </p:cNvPr>
              <p:cNvSpPr txBox="1"/>
              <p:nvPr/>
            </p:nvSpPr>
            <p:spPr>
              <a:xfrm>
                <a:off x="7700930" y="4852248"/>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3.17</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b</m:t>
                          </m:r>
                        </m:e>
                      </m:d>
                    </m:oMath>
                  </m:oMathPara>
                </a14:m>
                <a:endParaRPr lang="zh-CN" altLang="en-US" sz="2600" dirty="0"/>
              </a:p>
            </p:txBody>
          </p:sp>
        </mc:Choice>
        <mc:Fallback xmlns="">
          <p:sp>
            <p:nvSpPr>
              <p:cNvPr id="5" name="文本框 4">
                <a:extLst>
                  <a:ext uri="{FF2B5EF4-FFF2-40B4-BE49-F238E27FC236}">
                    <a16:creationId xmlns:a16="http://schemas.microsoft.com/office/drawing/2014/main" id="{4AAC8DF0-F370-DC6A-6A0E-A42FE98DBDC6}"/>
                  </a:ext>
                </a:extLst>
              </p:cNvPr>
              <p:cNvSpPr txBox="1">
                <a:spLocks noRot="1" noChangeAspect="1" noMove="1" noResize="1" noEditPoints="1" noAdjustHandles="1" noChangeArrowheads="1" noChangeShapeType="1" noTextEdit="1"/>
              </p:cNvSpPr>
              <p:nvPr/>
            </p:nvSpPr>
            <p:spPr>
              <a:xfrm>
                <a:off x="7700930" y="4852248"/>
                <a:ext cx="7286918" cy="492443"/>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0339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24</a:t>
            </a:fld>
            <a:endParaRPr lang="zh-CN" altLang="en-US" dirty="0"/>
          </a:p>
        </p:txBody>
      </p:sp>
      <p:sp>
        <p:nvSpPr>
          <p:cNvPr id="2" name="文本框 1">
            <a:extLst>
              <a:ext uri="{FF2B5EF4-FFF2-40B4-BE49-F238E27FC236}">
                <a16:creationId xmlns:a16="http://schemas.microsoft.com/office/drawing/2014/main" id="{821D9C0E-15ED-90E8-F152-4C4EC6E30BB9}"/>
              </a:ext>
            </a:extLst>
          </p:cNvPr>
          <p:cNvSpPr txBox="1"/>
          <p:nvPr/>
        </p:nvSpPr>
        <p:spPr>
          <a:xfrm>
            <a:off x="1414686" y="252230"/>
            <a:ext cx="4937895"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理论分析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2C7669E-F296-5EC2-F5EC-09A7FC3F49B7}"/>
                  </a:ext>
                </a:extLst>
              </p:cNvPr>
              <p:cNvSpPr txBox="1"/>
              <p:nvPr/>
            </p:nvSpPr>
            <p:spPr>
              <a:xfrm>
                <a:off x="350080" y="1232826"/>
                <a:ext cx="11196320" cy="30686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192</m:t>
                              </m:r>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128</m:t>
                              </m:r>
                            </m:den>
                          </m:f>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2600" b="0"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𝐿</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𝜋𝜇𝜎</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2C7669E-F296-5EC2-F5EC-09A7FC3F49B7}"/>
                  </a:ext>
                </a:extLst>
              </p:cNvPr>
              <p:cNvSpPr txBox="1">
                <a:spLocks noRot="1" noChangeAspect="1" noMove="1" noResize="1" noEditPoints="1" noAdjustHandles="1" noChangeArrowheads="1" noChangeShapeType="1" noTextEdit="1"/>
              </p:cNvSpPr>
              <p:nvPr/>
            </p:nvSpPr>
            <p:spPr>
              <a:xfrm>
                <a:off x="350080" y="1232826"/>
                <a:ext cx="11196320" cy="306866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26CF196-7DFC-68BA-33C6-C130D32EA5C6}"/>
                  </a:ext>
                </a:extLst>
              </p:cNvPr>
              <p:cNvSpPr txBox="1"/>
              <p:nvPr/>
            </p:nvSpPr>
            <p:spPr>
              <a:xfrm>
                <a:off x="7795757" y="2158151"/>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3.17</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e>
                      </m:d>
                    </m:oMath>
                  </m:oMathPara>
                </a14:m>
                <a:endParaRPr lang="zh-CN" altLang="en-US" sz="2600" dirty="0"/>
              </a:p>
            </p:txBody>
          </p:sp>
        </mc:Choice>
        <mc:Fallback xmlns="">
          <p:sp>
            <p:nvSpPr>
              <p:cNvPr id="3" name="文本框 2">
                <a:extLst>
                  <a:ext uri="{FF2B5EF4-FFF2-40B4-BE49-F238E27FC236}">
                    <a16:creationId xmlns:a16="http://schemas.microsoft.com/office/drawing/2014/main" id="{B26CF196-7DFC-68BA-33C6-C130D32EA5C6}"/>
                  </a:ext>
                </a:extLst>
              </p:cNvPr>
              <p:cNvSpPr txBox="1">
                <a:spLocks noRot="1" noChangeAspect="1" noMove="1" noResize="1" noEditPoints="1" noAdjustHandles="1" noChangeArrowheads="1" noChangeShapeType="1" noTextEdit="1"/>
              </p:cNvSpPr>
              <p:nvPr/>
            </p:nvSpPr>
            <p:spPr>
              <a:xfrm>
                <a:off x="7795757" y="2158151"/>
                <a:ext cx="7286918" cy="4924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AAC8DF0-F370-DC6A-6A0E-A42FE98DBDC6}"/>
                  </a:ext>
                </a:extLst>
              </p:cNvPr>
              <p:cNvSpPr txBox="1"/>
              <p:nvPr/>
            </p:nvSpPr>
            <p:spPr>
              <a:xfrm>
                <a:off x="7795757" y="3391287"/>
                <a:ext cx="7286918"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3.17</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b</m:t>
                          </m:r>
                        </m:e>
                      </m:d>
                    </m:oMath>
                  </m:oMathPara>
                </a14:m>
                <a:endParaRPr lang="zh-CN" altLang="en-US" sz="2600" dirty="0"/>
              </a:p>
            </p:txBody>
          </p:sp>
        </mc:Choice>
        <mc:Fallback xmlns="">
          <p:sp>
            <p:nvSpPr>
              <p:cNvPr id="5" name="文本框 4">
                <a:extLst>
                  <a:ext uri="{FF2B5EF4-FFF2-40B4-BE49-F238E27FC236}">
                    <a16:creationId xmlns:a16="http://schemas.microsoft.com/office/drawing/2014/main" id="{4AAC8DF0-F370-DC6A-6A0E-A42FE98DBDC6}"/>
                  </a:ext>
                </a:extLst>
              </p:cNvPr>
              <p:cNvSpPr txBox="1">
                <a:spLocks noRot="1" noChangeAspect="1" noMove="1" noResize="1" noEditPoints="1" noAdjustHandles="1" noChangeArrowheads="1" noChangeShapeType="1" noTextEdit="1"/>
              </p:cNvSpPr>
              <p:nvPr/>
            </p:nvSpPr>
            <p:spPr>
              <a:xfrm>
                <a:off x="7795757" y="3391287"/>
                <a:ext cx="7286918" cy="492443"/>
              </a:xfrm>
              <a:prstGeom prst="rect">
                <a:avLst/>
              </a:prstGeom>
              <a:blipFill>
                <a:blip r:embed="rId5"/>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94AA85AC-2CCD-AD8B-0C68-988CD6FED968}"/>
              </a:ext>
            </a:extLst>
          </p:cNvPr>
          <p:cNvSpPr txBox="1"/>
          <p:nvPr/>
        </p:nvSpPr>
        <p:spPr>
          <a:xfrm>
            <a:off x="795867" y="5116868"/>
            <a:ext cx="10750533" cy="954107"/>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从上式中可以看出电感的变化量随频率增大而减小，函数为</a:t>
            </a:r>
            <a:r>
              <a:rPr lang="zh-CN" altLang="en-US" sz="2800" dirty="0">
                <a:solidFill>
                  <a:srgbClr val="FF0000"/>
                </a:solidFill>
                <a:latin typeface="微软雅黑" panose="020B0503020204020204" pitchFamily="34" charset="-122"/>
                <a:ea typeface="微软雅黑" panose="020B0503020204020204" pitchFamily="34" charset="-122"/>
              </a:rPr>
              <a:t>凸函数。</a:t>
            </a:r>
            <a:endParaRPr lang="en-US" altLang="zh-CN" sz="2800" dirty="0">
              <a:solidFill>
                <a:srgbClr val="FF0000"/>
              </a:solidFill>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rPr>
              <a:t>电阻的变化量与</a:t>
            </a:r>
            <a:r>
              <a:rPr lang="zh-CN" altLang="en-US" sz="2800" dirty="0">
                <a:solidFill>
                  <a:srgbClr val="FF0000"/>
                </a:solidFill>
                <a:latin typeface="微软雅黑" panose="020B0503020204020204" pitchFamily="34" charset="-122"/>
                <a:ea typeface="微软雅黑" panose="020B0503020204020204" pitchFamily="34" charset="-122"/>
              </a:rPr>
              <a:t>频率的二次方成正比</a:t>
            </a:r>
            <a:r>
              <a:rPr lang="zh-CN" altLang="en-US" sz="28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68815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p:txBody>
          <a:bodyPr>
            <a:spAutoFit/>
          </a:bodyPr>
          <a:lstStyle/>
          <a:p>
            <a:r>
              <a:rPr lang="en-US" altLang="zh-CN" dirty="0"/>
              <a:t>04</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p:txBody>
          <a:bodyPr>
            <a:spAutoFit/>
          </a:bodyPr>
          <a:lstStyle/>
          <a:p>
            <a:r>
              <a:rPr lang="zh-CN" altLang="en-US" dirty="0"/>
              <a:t>正式实验</a:t>
            </a:r>
            <a:endParaRPr lang="af-ZA" altLang="zh-CN" dirty="0"/>
          </a:p>
        </p:txBody>
      </p:sp>
    </p:spTree>
    <p:extLst>
      <p:ext uri="{BB962C8B-B14F-4D97-AF65-F5344CB8AC3E}">
        <p14:creationId xmlns:p14="http://schemas.microsoft.com/office/powerpoint/2010/main" val="170617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26</a:t>
            </a:fld>
            <a:endParaRPr lang="zh-CN" altLang="en-US" dirty="0"/>
          </a:p>
        </p:txBody>
      </p:sp>
      <p:sp>
        <p:nvSpPr>
          <p:cNvPr id="7" name="文本框 6">
            <a:extLst>
              <a:ext uri="{FF2B5EF4-FFF2-40B4-BE49-F238E27FC236}">
                <a16:creationId xmlns:a16="http://schemas.microsoft.com/office/drawing/2014/main" id="{33878D0B-AB97-EE49-5666-A3628BCD6B67}"/>
              </a:ext>
            </a:extLst>
          </p:cNvPr>
          <p:cNvSpPr txBox="1"/>
          <p:nvPr/>
        </p:nvSpPr>
        <p:spPr>
          <a:xfrm>
            <a:off x="1414687" y="252230"/>
            <a:ext cx="2007704"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正式实验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DCDD50-A318-E7BF-8F0A-661EA63C1AFE}"/>
                  </a:ext>
                </a:extLst>
              </p:cNvPr>
              <p:cNvSpPr txBox="1"/>
              <p:nvPr/>
            </p:nvSpPr>
            <p:spPr>
              <a:xfrm>
                <a:off x="8915968" y="1823720"/>
                <a:ext cx="1426912" cy="822469"/>
              </a:xfrm>
              <a:prstGeom prst="rect">
                <a:avLst/>
              </a:prstGeom>
              <a:noFill/>
            </p:spPr>
            <p:txBody>
              <a:bodyPr wrap="square" rtlCol="0">
                <a:spAutoFit/>
              </a:bodyPr>
              <a:lstStyle/>
              <a:p>
                <a14:m>
                  <m:oMath xmlns:m="http://schemas.openxmlformats.org/officeDocument/2006/math">
                    <a:fld id="{825F15A7-03F4-43D7-82C5-3E23DA2F108C}" type="mathplaceholder">
                      <a:rPr lang="en-US" altLang="zh-CN" sz="2400" i="1" smtClean="0">
                        <a:solidFill>
                          <a:schemeClr val="bg1"/>
                        </a:solidFill>
                        <a:latin typeface="Cambria Math" panose="02040503050406030204" pitchFamily="18" charset="0"/>
                      </a:rPr>
                      <a:t>在此处键入公式。</a:t>
                    </a:fld>
                  </m:oMath>
                </a14:m>
                <a:r>
                  <a:rPr lang="en-US" altLang="zh-CN" sz="2400" dirty="0">
                    <a:solidFill>
                      <a:schemeClr val="bg1"/>
                    </a:solidFill>
                  </a:rPr>
                  <a:t>xxx</a:t>
                </a:r>
                <a:endParaRPr lang="zh-CN" altLang="en-US" sz="2400" dirty="0">
                  <a:solidFill>
                    <a:schemeClr val="bg1"/>
                  </a:solidFill>
                </a:endParaRPr>
              </a:p>
            </p:txBody>
          </p:sp>
        </mc:Choice>
        <mc:Fallback xmlns="">
          <p:sp>
            <p:nvSpPr>
              <p:cNvPr id="18" name="文本框 17">
                <a:extLst>
                  <a:ext uri="{FF2B5EF4-FFF2-40B4-BE49-F238E27FC236}">
                    <a16:creationId xmlns:a16="http://schemas.microsoft.com/office/drawing/2014/main" id="{96DCDD50-A318-E7BF-8F0A-661EA63C1AFE}"/>
                  </a:ext>
                </a:extLst>
              </p:cNvPr>
              <p:cNvSpPr txBox="1">
                <a:spLocks noRot="1" noChangeAspect="1" noMove="1" noResize="1" noEditPoints="1" noAdjustHandles="1" noChangeArrowheads="1" noChangeShapeType="1" noTextEdit="1"/>
              </p:cNvSpPr>
              <p:nvPr/>
            </p:nvSpPr>
            <p:spPr>
              <a:xfrm>
                <a:off x="8915968" y="1823720"/>
                <a:ext cx="1426912" cy="822469"/>
              </a:xfrm>
              <a:prstGeom prst="rect">
                <a:avLst/>
              </a:prstGeom>
              <a:blipFill>
                <a:blip r:embed="rId2"/>
                <a:stretch>
                  <a:fillRect l="-6838" r="-87607" b="-1629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DAD8FFA-F9A0-49BF-2BB0-FBB3FE6F2119}"/>
              </a:ext>
            </a:extLst>
          </p:cNvPr>
          <p:cNvSpPr txBox="1"/>
          <p:nvPr/>
        </p:nvSpPr>
        <p:spPr>
          <a:xfrm>
            <a:off x="1123547" y="1199127"/>
            <a:ext cx="10325230" cy="1821845"/>
          </a:xfrm>
          <a:prstGeom prst="rect">
            <a:avLst/>
          </a:prstGeom>
          <a:noFill/>
        </p:spPr>
        <p:txBody>
          <a:bodyPr wrap="square" rtlCol="0">
            <a:spAutoFit/>
          </a:bodyPr>
          <a:lstStyle/>
          <a:p>
            <a:pPr>
              <a:lnSpc>
                <a:spcPct val="150000"/>
              </a:lnSpc>
            </a:pPr>
            <a:r>
              <a:rPr lang="zh-CN" altLang="en-US" sz="2600" dirty="0">
                <a:latin typeface="微软雅黑" panose="020B0503020204020204" pitchFamily="34" charset="-122"/>
                <a:ea typeface="微软雅黑" panose="020B0503020204020204" pitchFamily="34" charset="-122"/>
              </a:rPr>
              <a:t>由分析可知</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LRC</a:t>
            </a:r>
            <a:r>
              <a:rPr lang="zh-CN" altLang="en-US" sz="2600" dirty="0">
                <a:latin typeface="微软雅黑" panose="020B0503020204020204" pitchFamily="34" charset="-122"/>
                <a:ea typeface="微软雅黑" panose="020B0503020204020204" pitchFamily="34" charset="-122"/>
              </a:rPr>
              <a:t>电路的响应特征实际上对应了介质棒插入前后的电感线圈系统的等效电感和电阻的变化。</a:t>
            </a:r>
          </a:p>
          <a:p>
            <a:pPr>
              <a:lnSpc>
                <a:spcPct val="150000"/>
              </a:lnSpc>
            </a:pP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通过搭建简单的</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LR</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电路进行等效</a:t>
            </a:r>
            <a:r>
              <a:rPr lang="zh-CN" altLang="en-US" sz="2600" dirty="0">
                <a:latin typeface="微软雅黑" panose="020B0503020204020204" pitchFamily="34" charset="-122"/>
                <a:ea typeface="微软雅黑" panose="020B0503020204020204" pitchFamily="34" charset="-122"/>
              </a:rPr>
              <a:t>电感和电阻的测量。</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D7C633FD-28C1-6E61-358F-C66B1D771871}"/>
              </a:ext>
            </a:extLst>
          </p:cNvPr>
          <p:cNvPicPr>
            <a:picLocks noChangeAspect="1"/>
          </p:cNvPicPr>
          <p:nvPr/>
        </p:nvPicPr>
        <p:blipFill>
          <a:blip r:embed="rId3"/>
          <a:stretch>
            <a:fillRect/>
          </a:stretch>
        </p:blipFill>
        <p:spPr>
          <a:xfrm>
            <a:off x="1123547" y="3252336"/>
            <a:ext cx="3771214" cy="2861596"/>
          </a:xfrm>
          <a:prstGeom prst="rect">
            <a:avLst/>
          </a:prstGeom>
        </p:spPr>
      </p:pic>
      <p:sp>
        <p:nvSpPr>
          <p:cNvPr id="9" name="文本框 8">
            <a:extLst>
              <a:ext uri="{FF2B5EF4-FFF2-40B4-BE49-F238E27FC236}">
                <a16:creationId xmlns:a16="http://schemas.microsoft.com/office/drawing/2014/main" id="{C0C64B8D-A0E1-30DF-DD9C-5B870A7523B2}"/>
              </a:ext>
            </a:extLst>
          </p:cNvPr>
          <p:cNvSpPr txBox="1"/>
          <p:nvPr/>
        </p:nvSpPr>
        <p:spPr>
          <a:xfrm>
            <a:off x="1616765" y="6020967"/>
            <a:ext cx="3259452"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LR</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电路电路图</a:t>
            </a:r>
          </a:p>
        </p:txBody>
      </p:sp>
      <p:pic>
        <p:nvPicPr>
          <p:cNvPr id="10" name="图片 9">
            <a:extLst>
              <a:ext uri="{FF2B5EF4-FFF2-40B4-BE49-F238E27FC236}">
                <a16:creationId xmlns:a16="http://schemas.microsoft.com/office/drawing/2014/main" id="{2513316D-A361-E5B3-07BC-826502180F51}"/>
              </a:ext>
            </a:extLst>
          </p:cNvPr>
          <p:cNvPicPr>
            <a:picLocks noChangeAspect="1"/>
          </p:cNvPicPr>
          <p:nvPr/>
        </p:nvPicPr>
        <p:blipFill>
          <a:blip r:embed="rId4"/>
          <a:stretch>
            <a:fillRect/>
          </a:stretch>
        </p:blipFill>
        <p:spPr>
          <a:xfrm>
            <a:off x="6688490" y="3252336"/>
            <a:ext cx="3091614" cy="2861596"/>
          </a:xfrm>
          <a:prstGeom prst="rect">
            <a:avLst/>
          </a:prstGeom>
        </p:spPr>
      </p:pic>
      <p:sp>
        <p:nvSpPr>
          <p:cNvPr id="12" name="文本框 11">
            <a:extLst>
              <a:ext uri="{FF2B5EF4-FFF2-40B4-BE49-F238E27FC236}">
                <a16:creationId xmlns:a16="http://schemas.microsoft.com/office/drawing/2014/main" id="{D38BA6F3-FB35-9FCE-0586-0E632FF3D5E7}"/>
              </a:ext>
            </a:extLst>
          </p:cNvPr>
          <p:cNvSpPr txBox="1"/>
          <p:nvPr/>
        </p:nvSpPr>
        <p:spPr>
          <a:xfrm>
            <a:off x="5800621" y="6020967"/>
            <a:ext cx="6043805"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LR</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电路测等效电感和等效电阻电路图</a:t>
            </a:r>
          </a:p>
        </p:txBody>
      </p:sp>
      <mc:AlternateContent xmlns:mc="http://schemas.openxmlformats.org/markup-compatibility/2006" xmlns:a14="http://schemas.microsoft.com/office/drawing/2010/main">
        <mc:Choice Requires="a14">
          <p:sp>
            <p:nvSpPr>
              <p:cNvPr id="3" name="矩形: 圆角 2">
                <a:extLst>
                  <a:ext uri="{FF2B5EF4-FFF2-40B4-BE49-F238E27FC236}">
                    <a16:creationId xmlns:a16="http://schemas.microsoft.com/office/drawing/2014/main" id="{BAF32A06-B530-8FF7-49AC-580B42628876}"/>
                  </a:ext>
                </a:extLst>
              </p:cNvPr>
              <p:cNvSpPr/>
              <p:nvPr/>
            </p:nvSpPr>
            <p:spPr>
              <a:xfrm>
                <a:off x="1616765" y="3359426"/>
                <a:ext cx="1285461" cy="543339"/>
              </a:xfrm>
              <a:prstGeom prst="round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sz="2800" i="1" dirty="0" smtClean="0">
                        <a:solidFill>
                          <a:schemeClr val="tx1"/>
                        </a:solidFill>
                        <a:latin typeface="Cambria Math" panose="02040503050406030204" pitchFamily="18" charset="0"/>
                        <a:ea typeface="微软雅黑" panose="020B0503020204020204" pitchFamily="34" charset="-122"/>
                      </a:rPr>
                      <m:t>𝐿</m:t>
                    </m:r>
                  </m:oMath>
                </a14:m>
                <a:r>
                  <a:rPr lang="en-US" altLang="zh-CN" sz="2800" dirty="0">
                    <a:solidFill>
                      <a:schemeClr val="tx1"/>
                    </a:solidFill>
                  </a:rPr>
                  <a:t> </a:t>
                </a:r>
                <a14:m>
                  <m:oMath xmlns:m="http://schemas.openxmlformats.org/officeDocument/2006/math">
                    <m:sSub>
                      <m:sSubPr>
                        <m:ctrlPr>
                          <a:rPr lang="zh-CN" altLang="en-US" sz="2800" i="1" smtClean="0">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𝑅</m:t>
                        </m:r>
                      </m:e>
                      <m:sub>
                        <m:r>
                          <a:rPr lang="zh-CN" altLang="en-US" sz="2800" i="1">
                            <a:solidFill>
                              <a:schemeClr val="tx1"/>
                            </a:solidFill>
                            <a:latin typeface="Cambria Math" panose="02040503050406030204" pitchFamily="18" charset="0"/>
                          </a:rPr>
                          <m:t>𝐿</m:t>
                        </m:r>
                      </m:sub>
                    </m:sSub>
                  </m:oMath>
                </a14:m>
                <a:endParaRPr lang="zh-CN" altLang="en-US" sz="2800" dirty="0">
                  <a:solidFill>
                    <a:schemeClr val="tx1"/>
                  </a:solidFill>
                </a:endParaRPr>
              </a:p>
            </p:txBody>
          </p:sp>
        </mc:Choice>
        <mc:Fallback xmlns="">
          <p:sp>
            <p:nvSpPr>
              <p:cNvPr id="3" name="矩形: 圆角 2">
                <a:extLst>
                  <a:ext uri="{FF2B5EF4-FFF2-40B4-BE49-F238E27FC236}">
                    <a16:creationId xmlns:a16="http://schemas.microsoft.com/office/drawing/2014/main" id="{BAF32A06-B530-8FF7-49AC-580B42628876}"/>
                  </a:ext>
                </a:extLst>
              </p:cNvPr>
              <p:cNvSpPr>
                <a:spLocks noRot="1" noChangeAspect="1" noMove="1" noResize="1" noEditPoints="1" noAdjustHandles="1" noChangeArrowheads="1" noChangeShapeType="1" noTextEdit="1"/>
              </p:cNvSpPr>
              <p:nvPr/>
            </p:nvSpPr>
            <p:spPr>
              <a:xfrm>
                <a:off x="1616765" y="3359426"/>
                <a:ext cx="1285461" cy="543339"/>
              </a:xfrm>
              <a:prstGeom prst="roundRect">
                <a:avLst/>
              </a:prstGeom>
              <a:blipFill>
                <a:blip r:embed="rId5"/>
                <a:stretch>
                  <a:fillRect/>
                </a:stretch>
              </a:blipFill>
              <a:ln>
                <a:solidFill>
                  <a:srgbClr val="FFFFFF"/>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圆角 7">
                <a:extLst>
                  <a:ext uri="{FF2B5EF4-FFF2-40B4-BE49-F238E27FC236}">
                    <a16:creationId xmlns:a16="http://schemas.microsoft.com/office/drawing/2014/main" id="{B965C0E5-A09A-DBE6-53BD-A7938A1F68A9}"/>
                  </a:ext>
                </a:extLst>
              </p:cNvPr>
              <p:cNvSpPr/>
              <p:nvPr/>
            </p:nvSpPr>
            <p:spPr>
              <a:xfrm>
                <a:off x="7172194" y="3750797"/>
                <a:ext cx="918258" cy="303935"/>
              </a:xfrm>
              <a:prstGeom prst="round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sz="2400" i="1" dirty="0" smtClean="0">
                        <a:solidFill>
                          <a:schemeClr val="tx1"/>
                        </a:solidFill>
                        <a:latin typeface="Cambria Math" panose="02040503050406030204" pitchFamily="18" charset="0"/>
                        <a:ea typeface="微软雅黑" panose="020B0503020204020204" pitchFamily="34" charset="-122"/>
                      </a:rPr>
                      <m:t>𝐿</m:t>
                    </m:r>
                  </m:oMath>
                </a14:m>
                <a:r>
                  <a:rPr lang="en-US" altLang="zh-CN" sz="2400" dirty="0">
                    <a:solidFill>
                      <a:schemeClr val="tx1"/>
                    </a:solidFill>
                  </a:rPr>
                  <a:t> </a:t>
                </a:r>
                <a14:m>
                  <m:oMath xmlns:m="http://schemas.openxmlformats.org/officeDocument/2006/math">
                    <m:sSub>
                      <m:sSubPr>
                        <m:ctrlPr>
                          <a:rPr lang="zh-CN" altLang="en-US" sz="2400" i="1" smtClean="0">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𝑅</m:t>
                        </m:r>
                      </m:e>
                      <m:sub>
                        <m:r>
                          <a:rPr lang="zh-CN" altLang="en-US" sz="2400" i="1">
                            <a:solidFill>
                              <a:schemeClr val="tx1"/>
                            </a:solidFill>
                            <a:latin typeface="Cambria Math" panose="02040503050406030204" pitchFamily="18" charset="0"/>
                          </a:rPr>
                          <m:t>𝐿</m:t>
                        </m:r>
                      </m:sub>
                    </m:sSub>
                  </m:oMath>
                </a14:m>
                <a:endParaRPr lang="zh-CN" altLang="en-US" sz="2400" dirty="0">
                  <a:solidFill>
                    <a:schemeClr val="tx1"/>
                  </a:solidFill>
                </a:endParaRPr>
              </a:p>
            </p:txBody>
          </p:sp>
        </mc:Choice>
        <mc:Fallback xmlns="">
          <p:sp>
            <p:nvSpPr>
              <p:cNvPr id="8" name="矩形: 圆角 7">
                <a:extLst>
                  <a:ext uri="{FF2B5EF4-FFF2-40B4-BE49-F238E27FC236}">
                    <a16:creationId xmlns:a16="http://schemas.microsoft.com/office/drawing/2014/main" id="{B965C0E5-A09A-DBE6-53BD-A7938A1F68A9}"/>
                  </a:ext>
                </a:extLst>
              </p:cNvPr>
              <p:cNvSpPr>
                <a:spLocks noRot="1" noChangeAspect="1" noMove="1" noResize="1" noEditPoints="1" noAdjustHandles="1" noChangeArrowheads="1" noChangeShapeType="1" noTextEdit="1"/>
              </p:cNvSpPr>
              <p:nvPr/>
            </p:nvSpPr>
            <p:spPr>
              <a:xfrm>
                <a:off x="7172194" y="3750797"/>
                <a:ext cx="918258" cy="303935"/>
              </a:xfrm>
              <a:prstGeom prst="roundRect">
                <a:avLst/>
              </a:prstGeom>
              <a:blipFill>
                <a:blip r:embed="rId6"/>
                <a:stretch>
                  <a:fillRect b="-25000"/>
                </a:stretch>
              </a:blipFill>
              <a:ln>
                <a:solidFill>
                  <a:srgbClr val="FFFFFF"/>
                </a:solidFill>
              </a:ln>
            </p:spPr>
            <p:txBody>
              <a:bodyPr/>
              <a:lstStyle/>
              <a:p>
                <a:r>
                  <a:rPr lang="zh-CN" altLang="en-US">
                    <a:noFill/>
                  </a:rPr>
                  <a:t> </a:t>
                </a:r>
              </a:p>
            </p:txBody>
          </p:sp>
        </mc:Fallback>
      </mc:AlternateContent>
    </p:spTree>
    <p:extLst>
      <p:ext uri="{BB962C8B-B14F-4D97-AF65-F5344CB8AC3E}">
        <p14:creationId xmlns:p14="http://schemas.microsoft.com/office/powerpoint/2010/main" val="2044830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27</a:t>
            </a:fld>
            <a:endParaRPr lang="zh-CN" altLang="en-US" dirty="0"/>
          </a:p>
        </p:txBody>
      </p:sp>
      <p:sp>
        <p:nvSpPr>
          <p:cNvPr id="7" name="文本框 6">
            <a:extLst>
              <a:ext uri="{FF2B5EF4-FFF2-40B4-BE49-F238E27FC236}">
                <a16:creationId xmlns:a16="http://schemas.microsoft.com/office/drawing/2014/main" id="{33878D0B-AB97-EE49-5666-A3628BCD6B67}"/>
              </a:ext>
            </a:extLst>
          </p:cNvPr>
          <p:cNvSpPr txBox="1"/>
          <p:nvPr/>
        </p:nvSpPr>
        <p:spPr>
          <a:xfrm>
            <a:off x="1414687" y="252230"/>
            <a:ext cx="2007704"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正式实验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DCDD50-A318-E7BF-8F0A-661EA63C1AFE}"/>
                  </a:ext>
                </a:extLst>
              </p:cNvPr>
              <p:cNvSpPr txBox="1"/>
              <p:nvPr/>
            </p:nvSpPr>
            <p:spPr>
              <a:xfrm>
                <a:off x="8915968" y="1823720"/>
                <a:ext cx="1426912" cy="822469"/>
              </a:xfrm>
              <a:prstGeom prst="rect">
                <a:avLst/>
              </a:prstGeom>
              <a:noFill/>
            </p:spPr>
            <p:txBody>
              <a:bodyPr wrap="square" rtlCol="0">
                <a:spAutoFit/>
              </a:bodyPr>
              <a:lstStyle/>
              <a:p>
                <a14:m>
                  <m:oMath xmlns:m="http://schemas.openxmlformats.org/officeDocument/2006/math">
                    <a:fld id="{825F15A7-03F4-43D7-82C5-3E23DA2F108C}" type="mathplaceholder">
                      <a:rPr lang="en-US" altLang="zh-CN" sz="2400" i="1" smtClean="0">
                        <a:solidFill>
                          <a:schemeClr val="bg1"/>
                        </a:solidFill>
                        <a:latin typeface="Cambria Math" panose="02040503050406030204" pitchFamily="18" charset="0"/>
                      </a:rPr>
                      <a:t>在此处键入公式。</a:t>
                    </a:fld>
                  </m:oMath>
                </a14:m>
                <a:r>
                  <a:rPr lang="en-US" altLang="zh-CN" sz="2400" dirty="0">
                    <a:solidFill>
                      <a:schemeClr val="bg1"/>
                    </a:solidFill>
                  </a:rPr>
                  <a:t>xxx</a:t>
                </a:r>
                <a:endParaRPr lang="zh-CN" altLang="en-US" sz="2400" dirty="0">
                  <a:solidFill>
                    <a:schemeClr val="bg1"/>
                  </a:solidFill>
                </a:endParaRPr>
              </a:p>
            </p:txBody>
          </p:sp>
        </mc:Choice>
        <mc:Fallback xmlns="">
          <p:sp>
            <p:nvSpPr>
              <p:cNvPr id="18" name="文本框 17">
                <a:extLst>
                  <a:ext uri="{FF2B5EF4-FFF2-40B4-BE49-F238E27FC236}">
                    <a16:creationId xmlns:a16="http://schemas.microsoft.com/office/drawing/2014/main" id="{96DCDD50-A318-E7BF-8F0A-661EA63C1AFE}"/>
                  </a:ext>
                </a:extLst>
              </p:cNvPr>
              <p:cNvSpPr txBox="1">
                <a:spLocks noRot="1" noChangeAspect="1" noMove="1" noResize="1" noEditPoints="1" noAdjustHandles="1" noChangeArrowheads="1" noChangeShapeType="1" noTextEdit="1"/>
              </p:cNvSpPr>
              <p:nvPr/>
            </p:nvSpPr>
            <p:spPr>
              <a:xfrm>
                <a:off x="8915968" y="1823720"/>
                <a:ext cx="1426912" cy="822469"/>
              </a:xfrm>
              <a:prstGeom prst="rect">
                <a:avLst/>
              </a:prstGeom>
              <a:blipFill>
                <a:blip r:embed="rId2"/>
                <a:stretch>
                  <a:fillRect l="-6838" r="-87607" b="-162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DAD8FFA-F9A0-49BF-2BB0-FBB3FE6F2119}"/>
                  </a:ext>
                </a:extLst>
              </p:cNvPr>
              <p:cNvSpPr txBox="1"/>
              <p:nvPr/>
            </p:nvSpPr>
            <p:spPr>
              <a:xfrm>
                <a:off x="1171445" y="1154299"/>
                <a:ext cx="10325230" cy="5933163"/>
              </a:xfrm>
              <a:prstGeom prst="rect">
                <a:avLst/>
              </a:prstGeom>
              <a:noFill/>
            </p:spPr>
            <p:txBody>
              <a:bodyPr wrap="square" rtlCol="0">
                <a:spAutoFit/>
              </a:bodyPr>
              <a:lstStyle/>
              <a:p>
                <a:pPr indent="720000">
                  <a:lnSpc>
                    <a:spcPct val="120000"/>
                  </a:lnSpc>
                </a:pPr>
                <a:r>
                  <a:rPr lang="zh-CN" altLang="en-US" sz="2600" dirty="0">
                    <a:latin typeface="微软雅黑" panose="020B0503020204020204" pitchFamily="34" charset="-122"/>
                    <a:ea typeface="微软雅黑" panose="020B0503020204020204" pitchFamily="34" charset="-122"/>
                  </a:rPr>
                  <a:t>我们可以得到</a:t>
                </a:r>
                <a:endParaRPr lang="en-US" altLang="zh-CN" sz="2600" dirty="0">
                  <a:latin typeface="微软雅黑" panose="020B0503020204020204" pitchFamily="34" charset="-122"/>
                  <a:ea typeface="微软雅黑" panose="020B0503020204020204" pitchFamily="34" charset="-122"/>
                </a:endParaRPr>
              </a:p>
              <a:p>
                <a:pPr indent="720000">
                  <a:lnSpc>
                    <a:spcPct val="12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𝑈</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e>
                              </m:acc>
                            </m:num>
                            <m:den>
                              <m:acc>
                                <m:accPr>
                                  <m:chr m:val="̃"/>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𝑈</m:t>
                                  </m:r>
                                </m:e>
                              </m:acc>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𝑍</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e>
                              </m:acc>
                            </m:num>
                            <m:den>
                              <m:acc>
                                <m:accPr>
                                  <m:chr m:val="̃"/>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𝑍</m:t>
                                  </m:r>
                                </m:e>
                              </m:acc>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j</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𝜔</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𝐿</m:t>
                                  </m:r>
                                </m:sub>
                              </m:sSub>
                            </m:num>
                            <m:den>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j</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𝜔</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4.1</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20000"/>
                  </a:lnSpc>
                </a:pP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则</a:t>
                </a:r>
                <a14:m>
                  <m:oMath xmlns:m="http://schemas.openxmlformats.org/officeDocument/2006/math">
                    <m:d>
                      <m:dPr>
                        <m:begChr m:val="|"/>
                        <m:endChr m:val="|"/>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𝑈</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e>
                            </m:acc>
                          </m:num>
                          <m:den>
                            <m:acc>
                              <m:accPr>
                                <m:chr m:val="̃"/>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𝑈</m:t>
                                </m:r>
                              </m:e>
                            </m:acc>
                          </m:den>
                        </m:f>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ad>
                      <m:radPr>
                        <m:degHide m:val="on"/>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radPr>
                      <m:deg/>
                      <m:e>
                        <m:f>
                          <m:f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fPr>
                          <m:num>
                            <m:sSubSup>
                              <m:sSub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𝐿</m:t>
                                </m:r>
                              </m:sub>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b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dirty="0">
                                    <a:latin typeface="Cambria Math" panose="02040503050406030204" pitchFamily="18" charset="0"/>
                                    <a:ea typeface="微软雅黑" panose="020B0503020204020204" pitchFamily="34" charset="-122"/>
                                    <a:cs typeface="Times New Roman" panose="02020603050405020304" pitchFamily="18" charset="0"/>
                                  </a:rPr>
                                  <m:t>𝜔</m:t>
                                </m:r>
                              </m:e>
                              <m:sup>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2</m:t>
                                </m:r>
                              </m:sup>
                            </m:sSup>
                            <m:sSup>
                              <m:sSupPr>
                                <m:ctrlP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𝐿</m:t>
                                </m:r>
                              </m:e>
                              <m:sup>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2</m:t>
                                </m:r>
                              </m:sup>
                            </m:sSup>
                          </m:num>
                          <m:den>
                            <m:sSup>
                              <m:s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pPr>
                              <m:e>
                                <m:d>
                                  <m:dPr>
                                    <m:ctrlP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e>
                                </m:d>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dirty="0">
                                    <a:latin typeface="Cambria Math" panose="02040503050406030204" pitchFamily="18" charset="0"/>
                                    <a:ea typeface="微软雅黑" panose="020B0503020204020204" pitchFamily="34" charset="-122"/>
                                    <a:cs typeface="Times New Roman" panose="02020603050405020304" pitchFamily="18" charset="0"/>
                                  </a:rPr>
                                  <m:t>𝜔</m:t>
                                </m:r>
                              </m:e>
                              <m:sup>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2</m:t>
                                </m:r>
                              </m:sup>
                            </m:sSup>
                            <m:sSup>
                              <m:sSupPr>
                                <m:ctrlP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𝐿</m:t>
                                </m:r>
                              </m:e>
                              <m:sup>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2</m:t>
                                </m:r>
                              </m:sup>
                            </m:sSup>
                          </m:den>
                        </m:f>
                      </m:e>
                    </m:rad>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cs typeface="Times New Roman" panose="02020603050405020304" pitchFamily="18" charset="0"/>
                      </a:rPr>
                      <m:t>𝜑</m:t>
                    </m:r>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600" b="0" i="0" dirty="0" smtClean="0">
                        <a:latin typeface="Cambria Math" panose="02040503050406030204" pitchFamily="18" charset="0"/>
                        <a:ea typeface="微软雅黑" panose="020B0503020204020204" pitchFamily="34" charset="-122"/>
                        <a:cs typeface="Times New Roman" panose="02020603050405020304" pitchFamily="18" charset="0"/>
                      </a:rPr>
                      <m:t>arctan</m:t>
                    </m:r>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dirty="0" smtClean="0">
                            <a:latin typeface="Cambria Math" panose="02040503050406030204" pitchFamily="18" charset="0"/>
                            <a:ea typeface="微软雅黑" panose="020B0503020204020204" pitchFamily="34" charset="-122"/>
                            <a:cs typeface="Times New Roman" panose="02020603050405020304" pitchFamily="18" charset="0"/>
                          </a:rPr>
                          <m:t>𝜔</m:t>
                        </m:r>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𝐿𝑅</m:t>
                        </m:r>
                      </m:num>
                      <m:den>
                        <m:sSup>
                          <m:sSupPr>
                            <m:ctrlP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b="0" i="1" dirty="0" smtClean="0">
                                <a:latin typeface="Cambria Math" panose="02040503050406030204" pitchFamily="18" charset="0"/>
                                <a:ea typeface="微软雅黑" panose="020B0503020204020204" pitchFamily="34" charset="-122"/>
                                <a:cs typeface="Times New Roman" panose="02020603050405020304" pitchFamily="18" charset="0"/>
                              </a:rPr>
                              <m:t>𝜔</m:t>
                            </m:r>
                          </m:e>
                          <m:sup>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2</m:t>
                            </m:r>
                          </m:sup>
                        </m:sSup>
                        <m:sSup>
                          <m:sSupPr>
                            <m:ctrlP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𝐿</m:t>
                            </m:r>
                          </m:e>
                          <m:sup>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d>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𝑅</m:t>
                        </m:r>
                      </m:den>
                    </m:f>
                    <m:r>
                      <a:rPr lang="en-US" altLang="zh-CN" sz="2600" b="0" i="1" dirty="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20000"/>
                  </a:lnSpc>
                </a:pP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由此可以反解得到</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2600" i="1" dirty="0">
                        <a:latin typeface="Cambria Math" panose="02040503050406030204" pitchFamily="18" charset="0"/>
                        <a:ea typeface="微软雅黑" panose="020B0503020204020204" pitchFamily="34" charset="-122"/>
                        <a:cs typeface="Times New Roman" panose="02020603050405020304" pitchFamily="18" charset="0"/>
                      </a:rPr>
                      <m:t>𝐿</m:t>
                    </m:r>
                  </m:oMath>
                </a14:m>
                <a:r>
                  <a:rPr lang="en-US" altLang="zh-CN" sz="2600" b="0" i="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lnSpc>
                    <a:spcPct val="12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𝐿</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𝐴</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𝐴</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cos</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𝜑</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1−2</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𝐴</m:t>
                              </m:r>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cos</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𝜑</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𝐴</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4.2</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lnSpc>
                    <a:spcPct val="12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𝐿</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𝜔</m:t>
                              </m:r>
                            </m:den>
                          </m:f>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𝐴</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sin</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𝜑</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num>
                            <m:den>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1−2</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𝐴</m:t>
                              </m:r>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cos</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𝜑</m:t>
                                  </m:r>
                                </m:e>
                              </m:d>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𝐴</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den>
                          </m:f>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4.</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b</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可用上式测量插入介质棒前后的等效电感和等效电阻</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BDAD8FFA-F9A0-49BF-2BB0-FBB3FE6F2119}"/>
                  </a:ext>
                </a:extLst>
              </p:cNvPr>
              <p:cNvSpPr txBox="1">
                <a:spLocks noRot="1" noChangeAspect="1" noMove="1" noResize="1" noEditPoints="1" noAdjustHandles="1" noChangeArrowheads="1" noChangeShapeType="1" noTextEdit="1"/>
              </p:cNvSpPr>
              <p:nvPr/>
            </p:nvSpPr>
            <p:spPr>
              <a:xfrm>
                <a:off x="1171445" y="1154299"/>
                <a:ext cx="10325230" cy="5933163"/>
              </a:xfrm>
              <a:prstGeom prst="rect">
                <a:avLst/>
              </a:prstGeom>
              <a:blipFill>
                <a:blip r:embed="rId3"/>
                <a:stretch>
                  <a:fillRect t="-2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ABA0CB0-B845-5C3C-0DCD-9B48E50C4376}"/>
                  </a:ext>
                </a:extLst>
              </p:cNvPr>
              <p:cNvSpPr txBox="1"/>
              <p:nvPr/>
            </p:nvSpPr>
            <p:spPr>
              <a:xfrm>
                <a:off x="9259887" y="4703975"/>
                <a:ext cx="2425878" cy="830997"/>
              </a:xfrm>
              <a:prstGeom prst="rect">
                <a:avLst/>
              </a:prstGeom>
              <a:noFill/>
              <a:ln w="28575">
                <a:solidFill>
                  <a:schemeClr val="accent4">
                    <a:lumMod val="60000"/>
                    <a:lumOff val="40000"/>
                  </a:schemeClr>
                </a:solidFill>
              </a:ln>
            </p:spPr>
            <p:txBody>
              <a:bodyPr wrap="square" rtlCol="0">
                <a:spAutoFit/>
              </a:bodyPr>
              <a:lstStyle/>
              <a:p>
                <a14:m>
                  <m:oMath xmlns:m="http://schemas.openxmlformats.org/officeDocument/2006/math">
                    <m:r>
                      <a:rPr lang="en-US" altLang="zh-CN" sz="2400" b="0" i="1" smtClean="0">
                        <a:latin typeface="Cambria Math" panose="02040503050406030204" pitchFamily="18" charset="0"/>
                      </a:rPr>
                      <m:t>𝑅</m:t>
                    </m:r>
                  </m:oMath>
                </a14:m>
                <a:r>
                  <a:rPr lang="zh-CN" altLang="en-US" sz="2400" dirty="0">
                    <a:latin typeface="微软雅黑" panose="020B0503020204020204" pitchFamily="34" charset="-122"/>
                    <a:ea typeface="微软雅黑" panose="020B0503020204020204" pitchFamily="34" charset="-122"/>
                  </a:rPr>
                  <a:t>：固定电阻值</a:t>
                </a:r>
                <a:endParaRPr lang="en-US" altLang="zh-CN" sz="2400" dirty="0">
                  <a:latin typeface="微软雅黑" panose="020B0503020204020204" pitchFamily="34" charset="-122"/>
                  <a:ea typeface="微软雅黑" panose="020B0503020204020204" pitchFamily="34" charset="-122"/>
                </a:endParaRPr>
              </a:p>
              <a:p>
                <a14:m>
                  <m:oMath xmlns:m="http://schemas.openxmlformats.org/officeDocument/2006/math">
                    <m:r>
                      <a:rPr lang="en-US" altLang="zh-CN" sz="2400" i="1" smtClean="0">
                        <a:latin typeface="Cambria Math" panose="02040503050406030204" pitchFamily="18" charset="0"/>
                      </a:rPr>
                      <m:t>𝜔</m:t>
                    </m:r>
                  </m:oMath>
                </a14:m>
                <a:r>
                  <a:rPr lang="zh-CN" altLang="en-US" sz="2400" i="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交流源频率</a:t>
                </a:r>
                <a:endParaRPr lang="en-US" altLang="zh-CN" sz="2400" dirty="0">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3ABA0CB0-B845-5C3C-0DCD-9B48E50C4376}"/>
                  </a:ext>
                </a:extLst>
              </p:cNvPr>
              <p:cNvSpPr txBox="1">
                <a:spLocks noRot="1" noChangeAspect="1" noMove="1" noResize="1" noEditPoints="1" noAdjustHandles="1" noChangeArrowheads="1" noChangeShapeType="1" noTextEdit="1"/>
              </p:cNvSpPr>
              <p:nvPr/>
            </p:nvSpPr>
            <p:spPr>
              <a:xfrm>
                <a:off x="9259887" y="4703975"/>
                <a:ext cx="2425878" cy="830997"/>
              </a:xfrm>
              <a:prstGeom prst="rect">
                <a:avLst/>
              </a:prstGeom>
              <a:blipFill>
                <a:blip r:embed="rId4"/>
                <a:stretch>
                  <a:fillRect t="-4255" b="-13475"/>
                </a:stretch>
              </a:blipFill>
              <a:ln w="28575">
                <a:solidFill>
                  <a:schemeClr val="accent4">
                    <a:lumMod val="60000"/>
                    <a:lumOff val="4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1343672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28</a:t>
            </a:fld>
            <a:endParaRPr lang="zh-CN" altLang="en-US" dirty="0"/>
          </a:p>
        </p:txBody>
      </p:sp>
      <p:sp>
        <p:nvSpPr>
          <p:cNvPr id="7" name="文本框 6">
            <a:extLst>
              <a:ext uri="{FF2B5EF4-FFF2-40B4-BE49-F238E27FC236}">
                <a16:creationId xmlns:a16="http://schemas.microsoft.com/office/drawing/2014/main" id="{33878D0B-AB97-EE49-5666-A3628BCD6B67}"/>
              </a:ext>
            </a:extLst>
          </p:cNvPr>
          <p:cNvSpPr txBox="1"/>
          <p:nvPr/>
        </p:nvSpPr>
        <p:spPr>
          <a:xfrm>
            <a:off x="1414687" y="252230"/>
            <a:ext cx="2007704"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正式实验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DCDD50-A318-E7BF-8F0A-661EA63C1AFE}"/>
                  </a:ext>
                </a:extLst>
              </p:cNvPr>
              <p:cNvSpPr txBox="1"/>
              <p:nvPr/>
            </p:nvSpPr>
            <p:spPr>
              <a:xfrm>
                <a:off x="8915968" y="1823720"/>
                <a:ext cx="1426912" cy="822469"/>
              </a:xfrm>
              <a:prstGeom prst="rect">
                <a:avLst/>
              </a:prstGeom>
              <a:noFill/>
            </p:spPr>
            <p:txBody>
              <a:bodyPr wrap="square" rtlCol="0">
                <a:spAutoFit/>
              </a:bodyPr>
              <a:lstStyle/>
              <a:p>
                <a14:m>
                  <m:oMath xmlns:m="http://schemas.openxmlformats.org/officeDocument/2006/math">
                    <a:fld id="{825F15A7-03F4-43D7-82C5-3E23DA2F108C}" type="mathplaceholder">
                      <a:rPr lang="en-US" altLang="zh-CN" sz="2400" i="1" smtClean="0">
                        <a:solidFill>
                          <a:schemeClr val="bg1"/>
                        </a:solidFill>
                        <a:latin typeface="Cambria Math" panose="02040503050406030204" pitchFamily="18" charset="0"/>
                      </a:rPr>
                      <a:t>在此处键入公式。</a:t>
                    </a:fld>
                  </m:oMath>
                </a14:m>
                <a:r>
                  <a:rPr lang="en-US" altLang="zh-CN" sz="2400" dirty="0">
                    <a:solidFill>
                      <a:schemeClr val="bg1"/>
                    </a:solidFill>
                  </a:rPr>
                  <a:t>xxx</a:t>
                </a:r>
                <a:endParaRPr lang="zh-CN" altLang="en-US" sz="2400" dirty="0">
                  <a:solidFill>
                    <a:schemeClr val="bg1"/>
                  </a:solidFill>
                </a:endParaRPr>
              </a:p>
            </p:txBody>
          </p:sp>
        </mc:Choice>
        <mc:Fallback xmlns="">
          <p:sp>
            <p:nvSpPr>
              <p:cNvPr id="18" name="文本框 17">
                <a:extLst>
                  <a:ext uri="{FF2B5EF4-FFF2-40B4-BE49-F238E27FC236}">
                    <a16:creationId xmlns:a16="http://schemas.microsoft.com/office/drawing/2014/main" id="{96DCDD50-A318-E7BF-8F0A-661EA63C1AFE}"/>
                  </a:ext>
                </a:extLst>
              </p:cNvPr>
              <p:cNvSpPr txBox="1">
                <a:spLocks noRot="1" noChangeAspect="1" noMove="1" noResize="1" noEditPoints="1" noAdjustHandles="1" noChangeArrowheads="1" noChangeShapeType="1" noTextEdit="1"/>
              </p:cNvSpPr>
              <p:nvPr/>
            </p:nvSpPr>
            <p:spPr>
              <a:xfrm>
                <a:off x="8915968" y="1823720"/>
                <a:ext cx="1426912" cy="822469"/>
              </a:xfrm>
              <a:prstGeom prst="rect">
                <a:avLst/>
              </a:prstGeom>
              <a:blipFill>
                <a:blip r:embed="rId2"/>
                <a:stretch>
                  <a:fillRect l="-6838" r="-87607" b="-16296"/>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608C149-D122-368B-C180-36D1CE7CA176}"/>
              </a:ext>
            </a:extLst>
          </p:cNvPr>
          <p:cNvSpPr txBox="1"/>
          <p:nvPr/>
        </p:nvSpPr>
        <p:spPr>
          <a:xfrm>
            <a:off x="7031264" y="3136807"/>
            <a:ext cx="5019040" cy="621773"/>
          </a:xfrm>
          <a:prstGeom prst="rect">
            <a:avLst/>
          </a:prstGeom>
          <a:noFill/>
        </p:spPr>
        <p:txBody>
          <a:bodyPr wrap="square" rtlCol="0">
            <a:spAutoFit/>
          </a:bodyPr>
          <a:lstStyle/>
          <a:p>
            <a:pPr>
              <a:lnSpc>
                <a:spcPct val="150000"/>
              </a:lnSpc>
            </a:pPr>
            <a:r>
              <a:rPr lang="zh-CN" altLang="en-US" sz="2600" dirty="0">
                <a:latin typeface="微软雅黑" panose="020B0503020204020204" pitchFamily="34" charset="-122"/>
                <a:ea typeface="微软雅黑" panose="020B0503020204020204" pitchFamily="34" charset="-122"/>
              </a:rPr>
              <a:t>结果与理论曲线较为吻合。</a:t>
            </a:r>
            <a:endParaRPr lang="en-US" altLang="zh-CN" sz="26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C244919B-B93B-4B7B-CD6C-0856908B0D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453" y="993913"/>
            <a:ext cx="6362551" cy="4870174"/>
          </a:xfrm>
          <a:prstGeom prst="rect">
            <a:avLst/>
          </a:prstGeom>
        </p:spPr>
      </p:pic>
      <p:sp>
        <p:nvSpPr>
          <p:cNvPr id="10" name="文本框 9">
            <a:extLst>
              <a:ext uri="{FF2B5EF4-FFF2-40B4-BE49-F238E27FC236}">
                <a16:creationId xmlns:a16="http://schemas.microsoft.com/office/drawing/2014/main" id="{377C3DD0-7444-F7C7-FDAB-BA6BDB313C60}"/>
              </a:ext>
            </a:extLst>
          </p:cNvPr>
          <p:cNvSpPr txBox="1"/>
          <p:nvPr/>
        </p:nvSpPr>
        <p:spPr>
          <a:xfrm>
            <a:off x="536193" y="5577155"/>
            <a:ext cx="6945584" cy="830997"/>
          </a:xfrm>
          <a:prstGeom prst="rect">
            <a:avLst/>
          </a:prstGeom>
          <a:noFill/>
        </p:spPr>
        <p:txBody>
          <a:bodyPr wrap="square">
            <a:spAutoFit/>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铝棒插入后的等效电阻随频率变化测量值</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与理论曲线</a:t>
            </a:r>
          </a:p>
        </p:txBody>
      </p:sp>
    </p:spTree>
    <p:extLst>
      <p:ext uri="{BB962C8B-B14F-4D97-AF65-F5344CB8AC3E}">
        <p14:creationId xmlns:p14="http://schemas.microsoft.com/office/powerpoint/2010/main" val="3899913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29</a:t>
            </a:fld>
            <a:endParaRPr lang="zh-CN" altLang="en-US" dirty="0"/>
          </a:p>
        </p:txBody>
      </p:sp>
      <p:sp>
        <p:nvSpPr>
          <p:cNvPr id="7" name="文本框 6">
            <a:extLst>
              <a:ext uri="{FF2B5EF4-FFF2-40B4-BE49-F238E27FC236}">
                <a16:creationId xmlns:a16="http://schemas.microsoft.com/office/drawing/2014/main" id="{33878D0B-AB97-EE49-5666-A3628BCD6B67}"/>
              </a:ext>
            </a:extLst>
          </p:cNvPr>
          <p:cNvSpPr txBox="1"/>
          <p:nvPr/>
        </p:nvSpPr>
        <p:spPr>
          <a:xfrm>
            <a:off x="1414687" y="252230"/>
            <a:ext cx="2007704"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正式实验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DCDD50-A318-E7BF-8F0A-661EA63C1AFE}"/>
                  </a:ext>
                </a:extLst>
              </p:cNvPr>
              <p:cNvSpPr txBox="1"/>
              <p:nvPr/>
            </p:nvSpPr>
            <p:spPr>
              <a:xfrm>
                <a:off x="8915968" y="1823720"/>
                <a:ext cx="1426912" cy="822469"/>
              </a:xfrm>
              <a:prstGeom prst="rect">
                <a:avLst/>
              </a:prstGeom>
              <a:noFill/>
            </p:spPr>
            <p:txBody>
              <a:bodyPr wrap="square" rtlCol="0">
                <a:spAutoFit/>
              </a:bodyPr>
              <a:lstStyle/>
              <a:p>
                <a14:m>
                  <m:oMath xmlns:m="http://schemas.openxmlformats.org/officeDocument/2006/math">
                    <a:fld id="{825F15A7-03F4-43D7-82C5-3E23DA2F108C}" type="mathplaceholder">
                      <a:rPr lang="en-US" altLang="zh-CN" sz="2400" i="1" smtClean="0">
                        <a:solidFill>
                          <a:schemeClr val="bg1"/>
                        </a:solidFill>
                        <a:latin typeface="Cambria Math" panose="02040503050406030204" pitchFamily="18" charset="0"/>
                      </a:rPr>
                      <a:t>在此处键入公式。</a:t>
                    </a:fld>
                  </m:oMath>
                </a14:m>
                <a:r>
                  <a:rPr lang="en-US" altLang="zh-CN" sz="2400" dirty="0">
                    <a:solidFill>
                      <a:schemeClr val="bg1"/>
                    </a:solidFill>
                  </a:rPr>
                  <a:t>xxx</a:t>
                </a:r>
                <a:endParaRPr lang="zh-CN" altLang="en-US" sz="2400" dirty="0">
                  <a:solidFill>
                    <a:schemeClr val="bg1"/>
                  </a:solidFill>
                </a:endParaRPr>
              </a:p>
            </p:txBody>
          </p:sp>
        </mc:Choice>
        <mc:Fallback xmlns="">
          <p:sp>
            <p:nvSpPr>
              <p:cNvPr id="18" name="文本框 17">
                <a:extLst>
                  <a:ext uri="{FF2B5EF4-FFF2-40B4-BE49-F238E27FC236}">
                    <a16:creationId xmlns:a16="http://schemas.microsoft.com/office/drawing/2014/main" id="{96DCDD50-A318-E7BF-8F0A-661EA63C1AFE}"/>
                  </a:ext>
                </a:extLst>
              </p:cNvPr>
              <p:cNvSpPr txBox="1">
                <a:spLocks noRot="1" noChangeAspect="1" noMove="1" noResize="1" noEditPoints="1" noAdjustHandles="1" noChangeArrowheads="1" noChangeShapeType="1" noTextEdit="1"/>
              </p:cNvSpPr>
              <p:nvPr/>
            </p:nvSpPr>
            <p:spPr>
              <a:xfrm>
                <a:off x="8915968" y="1823720"/>
                <a:ext cx="1426912" cy="822469"/>
              </a:xfrm>
              <a:prstGeom prst="rect">
                <a:avLst/>
              </a:prstGeom>
              <a:blipFill>
                <a:blip r:embed="rId2"/>
                <a:stretch>
                  <a:fillRect l="-6838" r="-87607" b="-1629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DAD8FFA-F9A0-49BF-2BB0-FBB3FE6F2119}"/>
              </a:ext>
            </a:extLst>
          </p:cNvPr>
          <p:cNvSpPr txBox="1"/>
          <p:nvPr/>
        </p:nvSpPr>
        <p:spPr>
          <a:xfrm>
            <a:off x="6988111" y="3118111"/>
            <a:ext cx="4765964" cy="621773"/>
          </a:xfrm>
          <a:prstGeom prst="rect">
            <a:avLst/>
          </a:prstGeom>
          <a:noFill/>
        </p:spPr>
        <p:txBody>
          <a:bodyPr wrap="square" rtlCol="0">
            <a:spAutoFit/>
          </a:bodyPr>
          <a:lstStyle/>
          <a:p>
            <a:pPr>
              <a:lnSpc>
                <a:spcPct val="150000"/>
              </a:lnSpc>
            </a:pPr>
            <a:r>
              <a:rPr lang="zh-CN" altLang="en-US" sz="2600" dirty="0">
                <a:latin typeface="微软雅黑" panose="020B0503020204020204" pitchFamily="34" charset="-122"/>
                <a:ea typeface="微软雅黑" panose="020B0503020204020204" pitchFamily="34" charset="-122"/>
              </a:rPr>
              <a:t>结果与理论曲线较为吻合。</a:t>
            </a:r>
            <a:endParaRPr lang="en-US" altLang="zh-CN" sz="26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62D75FE-B2EA-8F86-C4DA-431503EE64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240" y="1007166"/>
            <a:ext cx="6181871" cy="4731874"/>
          </a:xfrm>
          <a:prstGeom prst="rect">
            <a:avLst/>
          </a:prstGeom>
        </p:spPr>
      </p:pic>
      <p:sp>
        <p:nvSpPr>
          <p:cNvPr id="10" name="文本框 9">
            <a:extLst>
              <a:ext uri="{FF2B5EF4-FFF2-40B4-BE49-F238E27FC236}">
                <a16:creationId xmlns:a16="http://schemas.microsoft.com/office/drawing/2014/main" id="{EDC483C8-1BBC-A035-434B-098CE8F1DBBB}"/>
              </a:ext>
            </a:extLst>
          </p:cNvPr>
          <p:cNvSpPr txBox="1"/>
          <p:nvPr/>
        </p:nvSpPr>
        <p:spPr>
          <a:xfrm>
            <a:off x="545101" y="5548207"/>
            <a:ext cx="6850200" cy="830997"/>
          </a:xfrm>
          <a:prstGeom prst="rect">
            <a:avLst/>
          </a:prstGeom>
          <a:noFill/>
        </p:spPr>
        <p:txBody>
          <a:bodyPr wrap="square">
            <a:spAutoFit/>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铁棒插入后的等效电阻随频率变化测量值</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及理论曲线</a:t>
            </a:r>
          </a:p>
        </p:txBody>
      </p:sp>
    </p:spTree>
    <p:extLst>
      <p:ext uri="{BB962C8B-B14F-4D97-AF65-F5344CB8AC3E}">
        <p14:creationId xmlns:p14="http://schemas.microsoft.com/office/powerpoint/2010/main" val="740579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30</a:t>
            </a:fld>
            <a:endParaRPr lang="zh-CN" altLang="en-US" dirty="0"/>
          </a:p>
        </p:txBody>
      </p:sp>
      <p:sp>
        <p:nvSpPr>
          <p:cNvPr id="7" name="文本框 6">
            <a:extLst>
              <a:ext uri="{FF2B5EF4-FFF2-40B4-BE49-F238E27FC236}">
                <a16:creationId xmlns:a16="http://schemas.microsoft.com/office/drawing/2014/main" id="{33878D0B-AB97-EE49-5666-A3628BCD6B67}"/>
              </a:ext>
            </a:extLst>
          </p:cNvPr>
          <p:cNvSpPr txBox="1"/>
          <p:nvPr/>
        </p:nvSpPr>
        <p:spPr>
          <a:xfrm>
            <a:off x="1414687" y="252230"/>
            <a:ext cx="2007704"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正式实验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DCDD50-A318-E7BF-8F0A-661EA63C1AFE}"/>
                  </a:ext>
                </a:extLst>
              </p:cNvPr>
              <p:cNvSpPr txBox="1"/>
              <p:nvPr/>
            </p:nvSpPr>
            <p:spPr>
              <a:xfrm>
                <a:off x="8915968" y="1823720"/>
                <a:ext cx="1426912" cy="822469"/>
              </a:xfrm>
              <a:prstGeom prst="rect">
                <a:avLst/>
              </a:prstGeom>
              <a:noFill/>
            </p:spPr>
            <p:txBody>
              <a:bodyPr wrap="square" rtlCol="0">
                <a:spAutoFit/>
              </a:bodyPr>
              <a:lstStyle/>
              <a:p>
                <a14:m>
                  <m:oMath xmlns:m="http://schemas.openxmlformats.org/officeDocument/2006/math">
                    <a:fld id="{825F15A7-03F4-43D7-82C5-3E23DA2F108C}" type="mathplaceholder">
                      <a:rPr lang="en-US" altLang="zh-CN" sz="2400" i="1" smtClean="0">
                        <a:solidFill>
                          <a:schemeClr val="bg1"/>
                        </a:solidFill>
                        <a:latin typeface="Cambria Math" panose="02040503050406030204" pitchFamily="18" charset="0"/>
                      </a:rPr>
                      <a:t>在此处键入公式。</a:t>
                    </a:fld>
                  </m:oMath>
                </a14:m>
                <a:r>
                  <a:rPr lang="en-US" altLang="zh-CN" sz="2400" dirty="0">
                    <a:solidFill>
                      <a:schemeClr val="bg1"/>
                    </a:solidFill>
                  </a:rPr>
                  <a:t>xxx</a:t>
                </a:r>
                <a:endParaRPr lang="zh-CN" altLang="en-US" sz="2400" dirty="0">
                  <a:solidFill>
                    <a:schemeClr val="bg1"/>
                  </a:solidFill>
                </a:endParaRPr>
              </a:p>
            </p:txBody>
          </p:sp>
        </mc:Choice>
        <mc:Fallback xmlns="">
          <p:sp>
            <p:nvSpPr>
              <p:cNvPr id="18" name="文本框 17">
                <a:extLst>
                  <a:ext uri="{FF2B5EF4-FFF2-40B4-BE49-F238E27FC236}">
                    <a16:creationId xmlns:a16="http://schemas.microsoft.com/office/drawing/2014/main" id="{96DCDD50-A318-E7BF-8F0A-661EA63C1AFE}"/>
                  </a:ext>
                </a:extLst>
              </p:cNvPr>
              <p:cNvSpPr txBox="1">
                <a:spLocks noRot="1" noChangeAspect="1" noMove="1" noResize="1" noEditPoints="1" noAdjustHandles="1" noChangeArrowheads="1" noChangeShapeType="1" noTextEdit="1"/>
              </p:cNvSpPr>
              <p:nvPr/>
            </p:nvSpPr>
            <p:spPr>
              <a:xfrm>
                <a:off x="8915968" y="1823720"/>
                <a:ext cx="1426912" cy="822469"/>
              </a:xfrm>
              <a:prstGeom prst="rect">
                <a:avLst/>
              </a:prstGeom>
              <a:blipFill>
                <a:blip r:embed="rId3"/>
                <a:stretch>
                  <a:fillRect l="-6838" r="-87607" b="-16296"/>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74872588-49F9-34E7-6F57-8C2722C06A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714" y="1166191"/>
            <a:ext cx="6019783" cy="4607805"/>
          </a:xfrm>
          <a:prstGeom prst="rect">
            <a:avLst/>
          </a:prstGeom>
        </p:spPr>
      </p:pic>
      <p:sp>
        <p:nvSpPr>
          <p:cNvPr id="12" name="文本框 11">
            <a:extLst>
              <a:ext uri="{FF2B5EF4-FFF2-40B4-BE49-F238E27FC236}">
                <a16:creationId xmlns:a16="http://schemas.microsoft.com/office/drawing/2014/main" id="{1FE7B94E-8B84-4E4B-34C5-980AC006B2E4}"/>
              </a:ext>
            </a:extLst>
          </p:cNvPr>
          <p:cNvSpPr txBox="1"/>
          <p:nvPr/>
        </p:nvSpPr>
        <p:spPr>
          <a:xfrm>
            <a:off x="351542" y="5584764"/>
            <a:ext cx="7079974" cy="830997"/>
          </a:xfrm>
          <a:prstGeom prst="rect">
            <a:avLst/>
          </a:prstGeom>
          <a:noFill/>
        </p:spPr>
        <p:txBody>
          <a:bodyPr wrap="square">
            <a:spAutoFit/>
          </a:bodyPr>
          <a:lstStyle/>
          <a:p>
            <a:pPr algn="ct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铁氧体棒插入后的等效电阻随频率变化测量值</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及理论曲线</a:t>
            </a:r>
          </a:p>
        </p:txBody>
      </p:sp>
      <p:sp>
        <p:nvSpPr>
          <p:cNvPr id="13" name="文本框 12">
            <a:extLst>
              <a:ext uri="{FF2B5EF4-FFF2-40B4-BE49-F238E27FC236}">
                <a16:creationId xmlns:a16="http://schemas.microsoft.com/office/drawing/2014/main" id="{A6506F55-B282-B8F6-1495-9DA65E901D59}"/>
              </a:ext>
            </a:extLst>
          </p:cNvPr>
          <p:cNvSpPr txBox="1"/>
          <p:nvPr/>
        </p:nvSpPr>
        <p:spPr>
          <a:xfrm>
            <a:off x="7023654" y="2907518"/>
            <a:ext cx="4566266" cy="1011880"/>
          </a:xfrm>
          <a:prstGeom prst="rect">
            <a:avLst/>
          </a:prstGeom>
          <a:noFill/>
        </p:spPr>
        <p:txBody>
          <a:bodyPr wrap="square" rtlCol="0">
            <a:spAutoFit/>
          </a:bodyPr>
          <a:lstStyle/>
          <a:p>
            <a:pPr>
              <a:lnSpc>
                <a:spcPct val="120000"/>
              </a:lnSpc>
            </a:pPr>
            <a:r>
              <a:rPr lang="zh-CN" altLang="en-US" sz="2600" dirty="0">
                <a:latin typeface="微软雅黑" panose="020B0503020204020204" pitchFamily="34" charset="-122"/>
                <a:ea typeface="微软雅黑" panose="020B0503020204020204" pitchFamily="34" charset="-122"/>
              </a:rPr>
              <a:t>结果与理论曲线在低频下较为吻合，在高频下差别较大。</a:t>
            </a:r>
            <a:endParaRPr lang="en-US" altLang="zh-CN" sz="2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59698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图表, 散点图&#10;&#10;描述已自动生成">
            <a:extLst>
              <a:ext uri="{FF2B5EF4-FFF2-40B4-BE49-F238E27FC236}">
                <a16:creationId xmlns:a16="http://schemas.microsoft.com/office/drawing/2014/main" id="{E849F83A-2360-28D5-649A-7BEE4D498F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0766" y="1924170"/>
            <a:ext cx="3881148" cy="3041981"/>
          </a:xfrm>
          <a:prstGeom prst="rect">
            <a:avLst/>
          </a:prstGeom>
        </p:spPr>
      </p:pic>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31</a:t>
            </a:fld>
            <a:endParaRPr lang="zh-CN" altLang="en-US" dirty="0"/>
          </a:p>
        </p:txBody>
      </p:sp>
      <p:sp>
        <p:nvSpPr>
          <p:cNvPr id="7" name="文本框 6">
            <a:extLst>
              <a:ext uri="{FF2B5EF4-FFF2-40B4-BE49-F238E27FC236}">
                <a16:creationId xmlns:a16="http://schemas.microsoft.com/office/drawing/2014/main" id="{33878D0B-AB97-EE49-5666-A3628BCD6B67}"/>
              </a:ext>
            </a:extLst>
          </p:cNvPr>
          <p:cNvSpPr txBox="1"/>
          <p:nvPr/>
        </p:nvSpPr>
        <p:spPr>
          <a:xfrm>
            <a:off x="1414687" y="252230"/>
            <a:ext cx="2007704" cy="584775"/>
          </a:xfrm>
          <a:prstGeom prst="rect">
            <a:avLst/>
          </a:prstGeom>
          <a:noFill/>
        </p:spPr>
        <p:txBody>
          <a:bodyPr wrap="square" rtlCol="0">
            <a:spAutoFit/>
          </a:bodyPr>
          <a:lstStyle>
            <a:defPPr>
              <a:defRPr lang="zh-CN"/>
            </a:defPPr>
            <a:lvl1pPr>
              <a:defRPr sz="3200" b="1">
                <a:solidFill>
                  <a:schemeClr val="tx2"/>
                </a:solidFill>
                <a:latin typeface="微软雅黑" panose="020B0503020204020204" pitchFamily="34" charset="-122"/>
                <a:ea typeface="微软雅黑" panose="020B0503020204020204" pitchFamily="34" charset="-122"/>
              </a:defRPr>
            </a:lvl1pPr>
          </a:lstStyle>
          <a:p>
            <a:r>
              <a:rPr lang="zh-CN" altLang="en-US" dirty="0"/>
              <a:t>正式实验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6DCDD50-A318-E7BF-8F0A-661EA63C1AFE}"/>
                  </a:ext>
                </a:extLst>
              </p:cNvPr>
              <p:cNvSpPr txBox="1"/>
              <p:nvPr/>
            </p:nvSpPr>
            <p:spPr>
              <a:xfrm>
                <a:off x="8915968" y="1823720"/>
                <a:ext cx="1426912" cy="822469"/>
              </a:xfrm>
              <a:prstGeom prst="rect">
                <a:avLst/>
              </a:prstGeom>
              <a:noFill/>
            </p:spPr>
            <p:txBody>
              <a:bodyPr wrap="square" rtlCol="0">
                <a:spAutoFit/>
              </a:bodyPr>
              <a:lstStyle/>
              <a:p>
                <a14:m>
                  <m:oMath xmlns:m="http://schemas.openxmlformats.org/officeDocument/2006/math">
                    <a:fld id="{825F15A7-03F4-43D7-82C5-3E23DA2F108C}" type="mathplaceholder">
                      <a:rPr lang="en-US" altLang="zh-CN" sz="2400" i="1" smtClean="0">
                        <a:solidFill>
                          <a:schemeClr val="bg1"/>
                        </a:solidFill>
                        <a:latin typeface="Cambria Math" panose="02040503050406030204" pitchFamily="18" charset="0"/>
                      </a:rPr>
                      <a:t>在此处键入公式。</a:t>
                    </a:fld>
                  </m:oMath>
                </a14:m>
                <a:r>
                  <a:rPr lang="en-US" altLang="zh-CN" sz="2400" dirty="0">
                    <a:solidFill>
                      <a:schemeClr val="bg1"/>
                    </a:solidFill>
                  </a:rPr>
                  <a:t>xxx</a:t>
                </a:r>
                <a:endParaRPr lang="zh-CN" altLang="en-US" sz="2400" dirty="0">
                  <a:solidFill>
                    <a:schemeClr val="bg1"/>
                  </a:solidFill>
                </a:endParaRPr>
              </a:p>
            </p:txBody>
          </p:sp>
        </mc:Choice>
        <mc:Fallback xmlns="">
          <p:sp>
            <p:nvSpPr>
              <p:cNvPr id="18" name="文本框 17">
                <a:extLst>
                  <a:ext uri="{FF2B5EF4-FFF2-40B4-BE49-F238E27FC236}">
                    <a16:creationId xmlns:a16="http://schemas.microsoft.com/office/drawing/2014/main" id="{96DCDD50-A318-E7BF-8F0A-661EA63C1AFE}"/>
                  </a:ext>
                </a:extLst>
              </p:cNvPr>
              <p:cNvSpPr txBox="1">
                <a:spLocks noRot="1" noChangeAspect="1" noMove="1" noResize="1" noEditPoints="1" noAdjustHandles="1" noChangeArrowheads="1" noChangeShapeType="1" noTextEdit="1"/>
              </p:cNvSpPr>
              <p:nvPr/>
            </p:nvSpPr>
            <p:spPr>
              <a:xfrm>
                <a:off x="8915968" y="1823720"/>
                <a:ext cx="1426912" cy="822469"/>
              </a:xfrm>
              <a:prstGeom prst="rect">
                <a:avLst/>
              </a:prstGeom>
              <a:blipFill>
                <a:blip r:embed="rId4"/>
                <a:stretch>
                  <a:fillRect l="-6838" r="-87607" b="-1629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DAD8FFA-F9A0-49BF-2BB0-FBB3FE6F2119}"/>
              </a:ext>
            </a:extLst>
          </p:cNvPr>
          <p:cNvSpPr txBox="1"/>
          <p:nvPr/>
        </p:nvSpPr>
        <p:spPr>
          <a:xfrm>
            <a:off x="1069188" y="1228864"/>
            <a:ext cx="10325230" cy="492443"/>
          </a:xfrm>
          <a:prstGeom prst="rect">
            <a:avLst/>
          </a:prstGeom>
          <a:noFill/>
        </p:spPr>
        <p:txBody>
          <a:bodyPr wrap="square" rtlCol="0">
            <a:spAutoFit/>
          </a:bodyPr>
          <a:lstStyle/>
          <a:p>
            <a:r>
              <a:rPr lang="zh-CN" altLang="en-US" sz="2600" dirty="0">
                <a:latin typeface="微软雅黑" panose="020B0503020204020204" pitchFamily="34" charset="-122"/>
                <a:ea typeface="微软雅黑" panose="020B0503020204020204" pitchFamily="34" charset="-122"/>
              </a:rPr>
              <a:t>       对于电感，</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采用</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LCR</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数字电桥对其进行测量。</a:t>
            </a:r>
            <a:endParaRPr lang="en-US" altLang="zh-CN" sz="2600" dirty="0">
              <a:latin typeface="微软雅黑" panose="020B0503020204020204" pitchFamily="34" charset="-122"/>
              <a:ea typeface="微软雅黑" panose="020B0503020204020204" pitchFamily="34" charset="-122"/>
            </a:endParaRPr>
          </a:p>
        </p:txBody>
      </p:sp>
      <p:pic>
        <p:nvPicPr>
          <p:cNvPr id="10" name="图片 9" descr="图表, 散点图&#10;&#10;描述已自动生成">
            <a:extLst>
              <a:ext uri="{FF2B5EF4-FFF2-40B4-BE49-F238E27FC236}">
                <a16:creationId xmlns:a16="http://schemas.microsoft.com/office/drawing/2014/main" id="{FC8C91E2-9E65-83CC-96A1-B8FB04D908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4021" y="1920978"/>
            <a:ext cx="3763759" cy="2973765"/>
          </a:xfrm>
          <a:prstGeom prst="rect">
            <a:avLst/>
          </a:prstGeom>
        </p:spPr>
      </p:pic>
      <p:pic>
        <p:nvPicPr>
          <p:cNvPr id="8" name="图片 7" descr="图表, 散点图&#10;&#10;描述已自动生成">
            <a:extLst>
              <a:ext uri="{FF2B5EF4-FFF2-40B4-BE49-F238E27FC236}">
                <a16:creationId xmlns:a16="http://schemas.microsoft.com/office/drawing/2014/main" id="{C06DEC43-3EEC-D89A-6224-870109D9B2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35" y="1941900"/>
            <a:ext cx="3917154" cy="3041981"/>
          </a:xfrm>
          <a:prstGeom prst="rect">
            <a:avLst/>
          </a:prstGeom>
        </p:spPr>
      </p:pic>
      <p:sp>
        <p:nvSpPr>
          <p:cNvPr id="16" name="文本框 15">
            <a:extLst>
              <a:ext uri="{FF2B5EF4-FFF2-40B4-BE49-F238E27FC236}">
                <a16:creationId xmlns:a16="http://schemas.microsoft.com/office/drawing/2014/main" id="{4E0A5763-9475-1C26-80FE-8755A96E8359}"/>
              </a:ext>
            </a:extLst>
          </p:cNvPr>
          <p:cNvSpPr txBox="1"/>
          <p:nvPr/>
        </p:nvSpPr>
        <p:spPr>
          <a:xfrm>
            <a:off x="2848579" y="5088760"/>
            <a:ext cx="6096000" cy="707886"/>
          </a:xfrm>
          <a:prstGeom prst="rect">
            <a:avLst/>
          </a:prstGeom>
          <a:noFill/>
        </p:spPr>
        <p:txBody>
          <a:bodyPr wrap="square">
            <a:spAutoFit/>
          </a:bodyPr>
          <a:lstStyle/>
          <a:p>
            <a:pPr algn="ct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LR</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电路测介质棒插入后的</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等效电感随频率变化测量值</a:t>
            </a:r>
          </a:p>
        </p:txBody>
      </p:sp>
      <p:sp>
        <p:nvSpPr>
          <p:cNvPr id="17" name="文本框 16">
            <a:extLst>
              <a:ext uri="{FF2B5EF4-FFF2-40B4-BE49-F238E27FC236}">
                <a16:creationId xmlns:a16="http://schemas.microsoft.com/office/drawing/2014/main" id="{55627E37-A114-00F1-2B1D-AD5B6912EF19}"/>
              </a:ext>
            </a:extLst>
          </p:cNvPr>
          <p:cNvSpPr txBox="1"/>
          <p:nvPr/>
        </p:nvSpPr>
        <p:spPr>
          <a:xfrm>
            <a:off x="1823396" y="4778293"/>
            <a:ext cx="2050367" cy="369332"/>
          </a:xfrm>
          <a:prstGeom prst="rect">
            <a:avLst/>
          </a:prstGeom>
          <a:noFill/>
        </p:spPr>
        <p:txBody>
          <a:bodyPr wrap="square">
            <a:spAutoFit/>
          </a:bodyPr>
          <a:lstStyle/>
          <a:p>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铝棒</a:t>
            </a:r>
          </a:p>
        </p:txBody>
      </p:sp>
      <p:sp>
        <p:nvSpPr>
          <p:cNvPr id="19" name="文本框 18">
            <a:extLst>
              <a:ext uri="{FF2B5EF4-FFF2-40B4-BE49-F238E27FC236}">
                <a16:creationId xmlns:a16="http://schemas.microsoft.com/office/drawing/2014/main" id="{72CE64DA-28D3-376B-4BBD-ACE340431FF9}"/>
              </a:ext>
            </a:extLst>
          </p:cNvPr>
          <p:cNvSpPr txBox="1"/>
          <p:nvPr/>
        </p:nvSpPr>
        <p:spPr>
          <a:xfrm>
            <a:off x="5559367" y="4742746"/>
            <a:ext cx="2050367" cy="369332"/>
          </a:xfrm>
          <a:prstGeom prst="rect">
            <a:avLst/>
          </a:prstGeom>
          <a:noFill/>
        </p:spPr>
        <p:txBody>
          <a:bodyPr wrap="square">
            <a:spAutoFit/>
          </a:bodyPr>
          <a:lstStyle/>
          <a:p>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铁棒</a:t>
            </a:r>
          </a:p>
        </p:txBody>
      </p:sp>
      <p:sp>
        <p:nvSpPr>
          <p:cNvPr id="20" name="文本框 19">
            <a:extLst>
              <a:ext uri="{FF2B5EF4-FFF2-40B4-BE49-F238E27FC236}">
                <a16:creationId xmlns:a16="http://schemas.microsoft.com/office/drawing/2014/main" id="{FB95DF7C-3B02-EB89-011E-FF8D33AED01B}"/>
              </a:ext>
            </a:extLst>
          </p:cNvPr>
          <p:cNvSpPr txBox="1"/>
          <p:nvPr/>
        </p:nvSpPr>
        <p:spPr>
          <a:xfrm>
            <a:off x="9078406" y="4778293"/>
            <a:ext cx="2050367" cy="369332"/>
          </a:xfrm>
          <a:prstGeom prst="rect">
            <a:avLst/>
          </a:prstGeom>
          <a:noFill/>
        </p:spPr>
        <p:txBody>
          <a:bodyPr wrap="square">
            <a:spAutoFit/>
          </a:bodyPr>
          <a:lstStyle/>
          <a:p>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铁</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氧</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棒</a:t>
            </a:r>
          </a:p>
        </p:txBody>
      </p:sp>
      <p:sp>
        <p:nvSpPr>
          <p:cNvPr id="3" name="文本框 2">
            <a:extLst>
              <a:ext uri="{FF2B5EF4-FFF2-40B4-BE49-F238E27FC236}">
                <a16:creationId xmlns:a16="http://schemas.microsoft.com/office/drawing/2014/main" id="{57302332-D50C-BBEA-FC97-5BB89AC85389}"/>
              </a:ext>
            </a:extLst>
          </p:cNvPr>
          <p:cNvSpPr txBox="1"/>
          <p:nvPr/>
        </p:nvSpPr>
        <p:spPr>
          <a:xfrm>
            <a:off x="1247119" y="5863661"/>
            <a:ext cx="9697761" cy="565604"/>
          </a:xfrm>
          <a:prstGeom prst="rect">
            <a:avLst/>
          </a:prstGeom>
          <a:noFill/>
        </p:spPr>
        <p:txBody>
          <a:bodyPr wrap="square">
            <a:spAutoFit/>
          </a:bodyPr>
          <a:lstStyle/>
          <a:p>
            <a:pPr>
              <a:lnSpc>
                <a:spcPct val="120000"/>
              </a:lnSpc>
            </a:pPr>
            <a:r>
              <a:rPr lang="zh-CN" altLang="en-US" sz="2800" dirty="0">
                <a:latin typeface="微软雅黑" panose="020B0503020204020204" pitchFamily="34" charset="-122"/>
                <a:ea typeface="微软雅黑" panose="020B0503020204020204" pitchFamily="34" charset="-122"/>
              </a:rPr>
              <a:t>测量值与理论值所预测的电感变化随频率增大而减小相符合</a:t>
            </a: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8618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p:txBody>
          <a:bodyPr>
            <a:spAutoFit/>
          </a:bodyPr>
          <a:lstStyle/>
          <a:p>
            <a:r>
              <a:rPr lang="en-US" altLang="zh-CN" dirty="0"/>
              <a:t>05</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p:txBody>
          <a:bodyPr>
            <a:spAutoFit/>
          </a:bodyPr>
          <a:lstStyle/>
          <a:p>
            <a:r>
              <a:rPr lang="zh-CN" altLang="en-US" dirty="0"/>
              <a:t>误差分析</a:t>
            </a:r>
            <a:endParaRPr lang="af-ZA" altLang="zh-CN" dirty="0"/>
          </a:p>
        </p:txBody>
      </p:sp>
    </p:spTree>
    <p:extLst>
      <p:ext uri="{BB962C8B-B14F-4D97-AF65-F5344CB8AC3E}">
        <p14:creationId xmlns:p14="http://schemas.microsoft.com/office/powerpoint/2010/main" val="334679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33</a:t>
            </a:fld>
            <a:endParaRPr lang="zh-CN" altLang="en-US" dirty="0"/>
          </a:p>
        </p:txBody>
      </p:sp>
      <p:sp>
        <p:nvSpPr>
          <p:cNvPr id="2" name="文本框 1">
            <a:extLst>
              <a:ext uri="{FF2B5EF4-FFF2-40B4-BE49-F238E27FC236}">
                <a16:creationId xmlns:a16="http://schemas.microsoft.com/office/drawing/2014/main" id="{D0C0577F-DEF9-C23C-7EED-B141AB96CDA0}"/>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误差分析</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8A95AD-2EDB-166D-5B31-46FFCA8777B9}"/>
                  </a:ext>
                </a:extLst>
              </p:cNvPr>
              <p:cNvSpPr txBox="1"/>
              <p:nvPr/>
            </p:nvSpPr>
            <p:spPr>
              <a:xfrm>
                <a:off x="203199" y="1253476"/>
                <a:ext cx="11507894" cy="4954626"/>
              </a:xfrm>
              <a:prstGeom prst="rect">
                <a:avLst/>
              </a:prstGeom>
              <a:noFill/>
            </p:spPr>
            <p:txBody>
              <a:bodyPr wrap="square" rtlCol="0">
                <a:spAutoFit/>
              </a:bodyPr>
              <a:lstStyle/>
              <a:p>
                <a:pPr>
                  <a:lnSpc>
                    <a:spcPct val="150000"/>
                  </a:lnSpc>
                </a:pPr>
                <a:r>
                  <a:rPr lang="zh-CN" altLang="en-US" sz="2600" dirty="0">
                    <a:latin typeface="微软雅黑" panose="020B0503020204020204" pitchFamily="34" charset="-122"/>
                    <a:ea typeface="微软雅黑" panose="020B0503020204020204" pitchFamily="34" charset="-122"/>
                  </a:rPr>
                  <a:t>       高频下，铁氧体棒的磁滞不可忽略，电阻与频率不满足简单的二次方关系。</a:t>
                </a:r>
                <a:endParaRPr lang="en-US" altLang="zh-CN" sz="2600" dirty="0">
                  <a:latin typeface="微软雅黑" panose="020B0503020204020204" pitchFamily="34" charset="-122"/>
                  <a:ea typeface="微软雅黑" panose="020B0503020204020204" pitchFamily="34" charset="-122"/>
                </a:endParaRPr>
              </a:p>
              <a:p>
                <a:pPr>
                  <a:lnSpc>
                    <a:spcPct val="150000"/>
                  </a:lnSpc>
                </a:pP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若我们测得磁滞回线围成的面积</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rPr>
                      <m:t>𝐴</m:t>
                    </m:r>
                  </m:oMath>
                </a14:m>
                <a:r>
                  <a:rPr lang="zh-CN" altLang="en-US" sz="2600" dirty="0">
                    <a:latin typeface="微软雅黑" panose="020B0503020204020204" pitchFamily="34" charset="-122"/>
                    <a:ea typeface="微软雅黑" panose="020B0503020204020204" pitchFamily="34" charset="-122"/>
                  </a:rPr>
                  <a:t>，由能量守恒，在一个周期内</a:t>
                </a:r>
                <a:endParaRPr lang="en-US" altLang="zh-CN" sz="26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rPr>
                          </m:ctrlPr>
                        </m:eqArrPr>
                        <m:e>
                          <m:sSubSup>
                            <m:sSubSupPr>
                              <m:ctrlPr>
                                <a:rPr lang="en-US" altLang="zh-CN" sz="2600" i="1" smtClean="0">
                                  <a:latin typeface="Cambria Math" panose="02040503050406030204" pitchFamily="18" charset="0"/>
                                  <a:ea typeface="微软雅黑" panose="020B0503020204020204" pitchFamily="34" charset="-122"/>
                                </a:rPr>
                              </m:ctrlPr>
                            </m:sSubSupPr>
                            <m:e>
                              <m:r>
                                <a:rPr lang="en-US" altLang="zh-CN" sz="2600" b="0" i="1" smtClean="0">
                                  <a:latin typeface="Cambria Math" panose="02040503050406030204" pitchFamily="18" charset="0"/>
                                  <a:ea typeface="微软雅黑" panose="020B0503020204020204" pitchFamily="34" charset="-122"/>
                                </a:rPr>
                                <m:t>𝑈</m:t>
                              </m:r>
                            </m:e>
                            <m:sub>
                              <m:r>
                                <a:rPr lang="en-US" altLang="zh-CN" sz="2600" b="0" i="1" smtClean="0">
                                  <a:latin typeface="Cambria Math" panose="02040503050406030204" pitchFamily="18" charset="0"/>
                                  <a:ea typeface="微软雅黑" panose="020B0503020204020204" pitchFamily="34" charset="-122"/>
                                </a:rPr>
                                <m:t>𝑟𝑚𝑠</m:t>
                              </m:r>
                            </m:sub>
                            <m:sup>
                              <m:r>
                                <a:rPr lang="en-US" altLang="zh-CN" sz="2600" b="0" i="1" smtClean="0">
                                  <a:latin typeface="Cambria Math" panose="02040503050406030204" pitchFamily="18" charset="0"/>
                                  <a:ea typeface="微软雅黑" panose="020B0503020204020204" pitchFamily="34" charset="-122"/>
                                </a:rPr>
                                <m:t>2</m:t>
                              </m:r>
                            </m:sup>
                          </m:sSubSup>
                          <m:r>
                            <a:rPr lang="en-US" altLang="zh-CN" sz="2600" b="0" i="1" smtClean="0">
                              <a:latin typeface="Cambria Math" panose="02040503050406030204" pitchFamily="18" charset="0"/>
                              <a:ea typeface="微软雅黑" panose="020B0503020204020204" pitchFamily="34" charset="-122"/>
                            </a:rPr>
                            <m:t>𝑅𝑇</m:t>
                          </m:r>
                          <m:r>
                            <a:rPr lang="en-US" altLang="zh-CN" sz="2600" b="0" i="1" smtClean="0">
                              <a:latin typeface="Cambria Math" panose="02040503050406030204" pitchFamily="18" charset="0"/>
                              <a:ea typeface="微软雅黑" panose="020B0503020204020204" pitchFamily="34" charset="-122"/>
                            </a:rPr>
                            <m:t>=</m:t>
                          </m:r>
                          <m:r>
                            <a:rPr lang="en-US" altLang="zh-CN" sz="2600" b="0" i="1" smtClean="0">
                              <a:latin typeface="Cambria Math" panose="02040503050406030204" pitchFamily="18" charset="0"/>
                              <a:ea typeface="微软雅黑" panose="020B0503020204020204" pitchFamily="34" charset="-122"/>
                            </a:rPr>
                            <m:t>𝐴</m:t>
                          </m:r>
                          <m:r>
                            <a:rPr lang="en-US" altLang="zh-CN" sz="2600" b="0" i="1" smtClean="0">
                              <a:latin typeface="Cambria Math" panose="02040503050406030204" pitchFamily="18" charset="0"/>
                              <a:ea typeface="微软雅黑" panose="020B0503020204020204" pitchFamily="34" charset="-122"/>
                            </a:rPr>
                            <m:t>#</m:t>
                          </m:r>
                          <m:d>
                            <m:dPr>
                              <m:ctrlPr>
                                <a:rPr lang="en-US" altLang="zh-CN" sz="2600" b="0" i="1" smtClean="0">
                                  <a:latin typeface="Cambria Math" panose="02040503050406030204" pitchFamily="18" charset="0"/>
                                  <a:ea typeface="微软雅黑" panose="020B0503020204020204" pitchFamily="34" charset="-122"/>
                                </a:rPr>
                              </m:ctrlPr>
                            </m:dPr>
                            <m:e>
                              <m:r>
                                <a:rPr lang="en-US" altLang="zh-CN" sz="2600" b="0" i="1" smtClean="0">
                                  <a:latin typeface="Cambria Math" panose="02040503050406030204" pitchFamily="18" charset="0"/>
                                  <a:ea typeface="微软雅黑" panose="020B0503020204020204" pitchFamily="34" charset="-122"/>
                                </a:rPr>
                                <m:t>5.1</m:t>
                              </m:r>
                            </m:e>
                          </m:d>
                        </m:e>
                      </m:eqArr>
                    </m:oMath>
                  </m:oMathPara>
                </a14:m>
                <a:endParaRPr lang="en-US" altLang="zh-CN" sz="2600" b="0" dirty="0">
                  <a:latin typeface="微软雅黑" panose="020B0503020204020204" pitchFamily="34" charset="-122"/>
                  <a:ea typeface="微软雅黑" panose="020B0503020204020204" pitchFamily="34" charset="-122"/>
                </a:endParaRPr>
              </a:p>
              <a:p>
                <a:pPr>
                  <a:lnSpc>
                    <a:spcPct val="150000"/>
                  </a:lnSpc>
                </a:pP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则得到</a:t>
                </a:r>
                <a:endParaRPr lang="en-US" altLang="zh-CN" sz="2600"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𝜋𝜇𝜎</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𝐴</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m:t>
                          </m:r>
                          <m:sSubSup>
                            <m:sSubSupPr>
                              <m:ctrlPr>
                                <a:rPr lang="en-US" altLang="zh-CN" sz="2600" i="1">
                                  <a:latin typeface="Cambria Math" panose="02040503050406030204" pitchFamily="18" charset="0"/>
                                  <a:ea typeface="微软雅黑" panose="020B0503020204020204" pitchFamily="34" charset="-122"/>
                                </a:rPr>
                              </m:ctrlPr>
                            </m:sSubSupPr>
                            <m:e>
                              <m:r>
                                <a:rPr lang="en-US" altLang="zh-CN" sz="2600" i="1">
                                  <a:latin typeface="Cambria Math" panose="02040503050406030204" pitchFamily="18" charset="0"/>
                                  <a:ea typeface="微软雅黑" panose="020B0503020204020204" pitchFamily="34" charset="-122"/>
                                </a:rPr>
                                <m:t>𝑈</m:t>
                              </m:r>
                            </m:e>
                            <m:sub>
                              <m:r>
                                <a:rPr lang="en-US" altLang="zh-CN" sz="2600" i="1">
                                  <a:latin typeface="Cambria Math" panose="02040503050406030204" pitchFamily="18" charset="0"/>
                                  <a:ea typeface="微软雅黑" panose="020B0503020204020204" pitchFamily="34" charset="-122"/>
                                </a:rPr>
                                <m:t>𝑟𝑚𝑠</m:t>
                              </m:r>
                            </m:sub>
                            <m:sup>
                              <m:r>
                                <a:rPr lang="en-US" altLang="zh-CN" sz="2600" i="1">
                                  <a:latin typeface="Cambria Math" panose="02040503050406030204" pitchFamily="18" charset="0"/>
                                  <a:ea typeface="微软雅黑" panose="020B0503020204020204" pitchFamily="34" charset="-122"/>
                                </a:rPr>
                                <m:t>2</m:t>
                              </m:r>
                            </m:sup>
                          </m:sSubSup>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𝑂</m:t>
                      </m:r>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e>
                      </m:d>
                    </m:oMath>
                  </m:oMathPara>
                </a14:m>
                <a:endParaRPr lang="en-US" altLang="zh-CN" sz="2600" dirty="0">
                  <a:latin typeface="微软雅黑" panose="020B0503020204020204" pitchFamily="34" charset="-122"/>
                  <a:ea typeface="Cambria Math" panose="02040503050406030204" pitchFamily="18" charset="0"/>
                  <a:cs typeface="Times New Roman" panose="02020603050405020304" pitchFamily="18" charset="0"/>
                </a:endParaRPr>
              </a:p>
              <a:p>
                <a:pPr>
                  <a:lnSpc>
                    <a:spcPct val="150000"/>
                  </a:lnSpc>
                </a:pPr>
                <a:r>
                  <a:rPr lang="en-US" altLang="zh-CN" sz="2600" dirty="0">
                    <a:latin typeface="微软雅黑" panose="020B0503020204020204" pitchFamily="34" charset="-122"/>
                    <a:ea typeface="微软雅黑" panose="020B0503020204020204" pitchFamily="34" charset="-122"/>
                  </a:rPr>
                  <a:t>       </a:t>
                </a:r>
                <a:r>
                  <a:rPr lang="zh-CN" altLang="en-US" sz="2600" dirty="0">
                    <a:latin typeface="微软雅黑" panose="020B0503020204020204" pitchFamily="34" charset="-122"/>
                    <a:ea typeface="微软雅黑" panose="020B0503020204020204" pitchFamily="34" charset="-122"/>
                  </a:rPr>
                  <a:t>这个式子要求我们还需要测不同频率下的磁滞回线。</a:t>
                </a:r>
                <a:endParaRPr lang="en-US" altLang="zh-CN" sz="260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288A95AD-2EDB-166D-5B31-46FFCA8777B9}"/>
                  </a:ext>
                </a:extLst>
              </p:cNvPr>
              <p:cNvSpPr txBox="1">
                <a:spLocks noRot="1" noChangeAspect="1" noMove="1" noResize="1" noEditPoints="1" noAdjustHandles="1" noChangeArrowheads="1" noChangeShapeType="1" noTextEdit="1"/>
              </p:cNvSpPr>
              <p:nvPr/>
            </p:nvSpPr>
            <p:spPr>
              <a:xfrm>
                <a:off x="203199" y="1253476"/>
                <a:ext cx="11507894" cy="4954626"/>
              </a:xfrm>
              <a:prstGeom prst="rect">
                <a:avLst/>
              </a:prstGeom>
              <a:blipFill>
                <a:blip r:embed="rId2"/>
                <a:stretch>
                  <a:fillRect r="-3231" b="-2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C79D7B2-A390-B2BF-BA66-F1A26D6DB613}"/>
                  </a:ext>
                </a:extLst>
              </p:cNvPr>
              <p:cNvSpPr txBox="1"/>
              <p:nvPr/>
            </p:nvSpPr>
            <p:spPr>
              <a:xfrm>
                <a:off x="8352346" y="4726001"/>
                <a:ext cx="6096000"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600" b="0" i="1" smtClean="0">
                              <a:latin typeface="Cambria Math" panose="02040503050406030204" pitchFamily="18" charset="0"/>
                              <a:ea typeface="微软雅黑" panose="020B0503020204020204" pitchFamily="34" charset="-122"/>
                            </a:rPr>
                          </m:ctrlPr>
                        </m:dPr>
                        <m:e>
                          <m:r>
                            <a:rPr lang="en-US" altLang="zh-CN" sz="2600" b="0" i="1" smtClean="0">
                              <a:latin typeface="Cambria Math" panose="02040503050406030204" pitchFamily="18" charset="0"/>
                              <a:ea typeface="微软雅黑" panose="020B0503020204020204" pitchFamily="34" charset="-122"/>
                            </a:rPr>
                            <m:t>5.2</m:t>
                          </m:r>
                        </m:e>
                      </m:d>
                    </m:oMath>
                  </m:oMathPara>
                </a14:m>
                <a:endParaRPr lang="zh-CN" altLang="en-US" sz="2600" dirty="0"/>
              </a:p>
            </p:txBody>
          </p:sp>
        </mc:Choice>
        <mc:Fallback xmlns="">
          <p:sp>
            <p:nvSpPr>
              <p:cNvPr id="5" name="文本框 4">
                <a:extLst>
                  <a:ext uri="{FF2B5EF4-FFF2-40B4-BE49-F238E27FC236}">
                    <a16:creationId xmlns:a16="http://schemas.microsoft.com/office/drawing/2014/main" id="{4C79D7B2-A390-B2BF-BA66-F1A26D6DB613}"/>
                  </a:ext>
                </a:extLst>
              </p:cNvPr>
              <p:cNvSpPr txBox="1">
                <a:spLocks noRot="1" noChangeAspect="1" noMove="1" noResize="1" noEditPoints="1" noAdjustHandles="1" noChangeArrowheads="1" noChangeShapeType="1" noTextEdit="1"/>
              </p:cNvSpPr>
              <p:nvPr/>
            </p:nvSpPr>
            <p:spPr>
              <a:xfrm>
                <a:off x="8352346" y="4726001"/>
                <a:ext cx="6096000" cy="49244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8574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34</a:t>
            </a:fld>
            <a:endParaRPr lang="zh-CN" altLang="en-US" dirty="0"/>
          </a:p>
        </p:txBody>
      </p:sp>
      <p:sp>
        <p:nvSpPr>
          <p:cNvPr id="2" name="文本框 1">
            <a:extLst>
              <a:ext uri="{FF2B5EF4-FFF2-40B4-BE49-F238E27FC236}">
                <a16:creationId xmlns:a16="http://schemas.microsoft.com/office/drawing/2014/main" id="{D0C0577F-DEF9-C23C-7EED-B141AB96CDA0}"/>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误差分析</a:t>
            </a:r>
          </a:p>
        </p:txBody>
      </p:sp>
      <p:sp>
        <p:nvSpPr>
          <p:cNvPr id="3" name="文本框 2">
            <a:extLst>
              <a:ext uri="{FF2B5EF4-FFF2-40B4-BE49-F238E27FC236}">
                <a16:creationId xmlns:a16="http://schemas.microsoft.com/office/drawing/2014/main" id="{288A95AD-2EDB-166D-5B31-46FFCA8777B9}"/>
              </a:ext>
            </a:extLst>
          </p:cNvPr>
          <p:cNvSpPr txBox="1"/>
          <p:nvPr/>
        </p:nvSpPr>
        <p:spPr>
          <a:xfrm>
            <a:off x="6019202" y="3745220"/>
            <a:ext cx="5086120" cy="1822102"/>
          </a:xfrm>
          <a:prstGeom prst="rect">
            <a:avLst/>
          </a:prstGeom>
          <a:noFill/>
        </p:spPr>
        <p:txBody>
          <a:bodyPr wrap="square" rtlCol="0">
            <a:spAutoFit/>
          </a:bodyPr>
          <a:lstStyle/>
          <a:p>
            <a:pPr>
              <a:lnSpc>
                <a:spcPct val="150000"/>
              </a:lnSpc>
            </a:pPr>
            <a:r>
              <a:rPr lang="zh-CN" altLang="en-US" sz="2600" dirty="0">
                <a:latin typeface="微软雅黑" panose="020B0503020204020204" pitchFamily="34" charset="-122"/>
                <a:ea typeface="微软雅黑" panose="020B0503020204020204" pitchFamily="34" charset="-122"/>
              </a:rPr>
              <a:t>可以看出实验值并呈线性，</a:t>
            </a:r>
            <a:r>
              <a:rPr lang="zh-CN" altLang="en-US" sz="2600" dirty="0">
                <a:solidFill>
                  <a:srgbClr val="FF0000"/>
                </a:solidFill>
                <a:latin typeface="微软雅黑" panose="020B0503020204020204" pitchFamily="34" charset="-122"/>
                <a:ea typeface="微软雅黑" panose="020B0503020204020204" pitchFamily="34" charset="-122"/>
              </a:rPr>
              <a:t>在高频下高阶项不可忽略</a:t>
            </a:r>
            <a:r>
              <a:rPr lang="zh-CN" altLang="en-US" sz="2600" dirty="0">
                <a:latin typeface="微软雅黑" panose="020B0503020204020204" pitchFamily="34" charset="-122"/>
                <a:ea typeface="微软雅黑" panose="020B0503020204020204" pitchFamily="34" charset="-122"/>
              </a:rPr>
              <a:t>，这是高阶项造成的。</a:t>
            </a:r>
            <a:endParaRPr lang="en-US" altLang="zh-CN" sz="2600"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B9748CE-6253-61E1-066E-A4B6D21EB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174" y="2140026"/>
            <a:ext cx="5529174" cy="4232271"/>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E1D2C13-8B63-5401-A095-639A4DCDE86B}"/>
                  </a:ext>
                </a:extLst>
              </p:cNvPr>
              <p:cNvSpPr txBox="1"/>
              <p:nvPr/>
            </p:nvSpPr>
            <p:spPr>
              <a:xfrm>
                <a:off x="595749" y="1048597"/>
                <a:ext cx="10846905" cy="1380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𝐿</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𝜋𝜇𝜎</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𝑛</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8</m:t>
                          </m:r>
                        </m:den>
                      </m:f>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𝑂</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en-US" sz="2600" dirty="0"/>
              </a:p>
            </p:txBody>
          </p:sp>
        </mc:Choice>
        <mc:Fallback xmlns="">
          <p:sp>
            <p:nvSpPr>
              <p:cNvPr id="8" name="文本框 7">
                <a:extLst>
                  <a:ext uri="{FF2B5EF4-FFF2-40B4-BE49-F238E27FC236}">
                    <a16:creationId xmlns:a16="http://schemas.microsoft.com/office/drawing/2014/main" id="{0E1D2C13-8B63-5401-A095-639A4DCDE86B}"/>
                  </a:ext>
                </a:extLst>
              </p:cNvPr>
              <p:cNvSpPr txBox="1">
                <a:spLocks noRot="1" noChangeAspect="1" noMove="1" noResize="1" noEditPoints="1" noAdjustHandles="1" noChangeArrowheads="1" noChangeShapeType="1" noTextEdit="1"/>
              </p:cNvSpPr>
              <p:nvPr/>
            </p:nvSpPr>
            <p:spPr>
              <a:xfrm>
                <a:off x="595749" y="1048597"/>
                <a:ext cx="10846905" cy="1380443"/>
              </a:xfrm>
              <a:prstGeom prst="rect">
                <a:avLst/>
              </a:prstGeom>
              <a:blipFill>
                <a:blip r:embed="rId3"/>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5CB36E50-1C82-290B-A362-FDB13CCA9357}"/>
              </a:ext>
            </a:extLst>
          </p:cNvPr>
          <p:cNvSpPr txBox="1"/>
          <p:nvPr/>
        </p:nvSpPr>
        <p:spPr>
          <a:xfrm>
            <a:off x="2418539" y="6083283"/>
            <a:ext cx="2050367"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铝棒</a:t>
            </a:r>
          </a:p>
        </p:txBody>
      </p:sp>
    </p:spTree>
    <p:extLst>
      <p:ext uri="{BB962C8B-B14F-4D97-AF65-F5344CB8AC3E}">
        <p14:creationId xmlns:p14="http://schemas.microsoft.com/office/powerpoint/2010/main" val="3537046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35</a:t>
            </a:fld>
            <a:endParaRPr lang="zh-CN" altLang="en-US" dirty="0"/>
          </a:p>
        </p:txBody>
      </p:sp>
      <p:sp>
        <p:nvSpPr>
          <p:cNvPr id="2" name="文本框 1">
            <a:extLst>
              <a:ext uri="{FF2B5EF4-FFF2-40B4-BE49-F238E27FC236}">
                <a16:creationId xmlns:a16="http://schemas.microsoft.com/office/drawing/2014/main" id="{D0C0577F-DEF9-C23C-7EED-B141AB96CDA0}"/>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误差分析</a:t>
            </a:r>
          </a:p>
        </p:txBody>
      </p:sp>
      <p:sp>
        <p:nvSpPr>
          <p:cNvPr id="3" name="文本框 2">
            <a:extLst>
              <a:ext uri="{FF2B5EF4-FFF2-40B4-BE49-F238E27FC236}">
                <a16:creationId xmlns:a16="http://schemas.microsoft.com/office/drawing/2014/main" id="{288A95AD-2EDB-166D-5B31-46FFCA8777B9}"/>
              </a:ext>
            </a:extLst>
          </p:cNvPr>
          <p:cNvSpPr txBox="1"/>
          <p:nvPr/>
        </p:nvSpPr>
        <p:spPr>
          <a:xfrm>
            <a:off x="5986071" y="3118202"/>
            <a:ext cx="5450555" cy="2422266"/>
          </a:xfrm>
          <a:prstGeom prst="rect">
            <a:avLst/>
          </a:prstGeom>
          <a:noFill/>
        </p:spPr>
        <p:txBody>
          <a:bodyPr wrap="square" rtlCol="0">
            <a:spAutoFit/>
          </a:bodyPr>
          <a:lstStyle/>
          <a:p>
            <a:pPr>
              <a:lnSpc>
                <a:spcPct val="150000"/>
              </a:lnSpc>
            </a:pPr>
            <a:r>
              <a:rPr lang="zh-CN" altLang="en-US" sz="2600" dirty="0">
                <a:latin typeface="微软雅黑" panose="020B0503020204020204" pitchFamily="34" charset="-122"/>
                <a:ea typeface="微软雅黑" panose="020B0503020204020204" pitchFamily="34" charset="-122"/>
              </a:rPr>
              <a:t>在一定频率处存在拐点改变了曲线凹凸性。高频下式子中的</a:t>
            </a:r>
            <a:r>
              <a:rPr lang="zh-CN" altLang="en-US" sz="2600" dirty="0">
                <a:solidFill>
                  <a:srgbClr val="FF0000"/>
                </a:solidFill>
                <a:latin typeface="微软雅黑" panose="020B0503020204020204" pitchFamily="34" charset="-122"/>
                <a:ea typeface="微软雅黑" panose="020B0503020204020204" pitchFamily="34" charset="-122"/>
              </a:rPr>
              <a:t>高阶项不可忽略</a:t>
            </a:r>
            <a:r>
              <a:rPr lang="zh-CN" altLang="en-US" sz="2600" dirty="0">
                <a:latin typeface="微软雅黑" panose="020B0503020204020204" pitchFamily="34" charset="-122"/>
                <a:ea typeface="微软雅黑" panose="020B0503020204020204" pitchFamily="34" charset="-122"/>
              </a:rPr>
              <a:t>，这是造成电感曲线</a:t>
            </a:r>
            <a:r>
              <a:rPr lang="zh-CN" altLang="en-US" sz="2600" dirty="0">
                <a:solidFill>
                  <a:srgbClr val="FF0000"/>
                </a:solidFill>
                <a:latin typeface="微软雅黑" panose="020B0503020204020204" pitchFamily="34" charset="-122"/>
                <a:ea typeface="微软雅黑" panose="020B0503020204020204" pitchFamily="34" charset="-122"/>
              </a:rPr>
              <a:t>凹凸性改变</a:t>
            </a:r>
            <a:r>
              <a:rPr lang="zh-CN" altLang="en-US" sz="2600" dirty="0">
                <a:solidFill>
                  <a:srgbClr val="27304F"/>
                </a:solidFill>
                <a:latin typeface="微软雅黑" panose="020B0503020204020204" pitchFamily="34" charset="-122"/>
                <a:ea typeface="微软雅黑" panose="020B0503020204020204" pitchFamily="34" charset="-122"/>
              </a:rPr>
              <a:t>的原因</a:t>
            </a:r>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p:txBody>
      </p:sp>
      <p:pic>
        <p:nvPicPr>
          <p:cNvPr id="4" name="图片 3" descr="图表, 散点图&#10;&#10;描述已自动生成">
            <a:extLst>
              <a:ext uri="{FF2B5EF4-FFF2-40B4-BE49-F238E27FC236}">
                <a16:creationId xmlns:a16="http://schemas.microsoft.com/office/drawing/2014/main" id="{329771DD-D9D1-DB1E-8680-CDA827FEC6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540" y="2444992"/>
            <a:ext cx="4942630" cy="3838346"/>
          </a:xfrm>
          <a:prstGeom prst="rect">
            <a:avLst/>
          </a:prstGeom>
        </p:spPr>
      </p:pic>
      <p:sp>
        <p:nvSpPr>
          <p:cNvPr id="5" name="文本框 4">
            <a:extLst>
              <a:ext uri="{FF2B5EF4-FFF2-40B4-BE49-F238E27FC236}">
                <a16:creationId xmlns:a16="http://schemas.microsoft.com/office/drawing/2014/main" id="{F65768BD-6145-572D-C563-E46DF1DC4C37}"/>
              </a:ext>
            </a:extLst>
          </p:cNvPr>
          <p:cNvSpPr txBox="1"/>
          <p:nvPr/>
        </p:nvSpPr>
        <p:spPr>
          <a:xfrm>
            <a:off x="2297816" y="6213679"/>
            <a:ext cx="2050367" cy="400110"/>
          </a:xfrm>
          <a:prstGeom prst="rect">
            <a:avLst/>
          </a:prstGeom>
          <a:noFill/>
        </p:spPr>
        <p:txBody>
          <a:bodyPr wrap="square">
            <a:spAutoFit/>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铝棒</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050D527-41ED-B09F-3880-94AFE721961E}"/>
                  </a:ext>
                </a:extLst>
              </p:cNvPr>
              <p:cNvSpPr txBox="1"/>
              <p:nvPr/>
            </p:nvSpPr>
            <p:spPr>
              <a:xfrm>
                <a:off x="688395" y="1435870"/>
                <a:ext cx="10973518" cy="1009122"/>
              </a:xfrm>
              <a:prstGeom prst="rect">
                <a:avLst/>
              </a:prstGeom>
              <a:noFill/>
            </p:spPr>
            <p:txBody>
              <a:bodyPr wrap="square">
                <a:spAutoFit/>
              </a:bodyPr>
              <a:lstStyle/>
              <a:p>
                <a14:m>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𝑙</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𝜎</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192</m:t>
                            </m:r>
                          </m:den>
                        </m:f>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128</m:t>
                            </m:r>
                          </m:den>
                        </m:f>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num>
                          <m:den>
                            <m:func>
                              <m:func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ln</m:t>
                                </m:r>
                              </m:fName>
                              <m:e>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𝑟</m:t>
                                        </m:r>
                                      </m:num>
                                      <m:den>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𝑅</m:t>
                                        </m:r>
                                      </m:den>
                                    </m:f>
                                  </m:e>
                                </m:d>
                              </m:e>
                            </m:func>
                          </m:den>
                        </m:f>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altLang="zh-CN" sz="2600" dirty="0">
                    <a:ea typeface="Cambria Math" panose="02040503050406030204" pitchFamily="18" charset="0"/>
                    <a:cs typeface="Times New Roman" panose="02020603050405020304" pitchFamily="18" charset="0"/>
                  </a:rPr>
                  <a:t> </a:t>
                </a:r>
                <a14:m>
                  <m:oMath xmlns:m="http://schemas.openxmlformats.org/officeDocument/2006/math">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𝑂</m:t>
                    </m:r>
                    <m:d>
                      <m:d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4</m:t>
                            </m:r>
                          </m:sup>
                        </m:sSup>
                      </m:e>
                    </m:d>
                  </m:oMath>
                </a14:m>
                <a:endParaRPr lang="zh-CN" altLang="en-US" sz="2600" dirty="0"/>
              </a:p>
            </p:txBody>
          </p:sp>
        </mc:Choice>
        <mc:Fallback xmlns="">
          <p:sp>
            <p:nvSpPr>
              <p:cNvPr id="8" name="文本框 7">
                <a:extLst>
                  <a:ext uri="{FF2B5EF4-FFF2-40B4-BE49-F238E27FC236}">
                    <a16:creationId xmlns:a16="http://schemas.microsoft.com/office/drawing/2014/main" id="{D050D527-41ED-B09F-3880-94AFE721961E}"/>
                  </a:ext>
                </a:extLst>
              </p:cNvPr>
              <p:cNvSpPr txBox="1">
                <a:spLocks noRot="1" noChangeAspect="1" noMove="1" noResize="1" noEditPoints="1" noAdjustHandles="1" noChangeArrowheads="1" noChangeShapeType="1" noTextEdit="1"/>
              </p:cNvSpPr>
              <p:nvPr/>
            </p:nvSpPr>
            <p:spPr>
              <a:xfrm>
                <a:off x="688395" y="1435870"/>
                <a:ext cx="10973518" cy="1009122"/>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6411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p:txBody>
          <a:bodyPr>
            <a:spAutoFit/>
          </a:bodyPr>
          <a:lstStyle/>
          <a:p>
            <a:r>
              <a:rPr lang="en-US" altLang="zh-CN" dirty="0"/>
              <a:t>06</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p:txBody>
          <a:bodyPr>
            <a:spAutoFit/>
          </a:bodyPr>
          <a:lstStyle/>
          <a:p>
            <a:r>
              <a:rPr lang="zh-CN" altLang="en-US" dirty="0"/>
              <a:t>总结展望</a:t>
            </a:r>
            <a:endParaRPr lang="af-ZA" altLang="zh-CN" dirty="0"/>
          </a:p>
        </p:txBody>
      </p:sp>
    </p:spTree>
    <p:extLst>
      <p:ext uri="{BB962C8B-B14F-4D97-AF65-F5344CB8AC3E}">
        <p14:creationId xmlns:p14="http://schemas.microsoft.com/office/powerpoint/2010/main" val="2084379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37</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总结展望</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BD16930-7D9D-7076-ADBB-E9C7B5CB981D}"/>
                  </a:ext>
                </a:extLst>
              </p:cNvPr>
              <p:cNvSpPr txBox="1"/>
              <p:nvPr/>
            </p:nvSpPr>
            <p:spPr>
              <a:xfrm>
                <a:off x="396065" y="2378801"/>
                <a:ext cx="11253297" cy="2601546"/>
              </a:xfrm>
              <a:prstGeom prst="rect">
                <a:avLst/>
              </a:prstGeom>
              <a:noFill/>
            </p:spPr>
            <p:txBody>
              <a:bodyPr wrap="square" rtlCol="0">
                <a:spAutoFit/>
              </a:bodyPr>
              <a:lstStyle/>
              <a:p>
                <a:pPr indent="720000">
                  <a:lnSpc>
                    <a:spcPct val="150000"/>
                  </a:lnSpc>
                </a:pPr>
                <a:r>
                  <a:rPr lang="zh-CN" altLang="en-US" sz="2800" dirty="0">
                    <a:latin typeface="微软雅黑" panose="020B0503020204020204" pitchFamily="34" charset="-122"/>
                    <a:ea typeface="微软雅黑" panose="020B0503020204020204" pitchFamily="34" charset="-122"/>
                  </a:rPr>
                  <a:t>通过上述分析确定了不同类型的介质棒在插入线圈后的响应，可以较为准确的确定在一定频率下</a:t>
                </a:r>
                <a14:m>
                  <m:oMath xmlns:m="http://schemas.openxmlformats.org/officeDocument/2006/math">
                    <m:r>
                      <a:rPr lang="zh-CN" altLang="en-US" sz="2800" i="1" smtClean="0">
                        <a:latin typeface="Cambria Math" panose="02040503050406030204" pitchFamily="18" charset="0"/>
                      </a:rPr>
                      <m:t>𝜇</m:t>
                    </m:r>
                  </m:oMath>
                </a14:m>
                <a:r>
                  <a:rPr lang="zh-CN" altLang="en-US" sz="2800" i="0" dirty="0">
                    <a:latin typeface="微软雅黑" panose="020B0503020204020204" pitchFamily="34" charset="-122"/>
                    <a:ea typeface="微软雅黑" panose="020B0503020204020204" pitchFamily="34" charset="-122"/>
                  </a:rPr>
                  <a:t>与</a:t>
                </a:r>
                <a14:m>
                  <m:oMath xmlns:m="http://schemas.openxmlformats.org/officeDocument/2006/math">
                    <m:r>
                      <a:rPr lang="zh-CN" altLang="en-US" sz="2800" i="1" smtClean="0">
                        <a:latin typeface="Cambria Math" panose="02040503050406030204" pitchFamily="18" charset="0"/>
                      </a:rPr>
                      <m:t>𝜎</m:t>
                    </m:r>
                  </m:oMath>
                </a14:m>
                <a:r>
                  <a:rPr lang="zh-CN" altLang="en-US" sz="2800" dirty="0">
                    <a:latin typeface="微软雅黑" panose="020B0503020204020204" pitchFamily="34" charset="-122"/>
                    <a:ea typeface="微软雅黑" panose="020B0503020204020204" pitchFamily="34" charset="-122"/>
                  </a:rPr>
                  <a:t>对</a:t>
                </a:r>
                <a:r>
                  <a:rPr lang="zh-CN" altLang="en-US" sz="2800" dirty="0">
                    <a:solidFill>
                      <a:srgbClr val="FF0000"/>
                    </a:solidFill>
                    <a:latin typeface="微软雅黑" panose="020B0503020204020204" pitchFamily="34" charset="-122"/>
                    <a:ea typeface="微软雅黑" panose="020B0503020204020204" pitchFamily="34" charset="-122"/>
                  </a:rPr>
                  <a:t>等效电阻的影响</a:t>
                </a:r>
                <a:r>
                  <a:rPr lang="zh-CN" altLang="en-US" sz="2800" dirty="0">
                    <a:latin typeface="微软雅黑" panose="020B0503020204020204" pitchFamily="34" charset="-122"/>
                    <a:ea typeface="微软雅黑" panose="020B0503020204020204" pitchFamily="34" charset="-122"/>
                  </a:rPr>
                  <a:t>，能够</a:t>
                </a:r>
                <a:r>
                  <a:rPr lang="zh-CN" altLang="en-US" sz="2800" dirty="0">
                    <a:solidFill>
                      <a:srgbClr val="FF0000"/>
                    </a:solidFill>
                    <a:latin typeface="微软雅黑" panose="020B0503020204020204" pitchFamily="34" charset="-122"/>
                    <a:ea typeface="微软雅黑" panose="020B0503020204020204" pitchFamily="34" charset="-122"/>
                  </a:rPr>
                  <a:t>定性反映其对等效电感的影响趋势</a:t>
                </a:r>
                <a:r>
                  <a:rPr lang="zh-CN" altLang="en-US" sz="2800" dirty="0">
                    <a:latin typeface="微软雅黑" panose="020B0503020204020204" pitchFamily="34" charset="-122"/>
                    <a:ea typeface="微软雅黑" panose="020B0503020204020204" pitchFamily="34" charset="-122"/>
                  </a:rPr>
                  <a:t>。也可以在图像中定性反映各个介质棒</a:t>
                </a:r>
                <a14:m>
                  <m:oMath xmlns:m="http://schemas.openxmlformats.org/officeDocument/2006/math">
                    <m:r>
                      <a:rPr lang="zh-CN" altLang="en-US" sz="2800" i="1">
                        <a:latin typeface="Cambria Math" panose="02040503050406030204" pitchFamily="18" charset="0"/>
                      </a:rPr>
                      <m:t>𝜇</m:t>
                    </m:r>
                  </m:oMath>
                </a14:m>
                <a:r>
                  <a:rPr lang="zh-CN" altLang="en-US" sz="2800" dirty="0">
                    <a:latin typeface="微软雅黑" panose="020B0503020204020204" pitchFamily="34" charset="-122"/>
                    <a:ea typeface="微软雅黑" panose="020B0503020204020204" pitchFamily="34" charset="-122"/>
                  </a:rPr>
                  <a:t>与</a:t>
                </a:r>
                <a14:m>
                  <m:oMath xmlns:m="http://schemas.openxmlformats.org/officeDocument/2006/math">
                    <m:r>
                      <a:rPr lang="zh-CN" altLang="en-US" sz="2800" i="1">
                        <a:latin typeface="Cambria Math" panose="02040503050406030204" pitchFamily="18" charset="0"/>
                      </a:rPr>
                      <m:t>𝜎</m:t>
                    </m:r>
                  </m:oMath>
                </a14:m>
                <a:r>
                  <a:rPr lang="zh-CN" altLang="en-US" sz="2800" dirty="0">
                    <a:latin typeface="微软雅黑" panose="020B0503020204020204" pitchFamily="34" charset="-122"/>
                    <a:ea typeface="微软雅黑" panose="020B0503020204020204" pitchFamily="34" charset="-122"/>
                  </a:rPr>
                  <a:t>的相对大小。</a:t>
                </a:r>
                <a:endParaRPr lang="en-US" altLang="zh-CN" sz="2800" dirty="0">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BD16930-7D9D-7076-ADBB-E9C7B5CB981D}"/>
                  </a:ext>
                </a:extLst>
              </p:cNvPr>
              <p:cNvSpPr txBox="1">
                <a:spLocks noRot="1" noChangeAspect="1" noMove="1" noResize="1" noEditPoints="1" noAdjustHandles="1" noChangeArrowheads="1" noChangeShapeType="1" noTextEdit="1"/>
              </p:cNvSpPr>
              <p:nvPr/>
            </p:nvSpPr>
            <p:spPr>
              <a:xfrm>
                <a:off x="396065" y="2378801"/>
                <a:ext cx="11253297" cy="2601546"/>
              </a:xfrm>
              <a:prstGeom prst="rect">
                <a:avLst/>
              </a:prstGeom>
              <a:blipFill>
                <a:blip r:embed="rId2"/>
                <a:stretch>
                  <a:fillRect l="-1138" r="-488" b="-56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74294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38</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总结展望</a:t>
            </a:r>
          </a:p>
        </p:txBody>
      </p:sp>
      <p:sp>
        <p:nvSpPr>
          <p:cNvPr id="2" name="文本框 1">
            <a:extLst>
              <a:ext uri="{FF2B5EF4-FFF2-40B4-BE49-F238E27FC236}">
                <a16:creationId xmlns:a16="http://schemas.microsoft.com/office/drawing/2014/main" id="{1BD16930-7D9D-7076-ADBB-E9C7B5CB981D}"/>
              </a:ext>
            </a:extLst>
          </p:cNvPr>
          <p:cNvSpPr txBox="1"/>
          <p:nvPr/>
        </p:nvSpPr>
        <p:spPr>
          <a:xfrm>
            <a:off x="594894" y="1594019"/>
            <a:ext cx="11126903" cy="3893951"/>
          </a:xfrm>
          <a:prstGeom prst="rect">
            <a:avLst/>
          </a:prstGeom>
          <a:noFill/>
        </p:spPr>
        <p:txBody>
          <a:bodyPr wrap="square" rtlCol="0">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实验中仍存在的不完善点</a:t>
            </a:r>
            <a:endParaRPr lang="en-US" altLang="zh-CN"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缺乏对于铁磁性物质中磁滞的详细理论计算，未通过实际实验测量磁滞回线。</a:t>
            </a:r>
            <a:endParaRPr lang="en-US" altLang="zh-CN" sz="2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800" dirty="0">
                <a:latin typeface="微软雅黑" panose="020B0503020204020204" pitchFamily="34" charset="-122"/>
                <a:ea typeface="微软雅黑" panose="020B0503020204020204" pitchFamily="34" charset="-122"/>
              </a:rPr>
              <a:t>此理论建立在似稳场的假设下，对于高频下预测的准确性不足，使得在一定频率下的测量需要在较低频的情况下反解。</a:t>
            </a:r>
            <a:endParaRPr lang="en-US" altLang="zh-CN" sz="2800" dirty="0">
              <a:latin typeface="微软雅黑" panose="020B0503020204020204" pitchFamily="34" charset="-122"/>
              <a:ea typeface="微软雅黑" panose="020B0503020204020204" pitchFamily="34" charset="-122"/>
            </a:endParaRPr>
          </a:p>
          <a:p>
            <a:pP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此理论的方程中存在无穷长螺线管假设，对结果存在一定误差。</a:t>
            </a:r>
            <a:endParaRPr lang="en-US" altLang="zh-CN" sz="2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49740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39</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2007704"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总结展望</a:t>
            </a:r>
          </a:p>
        </p:txBody>
      </p:sp>
      <p:sp>
        <p:nvSpPr>
          <p:cNvPr id="2" name="文本框 1">
            <a:extLst>
              <a:ext uri="{FF2B5EF4-FFF2-40B4-BE49-F238E27FC236}">
                <a16:creationId xmlns:a16="http://schemas.microsoft.com/office/drawing/2014/main" id="{1BD16930-7D9D-7076-ADBB-E9C7B5CB981D}"/>
              </a:ext>
            </a:extLst>
          </p:cNvPr>
          <p:cNvSpPr txBox="1"/>
          <p:nvPr/>
        </p:nvSpPr>
        <p:spPr>
          <a:xfrm>
            <a:off x="861293" y="2259038"/>
            <a:ext cx="11253297" cy="2601290"/>
          </a:xfrm>
          <a:prstGeom prst="rect">
            <a:avLst/>
          </a:prstGeom>
          <a:noFill/>
        </p:spPr>
        <p:txBody>
          <a:bodyPr wrap="square" rtlCol="0">
            <a:spAutoFit/>
          </a:bodyPr>
          <a:lstStyle/>
          <a:p>
            <a:pPr>
              <a:lnSpc>
                <a:spcPct val="150000"/>
              </a:lnSpc>
            </a:pP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未来展望</a:t>
            </a:r>
            <a:endParaRPr lang="en-US" altLang="zh-CN" sz="2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通过实验实测磁滞回线来求解磁滞对电阻的影响。</a:t>
            </a:r>
            <a:endParaRPr lang="en-US" altLang="zh-CN" sz="2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在理论推导中的</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Maxwell</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方程中不忽略位移电流项进行更准确求解。</a:t>
            </a:r>
            <a:endParaRPr lang="en-US" altLang="zh-CN" sz="2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对有限长螺线管进行电磁场的有限元模拟分析。</a:t>
            </a: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85364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16741980-DA8F-4E9E-B450-4CDAE0D9C979}"/>
              </a:ext>
            </a:extLst>
          </p:cNvPr>
          <p:cNvSpPr>
            <a:spLocks noGrp="1"/>
          </p:cNvSpPr>
          <p:nvPr>
            <p:ph type="body" sz="quarter" idx="10"/>
          </p:nvPr>
        </p:nvSpPr>
        <p:spPr>
          <a:xfrm>
            <a:off x="1857829" y="1181613"/>
            <a:ext cx="9043085" cy="1862048"/>
          </a:xfrm>
        </p:spPr>
        <p:txBody>
          <a:bodyPr>
            <a:spAutoFit/>
          </a:bodyPr>
          <a:lstStyle/>
          <a:p>
            <a:r>
              <a:rPr lang="zh-CN" altLang="en-US" dirty="0"/>
              <a:t>谢谢大家</a:t>
            </a:r>
          </a:p>
        </p:txBody>
      </p:sp>
      <p:sp>
        <p:nvSpPr>
          <p:cNvPr id="16" name="文本占位符 15">
            <a:extLst>
              <a:ext uri="{FF2B5EF4-FFF2-40B4-BE49-F238E27FC236}">
                <a16:creationId xmlns:a16="http://schemas.microsoft.com/office/drawing/2014/main" id="{AE0C054F-ACA8-4C62-A1CC-E710A4704501}"/>
              </a:ext>
            </a:extLst>
          </p:cNvPr>
          <p:cNvSpPr>
            <a:spLocks noGrp="1"/>
          </p:cNvSpPr>
          <p:nvPr>
            <p:ph type="body" sz="quarter" idx="11"/>
          </p:nvPr>
        </p:nvSpPr>
        <p:spPr>
          <a:xfrm>
            <a:off x="6976614" y="3629447"/>
            <a:ext cx="3924300" cy="523220"/>
          </a:xfrm>
        </p:spPr>
        <p:txBody>
          <a:bodyPr>
            <a:spAutoFit/>
          </a:bodyPr>
          <a:lstStyle/>
          <a:p>
            <a:r>
              <a:rPr lang="zh-CN" altLang="en-US" sz="2800" dirty="0">
                <a:latin typeface="微软雅黑" panose="020B0503020204020204" pitchFamily="34" charset="-122"/>
                <a:ea typeface="微软雅黑" panose="020B0503020204020204" pitchFamily="34" charset="-122"/>
              </a:rPr>
              <a:t>主控：学生</a:t>
            </a:r>
            <a:endParaRPr lang="af-ZA"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7845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a:xfrm>
            <a:off x="3895725" y="965873"/>
            <a:ext cx="3905250" cy="2646878"/>
          </a:xfrm>
        </p:spPr>
        <p:txBody>
          <a:bodyPr wrap="square">
            <a:spAutoFit/>
          </a:bodyPr>
          <a:lstStyle/>
          <a:p>
            <a:r>
              <a:rPr lang="en-US" altLang="zh-CN" dirty="0"/>
              <a:t>A1</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a:xfrm>
            <a:off x="2662237" y="3369636"/>
            <a:ext cx="6867526" cy="2123658"/>
          </a:xfrm>
        </p:spPr>
        <p:txBody>
          <a:bodyPr>
            <a:spAutoFit/>
          </a:bodyPr>
          <a:lstStyle/>
          <a:p>
            <a:r>
              <a:rPr lang="zh-CN" altLang="en-US" dirty="0"/>
              <a:t>分离变量法求解介质内场方程</a:t>
            </a:r>
            <a:endParaRPr lang="af-ZA" altLang="zh-CN" dirty="0"/>
          </a:p>
        </p:txBody>
      </p:sp>
    </p:spTree>
    <p:extLst>
      <p:ext uri="{BB962C8B-B14F-4D97-AF65-F5344CB8AC3E}">
        <p14:creationId xmlns:p14="http://schemas.microsoft.com/office/powerpoint/2010/main" val="1112614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42</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313677"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1</a:t>
            </a:r>
            <a:r>
              <a:rPr lang="zh-CN" altLang="en-US" sz="3200" b="1" dirty="0">
                <a:solidFill>
                  <a:schemeClr val="tx2"/>
                </a:solidFill>
                <a:latin typeface="微软雅黑" panose="020B0503020204020204" pitchFamily="34" charset="-122"/>
                <a:ea typeface="微软雅黑" panose="020B0503020204020204" pitchFamily="34" charset="-122"/>
              </a:rPr>
              <a:t>：分离变量法求解介质内场方程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A140EA-9E64-BE33-6800-FE4B70DC4962}"/>
                  </a:ext>
                </a:extLst>
              </p:cNvPr>
              <p:cNvSpPr txBox="1"/>
              <p:nvPr/>
            </p:nvSpPr>
            <p:spPr>
              <a:xfrm>
                <a:off x="1151256" y="1009155"/>
                <a:ext cx="10325230" cy="6208623"/>
              </a:xfrm>
              <a:prstGeom prst="rect">
                <a:avLst/>
              </a:prstGeom>
              <a:noFill/>
            </p:spPr>
            <p:txBody>
              <a:bodyPr wrap="square" rtlCol="0">
                <a:spAutoFit/>
              </a:bodyPr>
              <a:lstStyle/>
              <a:p>
                <a:pPr indent="720000"/>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(3.7)</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式中，我们先从</a:t>
                </a:r>
                <a14:m>
                  <m:oMath xmlns:m="http://schemas.openxmlformats.org/officeDocument/2006/math">
                    <m:sSup>
                      <m:s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up>
                    </m:sSup>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中分离出</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与</a:t>
                </a:r>
                <a14:m>
                  <m:oMath xmlns:m="http://schemas.openxmlformats.org/officeDocument/2006/math">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其中</a:t>
                </a:r>
                <a14:m>
                  <m:oMath xmlns:m="http://schemas.openxmlformats.org/officeDocument/2006/math">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只是关于时间的函数，且满足</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𝜇𝜎</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d</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e>
                              </m:d>
                            </m:num>
                            <m:den>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d</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𝜔𝜇𝜎</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𝐵</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1.1</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此时</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满足齐次偏微分方程</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𝜇𝜎</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num>
                            <m:den>
                              <m:r>
                                <a:rPr lang="zh-CN" altLang="en-US" sz="26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1.1</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b</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对于方程</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(A.1a)</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，可以解得</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𝐵</m:t>
                              </m:r>
                            </m:e>
                            <m:sub>
                              <m:r>
                                <a:rPr lang="en-US" altLang="zh-CN" sz="2600" i="1">
                                  <a:latin typeface="Cambria Math" panose="02040503050406030204" pitchFamily="18" charset="0"/>
                                  <a:ea typeface="Cambria Math" panose="02040503050406030204" pitchFamily="18" charset="0"/>
                                  <a:cs typeface="Times New Roman" panose="02020603050405020304" pitchFamily="18" charset="0"/>
                                </a:rPr>
                                <m:t>0</m:t>
                              </m:r>
                            </m:sub>
                          </m:sSub>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1.2</m:t>
                              </m:r>
                            </m:e>
                          </m:d>
                        </m:e>
                      </m:eqArr>
                    </m:oMath>
                  </m:oMathPara>
                </a14:m>
                <a:endParaRPr lang="en-US" altLang="zh-CN" sz="2600" b="0" dirty="0">
                  <a:latin typeface="微软雅黑" panose="020B0503020204020204" pitchFamily="34" charset="-122"/>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对于方程</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(A.1b)</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，我们把</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分离变量，得到</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f>
                            <m:f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fPr>
                            <m:num>
                              <m:sSup>
                                <m:sSup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pPr>
                                <m:e>
                                  <m:r>
                                    <m:rPr>
                                      <m:sty m:val="p"/>
                                    </m:rPr>
                                    <a:rPr lang="en-US" altLang="zh-CN" sz="2600" i="1">
                                      <a:latin typeface="Cambria Math" panose="02040503050406030204" pitchFamily="18" charset="0"/>
                                      <a:ea typeface="微软雅黑" panose="020B0503020204020204" pitchFamily="34" charset="-122"/>
                                      <a:cs typeface="Times New Roman" panose="02020603050405020304" pitchFamily="18" charset="0"/>
                                    </a:rPr>
                                    <m:t>d</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num>
                            <m:den>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d</m:t>
                              </m:r>
                              <m:sSup>
                                <m:sSup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den>
                          </m:f>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d</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num>
                            <m:den>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d</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𝜌</m:t>
                              </m:r>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𝜆</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1.3</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𝜇𝜎</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m:rPr>
                                  <m:sty m:val="p"/>
                                </m:rPr>
                                <a:rPr lang="en-US" altLang="zh-CN" sz="2600" i="1">
                                  <a:latin typeface="Cambria Math" panose="02040503050406030204" pitchFamily="18" charset="0"/>
                                  <a:ea typeface="微软雅黑" panose="020B0503020204020204" pitchFamily="34" charset="-122"/>
                                  <a:cs typeface="Times New Roman" panose="02020603050405020304" pitchFamily="18" charset="0"/>
                                </a:rPr>
                                <m:t>d</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𝑇</m:t>
                              </m:r>
                            </m:num>
                            <m:den>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d</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1.3</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b</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A140EA-9E64-BE33-6800-FE4B70DC4962}"/>
                  </a:ext>
                </a:extLst>
              </p:cNvPr>
              <p:cNvSpPr txBox="1">
                <a:spLocks noRot="1" noChangeAspect="1" noMove="1" noResize="1" noEditPoints="1" noAdjustHandles="1" noChangeArrowheads="1" noChangeShapeType="1" noTextEdit="1"/>
              </p:cNvSpPr>
              <p:nvPr/>
            </p:nvSpPr>
            <p:spPr>
              <a:xfrm>
                <a:off x="1151256" y="1009155"/>
                <a:ext cx="10325230" cy="6208623"/>
              </a:xfrm>
              <a:prstGeom prst="rect">
                <a:avLst/>
              </a:prstGeom>
              <a:blipFill>
                <a:blip r:embed="rId3"/>
                <a:stretch>
                  <a:fillRect l="-1063" t="-9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8895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43</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563058"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1</a:t>
            </a:r>
            <a:r>
              <a:rPr lang="zh-CN" altLang="en-US" sz="3200" b="1" dirty="0">
                <a:solidFill>
                  <a:schemeClr val="tx2"/>
                </a:solidFill>
                <a:latin typeface="微软雅黑" panose="020B0503020204020204" pitchFamily="34" charset="-122"/>
                <a:ea typeface="微软雅黑" panose="020B0503020204020204" pitchFamily="34" charset="-122"/>
              </a:rPr>
              <a:t>：分离变量法求解介质内场方程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A140EA-9E64-BE33-6800-FE4B70DC4962}"/>
                  </a:ext>
                </a:extLst>
              </p:cNvPr>
              <p:cNvSpPr txBox="1"/>
              <p:nvPr/>
            </p:nvSpPr>
            <p:spPr>
              <a:xfrm>
                <a:off x="1151256" y="1009155"/>
                <a:ext cx="10325230" cy="5604804"/>
              </a:xfrm>
              <a:prstGeom prst="rect">
                <a:avLst/>
              </a:prstGeom>
              <a:noFill/>
            </p:spPr>
            <p:txBody>
              <a:bodyPr wrap="square" rtlCol="0">
                <a:spAutoFit/>
              </a:bodyPr>
              <a:lstStyle/>
              <a:p>
                <a:pPr indent="720000"/>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方程</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(A1.3a)</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是一个零阶贝塞尔方程，由于在</a:t>
                </a:r>
                <a14:m>
                  <m:oMath xmlns:m="http://schemas.openxmlformats.org/officeDocument/2006/math">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时方程解有有限值，则其解写为</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sub>
                          </m:sSub>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𝜆𝜌</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1.4</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方程</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(A.3b)</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是一个普通的一阶常微分方程，其解写为</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𝑇</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𝑇</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sub>
                          </m:sSub>
                          <m:sSup>
                            <m:sSup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𝑒</m:t>
                              </m:r>
                            </m:e>
                            <m: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𝜇𝜎</m:t>
                                  </m:r>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sup>
                          </m:sSup>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1.4</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b</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可以不难猜想到，</a:t>
                </a:r>
                <a:r>
                  <a:rPr lang="en-US" altLang="zh-CN" sz="2600" b="0" dirty="0">
                    <a:ea typeface="微软雅黑" panose="020B0503020204020204" pitchFamily="34" charset="-122"/>
                    <a:cs typeface="Times New Roman" panose="02020603050405020304" pitchFamily="18" charset="0"/>
                  </a:rPr>
                  <a:t> </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𝑇</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𝑡</m:t>
                        </m:r>
                      </m:e>
                    </m:d>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应该也是按</a:t>
                </a:r>
                <a14:m>
                  <m:oMath xmlns:m="http://schemas.openxmlformats.org/officeDocument/2006/math">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角频率震荡的函数，则有</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sSup>
                                <m:sSup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e>
                                <m:sup>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p>
                              </m:sSup>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𝜇𝜎</m:t>
                              </m:r>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1.5</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则解得</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ad>
                            <m:radPr>
                              <m:degHide m:val="on"/>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radPr>
                            <m:deg/>
                            <m:e>
                              <m:r>
                                <m:rPr>
                                  <m:sty m:val="p"/>
                                </m:rPr>
                                <a:rPr lang="en-US" altLang="zh-CN" sz="2600" i="1">
                                  <a:latin typeface="Cambria Math" panose="02040503050406030204" pitchFamily="18" charset="0"/>
                                  <a:ea typeface="微软雅黑" panose="020B0503020204020204" pitchFamily="34" charset="-122"/>
                                  <a:cs typeface="Times New Roman" panose="02020603050405020304" pitchFamily="18" charset="0"/>
                                </a:rPr>
                                <m:t>j</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𝜔𝜇𝜎</m:t>
                              </m:r>
                            </m:e>
                          </m:rad>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1</m:t>
                              </m:r>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num>
                            <m:den>
                              <m:r>
                                <a:rPr lang="zh-CN" altLang="en-US" sz="2600" i="1" smtClean="0">
                                  <a:latin typeface="Cambria Math" panose="02040503050406030204" pitchFamily="18" charset="0"/>
                                  <a:ea typeface="Cambria Math" panose="02040503050406030204" pitchFamily="18" charset="0"/>
                                  <a:cs typeface="Times New Roman" panose="02020603050405020304" pitchFamily="18" charset="0"/>
                                </a:rPr>
                                <m:t>𝛿</m:t>
                              </m:r>
                            </m:den>
                          </m:f>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1.6</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其中</a:t>
                </a:r>
                <a14:m>
                  <m:oMath xmlns:m="http://schemas.openxmlformats.org/officeDocument/2006/math">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𝛿</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m:t>
                    </m:r>
                    <m:rad>
                      <m:radPr>
                        <m:degHide m:val="on"/>
                        <m:ctrlP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ctrlPr>
                      </m:radPr>
                      <m:deg/>
                      <m:e>
                        <m:f>
                          <m:f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num>
                          <m:den>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𝜔𝜇</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𝜎</m:t>
                            </m:r>
                          </m:den>
                        </m:f>
                      </m:e>
                    </m:rad>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，具有</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长度的量纲。</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A140EA-9E64-BE33-6800-FE4B70DC4962}"/>
                  </a:ext>
                </a:extLst>
              </p:cNvPr>
              <p:cNvSpPr txBox="1">
                <a:spLocks noRot="1" noChangeAspect="1" noMove="1" noResize="1" noEditPoints="1" noAdjustHandles="1" noChangeArrowheads="1" noChangeShapeType="1" noTextEdit="1"/>
              </p:cNvSpPr>
              <p:nvPr/>
            </p:nvSpPr>
            <p:spPr>
              <a:xfrm>
                <a:off x="1151256" y="1009155"/>
                <a:ext cx="10325230" cy="5604804"/>
              </a:xfrm>
              <a:prstGeom prst="rect">
                <a:avLst/>
              </a:prstGeom>
              <a:blipFill>
                <a:blip r:embed="rId3"/>
                <a:stretch>
                  <a:fillRect l="-1063" t="-1088" r="-7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50166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44</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686539"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1</a:t>
            </a:r>
            <a:r>
              <a:rPr lang="zh-CN" altLang="en-US" sz="3200" b="1" dirty="0">
                <a:solidFill>
                  <a:schemeClr val="tx2"/>
                </a:solidFill>
                <a:latin typeface="微软雅黑" panose="020B0503020204020204" pitchFamily="34" charset="-122"/>
                <a:ea typeface="微软雅黑" panose="020B0503020204020204" pitchFamily="34" charset="-122"/>
              </a:rPr>
              <a:t>：分离变量法求解介质内场方程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A140EA-9E64-BE33-6800-FE4B70DC4962}"/>
                  </a:ext>
                </a:extLst>
              </p:cNvPr>
              <p:cNvSpPr txBox="1"/>
              <p:nvPr/>
            </p:nvSpPr>
            <p:spPr>
              <a:xfrm>
                <a:off x="1151256" y="1009155"/>
                <a:ext cx="10325230" cy="4512389"/>
              </a:xfrm>
              <a:prstGeom prst="rect">
                <a:avLst/>
              </a:prstGeom>
              <a:noFill/>
            </p:spPr>
            <p:txBody>
              <a:bodyPr wrap="square" rtlCol="0">
                <a:spAutoFit/>
              </a:bodyPr>
              <a:lstStyle/>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综合上面各式，得到</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sub>
                          </m:sSub>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1.7</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由于输入的波形是平均值为</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，在时间上平均后可得</a:t>
                </a:r>
                <a:endParaRPr lang="en-US" altLang="zh-CN" sz="2600" b="0" i="1" dirty="0">
                  <a:latin typeface="Cambria Math" panose="02040503050406030204" pitchFamily="18" charset="0"/>
                  <a:ea typeface="Cambria Math" panose="02040503050406030204" pitchFamily="18" charset="0"/>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1.8</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e>
                          </m:d>
                        </m:e>
                      </m:eqArr>
                    </m:oMath>
                  </m:oMathPara>
                </a14:m>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当</a:t>
                </a:r>
                <a14:m>
                  <m:oMath xmlns:m="http://schemas.openxmlformats.org/officeDocument/2006/math">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𝜔</m:t>
                    </m:r>
                    <m: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t>→0</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时，</a:t>
                </a:r>
                <a:r>
                  <a:rPr lang="en-US" altLang="zh-CN" sz="2600" dirty="0">
                    <a:ea typeface="微软雅黑" panose="020B0503020204020204" pitchFamily="34" charset="-122"/>
                    <a:cs typeface="Times New Roman" panose="02020603050405020304" pitchFamily="18" charset="0"/>
                  </a:rPr>
                  <a:t> </a:t>
                </a:r>
                <a14:m>
                  <m:oMath xmlns:m="http://schemas.openxmlformats.org/officeDocument/2006/math">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sub>
                    </m:sSub>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。假设磁场是有关于</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𝑧</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轴的平移对称性的，不难得到</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𝐵</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𝜇</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𝑛𝐼</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1.8</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b</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带入得到的待定常数后，可以得到</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1.9</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A140EA-9E64-BE33-6800-FE4B70DC4962}"/>
                  </a:ext>
                </a:extLst>
              </p:cNvPr>
              <p:cNvSpPr txBox="1">
                <a:spLocks noRot="1" noChangeAspect="1" noMove="1" noResize="1" noEditPoints="1" noAdjustHandles="1" noChangeArrowheads="1" noChangeShapeType="1" noTextEdit="1"/>
              </p:cNvSpPr>
              <p:nvPr/>
            </p:nvSpPr>
            <p:spPr>
              <a:xfrm>
                <a:off x="1151256" y="1009155"/>
                <a:ext cx="10325230" cy="4512389"/>
              </a:xfrm>
              <a:prstGeom prst="rect">
                <a:avLst/>
              </a:prstGeom>
              <a:blipFill>
                <a:blip r:embed="rId3"/>
                <a:stretch>
                  <a:fillRect l="-1063" t="-13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80056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a:xfrm>
            <a:off x="3895725" y="965873"/>
            <a:ext cx="3905250" cy="2646878"/>
          </a:xfrm>
        </p:spPr>
        <p:txBody>
          <a:bodyPr>
            <a:spAutoFit/>
          </a:bodyPr>
          <a:lstStyle/>
          <a:p>
            <a:r>
              <a:rPr lang="en-US" altLang="zh-CN" dirty="0"/>
              <a:t>A2</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a:xfrm>
            <a:off x="2662237" y="3369636"/>
            <a:ext cx="6867526" cy="2123658"/>
          </a:xfrm>
        </p:spPr>
        <p:txBody>
          <a:bodyPr>
            <a:spAutoFit/>
          </a:bodyPr>
          <a:lstStyle/>
          <a:p>
            <a:r>
              <a:rPr lang="zh-CN" altLang="en-US" dirty="0"/>
              <a:t>极限分析法求解介质外场方程</a:t>
            </a:r>
            <a:endParaRPr lang="af-ZA" altLang="zh-CN" dirty="0"/>
          </a:p>
        </p:txBody>
      </p:sp>
    </p:spTree>
    <p:extLst>
      <p:ext uri="{BB962C8B-B14F-4D97-AF65-F5344CB8AC3E}">
        <p14:creationId xmlns:p14="http://schemas.microsoft.com/office/powerpoint/2010/main" val="3799581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46</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313677"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2</a:t>
            </a:r>
            <a:r>
              <a:rPr lang="zh-CN" altLang="en-US" sz="3200" b="1" dirty="0">
                <a:solidFill>
                  <a:schemeClr val="tx2"/>
                </a:solidFill>
                <a:latin typeface="微软雅黑" panose="020B0503020204020204" pitchFamily="34" charset="-122"/>
                <a:ea typeface="微软雅黑" panose="020B0503020204020204" pitchFamily="34" charset="-122"/>
              </a:rPr>
              <a:t>：极限分析法求解介质外场方程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A140EA-9E64-BE33-6800-FE4B70DC4962}"/>
                  </a:ext>
                </a:extLst>
              </p:cNvPr>
              <p:cNvSpPr txBox="1"/>
              <p:nvPr/>
            </p:nvSpPr>
            <p:spPr>
              <a:xfrm>
                <a:off x="1151256" y="1009155"/>
                <a:ext cx="10325230" cy="5877250"/>
              </a:xfrm>
              <a:prstGeom prst="rect">
                <a:avLst/>
              </a:prstGeom>
              <a:noFill/>
            </p:spPr>
            <p:txBody>
              <a:bodyPr wrap="square" rtlCol="0">
                <a:spAutoFit/>
              </a:bodyPr>
              <a:lstStyle/>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2600" dirty="0">
                    <a:latin typeface="Times New Roman" panose="02020603050405020304" pitchFamily="18" charset="0"/>
                    <a:ea typeface="微软雅黑" panose="020B0503020204020204" pitchFamily="34" charset="-122"/>
                    <a:cs typeface="Times New Roman" panose="02020603050405020304" pitchFamily="18" charset="0"/>
                  </a:rPr>
                  <a:t>Maxwell</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方程组，在介质外由于没有电流，应有</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600" b="1" i="1" smtClean="0">
                              <a:latin typeface="Cambria Math" panose="02040503050406030204" pitchFamily="18" charset="0"/>
                              <a:ea typeface="Cambria Math" panose="02040503050406030204" pitchFamily="18" charset="0"/>
                              <a:cs typeface="Times New Roman" panose="02020603050405020304" pitchFamily="18" charset="0"/>
                            </a:rPr>
                            <m:t>𝑩</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=0#</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2.1</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将其按柱坐标展开，且由于</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𝑧</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轴的平移对称性，有</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num>
                                <m:den>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2.2</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设</a:t>
                </a:r>
                <a14:m>
                  <m:oMath xmlns:m="http://schemas.openxmlformats.org/officeDocument/2006/math">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e>
                    </m:d>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𝑇</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，代入上式后，有</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d</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num>
                            <m:den>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d</m:t>
                              </m:r>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2.3</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求解得</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t>𝑅</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e>
                              </m:d>
                            </m:e>
                          </m:func>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2.4</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在介质</a:t>
                </a:r>
                <a14:m>
                  <m:oMath xmlns:m="http://schemas.openxmlformats.org/officeDocument/2006/math">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𝜌</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的边界处，需时刻满足边界条件</a:t>
                </a:r>
                <a14:m>
                  <m:oMath xmlns:m="http://schemas.openxmlformats.org/officeDocument/2006/math">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𝐻</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t</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𝐻</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2</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t</m:t>
                        </m:r>
                      </m:sub>
                    </m:sSub>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。此时</a:t>
                </a:r>
                <a14:m>
                  <m:oMath xmlns:m="http://schemas.openxmlformats.org/officeDocument/2006/math">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𝑇</m:t>
                    </m:r>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𝑡</m:t>
                        </m:r>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成立。且使得</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func>
                                <m:func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𝑟</m:t>
                                      </m:r>
                                    </m:e>
                                  </m:d>
                                </m:e>
                              </m:func>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num>
                            <m:den>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0</m:t>
                                  </m:r>
                                </m:sub>
                              </m:sSub>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2.5</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A140EA-9E64-BE33-6800-FE4B70DC4962}"/>
                  </a:ext>
                </a:extLst>
              </p:cNvPr>
              <p:cNvSpPr txBox="1">
                <a:spLocks noRot="1" noChangeAspect="1" noMove="1" noResize="1" noEditPoints="1" noAdjustHandles="1" noChangeArrowheads="1" noChangeShapeType="1" noTextEdit="1"/>
              </p:cNvSpPr>
              <p:nvPr/>
            </p:nvSpPr>
            <p:spPr>
              <a:xfrm>
                <a:off x="1151256" y="1009155"/>
                <a:ext cx="10325230" cy="5877250"/>
              </a:xfrm>
              <a:prstGeom prst="rect">
                <a:avLst/>
              </a:prstGeom>
              <a:blipFill>
                <a:blip r:embed="rId3"/>
                <a:stretch>
                  <a:fillRect t="-10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2127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47</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313677"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2</a:t>
            </a:r>
            <a:r>
              <a:rPr lang="zh-CN" altLang="en-US" sz="3200" b="1" dirty="0">
                <a:solidFill>
                  <a:schemeClr val="tx2"/>
                </a:solidFill>
                <a:latin typeface="微软雅黑" panose="020B0503020204020204" pitchFamily="34" charset="-122"/>
                <a:ea typeface="微软雅黑" panose="020B0503020204020204" pitchFamily="34" charset="-122"/>
              </a:rPr>
              <a:t>：极限分析法求解介质外场方程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A140EA-9E64-BE33-6800-FE4B70DC4962}"/>
                  </a:ext>
                </a:extLst>
              </p:cNvPr>
              <p:cNvSpPr txBox="1"/>
              <p:nvPr/>
            </p:nvSpPr>
            <p:spPr>
              <a:xfrm>
                <a:off x="1151256" y="1009155"/>
                <a:ext cx="10325230" cy="5704960"/>
              </a:xfrm>
              <a:prstGeom prst="rect">
                <a:avLst/>
              </a:prstGeom>
              <a:noFill/>
            </p:spPr>
            <p:txBody>
              <a:bodyPr wrap="square" rtlCol="0">
                <a:spAutoFit/>
              </a:bodyPr>
              <a:lstStyle/>
              <a:p>
                <a:pPr indent="720000"/>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当</a:t>
                </a:r>
                <a14:m>
                  <m:oMath xmlns:m="http://schemas.openxmlformats.org/officeDocument/2006/math">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oMath>
                </a14:m>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时，其场方程解应该可退化为空心无限长螺线管的解，这是由于此时离中心介质足够远而离场源足够近。即</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func>
                            <m:func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d>
                            </m:e>
                          </m:func>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𝑛𝐼</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2.5</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b</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联立</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(A2.5a)</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式和</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(A2.5b)</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式，可解得</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num>
                            <m:den>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en>
                                      </m:f>
                                    </m:e>
                                  </m:d>
                                </m:e>
                              </m:func>
                            </m:den>
                          </m:f>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2.6</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eqArrPr>
                        <m:e>
                          <m:sSub>
                            <m:sSubPr>
                              <m:ctrlPr>
                                <a:rPr lang="en-US" altLang="zh-CN" sz="260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𝐶</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d>
                            <m:dPr>
                              <m:begChr m:val="["/>
                              <m:endChr m:val="]"/>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𝜆𝜌</m:t>
                                      </m:r>
                                    </m:e>
                                  </m:d>
                                </m:num>
                                <m:den>
                                  <m:func>
                                    <m:func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𝑟</m:t>
                                              </m:r>
                                            </m:num>
                                            <m:den>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𝑅</m:t>
                                              </m:r>
                                            </m:den>
                                          </m:f>
                                        </m:e>
                                      </m:d>
                                    </m:e>
                                  </m:func>
                                </m:den>
                              </m:f>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e>
                                  </m:d>
                                </m:e>
                              </m:func>
                            </m:e>
                          </m:d>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m:t>
                              </m:r>
                              <m: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2.6</m:t>
                              </m:r>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b</m:t>
                              </m:r>
                            </m:e>
                          </m:d>
                        </m:e>
                      </m:eqArr>
                    </m:oMath>
                  </m:oMathPara>
                </a14:m>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将</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(A2.6a)</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式和</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(A2.6b)</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式带入</a:t>
                </a:r>
                <a:r>
                  <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rPr>
                  <a:t>(A2.4)</a:t>
                </a: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式，整理得</a:t>
                </a:r>
                <a:endParaRPr lang="en-US" altLang="zh-CN" sz="2600" b="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𝐵</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m:t>
                          </m:r>
                          <m:sSub>
                            <m:sSub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𝜇</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𝑛𝐼</m:t>
                          </m:r>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zh-CN" altLang="en-US" sz="2600" b="0" i="1" smtClean="0">
                                                  <a:latin typeface="Cambria Math" panose="02040503050406030204" pitchFamily="18" charset="0"/>
                                                  <a:ea typeface="微软雅黑" panose="020B0503020204020204" pitchFamily="34" charset="-122"/>
                                                  <a:cs typeface="Times New Roman" panose="02020603050405020304" pitchFamily="18" charset="0"/>
                                                </a:rPr>
                                                <m:t>𝜌</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en>
                                          </m:f>
                                        </m:e>
                                      </m:d>
                                    </m:e>
                                  </m:func>
                                </m:num>
                                <m:den>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ln</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f>
                                            <m:f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num>
                                            <m:den>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𝑅</m:t>
                                              </m:r>
                                            </m:den>
                                          </m:f>
                                        </m:e>
                                      </m:d>
                                    </m:e>
                                  </m:func>
                                </m:den>
                              </m:f>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1−</m:t>
                                  </m:r>
                                  <m:sSub>
                                    <m:sSub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𝐽</m:t>
                                      </m:r>
                                    </m:e>
                                    <m:sub>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0</m:t>
                                      </m:r>
                                    </m:sub>
                                  </m:sSub>
                                  <m:d>
                                    <m:dPr>
                                      <m:ctrlPr>
                                        <a:rPr lang="en-US" altLang="zh-CN" sz="2600" i="1">
                                          <a:latin typeface="Cambria Math" panose="02040503050406030204" pitchFamily="18" charset="0"/>
                                          <a:ea typeface="微软雅黑" panose="020B0503020204020204" pitchFamily="34" charset="-122"/>
                                          <a:cs typeface="Times New Roman" panose="02020603050405020304" pitchFamily="18" charset="0"/>
                                        </a:rPr>
                                      </m:ctrlPr>
                                    </m:dPr>
                                    <m:e>
                                      <m:r>
                                        <a:rPr lang="zh-CN" altLang="en-US" sz="2600" i="1">
                                          <a:latin typeface="Cambria Math" panose="02040503050406030204" pitchFamily="18" charset="0"/>
                                          <a:ea typeface="微软雅黑" panose="020B0503020204020204" pitchFamily="34" charset="-122"/>
                                          <a:cs typeface="Times New Roman" panose="02020603050405020304" pitchFamily="18" charset="0"/>
                                        </a:rPr>
                                        <m:t>𝜆</m:t>
                                      </m:r>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𝑟</m:t>
                                      </m:r>
                                    </m:e>
                                  </m:d>
                                </m:e>
                              </m:d>
                            </m:e>
                          </m:d>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𝑒</m:t>
                              </m:r>
                            </m:e>
                            <m: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i="1">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𝑡</m:t>
                              </m:r>
                            </m:sup>
                          </m:sSup>
                          <m:r>
                            <a:rPr lang="en-US" altLang="zh-CN" sz="2600" i="1">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2.7</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A140EA-9E64-BE33-6800-FE4B70DC4962}"/>
                  </a:ext>
                </a:extLst>
              </p:cNvPr>
              <p:cNvSpPr txBox="1">
                <a:spLocks noRot="1" noChangeAspect="1" noMove="1" noResize="1" noEditPoints="1" noAdjustHandles="1" noChangeArrowheads="1" noChangeShapeType="1" noTextEdit="1"/>
              </p:cNvSpPr>
              <p:nvPr/>
            </p:nvSpPr>
            <p:spPr>
              <a:xfrm>
                <a:off x="1151256" y="1009155"/>
                <a:ext cx="10325230" cy="5704960"/>
              </a:xfrm>
              <a:prstGeom prst="rect">
                <a:avLst/>
              </a:prstGeom>
              <a:blipFill>
                <a:blip r:embed="rId3"/>
                <a:stretch>
                  <a:fillRect l="-1063" t="-10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35032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a:xfrm>
            <a:off x="3895725" y="965873"/>
            <a:ext cx="3905250" cy="2646878"/>
          </a:xfrm>
        </p:spPr>
        <p:txBody>
          <a:bodyPr>
            <a:spAutoFit/>
          </a:bodyPr>
          <a:lstStyle/>
          <a:p>
            <a:r>
              <a:rPr lang="en-US" altLang="zh-CN" dirty="0"/>
              <a:t>A3</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a:xfrm>
            <a:off x="2662237" y="3369636"/>
            <a:ext cx="6867526" cy="2123658"/>
          </a:xfrm>
        </p:spPr>
        <p:txBody>
          <a:bodyPr>
            <a:spAutoFit/>
          </a:bodyPr>
          <a:lstStyle/>
          <a:p>
            <a:r>
              <a:rPr lang="zh-CN" altLang="en-US" dirty="0"/>
              <a:t>负电感与电容</a:t>
            </a:r>
            <a:endParaRPr lang="en-US" altLang="zh-CN" dirty="0"/>
          </a:p>
          <a:p>
            <a:r>
              <a:rPr lang="zh-CN" altLang="en-US" dirty="0"/>
              <a:t>的等价性</a:t>
            </a:r>
            <a:endParaRPr lang="af-ZA" altLang="zh-CN" dirty="0"/>
          </a:p>
        </p:txBody>
      </p:sp>
    </p:spTree>
    <p:extLst>
      <p:ext uri="{BB962C8B-B14F-4D97-AF65-F5344CB8AC3E}">
        <p14:creationId xmlns:p14="http://schemas.microsoft.com/office/powerpoint/2010/main" val="28267436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49</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313677"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3</a:t>
            </a:r>
            <a:r>
              <a:rPr lang="zh-CN" altLang="en-US" sz="3200" b="1" dirty="0">
                <a:solidFill>
                  <a:schemeClr val="tx2"/>
                </a:solidFill>
                <a:latin typeface="微软雅黑" panose="020B0503020204020204" pitchFamily="34" charset="-122"/>
                <a:ea typeface="微软雅黑" panose="020B0503020204020204" pitchFamily="34" charset="-122"/>
              </a:rPr>
              <a:t>：负电感与电容的等价性</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A140EA-9E64-BE33-6800-FE4B70DC4962}"/>
                  </a:ext>
                </a:extLst>
              </p:cNvPr>
              <p:cNvSpPr txBox="1"/>
              <p:nvPr/>
            </p:nvSpPr>
            <p:spPr>
              <a:xfrm>
                <a:off x="1151256" y="1009155"/>
                <a:ext cx="10325230" cy="5916043"/>
              </a:xfrm>
              <a:prstGeom prst="rect">
                <a:avLst/>
              </a:prstGeom>
              <a:noFill/>
            </p:spPr>
            <p:txBody>
              <a:bodyPr wrap="square" rtlCol="0">
                <a:spAutoFit/>
              </a:bodyPr>
              <a:lstStyle/>
              <a:p>
                <a:pPr indent="720000"/>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对一电路元件，描述其性质的其实是复阻抗</a:t>
                </a:r>
                <a14:m>
                  <m:oMath xmlns:m="http://schemas.openxmlformats.org/officeDocument/2006/math">
                    <m:acc>
                      <m:accPr>
                        <m:chr m:val="̃"/>
                        <m:ctrlP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𝑍</m:t>
                        </m:r>
                      </m:e>
                    </m:acc>
                  </m:oMath>
                </a14:m>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。我们认为，电路中最基本的元件有纯电阻，纯电感和纯电阻。他们的复阻抗分别为</a:t>
                </a:r>
                <a:endParaRPr lang="en-US" altLang="zh-CN" sz="2600" dirty="0">
                  <a:latin typeface="Times New Roman" panose="02020603050405020304" pitchFamily="18" charset="0"/>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𝑍</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𝑅</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e>
                          </m:d>
                        </m:e>
                      </m:eqArr>
                    </m:oMath>
                  </m:oMathPara>
                </a14:m>
                <a:endParaRPr lang="en-US" altLang="zh-CN" sz="2600" b="0" i="1" dirty="0">
                  <a:latin typeface="Times New Roman" panose="02020603050405020304" pitchFamily="18" charset="0"/>
                  <a:ea typeface="Cambria Math" panose="02040503050406030204" pitchFamily="18" charset="0"/>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𝑍</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b</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𝑍</m:t>
                              </m:r>
                            </m:e>
                            <m: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𝐶</m:t>
                              </m:r>
                            </m:sub>
                          </m:sSub>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1</m:t>
                              </m:r>
                            </m:num>
                            <m:den>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𝐶</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3.1</m:t>
                              </m:r>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c</m:t>
                              </m:r>
                            </m:e>
                          </m:d>
                        </m:e>
                      </m:eqArr>
                    </m:oMath>
                  </m:oMathPara>
                </a14:m>
                <a:endParaRPr lang="en-US" altLang="zh-CN" sz="2600" b="0" dirty="0">
                  <a:latin typeface="Times New Roman" panose="02020603050405020304" pitchFamily="18" charset="0"/>
                  <a:ea typeface="Cambria Math" panose="02040503050406030204" pitchFamily="18" charset="0"/>
                  <a:cs typeface="Times New Roman" panose="02020603050405020304" pitchFamily="18" charset="0"/>
                </a:endParaRPr>
              </a:p>
              <a:p>
                <a:pPr indent="720000"/>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他们可以完全描述</a:t>
                </a:r>
                <a14:m>
                  <m:oMath xmlns:m="http://schemas.openxmlformats.org/officeDocument/2006/math">
                    <m:func>
                      <m:func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funcPr>
                      <m:fName>
                        <m:r>
                          <m:rPr>
                            <m:sty m:val="p"/>
                          </m:rPr>
                          <a:rPr lang="en-US" altLang="zh-CN" sz="2600" b="0" i="0" smtClean="0">
                            <a:latin typeface="Cambria Math" panose="02040503050406030204" pitchFamily="18" charset="0"/>
                            <a:ea typeface="微软雅黑" panose="020B0503020204020204" pitchFamily="34" charset="-122"/>
                            <a:cs typeface="Times New Roman" panose="02020603050405020304" pitchFamily="18" charset="0"/>
                          </a:rPr>
                          <m:t>arg</m:t>
                        </m:r>
                      </m:fName>
                      <m:e>
                        <m:d>
                          <m:dPr>
                            <m:ctrlP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ctrlPr>
                          </m:dPr>
                          <m:e>
                            <m:acc>
                              <m:accPr>
                                <m:chr m:val="̃"/>
                                <m:ctrlPr>
                                  <a:rPr lang="zh-CN" altLang="en-US" sz="2600" i="1">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𝑍</m:t>
                                </m:r>
                              </m:e>
                            </m:acc>
                          </m:e>
                        </m:d>
                      </m:e>
                    </m:func>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m:t>
                        </m:r>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𝜋</m:t>
                        </m:r>
                      </m:num>
                      <m:den>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时的电路元件。若考虑两电感耦合作为基本元件，其可以表示所有元件。</a:t>
                </a:r>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当计算得到</a:t>
                </a:r>
                <a14:m>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oMath>
                </a14:m>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形式上为负数时，其阻抗可表示为</a:t>
                </a:r>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a:p>
                <a:pPr indent="720000"/>
                <a14:m>
                  <m:oMathPara xmlns:m="http://schemas.openxmlformats.org/officeDocument/2006/math">
                    <m:oMathParaPr>
                      <m:jc m:val="centerGroup"/>
                    </m:oMathParaPr>
                    <m:oMath xmlns:m="http://schemas.openxmlformats.org/officeDocument/2006/math">
                      <m:eqArr>
                        <m:eqArr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eqArrPr>
                        <m:e>
                          <m:acc>
                            <m:accPr>
                              <m:chr m:val="̃"/>
                              <m:ctrlPr>
                                <a:rPr lang="zh-CN" altLang="en-US" sz="2600" i="1" smtClean="0">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600" b="0" i="1" smtClean="0">
                                  <a:latin typeface="Cambria Math" panose="02040503050406030204" pitchFamily="18" charset="0"/>
                                  <a:ea typeface="微软雅黑" panose="020B0503020204020204" pitchFamily="34" charset="-122"/>
                                  <a:cs typeface="Times New Roman" panose="02020603050405020304" pitchFamily="18" charset="0"/>
                                </a:rPr>
                                <m:t>𝑍</m:t>
                              </m:r>
                            </m:e>
                          </m:acc>
                          <m:r>
                            <a:rPr lang="en-US" altLang="zh-CN" sz="2600" i="1">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i="1">
                              <a:latin typeface="Cambria Math" panose="02040503050406030204" pitchFamily="18" charset="0"/>
                              <a:ea typeface="Cambria Math" panose="02040503050406030204" pitchFamily="18" charset="0"/>
                              <a:cs typeface="Times New Roman" panose="02020603050405020304" pitchFamily="18" charset="0"/>
                            </a:rPr>
                            <m:t>𝐿</m:t>
                          </m:r>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latin typeface="Cambria Math" panose="02040503050406030204" pitchFamily="18" charset="0"/>
                                  <a:ea typeface="Cambria Math" panose="02040503050406030204" pitchFamily="18" charset="0"/>
                                  <a:cs typeface="Times New Roman" panose="02020603050405020304" pitchFamily="18" charset="0"/>
                                </a:rPr>
                                <m:t>1</m:t>
                              </m:r>
                            </m:num>
                            <m:den>
                              <m:r>
                                <m:rPr>
                                  <m:sty m:val="p"/>
                                </m:rPr>
                                <a:rPr lang="en-US" altLang="zh-CN" sz="2600">
                                  <a:latin typeface="Cambria Math" panose="02040503050406030204" pitchFamily="18" charset="0"/>
                                  <a:ea typeface="Cambria Math" panose="02040503050406030204" pitchFamily="18" charset="0"/>
                                  <a:cs typeface="Times New Roman" panose="02020603050405020304" pitchFamily="18" charset="0"/>
                                </a:rPr>
                                <m:t>j</m:t>
                              </m:r>
                              <m:r>
                                <a:rPr lang="zh-CN" altLang="en-US" sz="2600" i="1">
                                  <a:latin typeface="Cambria Math" panose="02040503050406030204" pitchFamily="18" charset="0"/>
                                  <a:ea typeface="Cambria Math" panose="02040503050406030204" pitchFamily="18" charset="0"/>
                                  <a:cs typeface="Times New Roman" panose="02020603050405020304" pitchFamily="18" charset="0"/>
                                </a:rPr>
                                <m:t>𝜔</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num>
                                <m:den>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den>
                          </m:f>
                          <m:r>
                            <a:rPr lang="en-US" altLang="zh-CN" sz="260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A</m:t>
                              </m:r>
                              <m:r>
                                <a:rPr lang="en-US" altLang="zh-CN" sz="2600" b="0" i="0" smtClean="0">
                                  <a:latin typeface="Cambria Math" panose="02040503050406030204" pitchFamily="18" charset="0"/>
                                  <a:ea typeface="Cambria Math" panose="02040503050406030204" pitchFamily="18" charset="0"/>
                                  <a:cs typeface="Times New Roman" panose="02020603050405020304" pitchFamily="18" charset="0"/>
                                </a:rPr>
                                <m:t>3.2</m:t>
                              </m:r>
                            </m:e>
                          </m:d>
                        </m:e>
                      </m:eqArr>
                    </m:oMath>
                  </m:oMathPara>
                </a14:m>
                <a:endParaRPr lang="en-US" altLang="zh-CN" sz="2600" b="0" dirty="0">
                  <a:latin typeface="微软雅黑" panose="020B0503020204020204" pitchFamily="34" charset="-122"/>
                  <a:ea typeface="Cambria Math" panose="02040503050406030204" pitchFamily="18" charset="0"/>
                  <a:cs typeface="Times New Roman" panose="02020603050405020304" pitchFamily="18" charset="0"/>
                </a:endParaRPr>
              </a:p>
              <a:p>
                <a:pPr indent="720000"/>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在形式上，其与电容的阻抗相同。即该负电感元件本质上是</a:t>
                </a:r>
                <a14:m>
                  <m:oMath xmlns:m="http://schemas.openxmlformats.org/officeDocument/2006/math">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𝐿</m:t>
                        </m:r>
                      </m:num>
                      <m:den>
                        <m:sSup>
                          <m:sSupPr>
                            <m:ctrlP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zh-CN" altLang="en-US" sz="2600" b="0" i="1" smtClean="0">
                                <a:latin typeface="Cambria Math" panose="02040503050406030204" pitchFamily="18" charset="0"/>
                                <a:ea typeface="Cambria Math" panose="02040503050406030204" pitchFamily="18" charset="0"/>
                                <a:cs typeface="Times New Roman" panose="02020603050405020304" pitchFamily="18" charset="0"/>
                              </a:rPr>
                              <m:t>𝜔</m:t>
                            </m:r>
                          </m:e>
                          <m:sup>
                            <m:r>
                              <a:rPr lang="en-US" altLang="zh-CN" sz="2600"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zh-CN" altLang="en-US" sz="2600" b="0" dirty="0">
                    <a:latin typeface="微软雅黑" panose="020B0503020204020204" pitchFamily="34" charset="-122"/>
                    <a:ea typeface="微软雅黑" panose="020B0503020204020204" pitchFamily="34" charset="-122"/>
                    <a:cs typeface="Times New Roman" panose="02020603050405020304" pitchFamily="18" charset="0"/>
                  </a:rPr>
                  <a:t>的电容。</a:t>
                </a:r>
                <a:endParaRPr lang="en-US" altLang="zh-CN" sz="2600" b="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73A140EA-9E64-BE33-6800-FE4B70DC4962}"/>
                  </a:ext>
                </a:extLst>
              </p:cNvPr>
              <p:cNvSpPr txBox="1">
                <a:spLocks noRot="1" noChangeAspect="1" noMove="1" noResize="1" noEditPoints="1" noAdjustHandles="1" noChangeArrowheads="1" noChangeShapeType="1" noTextEdit="1"/>
              </p:cNvSpPr>
              <p:nvPr/>
            </p:nvSpPr>
            <p:spPr>
              <a:xfrm>
                <a:off x="1151256" y="1009155"/>
                <a:ext cx="10325230" cy="5916043"/>
              </a:xfrm>
              <a:prstGeom prst="rect">
                <a:avLst/>
              </a:prstGeom>
              <a:blipFill>
                <a:blip r:embed="rId3"/>
                <a:stretch>
                  <a:fillRect l="-1063" t="-928" b="-2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299628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C73A759D-B876-4C91-A003-3FE9B4821C9E}"/>
              </a:ext>
            </a:extLst>
          </p:cNvPr>
          <p:cNvSpPr>
            <a:spLocks noGrp="1"/>
          </p:cNvSpPr>
          <p:nvPr>
            <p:ph type="body" sz="quarter" idx="10"/>
          </p:nvPr>
        </p:nvSpPr>
        <p:spPr>
          <a:xfrm>
            <a:off x="3895725" y="965873"/>
            <a:ext cx="3905250" cy="2646878"/>
          </a:xfrm>
        </p:spPr>
        <p:txBody>
          <a:bodyPr>
            <a:spAutoFit/>
          </a:bodyPr>
          <a:lstStyle/>
          <a:p>
            <a:r>
              <a:rPr lang="en-US" altLang="zh-CN" dirty="0"/>
              <a:t>A4</a:t>
            </a:r>
            <a:endParaRPr lang="zh-CN" altLang="en-US" dirty="0"/>
          </a:p>
        </p:txBody>
      </p:sp>
      <p:sp>
        <p:nvSpPr>
          <p:cNvPr id="24" name="文本占位符 23">
            <a:extLst>
              <a:ext uri="{FF2B5EF4-FFF2-40B4-BE49-F238E27FC236}">
                <a16:creationId xmlns:a16="http://schemas.microsoft.com/office/drawing/2014/main" id="{C2E54D50-30EE-4B38-BA79-F0DAE5EF3532}"/>
              </a:ext>
            </a:extLst>
          </p:cNvPr>
          <p:cNvSpPr txBox="1">
            <a:spLocks noGrp="1"/>
          </p:cNvSpPr>
          <p:nvPr>
            <p:ph type="body" sz="quarter" idx="11"/>
          </p:nvPr>
        </p:nvSpPr>
        <p:spPr>
          <a:xfrm>
            <a:off x="2662237" y="3369636"/>
            <a:ext cx="6867526" cy="1107996"/>
          </a:xfrm>
        </p:spPr>
        <p:txBody>
          <a:bodyPr>
            <a:spAutoFit/>
          </a:bodyPr>
          <a:lstStyle/>
          <a:p>
            <a:r>
              <a:rPr lang="zh-CN" altLang="en-US"/>
              <a:t>程序控制示意图</a:t>
            </a:r>
            <a:endParaRPr lang="af-ZA" altLang="zh-CN" dirty="0"/>
          </a:p>
        </p:txBody>
      </p:sp>
    </p:spTree>
    <p:extLst>
      <p:ext uri="{BB962C8B-B14F-4D97-AF65-F5344CB8AC3E}">
        <p14:creationId xmlns:p14="http://schemas.microsoft.com/office/powerpoint/2010/main" val="2067627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927A950-71D8-8BDB-C767-7A8C91B925EA}"/>
              </a:ext>
            </a:extLst>
          </p:cNvPr>
          <p:cNvSpPr>
            <a:spLocks noGrp="1"/>
          </p:cNvSpPr>
          <p:nvPr>
            <p:ph type="sldNum" sz="quarter" idx="12"/>
          </p:nvPr>
        </p:nvSpPr>
        <p:spPr/>
        <p:txBody>
          <a:bodyPr/>
          <a:lstStyle/>
          <a:p>
            <a:fld id="{A86B3AB6-3DCE-4D14-AA80-0D566E9A0DB8}" type="slidenum">
              <a:rPr lang="zh-CN" altLang="en-US" smtClean="0"/>
              <a:t>51</a:t>
            </a:fld>
            <a:endParaRPr lang="zh-CN" altLang="en-US" dirty="0"/>
          </a:p>
        </p:txBody>
      </p:sp>
      <p:sp>
        <p:nvSpPr>
          <p:cNvPr id="11" name="文本框 10">
            <a:extLst>
              <a:ext uri="{FF2B5EF4-FFF2-40B4-BE49-F238E27FC236}">
                <a16:creationId xmlns:a16="http://schemas.microsoft.com/office/drawing/2014/main" id="{C9583E49-1CB0-988B-2385-5B7F5F94DA7D}"/>
              </a:ext>
            </a:extLst>
          </p:cNvPr>
          <p:cNvSpPr txBox="1"/>
          <p:nvPr/>
        </p:nvSpPr>
        <p:spPr>
          <a:xfrm>
            <a:off x="1414687" y="252230"/>
            <a:ext cx="7313677" cy="584775"/>
          </a:xfrm>
          <a:prstGeom prst="rect">
            <a:avLst/>
          </a:prstGeom>
          <a:noFill/>
        </p:spPr>
        <p:txBody>
          <a:bodyPr wrap="square" rtlCol="0">
            <a:spAutoFit/>
          </a:bodyPr>
          <a:lstStyle/>
          <a:p>
            <a:r>
              <a:rPr lang="zh-CN" altLang="en-US" sz="3200" b="1" dirty="0">
                <a:solidFill>
                  <a:schemeClr val="tx2"/>
                </a:solidFill>
                <a:latin typeface="微软雅黑" panose="020B0503020204020204" pitchFamily="34" charset="-122"/>
                <a:ea typeface="微软雅黑" panose="020B0503020204020204" pitchFamily="34" charset="-122"/>
              </a:rPr>
              <a:t>附录</a:t>
            </a:r>
            <a:r>
              <a:rPr lang="en-US" altLang="zh-CN" sz="3200" b="1" dirty="0">
                <a:solidFill>
                  <a:schemeClr val="tx2"/>
                </a:solidFill>
                <a:latin typeface="微软雅黑" panose="020B0503020204020204" pitchFamily="34" charset="-122"/>
                <a:ea typeface="微软雅黑" panose="020B0503020204020204" pitchFamily="34" charset="-122"/>
              </a:rPr>
              <a:t>4</a:t>
            </a:r>
            <a:r>
              <a:rPr lang="zh-CN" altLang="en-US" sz="3200" b="1" dirty="0">
                <a:solidFill>
                  <a:schemeClr val="tx2"/>
                </a:solidFill>
                <a:latin typeface="微软雅黑" panose="020B0503020204020204" pitchFamily="34" charset="-122"/>
                <a:ea typeface="微软雅黑" panose="020B0503020204020204" pitchFamily="34" charset="-122"/>
              </a:rPr>
              <a:t>：程序控制示意图</a:t>
            </a:r>
          </a:p>
        </p:txBody>
      </p:sp>
      <p:grpSp>
        <p:nvGrpSpPr>
          <p:cNvPr id="2" name="组合 1">
            <a:extLst>
              <a:ext uri="{FF2B5EF4-FFF2-40B4-BE49-F238E27FC236}">
                <a16:creationId xmlns:a16="http://schemas.microsoft.com/office/drawing/2014/main" id="{8C832D82-075B-D271-EE77-1AF2C4FCCA9A}"/>
              </a:ext>
            </a:extLst>
          </p:cNvPr>
          <p:cNvGrpSpPr/>
          <p:nvPr/>
        </p:nvGrpSpPr>
        <p:grpSpPr>
          <a:xfrm>
            <a:off x="1244286" y="1922830"/>
            <a:ext cx="9118914" cy="3490540"/>
            <a:chOff x="4066999" y="3191466"/>
            <a:chExt cx="7966360" cy="2648466"/>
          </a:xfrm>
        </p:grpSpPr>
        <p:pic>
          <p:nvPicPr>
            <p:cNvPr id="4" name="图片 3">
              <a:extLst>
                <a:ext uri="{FF2B5EF4-FFF2-40B4-BE49-F238E27FC236}">
                  <a16:creationId xmlns:a16="http://schemas.microsoft.com/office/drawing/2014/main" id="{5CAD6310-5E1C-0CDC-94D5-6436B341086A}"/>
                </a:ext>
              </a:extLst>
            </p:cNvPr>
            <p:cNvPicPr>
              <a:picLocks noChangeAspect="1"/>
            </p:cNvPicPr>
            <p:nvPr/>
          </p:nvPicPr>
          <p:blipFill rotWithShape="1">
            <a:blip r:embed="rId3"/>
            <a:srcRect l="2799" t="14558" r="3856" b="10467"/>
            <a:stretch/>
          </p:blipFill>
          <p:spPr>
            <a:xfrm>
              <a:off x="4066999" y="3191466"/>
              <a:ext cx="7966360" cy="2376214"/>
            </a:xfrm>
            <a:prstGeom prst="rect">
              <a:avLst/>
            </a:prstGeom>
          </p:spPr>
        </p:pic>
        <p:sp>
          <p:nvSpPr>
            <p:cNvPr id="5" name="文本框 4">
              <a:extLst>
                <a:ext uri="{FF2B5EF4-FFF2-40B4-BE49-F238E27FC236}">
                  <a16:creationId xmlns:a16="http://schemas.microsoft.com/office/drawing/2014/main" id="{E15C628F-00C5-92D3-835D-6B1F2C8219B9}"/>
                </a:ext>
              </a:extLst>
            </p:cNvPr>
            <p:cNvSpPr txBox="1"/>
            <p:nvPr/>
          </p:nvSpPr>
          <p:spPr>
            <a:xfrm>
              <a:off x="7005979" y="5559699"/>
              <a:ext cx="2743200" cy="280233"/>
            </a:xfrm>
            <a:prstGeom prst="rect">
              <a:avLst/>
            </a:prstGeom>
            <a:noFill/>
          </p:spPr>
          <p:txBody>
            <a:bodyPr wrap="square">
              <a:spAutoFit/>
            </a:bodyPr>
            <a:lstStyle/>
            <a:p>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Fig</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：程序控制逻辑图</a:t>
              </a:r>
            </a:p>
          </p:txBody>
        </p:sp>
      </p:grpSp>
    </p:spTree>
    <p:extLst>
      <p:ext uri="{BB962C8B-B14F-4D97-AF65-F5344CB8AC3E}">
        <p14:creationId xmlns:p14="http://schemas.microsoft.com/office/powerpoint/2010/main" val="14112927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时尚简约风格模板">
      <a:dk1>
        <a:sysClr val="windowText" lastClr="000000"/>
      </a:dk1>
      <a:lt1>
        <a:sysClr val="window" lastClr="FFFFFF"/>
      </a:lt1>
      <a:dk2>
        <a:srgbClr val="44546A"/>
      </a:dk2>
      <a:lt2>
        <a:srgbClr val="E7E6E6"/>
      </a:lt2>
      <a:accent1>
        <a:srgbClr val="27304F"/>
      </a:accent1>
      <a:accent2>
        <a:srgbClr val="202743"/>
      </a:accent2>
      <a:accent3>
        <a:srgbClr val="66DDD5"/>
      </a:accent3>
      <a:accent4>
        <a:srgbClr val="0081E1"/>
      </a:accent4>
      <a:accent5>
        <a:srgbClr val="8160EB"/>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7714</TotalTime>
  <Words>2433</Words>
  <Application>Microsoft Office PowerPoint</Application>
  <PresentationFormat>宽屏</PresentationFormat>
  <Paragraphs>381</Paragraphs>
  <Slides>51</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51</vt:i4>
      </vt:variant>
    </vt:vector>
  </HeadingPairs>
  <TitlesOfParts>
    <vt:vector size="59" baseType="lpstr">
      <vt:lpstr>等线</vt:lpstr>
      <vt:lpstr>等线 Light</vt:lpstr>
      <vt:lpstr>宋体</vt:lpstr>
      <vt:lpstr>微软雅黑</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Zhenyu Xu</dc:creator>
  <cp:lastModifiedBy>学生</cp:lastModifiedBy>
  <cp:revision>599</cp:revision>
  <dcterms:created xsi:type="dcterms:W3CDTF">2019-09-17T00:55:24Z</dcterms:created>
  <dcterms:modified xsi:type="dcterms:W3CDTF">2024-08-21T00:54:03Z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[邮箱已脱敏]</vt:lpwstr>
  </property>
  <property fmtid="{D5CDD505-2E9C-101B-9397-08002B2CF9AE}" pid="5" name="MSIP_Label_f42aa342-8706-4288-bd11-ebb85995028c_SetDate">
    <vt:lpwstr>2019-09-17T00:55:27.4921371Z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182648ba-116e-4ea7-b09c-ef40e8411546</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